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charts/chart1.xml" ContentType="application/vnd.openxmlformats-officedocument.drawingml.chart+xml"/>
  <Override PartName="/ppt/slideMasters/slideMaster47.xml" ContentType="application/vnd.openxmlformats-officedocument.presentationml.slideMaster+xml"/>
  <Override PartName="/ppt/slides/slide47.xml" ContentType="application/vnd.openxmlformats-officedocument.presentationml.slide+xml"/>
  <Override PartName="/ppt/charts/chart2.xml" ContentType="application/vnd.openxmlformats-officedocument.drawingml.chart+xml"/>
  <Override PartName="/ppt/slideMasters/slideMaster48.xml" ContentType="application/vnd.openxmlformats-officedocument.presentationml.slideMaster+xml"/>
  <Override PartName="/ppt/slides/slide48.xml" ContentType="application/vnd.openxmlformats-officedocument.presentationml.slide+xml"/>
  <Override PartName="/ppt/charts/chart3.xml" ContentType="application/vnd.openxmlformats-officedocument.drawingml.chart+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Lst>
  <p:notesMasterIdLst>
    <p:notesMasterId r:id="rId5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notesMaster" Target="notesMasters/notesMaster1.xml"/><Relationship Id="rId58" Type="http://schemas.openxmlformats.org/officeDocument/2006/relationships/presProps" Target="presProps.xml"/><Relationship Id="rId59" Type="http://schemas.openxmlformats.org/officeDocument/2006/relationships/viewProps" Target="viewProps.xml"/><Relationship Id="rId60" Type="http://schemas.openxmlformats.org/officeDocument/2006/relationships/theme" Target="theme/theme1.xml"/><Relationship Id="rId6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Monitor instances</c:v>
                </c:pt>
              </c:strCache>
            </c:strRef>
          </c:tx>
          <c:spPr>
            <a:solidFill>
              <a:srgbClr val="E09A2E"/>
            </a:solidFill>
            <a:effectLst/>
          </c:spPr>
          <c:invertIfNegative val="0"/>
          <c:dLbls>
            <c:numFmt formatCode="#,##0" sourceLinked="0"/>
            <c:txPr>
              <a:bodyPr/>
              <a:lstStyle/>
              <a:p>
                <a:pPr>
                  <a:defRPr b="0" i="0" strike="noStrike" sz="1000" u="none">
                    <a:solidFill>
                      <a:srgbClr val="3A4557"/>
                    </a:solidFill>
                    <a:latin typeface="Calibri"/>
                  </a:defRPr>
                </a:pPr>
              </a:p>
            </c:txPr>
            <c:showLegendKey val="0"/>
            <c:showVal val="1"/>
            <c:showCatName val="0"/>
            <c:showSerName val="0"/>
            <c:showPercent val="0"/>
            <c:showBubbleSize val="0"/>
            <c:showLeaderLines val="0"/>
          </c:dLbls>
          <c:cat>
            <c:multiLvlStrRef>
              <c:f>Sheet1!$A$2:$A$15</c:f>
              <c:multiLvlStrCache>
                <c:ptCount val="14"/>
                <c:lvl>
                  <c:pt idx="0">
                    <c:v>Cloud</c:v>
                  </c:pt>
                  <c:pt idx="1">
                    <c:v>Database</c:v>
                  </c:pt>
                  <c:pt idx="2">
                    <c:v>Application</c:v>
                  </c:pt>
                  <c:pt idx="3">
                    <c:v>Kubernetes</c:v>
                  </c:pt>
                  <c:pt idx="4">
                    <c:v>Infrastructure</c:v>
                  </c:pt>
                  <c:pt idx="5">
                    <c:v>Messaging</c:v>
                  </c:pt>
                  <c:pt idx="6">
                    <c:v>Integration</c:v>
                  </c:pt>
                  <c:pt idx="7">
                    <c:v>Network</c:v>
                  </c:pt>
                  <c:pt idx="8">
                    <c:v>Data platform</c:v>
                  </c:pt>
                  <c:pt idx="9">
                    <c:v>API</c:v>
                  </c:pt>
                  <c:pt idx="10">
                    <c:v>SaaS</c:v>
                  </c:pt>
                  <c:pt idx="11">
                    <c:v>Security</c:v>
                  </c:pt>
                  <c:pt idx="12">
                    <c:v>VMware</c:v>
                  </c:pt>
                  <c:pt idx="13">
                    <c:v>Platform</c:v>
                  </c:pt>
                </c:lvl>
              </c:multiLvlStrCache>
            </c:multiLvlStrRef>
          </c:cat>
          <c:val>
            <c:numRef>
              <c:f>Sheet1!$B$2:$B$15</c:f>
              <c:numCache>
                <c:formatCode>General</c:formatCode>
                <c:ptCount val="14"/>
                <c:pt idx="0">
                  <c:v>105</c:v>
                </c:pt>
                <c:pt idx="1">
                  <c:v>102</c:v>
                </c:pt>
                <c:pt idx="2">
                  <c:v>85</c:v>
                </c:pt>
                <c:pt idx="3">
                  <c:v>54</c:v>
                </c:pt>
                <c:pt idx="4">
                  <c:v>47</c:v>
                </c:pt>
                <c:pt idx="5">
                  <c:v>41</c:v>
                </c:pt>
                <c:pt idx="6">
                  <c:v>37</c:v>
                </c:pt>
                <c:pt idx="7">
                  <c:v>37</c:v>
                </c:pt>
                <c:pt idx="8">
                  <c:v>36</c:v>
                </c:pt>
                <c:pt idx="9">
                  <c:v>33</c:v>
                </c:pt>
                <c:pt idx="10">
                  <c:v>22</c:v>
                </c:pt>
                <c:pt idx="11">
                  <c:v>21</c:v>
                </c:pt>
                <c:pt idx="12">
                  <c:v>18</c:v>
                </c:pt>
                <c:pt idx="13">
                  <c:v>13</c:v>
                </c:pt>
              </c:numCache>
            </c:numRef>
          </c:val>
        </c:ser>
        <c:dLbls>
          <c:numFmt formatCode="#,##0" sourceLinked="0"/>
          <c:txPr>
            <a:bodyPr/>
            <a:lstStyle/>
            <a:p>
              <a:pPr>
                <a:defRPr b="0" i="0" strike="noStrike" sz="1000" u="none">
                  <a:solidFill>
                    <a:srgbClr val="3A4557"/>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050" b="0" i="0" u="none" strike="noStrike">
                <a:solidFill>
                  <a:srgbClr val="3A4557"/>
                </a:solidFill>
                <a:latin typeface="Calibri"/>
              </a:defRPr>
            </a:pPr>
            <a:endParaRPr lang="en-US"/>
          </a:p>
        </c:txPr>
        <c:crossAx val="2094734552"/>
        <c:crosses val="autoZero"/>
        <c:auto val="1"/>
        <c:lblAlgn val="ctr"/>
        <c:noMultiLvlLbl val="1"/>
      </c:catAx>
      <c:valAx>
        <c:axId val="2094734552"/>
        <c:scaling>
          <c:orientation val="minMax"/>
          <c:max val="120"/>
        </c:scaling>
        <c:delete val="0"/>
        <c:axPos val="b"/>
        <c:majorGridlines>
          <c:spPr>
            <a:ln w="12700" cap="flat">
              <a:solidFill>
                <a:srgbClr val="EDF0F4"/>
              </a:solidFill>
              <a:prstDash val="solid"/>
              <a:round/>
            </a:ln>
          </c:spPr>
        </c:majorGridlines>
        <c:numFmt formatCode="General" sourceLinked="0"/>
        <c:majorTickMark val="out"/>
        <c:minorTickMark val="none"/>
        <c:tickLblPos val="low"/>
        <c:spPr>
          <a:ln w="12700" cap="flat">
            <a:noFill/>
            <a:prstDash val="solid"/>
            <a:round/>
          </a:ln>
        </c:spPr>
        <c:txPr>
          <a:bodyPr/>
          <a:lstStyle/>
          <a:p>
            <a:pPr>
              <a:defRPr sz="900" b="0" i="0" u="none" strike="noStrike">
                <a:solidFill>
                  <a:srgbClr val="6B7891"/>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Priority</c:v>
                </c:pt>
              </c:strCache>
            </c:strRef>
          </c:tx>
          <c:spPr>
            <a:solidFill>
              <a:schemeClr val="accent1"/>
            </a:solidFill>
            <a:ln w="9525" cap="flat">
              <a:solidFill>
                <a:srgbClr val="F9F9F9"/>
              </a:solidFill>
              <a:prstDash val="solid"/>
              <a:round/>
            </a:ln>
            <a:effectLst/>
          </c:spPr>
          <c:dPt>
            <c:idx val="0"/>
            <c:bubble3D val="0"/>
            <c:spPr>
              <a:solidFill>
                <a:srgbClr val="9AA8BD"/>
              </a:solidFill>
              <a:effectLst/>
            </c:spPr>
          </c:dPt>
          <c:dPt>
            <c:idx val="1"/>
            <c:bubble3D val="0"/>
            <c:spPr>
              <a:solidFill>
                <a:srgbClr val="E09A2E"/>
              </a:solidFill>
              <a:effectLst/>
            </c:spPr>
          </c:dPt>
          <c:dPt>
            <c:idx val="2"/>
            <c:bubble3D val="0"/>
            <c:spPr>
              <a:solidFill>
                <a:srgbClr val="D6DDE6"/>
              </a:solidFill>
              <a:effectLst/>
            </c:spPr>
          </c:dPt>
          <c:dPt>
            <c:idx val="3"/>
            <c:bubble3D val="0"/>
            <c:spPr>
              <a:solidFill>
                <a:srgbClr val="BE4A3F"/>
              </a:solidFill>
              <a:effectLst/>
            </c:spPr>
          </c:dPt>
          <c:dLbls>
            <c:dLbl>
              <c:idx val="0"/>
              <c:numFmt formatCode="General" sourceLinked="0"/>
              <c:spPr/>
              <c:txPr>
                <a:bodyPr/>
                <a:lstStyle/>
                <a:p>
                  <a:pPr>
                    <a:defRPr sz="1100" b="0" i="0" u="none" strike="noStrike">
                      <a:solidFill>
                        <a:srgbClr val="FFFFFF"/>
                      </a:solidFill>
                      <a:latin typeface="Calibri"/>
                    </a:defRPr>
                  </a:pPr>
                </a:p>
              </c:txPr>
              <c:showLegendKey val="0"/>
              <c:showVal val="1"/>
              <c:showCatName val="0"/>
              <c:showSerName val="0"/>
              <c:showPercent val="0"/>
              <c:showBubbleSize val="0"/>
            </c:dLbl>
            <c:dLbl>
              <c:idx val="1"/>
              <c:numFmt formatCode="General" sourceLinked="0"/>
              <c:spPr/>
              <c:txPr>
                <a:bodyPr/>
                <a:lstStyle/>
                <a:p>
                  <a:pPr>
                    <a:defRPr sz="1100" b="0" i="0" u="none" strike="noStrike">
                      <a:solidFill>
                        <a:srgbClr val="FFFFFF"/>
                      </a:solidFill>
                      <a:latin typeface="Calibri"/>
                    </a:defRPr>
                  </a:pPr>
                </a:p>
              </c:txPr>
              <c:showLegendKey val="0"/>
              <c:showVal val="1"/>
              <c:showCatName val="0"/>
              <c:showSerName val="0"/>
              <c:showPercent val="0"/>
              <c:showBubbleSize val="0"/>
            </c:dLbl>
            <c:dLbl>
              <c:idx val="2"/>
              <c:numFmt formatCode="General" sourceLinked="0"/>
              <c:spPr/>
              <c:txPr>
                <a:bodyPr/>
                <a:lstStyle/>
                <a:p>
                  <a:pPr>
                    <a:defRPr sz="1100" b="0" i="0" u="none" strike="noStrike">
                      <a:solidFill>
                        <a:srgbClr val="FFFFFF"/>
                      </a:solidFill>
                      <a:latin typeface="Calibri"/>
                    </a:defRPr>
                  </a:pPr>
                </a:p>
              </c:txPr>
              <c:showLegendKey val="0"/>
              <c:showVal val="1"/>
              <c:showCatName val="0"/>
              <c:showSerName val="0"/>
              <c:showPercent val="0"/>
              <c:showBubbleSize val="0"/>
            </c:dLbl>
            <c:dLbl>
              <c:idx val="3"/>
              <c:numFmt formatCode="General" sourceLinked="0"/>
              <c:spPr/>
              <c:txPr>
                <a:bodyPr/>
                <a:lstStyle/>
                <a:p>
                  <a:pPr>
                    <a:defRPr sz="1100" b="0" i="0" u="none" strike="noStrike">
                      <a:solidFill>
                        <a:srgbClr val="FFFFFF"/>
                      </a:solidFill>
                      <a:latin typeface="Calibri"/>
                    </a:defRPr>
                  </a:pPr>
                </a:p>
              </c:txPr>
              <c:showLegendKey val="0"/>
              <c:showVal val="1"/>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Sheet1!$A$2:$A$5</c:f>
              <c:strCache>
                <c:ptCount val="4"/>
                <c:pt idx="0">
                  <c:v>P3 — next business day</c:v>
                </c:pt>
                <c:pt idx="1">
                  <c:v>P2 — rapid response</c:v>
                </c:pt>
                <c:pt idx="2">
                  <c:v>P4 — informational</c:v>
                </c:pt>
                <c:pt idx="3">
                  <c:v>P1 — major outage</c:v>
                </c:pt>
              </c:strCache>
            </c:strRef>
          </c:cat>
          <c:val>
            <c:numRef>
              <c:f>Sheet1!$B$2:$B$5</c:f>
              <c:numCache>
                <c:ptCount val="4"/>
                <c:pt idx="0">
                  <c:v>351</c:v>
                </c:pt>
                <c:pt idx="1">
                  <c:v>141</c:v>
                </c:pt>
                <c:pt idx="2">
                  <c:v>90</c:v>
                </c:pt>
                <c:pt idx="3">
                  <c:v>69</c:v>
                </c:pt>
              </c:numCache>
            </c:numRef>
          </c:val>
        </c:ser>
        <c:firstSliceAng val="0"/>
        <c:holeSize val="55"/>
      </c:doughnutChart>
      <c:spPr>
        <a:noFill/>
        <a:ln>
          <a:noFill/>
        </a:ln>
        <a:effectLst/>
      </c:spPr>
    </c:plotArea>
    <c:legend>
      <c:legendPos val="b"/>
      <c:overlay val="0"/>
      <c:txPr>
        <a:bodyPr/>
        <a:lstStyle/>
        <a:p>
          <a:pPr>
            <a:defRPr sz="1100">
              <a:solidFill>
                <a:srgbClr val="3A4557"/>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Instances</c:v>
                </c:pt>
              </c:strCache>
            </c:strRef>
          </c:tx>
          <c:spPr>
            <a:solidFill>
              <a:srgbClr val="5F7189"/>
            </a:solidFill>
            <a:effectLst/>
          </c:spPr>
          <c:invertIfNegative val="0"/>
          <c:dLbls>
            <c:numFmt formatCode="#,##0" sourceLinked="0"/>
            <c:txPr>
              <a:bodyPr/>
              <a:lstStyle/>
              <a:p>
                <a:pPr>
                  <a:defRPr b="0" i="0" strike="noStrike" sz="1000" u="none">
                    <a:solidFill>
                      <a:srgbClr val="3A4557"/>
                    </a:solidFill>
                    <a:latin typeface="Calibri"/>
                  </a:defRPr>
                </a:pPr>
              </a:p>
            </c:txPr>
            <c:showLegendKey val="0"/>
            <c:showVal val="1"/>
            <c:showCatName val="0"/>
            <c:showSerName val="0"/>
            <c:showPercent val="0"/>
            <c:showBubbleSize val="0"/>
            <c:showLeaderLines val="0"/>
          </c:dLbls>
          <c:cat>
            <c:multiLvlStrRef>
              <c:f>Sheet1!$A$2:$A$11</c:f>
              <c:multiLvlStrCache>
                <c:ptCount val="10"/>
                <c:lvl>
                  <c:pt idx="0">
                    <c:v>Threshold (with rationale)</c:v>
                  </c:pt>
                  <c:pt idx="1">
                    <c:v>Anomaly</c:v>
                  </c:pt>
                  <c:pt idx="2">
                    <c:v>Forecast</c:v>
                  </c:pt>
                  <c:pt idx="3">
                    <c:v>Rate of change</c:v>
                  </c:pt>
                  <c:pt idx="4">
                    <c:v>SLO burn rate</c:v>
                  </c:pt>
                  <c:pt idx="5">
                    <c:v>Service check</c:v>
                  </c:pt>
                  <c:pt idx="6">
                    <c:v>Event</c:v>
                  </c:pt>
                  <c:pt idx="7">
                    <c:v>Composite</c:v>
                  </c:pt>
                  <c:pt idx="8">
                    <c:v>Seasonal anomaly</c:v>
                  </c:pt>
                  <c:pt idx="9">
                    <c:v>Outlier</c:v>
                  </c:pt>
                </c:lvl>
              </c:multiLvlStrCache>
            </c:multiLvlStrRef>
          </c:cat>
          <c:val>
            <c:numRef>
              <c:f>Sheet1!$B$2:$B$11</c:f>
              <c:numCache>
                <c:formatCode>General</c:formatCode>
                <c:ptCount val="10"/>
                <c:pt idx="0">
                  <c:v>312</c:v>
                </c:pt>
                <c:pt idx="1">
                  <c:v>141</c:v>
                </c:pt>
                <c:pt idx="2">
                  <c:v>61</c:v>
                </c:pt>
                <c:pt idx="3">
                  <c:v>48</c:v>
                </c:pt>
                <c:pt idx="4">
                  <c:v>41</c:v>
                </c:pt>
                <c:pt idx="5">
                  <c:v>25</c:v>
                </c:pt>
                <c:pt idx="6">
                  <c:v>8</c:v>
                </c:pt>
                <c:pt idx="7">
                  <c:v>7</c:v>
                </c:pt>
                <c:pt idx="8">
                  <c:v>5</c:v>
                </c:pt>
                <c:pt idx="9">
                  <c:v>3</c:v>
                </c:pt>
              </c:numCache>
            </c:numRef>
          </c:val>
        </c:ser>
        <c:dLbls>
          <c:numFmt formatCode="#,##0" sourceLinked="0"/>
          <c:txPr>
            <a:bodyPr/>
            <a:lstStyle/>
            <a:p>
              <a:pPr>
                <a:defRPr b="0" i="0" strike="noStrike" sz="1000" u="none">
                  <a:solidFill>
                    <a:srgbClr val="3A4557"/>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050" b="0" i="0" u="none" strike="noStrike">
                <a:solidFill>
                  <a:srgbClr val="3A4557"/>
                </a:solidFill>
                <a:latin typeface="Calibri"/>
              </a:defRPr>
            </a:pPr>
            <a:endParaRPr lang="en-US"/>
          </a:p>
        </c:txPr>
        <c:crossAx val="2094734552"/>
        <c:crosses val="autoZero"/>
        <c:auto val="1"/>
        <c:lblAlgn val="ctr"/>
        <c:noMultiLvlLbl val="1"/>
      </c:catAx>
      <c:valAx>
        <c:axId val="2094734552"/>
        <c:scaling>
          <c:orientation val="minMax"/>
          <c:max val="350"/>
        </c:scaling>
        <c:delete val="0"/>
        <c:axPos val="b"/>
        <c:majorGridlines>
          <c:spPr>
            <a:ln w="12700" cap="flat">
              <a:solidFill>
                <a:srgbClr val="EDF0F4"/>
              </a:solidFill>
              <a:prstDash val="solid"/>
              <a:round/>
            </a:ln>
          </c:spPr>
        </c:majorGridlines>
        <c:numFmt formatCode="General" sourceLinked="0"/>
        <c:majorTickMark val="out"/>
        <c:minorTickMark val="none"/>
        <c:tickLblPos val="low"/>
        <c:spPr>
          <a:ln w="12700" cap="flat">
            <a:noFill/>
            <a:prstDash val="solid"/>
            <a:round/>
          </a:ln>
        </c:spPr>
        <c:txPr>
          <a:bodyPr/>
          <a:lstStyle/>
          <a:p>
            <a:pPr>
              <a:defRPr sz="900" b="0" i="0" u="none" strike="noStrike">
                <a:solidFill>
                  <a:srgbClr val="6B7891"/>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One room, one platform, one standard.
This deck covers 32 topics in six parts. It is deliberately split: the main deck is the argument and the numbers; the appendix has the tables people will ask for.
Two ground rules for the next hour. First, every number on these slides comes from the repository or the last production deploy — nothing is illustrative. Second, anything not yet shipped is labelled ROADMAP with the phase it lands in. If you see a claim without evidence behind it, stop me.
The one slide you must not miss is slide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labels are not decoration. They come from docs/requirement-traceability.md, which audited 60 requirement sections against the repository AND the last production deploy's evidence artifact.
Scorecard: 21 OK, 9 IMPROVE, 12 PARTIAL, 15 MISSING, 1 obsolete-and-resolved, 2 N/A.
If a slide says SHIPPED, it is deployed in production today and you can open it in Datadog. If it says PARTIAL, some of it works and I will tell you which part does not. If it says ROADMAP, none of it exists and I will tell you which phase builds it.
The reason for this discipline: an overclaimed capability is discovered in the first incident, and it costs more credibility than an honest roadmap slide ever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matters. If you remember nothing else, remember this.
The 651 monitors are correct. Every query was validated against Datadog's own validation API on the last deploy — 651 of 651 PASS. And today they return no data, because the telemetry does not carry the tags they select on.
Three concrete findings from the last live profiling run, which graded 27 resources: alert_band present on ZERO of them; 22 carry env:production, which is not in the vocabulary — the platform coerces it to prod and flags it; and 27 of 27 have no service_archetype, so every one was guessed as api.
Why this is dangerous rather than merely incomplete: a monitor that returns no data looks exactly like a monitor that is healthy. Coverage reports 100% because 100% of the alertable estate has a monitor pack. Nothing is lying — the monitors exist. But they are selecting on an empty set.
The fix is in docs/tagging-standard.md and there are two options. Option 1 is the design intent: push the six tags onto the telemetry — Azure Policy with a modify effect on resource groups, agent datadog.yaml tags, Kubernetes pod labels, DD_TAGS for APM. Option 2 is the pragmatic path: change one policy line so queries scope on tier instead of alert_band — no telemetry work, but coarser, because tier0 and tier1 share a band today.
What I need from this room is a decision on which option, and an owner for the Azure Policy work. Leaving it undecided is the worst outcome, because undecided reads as "covered".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one is four topics and about eight minutes. The argument is simple: the old model scaled with resources, the new one scales with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naive enterprise model is services × environments × signals. At the scale we target — 100,000 services — that is roughly eight million monitors. Nobody can review, tune, cost or trust an estate that size, so in practice it degrades into two failure modes: teams stop reading alerts, and coverage becomes unknowable.
This platform produces 651 managed objects for the same coverage, because resources are GROUPS inside grouped multi-alert monitors, selected by tag. Adding fifty thousand services adds zero Datadog objects.
That is the invariant, and everything else in the deck is a consequence of it: the number of managed objects grows with the number of monitoring DECISIONS, not the number of monitored RESOURCES.
Three business reasons this matters beyond elegance. Cost: monitor count drives both licence and human review cost. Trust: an alert estate nobody reviews is an alert estate nobody believes at 3am. Auditability: 651 objects generated from reviewed YAML can be explained to a regulator; eight million hand-made ones cannot.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specific defects, each with the specific mechanism that replaces it. These are not strawmen — they are the failure modes that produce alert fatigue in every large estate.
One: a monitor per resource. Every new VM, database or service needed someone to create monitors for it, so coverage tracked hiring, not risk. Now a resource is a group inside a monitor that already exists.
Two: thresholds copied between teams. CPU &gt; 80% means nothing without context — a batch node at 95% on schedule is healthy, an API node at 55% when it normally runs at 20% is not. Now roughly 40% of instances use predictive detection, and any fixed threshold must carry a written rationale that CI enforces.
Three: destinations hard-coded in monitors. Changing where a team's P1s go meant editing hundreds of monitors. Now monitors carry no destinations at all — 111 notification rules resolve tags to people.
Four: every alert paged. Now paging is a separate, narrower rule than priority: 70 of 651 monitors, 11%, can wake a human.
Five: runbooks as links to a wiki that had rotted. Now the runbook is a Datadog notebook attached to the monitor as an asset — 651 of 651 attached, zero URLs pasted into alert bodies.
Six: silence read as health. Now telemetry-loss monitors exist precisely so that "no alerts" cannot silently mean "no data" — which, as slide 3 says, is exactly the state we are in and exactly why we know about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sentence: every monitoring decision lives in reviewed YAML, and Terraform is a pure interpreter of those files.
The delivery path: you edit YAML under platform/, open a pull request, and CI runs the full gate — schema, the pytest suite, terraform fmt and validate, offline plans with every precondition and budget check, plan determinism, Trivy and gitleaks, and a credentialed plan whose monitors are submitted to Datadog's own validation API. Merge to main applies qa then stage automatically. Production is an explicit dispatch behind an approval environment.
Three control loops keep it true. Delivery is PR-driven, as described. Discovery is scheduled: rebuild the inventory from the live org, assign profiles, converge the catalog — new resources are covered by existing monitors immediately, the loop only updates ownership accounting. Governance is scheduled: nightly Terraform and runbook drift detection, weekday coverage and quality reports, and a red run opens a GitHub issue automatically.
Ownership: the platform team owns the hierarchy and the interpreter. Teams own their service registration, their runbook content and their rosters. Exceptions are time-boxed, owned, approved and expiring — CI fails on an expired one.
The important cultural point is the last one: every standard in this platform is a command. If a rule cannot be checked mechanically, it does not belong in the standard.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for the engineering managers in the room, because it is the total ask.
Five identity tags you should already be emitting: env, service, team, tier, service_archetype. Plus alert_band, which the platform derives for you but which has to land back on the telemetry — that is the gap from slide 3, and it is why this slide is marked PARTIAL rather than SHIPPED.
Then one small YAML file to register the service: name, team, tier, service_archetype, envs. Five fields. That gives you the catalog entry, declared ownership, and — at tier0 — your own SLO with burn-rate alerting.
What you get without doing anything else: baseline monitors from your archetype's packs, an SLO, burn-rate paging, alert routing to your channel and rotation, environment behaviour, tier policy, runbook links, on-call routing, ownership in the catalog, event correlation, predictive baselines that start learning immediately, and dashboard visibility.
What you never do: write Terraform, write a Datadog notification handle, or configure a monitor. If you genuinely need something unique, that is one YAML file of about fifteen lines, and you delete the monitor by deleting the file.
Two rules that come up every time. You cannot obtain a pager by editing YAML — priority derives from your tier, and tier is a reviewed business decision. And if an alert is noisy, that is a defect with an owner: open a PR against the archetype so everyone benefits, or file an exception with a reason, an approver and an expiry. Do not mute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two is the mechanism. Four topics, and one of them — the entity model — is the largest single piece of engineering still ahead of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two ways an entity becomes visible, and they do different jobs.
Discovery is automatic. A service that starts emitting traces is inside the API pack's grouping on its first trace. There is no onboarding step for coverage.
Registration is a choice. It declares the things telemetry cannot tell you: who owns this, how much the business cares, and what kind of thing it is. Tier in particular is a business decision, not an inference — and it is the single input that decides how much monitoring machinery the service receives.
The comparison table is the honest version of "do I have to register?". Tagged-only gets you covered by packs and inferred ownership. Tagged and registered gets you declared ownership in Datadog's catalog, your tier as a business decision, a per-service SLO if you are tier0, and you stop appearing in the coverage report as an unowned resource — which is a violation, check C2, with a 14-day SLA.
Marked PARTIAL for two reasons. First, registration works for services and only services — the entity kinds on the next slide are not yet supported. Second, the live catalog holds 27 entries and only 3 are managed from this repository; reconciling discovered against managed is phase one work. We read discovery today, we do not yet merge it with declared intent.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honest gap slide, and it is the first phase of the roadmap for a reason.
Today every catalog object this platform creates is a Service. That is what the Terraform module emits — a service definition. There are no System, Datastore, Queue or API entities, and the registration schema has no kind field.
Why it matters in practice. "Which systems depend on this Azure SQL database?" cannot be answered, because the database is not an entity — it is a tag on a monitor. "What is the blast radius of this queue backing up?" has the same problem. Impact analysis today is done by a human who knows the estate, which does not scale and does not survive that human changing jobs.
The target is Datadog's v3 entity kinds: System, Datastore, Queue, API, Endpoint, Frontend App, Repository, External Provider. Phase one adds kind to the entity schema, builds the entity resolver, and reconciles discovered entities against declared ones.
A second number worth stating plainly: the live catalog holds 27 service-catalog entries; 3 of them are managed from this repository. The rest are demo or legacy entries that have not been reconciled. That reconciliation is the same phase-one work.
I want to be precise about what this does NOT break. Monitoring coverage does not depend on the entity model — coverage comes from tags. This gap costs us analysis and navigation, not detection.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engine room slide.
An archetype is a monitor pattern: what is being measured, what kind of impact it represents, how it is detected, the query, the grouping, which environments and bands it applies to. About twenty lines. The author writes the detection and nothing else.
From that one file, the factory derives: the monitor name in a standard format, the full tag set, the priority — which is the impact class crossed with the alert band, clamped by the environment ceiling — whether it may page, the notification profile, the deterministic correlation and dedup keys, the runbook attachment, the diagnostic workflow, the auto-resolve window, and the SLO association.
The trick that makes it scale is the scope substitution. Every query contains a placeholder that is replaced at plan time with env plus alert band plus any extra selector. One archetype becomes one monitor per environment and band, and every matching resource in the estate is a GROUP inside it. 264 archetypes become 651 monitors, and those 651 cover an estate of any size.
The arithmetic on the right is the whole scalability argument, and it is asserted at plan time — the monitor, paging and P1 budgets in global.yaml are hard plan-time checks, so growth is a reviewed decision and never a drift.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profiles: observe_only, baseline, standard, critical, regulated. Two overlays: security_sensitive and release_gate. An overlay adds signal classes or redirects routing without creating a new profile — which is what holds the count at five.
The resolution chain is eight layers: global standards, then domain, then service archetype, then monitoring profile, then environment policy, then tier policy, then team policy, then a time-boxed exception. Terraform is a pure interpreter of that hierarchy — no monitoring decision is made in HCL.
Notice what a team supplies: tier and service_archetype. Everything else is derived. A team cannot select a profile, and specifically cannot select "critical" — that comes from the tier, which is a reviewed business decision.
Two things worth calling out. Regulated is promoted automatically by the compliance_scope tag, so PCI or similar scope does not depend on someone remembering. And observe_only always carries a recorded reason — check C10 fails on an observe_only resource with no reason, so "not monitored" is never allowed to be an accident.
Marked PARTIAL for one specific reason: telemetry availability is not yet an input to profile resolution. The platform will happily resolve a profile that expects metrics nobody emits, and the resulting monitor sits green and empty. Declaring required telemetry on every archetype and building an applicability engine is phase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three has the second-largest gap in the programme — fleet management — and the mechanism that makes paging defensible: burn rate on an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collection paths. The Datadog Agent on hosts and VMs. The Azure integration for every azure.* metric, which must be enabled per subscription. APM and RUM from instrumented applications. Logs, including log-derived metrics. And custom emitters for the signals nothing else publishes.
That last category is docs/telemetry-gaps.md, and it is a document I would like you to read if you take one artifact away. Eight metric families where the honest answer was "no product knows this, so something must emit it": database restore verification — backup age proves a file was written, not that it can be read; Snowflake per-task failures; Service Bus message AGE, because Azure publishes depth only and depth cannot distinguish a healthy drain from an hour-old backlog; NSG denied flows, because network security groups publish no Azure Monitor metrics at all; budget and forecast, because Datadog publishes spend but the budget lives in the Azure Consumption API; application connection pools, which live inside the process where neither the database nor the runtime can see them; hardware health normalised from IPMI; and patch and lifecycle state, which is an inventory fact, not telemetry.
Each one has a written contract: metric name, type, tags, and what the emitter must do. The contracts are specified. Most of the emitters are not yet deployed — that is honest scoping, and each is a small piece of work owned by the team that owns the system.
And the tag gap from slide 3 sits on top of all of it. The collection paths work. The tags they carry do not yet select.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am not going to dress this one up. Fleet management is referenced in five of our documents and implemented in none of them.
What exists today, and works: archetypes that detect agent version drift, unhealthy agents, and OS patch and end-of-life state. If an agent breaks, we find out.
What does not exist: agent deployment automation. There is no Azure Policy path, no VM extension path, no golden-image path. There are no standard agent profiles — base, Windows, Linux, application host, SQL Server host — so what each agent collects depends on who installed it. And there is no compliance ratio: we can tell you which agents are unhealthy, we cannot tell you that 87% of hosts that should have an agent have one, because "should have" is not expressed anywhere.
Why this matters more than it sounds: the tagging problem from slide 3 and the fleet problem are the same problem seen from two ends. Azure Policy with a modify effect is what makes resource tags true over time, and the same mechanism installs and configures the agent. Phase three does both, which is why they are one phase.
The honest summary: monitoring the fleet is shipped. Managing the fleet is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layer model first. A business or service SLO pages, on burn rate. Golden signals raise incidents and tickets. Dependencies raise incidents and context. Infrastructure is for diagnosis and almost never pages on its own.
Two scopes keep the count bounded. Twenty-one domain SLOs cover tier1 and tier2 across the whole estate, because a grouped SLI query covers every service in the domain. Then one SLO per tier0 service. Total today: 22 objectives, driving 41 burn-rate monitors.
Multi-window burn rate is the mechanism. Fast is a one-hour long window with a five-minute short window at 14.4× — that consumes 2% of a 30-day budget in an hour, and it pages. Medium is six hours at 6× — 5% in six hours, and it pages. Slow is 24 hours at 3× — 10% in a day, and it raises a ticket. The long window proves the burn is sustained rather than a spike; the short window proves it is still happening now, which is also what makes the alert recover quickly.
The slow window deliberately does not page. A 24-hour burn is a real problem with days of budget left. Waking someone for it teaches them that pages are not urgent, which is the most expensive lesson a platform can teach.
Which windows you get comes from your tier: tier0 gets all three, tier1 gets fast and slow, tier2 gets slow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question I get most often is "why doesn't my service have its own SLO?" — so here is the rule.
Resolution today: enterprise defaults, then a domain SLO, then, if the service is tier0, a per-service objective from the tier0 template. Tier0 gets its own error budget, its own burn-rate alerts, and the freeze policy. Tier1 and tier2 are covered by the domain SLO, because a grouped SLI query already covers every service in that domain.
Tier 0 is 99.95% availability and 99.5% latency; tier1 is 99.9 and 99.0; tier2 is 99.5 and 98.0. Those are business statements, reviewed by the platform team, not numbers a team picks to make a dashboard green.
Infrastructure has no SLO at all, deliberately. A host does not have a customer-facing objective; the service running on it does.
Two honest limitations, both phase four. A service cannot declare multiple named objectives today — you get availability and latency from the template, not a checkout-completion objective alongside them. And there is no per-service objective override: two tier0 services on the same profile get the same target, even if one genuinely needs 99.99. Adding an slo_profile layer and a per-service override closes both.
There is also a governance gap worth naming: monitors carry an slo_id but not a relation — SLI-producing, supporting, impacting or diagnostic. So "which monitors actually feed this objective?" is not yet mechanically answerable.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error budget is the amount of failure the objective permits. At 99.95% over thirty days that is twenty-one minutes and thirty-six seconds. At 99.9% it is forty-three minutes. At 99.5% it is three hours and thirty-six minutes.
The point is not the arithmetic, it is what happens when the budget is gone. For tier0 the consequence is a feature freeze for the owning team until the budget recovers above 25%, and a documented exception is required to deploy. For tier1 reliability work is prioritised next sprint, and high-risk deploys go to change advisory. For tier2 it is tracked in the team's operational review with no freeze.
Two things this buys you as leadership. First, it converts "is it reliable enough?" from a debate into a number that both engineering and the business already agreed to. Second, it gives an owning team a legitimate, pre-agreed reason to say no to a feature — which is otherwise the hardest thing for a delivery team to do.
Note the honest boundary: the policy is defined, deployed and attached to the tiers. What we cannot yet show you is a trend of budget consumption over time, because the SLIs have no data — slide 3 again. The moment the tags land, this becomes the most useful chart in the programme.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four is the longest part — eight topics — because this is where an observability platform either earns trust or loses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goal is one sentence: five alerts for one problem become one incident with four children, and the change that caused it attached as context.
The mechanism is two deterministic keys stamped on every monitor by the factory. correlation_key is failure domain, environment and service — that is grouping identity. dedup_key is service, environment and archetype — that is event identity. Native Datadog Event Management aggregation works off those tags with zero custom rules, and that part is live on all 651 monitors.
On top of that sits versioned policy with six rules. Group by correlation key. Attach change context — deployments, Terraform applies, Kubernetes rollouts, cloud platform events, ServiceNow changes — which never page and never become the parent; they explain it. Platform causes adopt application symptoms in the same environment and region. A confirmed vendor outage adopts every dependent integration error, so "it is them, not us" is one statement instead of twelve tickets. Maintenance-window events are dropped. And scope uplift: if a group spans more than a quarter of a pack's services, the parent rises one priority, because breadth is business impact.
Root-cause ranking decides who becomes the parent: availability is nearly always a cause, latency is nearly always a symptom.
This is proven on every pull request. A six-alert database cascade collapses to one group, one page, one incident and four suppressed children. A deployment attaches as context and never becomes the parent. Unrelated failures in different regions stay separate. Recovery closes the group only when every child has recovered.
Why PARTIAL: Datadog's Event Management correlation rules have no GA Terraform resource or public CRUD API, so the rules file is an executable specification with a reference engine in CI, not something we configure in the product. When the API goes GA, the same YAML becomes its input with zero monitor changes. Also, the Control-M correlation rule does not exist, because Control-M itself is phase five.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rule in the framework, so I will read it out.
Pages equals: environment is production, AND the alert band is critical, AND either the priority is P1 — an unambiguous outage — or the source is an SLO burn-rate alert or a composite.
The consequence: a P2 raised by a single symptom archetype — a deadlock, an OOMKill, a failed cron, a retry storm — creates an incident, creates a ServiceNow record, notifies the team channel, and wakes nobody. An SLO burn alert is a measurement of customer harm. A composite has already confirmed two independent conditions. A lone symptom has established neither.
That takes the estate from 651 monitors to 70 that may page — eleven percent. And the number is budgeted at plan time: max_paging_monitors is 90, max_p1_monitors is 85. Raising either is a reviewed pull request with a stated reason, never a side effect of adding archetypes.
Four more mechanisms sit underneath. Multi-alert grouping: the monitor evaluates per group, not per resource. notify_by collapse — the single most effective control — a monitor grouped by cluster, namespace and deployment with notify_by cluster evaluates four thousand groups and sends one notification per cluster. Deduplication and flap suppression: identical dedup key within fifteen minutes is one event, and a group transitioning more than four times an hour is muted with a ticket raised instead. And storm limits: a hundred groups on one monitor collapses to a single "N groups alerting" notification; twenty-five notifications per team per hour suppresses and pages the platform team; fifty pages globally per hour declares a major incident, stops paging and opens the bridge.
Banned group-by keys are enforced three times — policy lint, plan-time precondition, and runtime check C11 — because one container_id in a group_by turns a single alert into thousands.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Incident creation is declared in the notification profiles, and it derives from the same priority model as routing and paging. A P1 opens a SEV-1. A P2 opens a SEV-2. A P3 does not open an incident — it becomes a ServiceNow task when it is sustained. A P4 opens nothing and is reviewed in aggregate.
The response contract is the tier table: P1 acknowledges in five minutes and escalates in ten, twenty-four by seven, with an incident commander on the bridge. P2 acknowledges in ten and escalates in twenty. P3 is next business day. P4 is reviewed monthly.
The flow on the right is what actually happens when a monitor fires, and every step of it is automatic up to the point where a human opens the runbook.
Why PARTIAL, precisely: the severity-to-incident intent is declared and deployed, but there is no incident-command role model in the platform and no timeline or post-incident-review automation. Datadog can hold the incident; we have not yet encoded who does what inside it, or automated the write-up afterwards. That is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need to be blunt about this one, because it is the second thing this room has to act on.
The structure is real and deployed. Seven teams. Fourteen schedules — a primary and a secondary per team. Seven escalation policies, four steps each: primary, secondary, team lead, then incident commander. Routing rules that split high and low urgency. Ack and escalation timeouts derived from the priority model, not set per team, because a P1 has the same urgency contract everywhere in the enterprise.
And every position is unassigned. Rosters come from the identity-provider sync and are empty at bootstrap. The module builds the full structure regardless and holds an unassigned position rather than inventing a name — which is the correct behaviour, because a fabricated rotation is worse than an obviously empty one. But the operational consequence is simple: if a P1 fired in production this afternoon, the escalation policy would execute correctly and reach nobody.
The fix is not engineering. It is the identity-provider group sync plus each team naming its primary and secondary. That is a people decision, and it belongs to the seven team leads in this room.
One more design note while we are here: teams never configure routing. There is no field for it in the self-service schema and no destination string anywhere in a monitor. Changing where a team's P1s go is one line in teams.yaml and touches zero monitors.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Incident command is where I want to be most careful about what we claim.
What is real: the fourth escalation step exists on all seven policies and is reserved for the incident commander. The framework declares that a P1 has an IC on the bridge. The global storm limit — fifty pages an hour — automatically declares a major incident, stops paging and opens the bridge, which is exactly the situation an IC exists for.
What is not real: there is no leadership team provisioned in Datadog yet, so step four currently falls back to the owning team. The configuration literally carries an empty leadership team id with a comment saying wire the real id the moment a leadership handle exists. There is no role model in the platform for commander, communications lead, operations lead or scribe. And there is no timeline capture or post-incident-review automation.
The roles on the right are the intended model. Getting there is three concrete pieces of work: provision the leadership team and wire its id, encode the roles in the incident settings, and automate the timeline and PIR. That is scheduled with the reports and dashboards work in phase six.
The honest framing for this room: we have a working escalation path and a written command doctrine. We do not yet have the platform enforcing the doctrine.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ServiceNow is used intentionally, and the intent is the four rows on this slide.
A P1 creates a ServiceNow incident at P1 and pages. A P2 creates a ServiceNow incident at P2 and, unless it comes from a burn-rate alert or a composite, does not page. A P3 creates a task, but only when it is sustained past two renotifications — that is how "actionable but not urgent" avoids becoming "quietly ignored forever". A P4 creates nothing.
Non-production is deliberately different: QA and stage create ServiceNow TASKS, never incidents, and never page. A failing test environment is a work item, not an operational event.
The design principle underneath: the ticket system records and schedules work; the pager interrupts a human life. Those are different decisions, and conflating them is how organisations end up with a ticket queue nobody reads and a pager nobody trusts.
Routing to ServiceNow is resolved by the notification rules from tags — no monitor names a ServiceNow group, so moving a team's tickets to a different assignment group is a one-line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hundred and sixty-one runbooks, published as native Datadog notebooks, attached to all 651 monitors as an asset. Zero runbook URLs pasted into alert bodies — that is measured, and it is a contract check, not an aspiration.
The generation model is the interesting part. One runbook per archetype, id-matched, so "every monitor has a runbook" is mechanically checkable rather than a claim. The generator writes the block a machine genuinely knows — what fired, why it matters, which SLO it affects, which automation is attached, how it is grouped, and the escalation contract — between autogenerated markers, and regenerates it on every catalog change. Human sections outside those markers are preserved forever.
Publishing is API-backed with an embedded content hash, which makes it idempotent, makes drift detectable, and lets CI fail if a published runbook has been edited in the UI away from the repository.
The honest part: sections marked TODO by owner are tracked per domain. That is a visible backlog rather than 261 empty files or 261 stale ones. A generated frame with a named gap is more useful at 3am than a beautifully written runbook for a monitor that no longer exists.
Ownership: the runbook content belongs to the team that owns the archetype's domain, and it changes by pull request like everything else.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Twenty-seven workflows are catalogued and classified into four classes by blast radius.
Diagnostic-only is read-only. It gathers context and changes nothing, and it runs automatically on every single alert — so by the time a human opens the page, the error samples, the last three deploys and the dependency health summary are already attached. That is the class that saves the most time and carries the least risk.
Fully automatic changes production, but only where the action is provably safe, idempotent and reversible, and only with a blast-radius cap. The module refuses to publish one without reversible true and a maximum actions per hour.
Approval-required prepares everything and waits for a human decision. Manual means the runbook documents it and no automation exists yet — which is an honest state, not a failure.
That guardrail did real work during construction: a job-rerun workflow was marked irreversible with owner approval, and the resolution was to make the guardrail explicit — the workflow now refuses to touch a job that has not declared itself idempotent.
And now the action item. Only two of the twenty-seven are deployed. The organisation's Datadog plan caps total workflows at about twenty, and eighteen of those slots are held by workflows from an August experiment owned by a different Datadog login. Our CI credentials get a 403 trying to delete them, because of per-resource restriction policies. Someone with that login, or an org admin using each workflow's permissions UI, needs to delete those eighteen. Then we raise the budget in one tfvars line and the rest of the catalog deploys.
That is a five-minute task blocking twenty-five automations.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five is where most of the remaining roadmap lives. Five of these six topics are not built. I will be explicit about each one and about the order we build them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reports exist today and they are not cosmetic — three of them gate the pipeline.
The coverage and compliance report runs seventeen checks, C1 to C17, against the live org, and blocks a production deploy on platform-integrity findings. The quality scorecard grades every monitor across eight dimensions and fails CI below a fleet average of 85 or on any failing monitor. The monitor reconciliation report gives one row per managed monitor — service, owner, severity, route, escalation policy, runbook, notebook id, auto-resolve, SLO, workflow, status. And the coverage matrix documents every archetype instance and is regenerated by CI so it cannot drift.
What does not exist is the report catalog: an executive report, an operations report, a platform report, a database report and an Azure report — five named audiences, five recurring outputs, delivered rather than pulled. That is phase six, alongside the dashboard consolidation.
The distinction matters. What we have is engineering instrumentation that happens to be readable. What we do not have is a product that arrives in an executive's inbox on the first Monday of the month. I am not going to describe the second one as if it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design position is four dashboards, and the reasoning is that Datadog's Service Catalog, APM views and Infrastructure views are better than anything we would hand-build, and they are already there.
The four: an enterprise overview for leadership, an operations overview for the people running the estate, an on-call board for the person holding the pager, and an alert-quality board — which is the one that keeps the platform honest, because it shows pages per team, the noisiest monitors, actionability and auto-resolve rates.
Today there are eighteen: those four plus fourteen generated per-domain drill-downs. That is not a disaster — they are generated, consistent and cheap — but it is more than the design calls for, and every extra board is a thing that can go stale and mislead. Phase six retires the per-domain generator in favour of native domain views and keeps the four.
The rule I would ask this room to hold us to: a dashboard is not a deliverable. Nobody's reliability improved because a board existed. The four we keep are the ones that drive a decision — is the estate healthy, what is on fire, who is holding the pager, and is our alerting any good.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start with the disclaimer, because this is the topic most likely to be over-sold in a room like this: a repository-wide search for MCP returns zero files. None of this is built. It is phase seven, after the platform is true.
What Ask mode will be: a server exposing the platform's own state — catalog, monitors, SLOs, events, incidents, on-call, fleet, reports — as tools, over the same policy engine the Terraform already reads. So the answer to "which tier0 services have no SLO?" comes from resolving the actual policy hierarchy, not from a model guessing.
The questions on the right are the kind of thing it must answer, and the acceptance test is specific: every one answered from live state, with the query it ran shown alongside the answer.
Why this matters more than it sounds. Today, answering "who owns this alert and why did it page?" requires someone who knows the repository. That person is a bottleneck and a single point of failure. Ask mode turns platform knowledge from a person into an interface.
Two design commitments I want on the record now, before anyone builds it. It is independent of Bits AI — this is our platform's state, exposed by us. And it is read-only: Ask cannot change anything. Changing things is the next slide, and it works completely differently.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 mode is where an AI interface to an infrastructure platform usually goes wrong, so the design commitment is simple and absolute: the MCP server never touches Datadog directly. Not once, not for a small change, not in an emergency.
What it does instead: inspect the current state, validate a proposed change against the policy engine, generate the YAML, open a pull request, and let the existing CI gate run — schema, policy lint, cardinality, paging discipline, budget checks, plan determinism, and Datadog's own monitor validation API. A human approves. Terraform applies.
The acceptance criterion is exactly one sentence: a pull request created by the MCP server passes CI unmodified. If it cannot meet the same bar as a human contributor, it does not get to contribute.
The value is speed and correctness on the boring changes: a new service registration, a threshold rationale, a routing update, an exception with an expiry. Those are the changes that today wait days for someone with repository knowledge to find twenty minutes.
What it deliberately cannot do: bypass the gate, apply Terraform, mute a monitor, or edit anything in the Datadog UI. Every one of those would break the invariant that the repository is the only source of truth — and the moment that invariant breaks, the drift detection that keeps this platform honest becomes noise.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controls, and I want them agreed in principle before a line of the server is written.
Authentication: no anonymous access, no shared token. Identity comes from the corporate identity provider, and every session is attributable to a person.
Authorisation: the same RBAC model the platform already uses, mapped through. A user who cannot edit monitors in Datadog cannot open a monitor pull request through the MCP server. The interface never grants more than the person already has.
Dry run by default. Every write-shaped tool call returns a plan first. Nothing is committed without a second, explicit confirmation naming exactly what will change.
Approval: a human approves the pull request. The server is a contributor, never a reviewer, and never its own approver.
Audit: every tool call — read and write — is logged with the identity, the arguments, the result and the resulting pull request, and that log is queryable. If we cannot answer "what did it do last Tuesday and who asked it to", we should not run it.
The negative tests matter as much as the positive ones. An unauthorised write must be refused and logged. That is an acceptance criterion, not a nice-to-have.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is no web application in the repository. This is phase eight, and it is deliberately last among the product surfaces, because a portal over an estate whose telemetry is not tagged would show a very convincing picture of nothing.
The design: progressive drilldown in five levels. Enterprise health, then system, then service, then the SLO and its error budget, then the incident. Each level answers one question and offers exactly one way down.
Three non-negotiables. It reads live Datadog APIs — no copies, no nightly export that is quietly six hours stale. It shows data freshness on every panel, because an executive dashboard that silently displays stale numbers during an incident is worse than no dashboard. And it authenticates with corporate SSO against a read-only role — the Viewer / Auditor role already exists in our RBAC model and is exactly right for this.
Who it is for: everyone in this room who is not going to open Datadog. The value is that "how are we doing?" stops being a question someone has to build a slide to answer — which, I will note without irony, is what I have spent this week doing.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six is the practical close: two procedures, the outcomes, the adoption sequence, and the metrics we will publish monthly.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it, because this is the procedure most people in this room will actually touch.
Step one: tag the telemetry. env, service, team, tier, service_archetype — plus the alert_band that the platform derives and that must reach the telemetry. Agent config, Azure resource tags via policy, Kubernetes labels, or DD_TAGS depending on where the thing runs.
Step two: pick the service archetype honestly. Pick by what the thing IS, not what it is written in. A Java service behind HTTP is an api; the same codebase consuming a queue is an event_consumer. That single declaration selects the monitor packs.
Step three: write the registration file — five fields — and open a pull request. CI validates the schema, the tier, the routing resolution and the SLO association.
Step four: merge. It applies to qa and stage automatically; production is an explicit dispatch behind an approval gate.
Step five: verify. The coverage report will show the service as owned rather than as a C2 violation, and the service catalog entry appears with your team on it.
Step six: fill in your runbook sections. That is the only ongoing obligation, and it is the difference between an alert that helps at 3am and one that just wakes someone.
Elapsed engineering time for a team that already tags correctly: minutes. That is the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paths, and choosing between them is the only judgement call.
If the need is a pattern — anything that would apply to more than one service — it belongs in the archetype catalog, because then everyone with that archetype gets it. That is a pull request against platform/policy/archetypes, reviewed by the platform team.
If the need is genuinely unique to one service, it is a self-service manifest: one file, about fifteen lines, in platform/monitors. The requesting team owns it; the platform team reviews only exceptions.
Either way the gate is the same, and it is worth listing because it is what makes this safe: JSON schema, policy lint across twelve rule families, duplicate detection, cardinality limits, scope validation, routing resolution, SLO association, runbook presence, the quality score, plan-time preconditions and budget checks, plan determinism, and every planned monitor submitted to Datadog's own validation API. Then a terraform plan is posted to the pull request.
Three rules that come up every time. Thresholds are per archetype, never per host — if a host is genuinely special it needs its own service identity. You cannot raise your own priority; priority comes from tier, and tier is a reviewed business decision, so the validator rejects a P1 on a tier2 service and tells you why. And if it is noisy, that is a defect with an owner — open a pull request against the archetype so everyone benefits, or file an exception with a reason, an approver and an expiry. Do not mute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have split this deliberately, because it is the slide most likely to be quoted back at me.
The structural outcomes are true today and you can verify every one. 651 monitors for an estate the naive model would need eight million for. Zero new Datadog objects when fifty thousand services are added. Seventy monitors — eleven percent — may page a human, budgeted at ninety at plan time. Zero monitors without a runbook, an SLO association, automation, resolvable routing or an auto-resolve window; all contract-enforced. Zero fixed thresholds without a written rationale; CI-enforced. One hundred percent coverage of the alertable estate. And 651 of 651 monitor queries validated by Datadog's own API on the last deploy.
The behavioural outcomes are what the business actually cares about: fewer pages per engineer per week, faster acknowledgement, faster resolution, and a measurable drop in alerts nobody acts on. I cannot show you a before-and-after on any of those, for two honest reasons. First, we have no trustworthy baseline from the previous model. Second, and more importantly, the monitors are not receiving data yet — so any noise number I showed you today would be zero, and zero would be a lie by omission.
That is the deal I am offering: structural outcomes now, behavioural outcomes measured and published from the month after the tagging lands. Hold me to the second half.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sequencing principle: nothing here is adopted by a big-bang cutover, and no team is asked to migrate their monitors. The monitors already exist; a team joins them by being correctly tagged.
Five movements. First, the platform lands — done: first full promotion completed green, all four environments, with the evidence artifact attached to the run. Second, the tagging campaign — this is the project, and it is where the effort actually is. Azure Policy with a modify effect on resource groups, agent configuration on hosts, Kubernetes labels, and DD_TAGS plus DD_VERSION in the deployment pipelines. Third, rosters and routing — teams name their primary and secondary and confirm their channels. Fourth, per-team onboarding: register services, choose tiers, fill in runbooks. Fifth, the surfaces — reports, MCP, the portal.
Note what is deliberately NOT in this list: a request for teams to write monitors, a migration of existing monitors, or a freeze. There is no cutover event.
The adoption unit is a team, not a service, because the tagging work, the roster and the runbook ownership are all team-level. Seven teams. A team that already tags cleanly is done in a day.
What we ask of leadership: an owner for the Azure Policy work, the rosters named, and the workflow quota released. Those three unblock everything else.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 metrics, published monthly, in the alert-quality review with domain owners.
Reportable today: tag conformance — the percentage of resources carrying all six tags, which is currently the campaign's own progress bar. Coverage of the alertable estate, which is one hundred percent. Monitor quality — the fleet scorecard average, gated at 85 with zero failing monitors. And governance findings: open C1 to C17 items and the age of the oldest.
Blocked on the tagging: pages per engineer per week, which is the single best proxy for whether on-call is sustainable. Actionability — the proportion of pages that led to an action rather than an acknowledgement and a shrug. Time to acknowledge and time to resolve for P1s. Error-budget consumption by tier. And fleet compliance, which additionally needs phase three.
I want to be clear about the shape of this: the first four measure whether the platform is built correctly. The last five measure whether it is working. We can only currently report the first kind, and a programme that only ever reports the first kind is a programme that has confused shipping with succeeding.
The monthly alert-quality review is the forum, it already exists in the operating model, and I would like a standing fifteen minutes of a leadership meeting for the summary.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slide I would keep if I could keep only one besides slide three.
Nine phases, ordered by dependency rather than by visibility. Phases one to three are the ones that change whether the platform WORKS: the entity model, telemetry requirements with an applicability engine, and fleet management with agent profiles and deployment metadata. Today 651 correct monitors return no data, and these three phases are what fixes that.
Phase four is SLO profiles and per-service overrides. Phase five is Control-M in-flight job monitoring, which does not exist at all today — a repository-wide search returns zero files. Phase six is the reports catalog, the dashboard consolidation, the survey and entity-aware scorecards.
Phases seven and eight are the product surfaces — the MCP server and the executive portal. They are last deliberately: they are surfaces on top of a platform that must be true first. A conversational interface over untagged telemetry would answer confidently and wrongly, which is worse than not having it.
Phase nine is this presentation and the final traceability review.
Each phase is independently shippable and leaves the platform working. There is no phase that has to complete before the platform is useful — it is useful now, for the resources that are correctly tagged. The phases decide how many resources that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four asks and one commitment.
One: a named owner and a date for the Azure Policy tagging work — or a decision to take the tier-scoping shortcut instead. Either is defensible. Undecided is not, because undecided reads as covered.
Two: seven rosters named, or the identity-provider group sync switched on. Until then a page reaches nobody.
Three: someone with the right Datadog login deletes eighteen legacy workflows so twenty-five automations can deploy.
Four: agreement on the phase order — entity model, telemetry, fleet first; MCP and the portal last.
And the commitment from us: every number in this deck came from the repository or the last production deploy, and the same will be true of the monthly report. When something is not working we will show you that slide first, the way we did today.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appendix is reference material. I will not walk through it — it is here so that the answer to a detailed question is a slide rather than a promise to follow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audit method matters as much as the result. Every section was checked against the repository AND the last production deploy's evidence artifact — 651 monitors, 22 SLOs, 111 notification rules, 261 runbooks. Nothing is recorded as MISSING because it could not be found quickly; each MISSING row was confirmed by a repository-wide search returning zero matches.
The shape of the result: strong on the monitor to SLO to routing to runbook spine. Absent on the product surfaces — MCP server, executive portal, survey — and on fleet and agent operations and Control-M.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every managed monitor grouped by domain, taken from the plan fixture that CI regenerates — so it cannot drift from what Terraform actually deploys.
Cloud and database dominate, which is what you would expect from an Azure estate with SQL Server, Azure SQL, Cosmos and Snowflake in it. The counts are archetype times environment times alert band, not per-resource — every one of these covers every matching resource in the estate as a group.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priority distribution: 69 P1, 141 P2, 351 P3, 90 P4.
Then the paging rule cuts across it. Seventy monitors may page — production, critical band, and either P1 or a confirmed-impact source. That is why 141 P2s do not produce 141 pagers: a P2 raised by a lone symptom creates an incident and a ticket and wakes nobody.
Both numbers are budgeted at plan time: 90 paging monitors maximum, 85 P1 monitors maximum. Growth is a reviewed pull request.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Forty percent of instances use predictive detection: anomaly, seasonal anomaly, forecast, outlier or rate of change. Add the SLO burn-rate monitors and it is nearly half.
Fixed thresholds survive where the number itself is the operational contract — a certificate expiry, an SLA, a quota, a protocol limit, a DLQ depth. Every one of them carries a rationale_fixed_threshold in the catalog, and the policy linter rejects any that does not, whether or not the signal is behavioural. The test suite additionally asserts that predictive instances outnumber fixed ones by at least 0.6 times, so the ratio cannot quietly erode.
The two canonical replacements are worth remembering: CPU greater than 80% becomes an anomaly against the host's own normal, because a batch node at 95% on schedule is healthy and an API node at 55% when it normally runs at 20% is not. And disk greater than 90% becomes a three-day linear forecast, because a volume steady at 92% for two years is not an incident and a volume at 60% growing 8% a day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definition is used everywhere. The environment changes loudness, never detection.
Dev instantiates only fifteen baseline liveness monitors, all P4, all informational, and routes nowhere. QA is release-blocking only, at the baseline band, capped at P3. Stage is production-shaped at P3. Production is the full set.
Three design notes. Environments can only ever make a signal quieter — there is no code path anywhere that raises a priority in a non-production environment, and that is asserted as a property test over the whole matrix. Evaluation windows widen instead of thresholds moving: last_15m in production becomes last_30m in stage and QA. And thresholds are never rewritten anywhere, because scaling an anomaly threshold silently changes the algorithm — it is a deviation count, not a value.
The one sanctioned exception is the release gate: a tier0 release-gate archetype in stage may reach P2 and notify the release channel during an active release window, so a bad release is stopped before production. It still never pages, and it is currently not provisioned — it waits on the release-window signal from the deployment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profiles cover the entire enterprise, and 111 notification rules implement them. Adding a team adds its routing automatically; adding a monitor adds none.
The security routing decision is worth calling out: security signals route to the security team regardless of who owns the resource, because the responder is not the owner. The owning team is notified in parallel for context, never as the primary responder — and it is expressed as a domain-level routing override so it cannot be forgotten on an individual monitor.
The release-gate profile is defined but not provisioned: it waits on the release-window signal from the deployment pipeline, so no dead notification rules exist in the meantime.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twenty-one domain SLOs. A grouped SLI query covers every service in the domain, which is what keeps the count bounded — the alternative, one SLO per service, is twenty-seven thousand objectives that nobody reviews.
Tier0 services add their own on top. Today that is one service, identity-api, giving twenty-two objectives and forty-one burn-rate monitors.
Which windows apply comes from the tier: tier0 gets fast, medium and slow; tier1 gets fast and slow; tier2 gets slow only. Fast and medium page. Slow raises a ticket. Trend is informational.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Seventeen runtime checks against the live organisation. Three of them gate the production deploy — the platform-integrity ones — and all seventeen gate the nightly governance run, which opens a GitHub issue when it goes red.
The distinction between the two gates matters: a deploy must not go permanently red over a tag on a resource the platform does not own. Estate-hygiene findings stay in the report and are chased by the nightly run; platform-integrity findings block the deploy.
The two I would watch as a leader are C2 — resources without a resolvable owner, which has a fourteen-day SLA — and C9, click-ops monitors, which is how we detect somebody quietly creating a monitor in the UI. Both are about whether the operating model is actually being followed.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appendix slide to photograph. Six tags, and the four ways to apply them.
For hosts and VMs it is the tags block in datadog.yaml. For Azure resources it is resource tags collected by the Azure integration — and Azure Policy with a modify effect is the only mechanism that keeps them true over time. Tagging by hand at creation decays within a quarter. For Kubernetes it is the tags.datadoghq.com labels, which Datadog picks up automatically, plus DD_KUBERNETES_POD_LABELS_AS_TAGS for the remaining four. For APM and custom metrics it is the environment variables, including DD_VERSION and DD_GIT_COMMIT_SHA, which are what make deployment-to-incident correlation work.
Two more worth setting deliberately: cost_center on Azure resources, which is what makes a cost alert routable to someone who can act on it instead of to a finance inbox; and compliance_scope, which automatically promotes a service to the regulated profile.
And the banned list at the bottom — never group by an identity key. Each one turns a single alert into thousands, and the limit of three group keys is enforced at plan time, so a monitor that violates it cannot be created.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gap register on one slide, so that nobody has to reconstruct it from fifteen individual footnotes — and so that if someone quotes this deck back at us in six months, the gaps are as quotable as the wins.
Read it as the counter-argument to everything else I have said. If you want to test the programme, test it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figure in this deck is traceable to one of these sources, and all of them are in the repository or attached to a deploy run.
If you want to check a number: the monitor counts come from the plan-derived fixture that CI regenerates and staleness-gates. The runbook, routing and paging figures come from the reconciliation report, which is generated with live Datadog ids after every production apply. The status labels come from the traceability matrix. The tagging findings come from the last live profiling run.
Nothing in this deck was typed from memory, and nothing was rounded in our favour.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61F"/>
        </a:solidFill>
      </p:bgPr>
    </p:bg>
    <p:spTree>
      <p:nvGrpSpPr>
        <p:cNvPr id="1" name=""/>
        <p:cNvGrpSpPr/>
        <p:nvPr/>
      </p:nvGrpSpPr>
      <p:grpSpPr>
        <a:xfrm>
          <a:off x="0" y="0"/>
          <a:ext cx="0" cy="0"/>
          <a:chOff x="0" y="0"/>
          <a:chExt cx="0" cy="0"/>
        </a:xfrm>
      </p:grpSpPr>
      <p:sp>
        <p:nvSpPr>
          <p:cNvPr id="2" name="Text 0"/>
          <p:cNvSpPr/>
          <p:nvPr/>
        </p:nvSpPr>
        <p:spPr>
          <a:xfrm>
            <a:off x="566928" y="6345936"/>
            <a:ext cx="7315200" cy="274320"/>
          </a:xfrm>
          <a:prstGeom prst="rect">
            <a:avLst/>
          </a:prstGeom>
          <a:noFill/>
          <a:ln/>
        </p:spPr>
        <p:txBody>
          <a:bodyPr wrap="square" lIns="0" tIns="0" rIns="0" bIns="0" rtlCol="0" anchor="ctr"/>
          <a:lstStyle/>
          <a:p>
            <a:pPr indent="0" marL="0">
              <a:buNone/>
            </a:pPr>
            <a:r>
              <a:rPr lang="en-US" sz="900" dirty="0">
                <a:solidFill>
                  <a:srgbClr val="6E7B92"/>
                </a:solidFill>
                <a:latin typeface="Calibri" pitchFamily="34" charset="0"/>
                <a:ea typeface="Calibri" pitchFamily="34" charset="-122"/>
                <a:cs typeface="Calibri" pitchFamily="34" charset="-120"/>
              </a:rPr>
              <a:t>Enterprise Observability  ·  policy-as-data on Datadog</a:t>
            </a:r>
            <a:endParaRPr lang="en-US" sz="900" dirty="0"/>
          </a:p>
        </p:txBody>
      </p:sp>
      <p:sp>
        <p:nvSpPr>
          <p:cNvPr id="3" name="Text 1"/>
          <p:cNvSpPr/>
          <p:nvPr/>
        </p:nvSpPr>
        <p:spPr>
          <a:xfrm>
            <a:off x="10710367" y="6345936"/>
            <a:ext cx="914400" cy="274320"/>
          </a:xfrm>
          <a:prstGeom prst="rect">
            <a:avLst/>
          </a:prstGeom>
          <a:noFill/>
          <a:ln/>
        </p:spPr>
        <p:txBody>
          <a:bodyPr wrap="square" lIns="0" tIns="0" rIns="0" bIns="0" rtlCol="0" anchor="ctr"/>
          <a:lstStyle/>
          <a:p>
            <a:pPr algn="r" indent="0" marL="0">
              <a:buNone/>
            </a:pPr>
            <a:r>
              <a:rPr lang="en-US" sz="900" dirty="0">
                <a:solidFill>
                  <a:srgbClr val="6E7B92"/>
                </a:solidFill>
                <a:latin typeface="Calibri" pitchFamily="34" charset="0"/>
                <a:ea typeface="Calibri" pitchFamily="34" charset="-122"/>
                <a:cs typeface="Calibri" pitchFamily="34" charset="-120"/>
              </a:rPr>
              <a:t>1</a:t>
            </a:r>
            <a:endParaRPr lang="en-US" sz="900" dirty="0"/>
          </a:p>
        </p:txBody>
      </p:sp>
      <p:sp>
        <p:nvSpPr>
          <p:cNvPr id="5" name="Text 2"/>
          <p:cNvSpPr/>
          <p:nvPr/>
        </p:nvSpPr>
        <p:spPr>
          <a:xfrm>
            <a:off x="566928" y="1691640"/>
            <a:ext cx="8229600" cy="320040"/>
          </a:xfrm>
          <a:prstGeom prst="rect">
            <a:avLst/>
          </a:prstGeom>
          <a:noFill/>
          <a:ln/>
        </p:spPr>
        <p:txBody>
          <a:bodyPr wrap="square" lIns="0" tIns="0" rIns="0" bIns="0" rtlCol="0" anchor="ctr"/>
          <a:lstStyle/>
          <a:p>
            <a:pPr indent="0" marL="0">
              <a:buNone/>
            </a:pPr>
            <a:r>
              <a:rPr lang="en-US" sz="1200" b="1" spc="240" kern="0" dirty="0">
                <a:solidFill>
                  <a:srgbClr val="E09A2E"/>
                </a:solidFill>
                <a:latin typeface="Calibri" pitchFamily="34" charset="0"/>
                <a:ea typeface="Calibri" pitchFamily="34" charset="-122"/>
                <a:cs typeface="Calibri" pitchFamily="34" charset="-120"/>
              </a:rPr>
              <a:t>ENTERPRISE OBSERVABILITY PROGRAMME</a:t>
            </a:r>
            <a:endParaRPr lang="en-US" sz="1200" dirty="0"/>
          </a:p>
        </p:txBody>
      </p:sp>
      <p:sp>
        <p:nvSpPr>
          <p:cNvPr id="6" name="Text 3"/>
          <p:cNvSpPr/>
          <p:nvPr/>
        </p:nvSpPr>
        <p:spPr>
          <a:xfrm>
            <a:off x="566928" y="2057400"/>
            <a:ext cx="7863840" cy="1828800"/>
          </a:xfrm>
          <a:prstGeom prst="rect">
            <a:avLst/>
          </a:prstGeom>
          <a:noFill/>
          <a:ln/>
        </p:spPr>
        <p:txBody>
          <a:bodyPr wrap="square" lIns="0" tIns="0" rIns="0" bIns="0" rtlCol="0" anchor="t"/>
          <a:lstStyle/>
          <a:p>
            <a:pPr indent="0" marL="0">
              <a:lnSpc>
                <a:spcPct val="105000"/>
              </a:lnSpc>
              <a:buNone/>
            </a:pPr>
            <a:r>
              <a:rPr lang="en-US" sz="4200" b="1" dirty="0">
                <a:solidFill>
                  <a:srgbClr val="FFFFFF"/>
                </a:solidFill>
                <a:latin typeface="Cambria" pitchFamily="34" charset="0"/>
                <a:ea typeface="Cambria" pitchFamily="34" charset="-122"/>
                <a:cs typeface="Cambria" pitchFamily="34" charset="-120"/>
              </a:rPr>
              <a:t>Monitoring as policy,</a:t>
            </a:r>
            <a:endParaRPr lang="en-US" sz="4200" dirty="0"/>
          </a:p>
          <a:p>
            <a:pPr indent="0" marL="0">
              <a:lnSpc>
                <a:spcPct val="105000"/>
              </a:lnSpc>
              <a:buNone/>
            </a:pPr>
            <a:r>
              <a:rPr lang="en-US" sz="4200" b="1" dirty="0">
                <a:solidFill>
                  <a:srgbClr val="FFFFFF"/>
                </a:solidFill>
                <a:latin typeface="Cambria" pitchFamily="34" charset="0"/>
                <a:ea typeface="Cambria" pitchFamily="34" charset="-122"/>
                <a:cs typeface="Cambria" pitchFamily="34" charset="-120"/>
              </a:rPr>
              <a:t>not as configuration</a:t>
            </a:r>
            <a:endParaRPr lang="en-US" sz="4200" dirty="0"/>
          </a:p>
        </p:txBody>
      </p:sp>
      <p:sp>
        <p:nvSpPr>
          <p:cNvPr id="7" name="Text 4"/>
          <p:cNvSpPr/>
          <p:nvPr/>
        </p:nvSpPr>
        <p:spPr>
          <a:xfrm>
            <a:off x="566928" y="3977640"/>
            <a:ext cx="6949440" cy="822960"/>
          </a:xfrm>
          <a:prstGeom prst="rect">
            <a:avLst/>
          </a:prstGeom>
          <a:noFill/>
          <a:ln/>
        </p:spPr>
        <p:txBody>
          <a:bodyPr wrap="square" lIns="0" tIns="0" rIns="0" bIns="0" rtlCol="0" anchor="t"/>
          <a:lstStyle/>
          <a:p>
            <a:pPr indent="0" marL="0">
              <a:buNone/>
            </a:pPr>
            <a:r>
              <a:rPr lang="en-US" sz="1450" dirty="0">
                <a:solidFill>
                  <a:srgbClr val="A9B6CB"/>
                </a:solidFill>
                <a:latin typeface="Calibri" pitchFamily="34" charset="0"/>
                <a:ea typeface="Calibri" pitchFamily="34" charset="-122"/>
                <a:cs typeface="Calibri" pitchFamily="34" charset="-120"/>
              </a:rPr>
              <a:t>One reviewed YAML hierarchy drives every monitor, SLO, route, runbook and automation in Datadog. This is what is running today, what is not, and what happens next.</a:t>
            </a:r>
            <a:endParaRPr lang="en-US" sz="1450" dirty="0"/>
          </a:p>
        </p:txBody>
      </p:sp>
      <p:sp>
        <p:nvSpPr>
          <p:cNvPr id="8" name="Text 5"/>
          <p:cNvSpPr/>
          <p:nvPr/>
        </p:nvSpPr>
        <p:spPr>
          <a:xfrm>
            <a:off x="566928" y="4983480"/>
            <a:ext cx="2560320" cy="566928"/>
          </a:xfrm>
          <a:prstGeom prst="rect">
            <a:avLst/>
          </a:prstGeom>
          <a:noFill/>
          <a:ln/>
        </p:spPr>
        <p:txBody>
          <a:bodyPr wrap="square" lIns="0" tIns="0" rIns="0" bIns="0" rtlCol="0" anchor="ctr"/>
          <a:lstStyle/>
          <a:p>
            <a:pPr algn="l" indent="0" marL="0">
              <a:buNone/>
            </a:pPr>
            <a:r>
              <a:rPr lang="en-US" sz="3400" b="1" dirty="0">
                <a:solidFill>
                  <a:srgbClr val="FFFFFF"/>
                </a:solidFill>
                <a:latin typeface="Cambria" pitchFamily="34" charset="0"/>
                <a:ea typeface="Cambria" pitchFamily="34" charset="-122"/>
                <a:cs typeface="Cambria" pitchFamily="34" charset="-120"/>
              </a:rPr>
              <a:t>651</a:t>
            </a:r>
            <a:endParaRPr lang="en-US" sz="3400" dirty="0"/>
          </a:p>
        </p:txBody>
      </p:sp>
      <p:sp>
        <p:nvSpPr>
          <p:cNvPr id="9" name="Text 6"/>
          <p:cNvSpPr/>
          <p:nvPr/>
        </p:nvSpPr>
        <p:spPr>
          <a:xfrm>
            <a:off x="566928" y="5513832"/>
            <a:ext cx="2560320" cy="548640"/>
          </a:xfrm>
          <a:prstGeom prst="rect">
            <a:avLst/>
          </a:prstGeom>
          <a:noFill/>
          <a:ln/>
        </p:spPr>
        <p:txBody>
          <a:bodyPr wrap="square" lIns="0" tIns="0" rIns="0" bIns="0" rtlCol="0" anchor="t"/>
          <a:lstStyle/>
          <a:p>
            <a:pPr algn="l" indent="0" marL="0">
              <a:buNone/>
            </a:pPr>
            <a:r>
              <a:rPr lang="en-US" sz="1100" dirty="0">
                <a:solidFill>
                  <a:srgbClr val="8E9DB5"/>
                </a:solidFill>
                <a:latin typeface="Calibri" pitchFamily="34" charset="0"/>
                <a:ea typeface="Calibri" pitchFamily="34" charset="-122"/>
                <a:cs typeface="Calibri" pitchFamily="34" charset="-120"/>
              </a:rPr>
              <a:t>managed monitors</a:t>
            </a:r>
            <a:endParaRPr lang="en-US" sz="1100" dirty="0"/>
          </a:p>
        </p:txBody>
      </p:sp>
      <p:sp>
        <p:nvSpPr>
          <p:cNvPr id="10" name="Text 7"/>
          <p:cNvSpPr/>
          <p:nvPr/>
        </p:nvSpPr>
        <p:spPr>
          <a:xfrm>
            <a:off x="3355848" y="4983480"/>
            <a:ext cx="2560320" cy="566928"/>
          </a:xfrm>
          <a:prstGeom prst="rect">
            <a:avLst/>
          </a:prstGeom>
          <a:noFill/>
          <a:ln/>
        </p:spPr>
        <p:txBody>
          <a:bodyPr wrap="square" lIns="0" tIns="0" rIns="0" bIns="0" rtlCol="0" anchor="ctr"/>
          <a:lstStyle/>
          <a:p>
            <a:pPr algn="l" indent="0" marL="0">
              <a:buNone/>
            </a:pPr>
            <a:r>
              <a:rPr lang="en-US" sz="3400" b="1" dirty="0">
                <a:solidFill>
                  <a:srgbClr val="FFFFFF"/>
                </a:solidFill>
                <a:latin typeface="Cambria" pitchFamily="34" charset="0"/>
                <a:ea typeface="Cambria" pitchFamily="34" charset="-122"/>
                <a:cs typeface="Cambria" pitchFamily="34" charset="-120"/>
              </a:rPr>
              <a:t>264</a:t>
            </a:r>
            <a:endParaRPr lang="en-US" sz="3400" dirty="0"/>
          </a:p>
        </p:txBody>
      </p:sp>
      <p:sp>
        <p:nvSpPr>
          <p:cNvPr id="11" name="Text 8"/>
          <p:cNvSpPr/>
          <p:nvPr/>
        </p:nvSpPr>
        <p:spPr>
          <a:xfrm>
            <a:off x="3355848" y="5513832"/>
            <a:ext cx="2560320" cy="548640"/>
          </a:xfrm>
          <a:prstGeom prst="rect">
            <a:avLst/>
          </a:prstGeom>
          <a:noFill/>
          <a:ln/>
        </p:spPr>
        <p:txBody>
          <a:bodyPr wrap="square" lIns="0" tIns="0" rIns="0" bIns="0" rtlCol="0" anchor="t"/>
          <a:lstStyle/>
          <a:p>
            <a:pPr algn="l" indent="0" marL="0">
              <a:buNone/>
            </a:pPr>
            <a:r>
              <a:rPr lang="en-US" sz="1100" dirty="0">
                <a:solidFill>
                  <a:srgbClr val="8E9DB5"/>
                </a:solidFill>
                <a:latin typeface="Calibri" pitchFamily="34" charset="0"/>
                <a:ea typeface="Calibri" pitchFamily="34" charset="-122"/>
                <a:cs typeface="Calibri" pitchFamily="34" charset="-120"/>
              </a:rPr>
              <a:t>archetypes</a:t>
            </a:r>
            <a:endParaRPr lang="en-US" sz="1100" dirty="0"/>
          </a:p>
        </p:txBody>
      </p:sp>
      <p:sp>
        <p:nvSpPr>
          <p:cNvPr id="12" name="Text 9"/>
          <p:cNvSpPr/>
          <p:nvPr/>
        </p:nvSpPr>
        <p:spPr>
          <a:xfrm>
            <a:off x="6144768" y="4983480"/>
            <a:ext cx="2560320" cy="566928"/>
          </a:xfrm>
          <a:prstGeom prst="rect">
            <a:avLst/>
          </a:prstGeom>
          <a:noFill/>
          <a:ln/>
        </p:spPr>
        <p:txBody>
          <a:bodyPr wrap="square" lIns="0" tIns="0" rIns="0" bIns="0" rtlCol="0" anchor="ctr"/>
          <a:lstStyle/>
          <a:p>
            <a:pPr algn="l" indent="0" marL="0">
              <a:buNone/>
            </a:pPr>
            <a:r>
              <a:rPr lang="en-US" sz="3400" b="1" dirty="0">
                <a:solidFill>
                  <a:srgbClr val="FFFFFF"/>
                </a:solidFill>
                <a:latin typeface="Cambria" pitchFamily="34" charset="0"/>
                <a:ea typeface="Cambria" pitchFamily="34" charset="-122"/>
                <a:cs typeface="Cambria" pitchFamily="34" charset="-120"/>
              </a:rPr>
              <a:t>70</a:t>
            </a:r>
            <a:endParaRPr lang="en-US" sz="3400" dirty="0"/>
          </a:p>
        </p:txBody>
      </p:sp>
      <p:sp>
        <p:nvSpPr>
          <p:cNvPr id="13" name="Text 10"/>
          <p:cNvSpPr/>
          <p:nvPr/>
        </p:nvSpPr>
        <p:spPr>
          <a:xfrm>
            <a:off x="6144768" y="5513832"/>
            <a:ext cx="2560320" cy="548640"/>
          </a:xfrm>
          <a:prstGeom prst="rect">
            <a:avLst/>
          </a:prstGeom>
          <a:noFill/>
          <a:ln/>
        </p:spPr>
        <p:txBody>
          <a:bodyPr wrap="square" lIns="0" tIns="0" rIns="0" bIns="0" rtlCol="0" anchor="t"/>
          <a:lstStyle/>
          <a:p>
            <a:pPr algn="l" indent="0" marL="0">
              <a:buNone/>
            </a:pPr>
            <a:r>
              <a:rPr lang="en-US" sz="1100" dirty="0">
                <a:solidFill>
                  <a:srgbClr val="8E9DB5"/>
                </a:solidFill>
                <a:latin typeface="Calibri" pitchFamily="34" charset="0"/>
                <a:ea typeface="Calibri" pitchFamily="34" charset="-122"/>
                <a:cs typeface="Calibri" pitchFamily="34" charset="-120"/>
              </a:rPr>
              <a:t>may page a human</a:t>
            </a:r>
            <a:endParaRPr lang="en-US" sz="1100" dirty="0"/>
          </a:p>
        </p:txBody>
      </p:sp>
      <p:sp>
        <p:nvSpPr>
          <p:cNvPr id="14" name="Text 11"/>
          <p:cNvSpPr/>
          <p:nvPr/>
        </p:nvSpPr>
        <p:spPr>
          <a:xfrm>
            <a:off x="8933688" y="4983480"/>
            <a:ext cx="2560320" cy="566928"/>
          </a:xfrm>
          <a:prstGeom prst="rect">
            <a:avLst/>
          </a:prstGeom>
          <a:noFill/>
          <a:ln/>
        </p:spPr>
        <p:txBody>
          <a:bodyPr wrap="square" lIns="0" tIns="0" rIns="0" bIns="0" rtlCol="0" anchor="ctr"/>
          <a:lstStyle/>
          <a:p>
            <a:pPr algn="l" indent="0" marL="0">
              <a:buNone/>
            </a:pPr>
            <a:r>
              <a:rPr lang="en-US" sz="3400" b="1" dirty="0">
                <a:solidFill>
                  <a:srgbClr val="FFFFFF"/>
                </a:solidFill>
                <a:latin typeface="Cambria" pitchFamily="34" charset="0"/>
                <a:ea typeface="Cambria" pitchFamily="34" charset="-122"/>
                <a:cs typeface="Cambria" pitchFamily="34" charset="-120"/>
              </a:rPr>
              <a:t>100%</a:t>
            </a:r>
            <a:endParaRPr lang="en-US" sz="3400" dirty="0"/>
          </a:p>
        </p:txBody>
      </p:sp>
      <p:sp>
        <p:nvSpPr>
          <p:cNvPr id="15" name="Text 12"/>
          <p:cNvSpPr/>
          <p:nvPr/>
        </p:nvSpPr>
        <p:spPr>
          <a:xfrm>
            <a:off x="8933688" y="5513832"/>
            <a:ext cx="2560320" cy="548640"/>
          </a:xfrm>
          <a:prstGeom prst="rect">
            <a:avLst/>
          </a:prstGeom>
          <a:noFill/>
          <a:ln/>
        </p:spPr>
        <p:txBody>
          <a:bodyPr wrap="square" lIns="0" tIns="0" rIns="0" bIns="0" rtlCol="0" anchor="t"/>
          <a:lstStyle/>
          <a:p>
            <a:pPr algn="l" indent="0" marL="0">
              <a:buNone/>
            </a:pPr>
            <a:r>
              <a:rPr lang="en-US" sz="1100" dirty="0">
                <a:solidFill>
                  <a:srgbClr val="8E9DB5"/>
                </a:solidFill>
                <a:latin typeface="Calibri" pitchFamily="34" charset="0"/>
                <a:ea typeface="Calibri" pitchFamily="34" charset="-122"/>
                <a:cs typeface="Calibri" pitchFamily="34" charset="-120"/>
              </a:rPr>
              <a:t>of the alertable estate</a:t>
            </a:r>
            <a:endParaRPr lang="en-US" sz="1100" dirty="0"/>
          </a:p>
        </p:txBody>
      </p:sp>
      <p:sp>
        <p:nvSpPr>
          <p:cNvPr id="16" name="Text 13"/>
          <p:cNvSpPr/>
          <p:nvPr/>
        </p:nvSpPr>
        <p:spPr>
          <a:xfrm>
            <a:off x="6949440" y="3977640"/>
            <a:ext cx="4663440" cy="457200"/>
          </a:xfrm>
          <a:prstGeom prst="rect">
            <a:avLst/>
          </a:prstGeom>
          <a:noFill/>
          <a:ln/>
        </p:spPr>
        <p:txBody>
          <a:bodyPr wrap="square" lIns="0" tIns="0" rIns="0" bIns="0" rtlCol="0" anchor="t"/>
          <a:lstStyle/>
          <a:p>
            <a:pPr algn="r" indent="0" marL="0">
              <a:buNone/>
            </a:pPr>
            <a:r>
              <a:rPr lang="en-US" sz="1150" dirty="0">
                <a:solidFill>
                  <a:srgbClr val="6E7B92"/>
                </a:solidFill>
                <a:latin typeface="Calibri" pitchFamily="34" charset="0"/>
                <a:ea typeface="Calibri" pitchFamily="34" charset="-122"/>
                <a:cs typeface="Calibri" pitchFamily="34" charset="-120"/>
              </a:rPr>
              <a:t>Executive briefing  ·  20 August 2026  ·  observability-platform</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8778240" cy="256032"/>
          </a:xfrm>
          <a:prstGeom prst="rect">
            <a:avLst/>
          </a:prstGeom>
          <a:noFill/>
          <a:ln/>
        </p:spPr>
        <p:txBody>
          <a:bodyPr wrap="square" lIns="0" tIns="0" rIns="0" bIns="0" rtlCol="0" anchor="ctr"/>
          <a:lstStyle/>
          <a:p>
            <a:pPr indent="0" marL="0">
              <a:buNone/>
            </a:pPr>
            <a:r>
              <a:rPr lang="en-US" sz="1050" b="1" spc="160" kern="0" dirty="0">
                <a:solidFill>
                  <a:srgbClr val="B87914"/>
                </a:solidFill>
                <a:latin typeface="Calibri" pitchFamily="34" charset="0"/>
                <a:ea typeface="Calibri" pitchFamily="34" charset="-122"/>
                <a:cs typeface="Calibri" pitchFamily="34" charset="-120"/>
              </a:rPr>
              <a:t>HOW TO READ THIS DECK</a:t>
            </a:r>
            <a:endParaRPr lang="en-US" sz="1050" dirty="0"/>
          </a:p>
        </p:txBody>
      </p:sp>
      <p:sp>
        <p:nvSpPr>
          <p:cNvPr id="3" name="Text 1"/>
          <p:cNvSpPr/>
          <p:nvPr/>
        </p:nvSpPr>
        <p:spPr>
          <a:xfrm>
            <a:off x="566928" y="694944"/>
            <a:ext cx="10424160" cy="786384"/>
          </a:xfrm>
          <a:prstGeom prst="rect">
            <a:avLst/>
          </a:prstGeom>
          <a:noFill/>
          <a:ln/>
        </p:spPr>
        <p:txBody>
          <a:bodyPr wrap="square" lIns="0" tIns="0" rIns="0" bIns="0" rtlCol="0" anchor="ctr"/>
          <a:lstStyle/>
          <a:p>
            <a:pPr indent="0" marL="0">
              <a:buNone/>
            </a:pPr>
            <a:r>
              <a:rPr lang="en-US" sz="3100" b="1" dirty="0">
                <a:solidFill>
                  <a:srgbClr val="161C28"/>
                </a:solidFill>
                <a:latin typeface="Cambria" pitchFamily="34" charset="0"/>
                <a:ea typeface="Cambria" pitchFamily="34" charset="-122"/>
                <a:cs typeface="Cambria" pitchFamily="34" charset="-120"/>
              </a:rPr>
              <a:t>Everything here is labelled shipped, partial or roadmap</a:t>
            </a:r>
            <a:endParaRPr lang="en-US" sz="3100" dirty="0"/>
          </a:p>
        </p:txBody>
      </p:sp>
      <p:sp>
        <p:nvSpPr>
          <p:cNvPr id="4" name="Text 2"/>
          <p:cNvSpPr/>
          <p:nvPr/>
        </p:nvSpPr>
        <p:spPr>
          <a:xfrm>
            <a:off x="566928" y="1481328"/>
            <a:ext cx="10698480" cy="457200"/>
          </a:xfrm>
          <a:prstGeom prst="rect">
            <a:avLst/>
          </a:prstGeom>
          <a:noFill/>
          <a:ln/>
        </p:spPr>
        <p:txBody>
          <a:bodyPr wrap="square" lIns="0" tIns="0" rIns="0" bIns="0" rtlCol="0" anchor="t"/>
          <a:lstStyle/>
          <a:p>
            <a:pPr indent="0" marL="0">
              <a:buNone/>
            </a:pPr>
            <a:r>
              <a:rPr lang="en-US" sz="1450" dirty="0">
                <a:solidFill>
                  <a:srgbClr val="3A4557"/>
                </a:solidFill>
                <a:latin typeface="Calibri" pitchFamily="34" charset="0"/>
                <a:ea typeface="Calibri" pitchFamily="34" charset="-122"/>
                <a:cs typeface="Calibri" pitchFamily="34" charset="-120"/>
              </a:rPr>
              <a:t>The platform is strong on the monitor → SLO → routing → runbook spine and honest about the product surfaces that are not built yet. Labels come from the requirement traceability matrix, which was audited against the live estate, not against memory.</a:t>
            </a:r>
            <a:endParaRPr lang="en-US" sz="1450" dirty="0"/>
          </a:p>
        </p:txBody>
      </p:sp>
      <p:sp>
        <p:nvSpPr>
          <p:cNvPr id="5" name="Text 3"/>
          <p:cNvSpPr/>
          <p:nvPr/>
        </p:nvSpPr>
        <p:spPr>
          <a:xfrm>
            <a:off x="566928" y="6345936"/>
            <a:ext cx="7315200" cy="274320"/>
          </a:xfrm>
          <a:prstGeom prst="rect">
            <a:avLst/>
          </a:prstGeom>
          <a:noFill/>
          <a:ln/>
        </p:spPr>
        <p:txBody>
          <a:bodyPr wrap="square" lIns="0" tIns="0" rIns="0" bIns="0" rtlCol="0" anchor="ctr"/>
          <a:lstStyle/>
          <a:p>
            <a:pPr indent="0" marL="0">
              <a:buNone/>
            </a:pPr>
            <a:r>
              <a:rPr lang="en-US" sz="900" dirty="0">
                <a:solidFill>
                  <a:srgbClr val="6B7891"/>
                </a:solidFill>
                <a:latin typeface="Calibri" pitchFamily="34" charset="0"/>
                <a:ea typeface="Calibri" pitchFamily="34" charset="-122"/>
                <a:cs typeface="Calibri" pitchFamily="34" charset="-120"/>
              </a:rPr>
              <a:t>Enterprise Observability  ·  policy-as-data on Datadog</a:t>
            </a:r>
            <a:endParaRPr lang="en-US" sz="900" dirty="0"/>
          </a:p>
        </p:txBody>
      </p:sp>
      <p:sp>
        <p:nvSpPr>
          <p:cNvPr id="6" name="Text 4"/>
          <p:cNvSpPr/>
          <p:nvPr/>
        </p:nvSpPr>
        <p:spPr>
          <a:xfrm>
            <a:off x="10710367" y="6345936"/>
            <a:ext cx="914400" cy="274320"/>
          </a:xfrm>
          <a:prstGeom prst="rect">
            <a:avLst/>
          </a:prstGeom>
          <a:noFill/>
          <a:ln/>
        </p:spPr>
        <p:txBody>
          <a:bodyPr wrap="square" lIns="0" tIns="0" rIns="0" bIns="0" rtlCol="0" anchor="ctr"/>
          <a:lstStyle/>
          <a:p>
            <a:pPr algn="r" indent="0" marL="0">
              <a:buNone/>
            </a:pPr>
            <a:r>
              <a:rPr lang="en-US" sz="900" dirty="0">
                <a:solidFill>
                  <a:srgbClr val="6B7891"/>
                </a:solidFill>
                <a:latin typeface="Calibri" pitchFamily="34" charset="0"/>
                <a:ea typeface="Calibri" pitchFamily="34" charset="-122"/>
                <a:cs typeface="Calibri" pitchFamily="34" charset="-120"/>
              </a:rPr>
              <a:t>2</a:t>
            </a:r>
            <a:endParaRPr lang="en-US" sz="900" dirty="0"/>
          </a:p>
        </p:txBody>
      </p:sp>
      <p:sp>
        <p:nvSpPr>
          <p:cNvPr id="8" name="Shape 5"/>
          <p:cNvSpPr/>
          <p:nvPr/>
        </p:nvSpPr>
        <p:spPr>
          <a:xfrm>
            <a:off x="566928" y="2468880"/>
            <a:ext cx="1280160" cy="329184"/>
          </a:xfrm>
          <a:prstGeom prst="roundRect">
            <a:avLst>
              <a:gd name="adj" fmla="val 50000"/>
            </a:avLst>
          </a:prstGeom>
          <a:solidFill>
            <a:srgbClr val="27807C"/>
          </a:solidFill>
          <a:ln w="12700">
            <a:solidFill>
              <a:srgbClr val="27807C"/>
            </a:solidFill>
            <a:prstDash val="solid"/>
          </a:ln>
        </p:spPr>
      </p:sp>
      <p:sp>
        <p:nvSpPr>
          <p:cNvPr id="9" name="Text 6"/>
          <p:cNvSpPr/>
          <p:nvPr/>
        </p:nvSpPr>
        <p:spPr>
          <a:xfrm>
            <a:off x="566928" y="2468880"/>
            <a:ext cx="128016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SHIPPED</a:t>
            </a:r>
            <a:endParaRPr lang="en-US" sz="950" dirty="0"/>
          </a:p>
        </p:txBody>
      </p:sp>
      <p:sp>
        <p:nvSpPr>
          <p:cNvPr id="10" name="Text 7"/>
          <p:cNvSpPr/>
          <p:nvPr/>
        </p:nvSpPr>
        <p:spPr>
          <a:xfrm>
            <a:off x="2048256" y="2468880"/>
            <a:ext cx="4572000" cy="329184"/>
          </a:xfrm>
          <a:prstGeom prst="rect">
            <a:avLst/>
          </a:prstGeom>
          <a:noFill/>
          <a:ln/>
        </p:spPr>
        <p:txBody>
          <a:bodyPr wrap="square" lIns="0" tIns="0" rIns="0" bIns="0" rtlCol="0" anchor="ctr"/>
          <a:lstStyle/>
          <a:p>
            <a:pPr indent="0" marL="0">
              <a:buNone/>
            </a:pPr>
            <a:r>
              <a:rPr lang="en-US" sz="1200" dirty="0">
                <a:solidFill>
                  <a:srgbClr val="3A4557"/>
                </a:solidFill>
                <a:latin typeface="Calibri" pitchFamily="34" charset="0"/>
                <a:ea typeface="Calibri" pitchFamily="34" charset="-122"/>
                <a:cs typeface="Calibri" pitchFamily="34" charset="-120"/>
              </a:rPr>
              <a:t>deployed in production today; you can open it in Datadog now</a:t>
            </a:r>
            <a:endParaRPr lang="en-US" sz="1200" dirty="0"/>
          </a:p>
        </p:txBody>
      </p:sp>
      <p:sp>
        <p:nvSpPr>
          <p:cNvPr id="11" name="Shape 8"/>
          <p:cNvSpPr/>
          <p:nvPr/>
        </p:nvSpPr>
        <p:spPr>
          <a:xfrm>
            <a:off x="566928" y="3035808"/>
            <a:ext cx="1280160" cy="329184"/>
          </a:xfrm>
          <a:prstGeom prst="roundRect">
            <a:avLst>
              <a:gd name="adj" fmla="val 50000"/>
            </a:avLst>
          </a:prstGeom>
          <a:solidFill>
            <a:srgbClr val="E09A2E"/>
          </a:solidFill>
          <a:ln w="12700">
            <a:solidFill>
              <a:srgbClr val="E09A2E"/>
            </a:solidFill>
            <a:prstDash val="solid"/>
          </a:ln>
        </p:spPr>
      </p:sp>
      <p:sp>
        <p:nvSpPr>
          <p:cNvPr id="12" name="Text 9"/>
          <p:cNvSpPr/>
          <p:nvPr/>
        </p:nvSpPr>
        <p:spPr>
          <a:xfrm>
            <a:off x="566928" y="3035808"/>
            <a:ext cx="1280160" cy="329184"/>
          </a:xfrm>
          <a:prstGeom prst="rect">
            <a:avLst/>
          </a:prstGeom>
          <a:noFill/>
          <a:ln/>
        </p:spPr>
        <p:txBody>
          <a:bodyPr wrap="square" lIns="0" tIns="0" rIns="0" bIns="0" rtlCol="0" anchor="ctr"/>
          <a:lstStyle/>
          <a:p>
            <a:pPr algn="ctr" indent="0" marL="0">
              <a:buNone/>
            </a:pPr>
            <a:r>
              <a:rPr lang="en-US" sz="950" b="1" spc="100" kern="0" dirty="0">
                <a:solidFill>
                  <a:srgbClr val="2A1D06"/>
                </a:solidFill>
                <a:latin typeface="Calibri" pitchFamily="34" charset="0"/>
                <a:ea typeface="Calibri" pitchFamily="34" charset="-122"/>
                <a:cs typeface="Calibri" pitchFamily="34" charset="-120"/>
              </a:rPr>
              <a:t>PARTIAL</a:t>
            </a:r>
            <a:endParaRPr lang="en-US" sz="950" dirty="0"/>
          </a:p>
        </p:txBody>
      </p:sp>
      <p:sp>
        <p:nvSpPr>
          <p:cNvPr id="13" name="Text 10"/>
          <p:cNvSpPr/>
          <p:nvPr/>
        </p:nvSpPr>
        <p:spPr>
          <a:xfrm>
            <a:off x="2048256" y="3035808"/>
            <a:ext cx="4572000" cy="329184"/>
          </a:xfrm>
          <a:prstGeom prst="rect">
            <a:avLst/>
          </a:prstGeom>
          <a:noFill/>
          <a:ln/>
        </p:spPr>
        <p:txBody>
          <a:bodyPr wrap="square" lIns="0" tIns="0" rIns="0" bIns="0" rtlCol="0" anchor="ctr"/>
          <a:lstStyle/>
          <a:p>
            <a:pPr indent="0" marL="0">
              <a:buNone/>
            </a:pPr>
            <a:r>
              <a:rPr lang="en-US" sz="1200" dirty="0">
                <a:solidFill>
                  <a:srgbClr val="3A4557"/>
                </a:solidFill>
                <a:latin typeface="Calibri" pitchFamily="34" charset="0"/>
                <a:ea typeface="Calibri" pitchFamily="34" charset="-122"/>
                <a:cs typeface="Calibri" pitchFamily="34" charset="-120"/>
              </a:rPr>
              <a:t>part of it works; the slide names the part that does not</a:t>
            </a:r>
            <a:endParaRPr lang="en-US" sz="1200" dirty="0"/>
          </a:p>
        </p:txBody>
      </p:sp>
      <p:sp>
        <p:nvSpPr>
          <p:cNvPr id="14" name="Shape 11"/>
          <p:cNvSpPr/>
          <p:nvPr/>
        </p:nvSpPr>
        <p:spPr>
          <a:xfrm>
            <a:off x="566928" y="3602736"/>
            <a:ext cx="1280160" cy="329184"/>
          </a:xfrm>
          <a:prstGeom prst="roundRect">
            <a:avLst>
              <a:gd name="adj" fmla="val 50000"/>
            </a:avLst>
          </a:prstGeom>
          <a:solidFill>
            <a:srgbClr val="DFE5EE"/>
          </a:solidFill>
          <a:ln w="12700">
            <a:solidFill>
              <a:srgbClr val="DFE5EE"/>
            </a:solidFill>
            <a:prstDash val="solid"/>
          </a:ln>
        </p:spPr>
      </p:sp>
      <p:sp>
        <p:nvSpPr>
          <p:cNvPr id="15" name="Text 12"/>
          <p:cNvSpPr/>
          <p:nvPr/>
        </p:nvSpPr>
        <p:spPr>
          <a:xfrm>
            <a:off x="566928" y="3602736"/>
            <a:ext cx="1280160" cy="329184"/>
          </a:xfrm>
          <a:prstGeom prst="rect">
            <a:avLst/>
          </a:prstGeom>
          <a:noFill/>
          <a:ln/>
        </p:spPr>
        <p:txBody>
          <a:bodyPr wrap="square" lIns="0" tIns="0" rIns="0" bIns="0" rtlCol="0" anchor="ctr"/>
          <a:lstStyle/>
          <a:p>
            <a:pPr algn="ctr" indent="0" marL="0">
              <a:buNone/>
            </a:pPr>
            <a:r>
              <a:rPr lang="en-US" sz="950" b="1" spc="100" kern="0" dirty="0">
                <a:solidFill>
                  <a:srgbClr val="5F7189"/>
                </a:solidFill>
                <a:latin typeface="Calibri" pitchFamily="34" charset="0"/>
                <a:ea typeface="Calibri" pitchFamily="34" charset="-122"/>
                <a:cs typeface="Calibri" pitchFamily="34" charset="-120"/>
              </a:rPr>
              <a:t>ROADMAP</a:t>
            </a:r>
            <a:endParaRPr lang="en-US" sz="950" dirty="0"/>
          </a:p>
        </p:txBody>
      </p:sp>
      <p:sp>
        <p:nvSpPr>
          <p:cNvPr id="16" name="Text 13"/>
          <p:cNvSpPr/>
          <p:nvPr/>
        </p:nvSpPr>
        <p:spPr>
          <a:xfrm>
            <a:off x="2048256" y="3602736"/>
            <a:ext cx="4572000" cy="329184"/>
          </a:xfrm>
          <a:prstGeom prst="rect">
            <a:avLst/>
          </a:prstGeom>
          <a:noFill/>
          <a:ln/>
        </p:spPr>
        <p:txBody>
          <a:bodyPr wrap="square" lIns="0" tIns="0" rIns="0" bIns="0" rtlCol="0" anchor="ctr"/>
          <a:lstStyle/>
          <a:p>
            <a:pPr indent="0" marL="0">
              <a:buNone/>
            </a:pPr>
            <a:r>
              <a:rPr lang="en-US" sz="1200" dirty="0">
                <a:solidFill>
                  <a:srgbClr val="3A4557"/>
                </a:solidFill>
                <a:latin typeface="Calibri" pitchFamily="34" charset="0"/>
                <a:ea typeface="Calibri" pitchFamily="34" charset="-122"/>
                <a:cs typeface="Calibri" pitchFamily="34" charset="-120"/>
              </a:rPr>
              <a:t>not built; the slide names the phase that builds it</a:t>
            </a:r>
            <a:endParaRPr lang="en-US" sz="1200" dirty="0"/>
          </a:p>
        </p:txBody>
      </p:sp>
      <p:sp>
        <p:nvSpPr>
          <p:cNvPr id="17" name="Shape 14"/>
          <p:cNvSpPr/>
          <p:nvPr/>
        </p:nvSpPr>
        <p:spPr>
          <a:xfrm>
            <a:off x="566928" y="4169664"/>
            <a:ext cx="1280160" cy="329184"/>
          </a:xfrm>
          <a:prstGeom prst="roundRect">
            <a:avLst>
              <a:gd name="adj" fmla="val 50000"/>
            </a:avLst>
          </a:prstGeom>
          <a:solidFill>
            <a:srgbClr val="BE4A3F"/>
          </a:solidFill>
          <a:ln w="12700">
            <a:solidFill>
              <a:srgbClr val="BE4A3F"/>
            </a:solidFill>
            <a:prstDash val="solid"/>
          </a:ln>
        </p:spPr>
      </p:sp>
      <p:sp>
        <p:nvSpPr>
          <p:cNvPr id="18" name="Text 15"/>
          <p:cNvSpPr/>
          <p:nvPr/>
        </p:nvSpPr>
        <p:spPr>
          <a:xfrm>
            <a:off x="566928" y="4169664"/>
            <a:ext cx="128016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ACT NOW</a:t>
            </a:r>
            <a:endParaRPr lang="en-US" sz="950" dirty="0"/>
          </a:p>
        </p:txBody>
      </p:sp>
      <p:sp>
        <p:nvSpPr>
          <p:cNvPr id="19" name="Text 16"/>
          <p:cNvSpPr/>
          <p:nvPr/>
        </p:nvSpPr>
        <p:spPr>
          <a:xfrm>
            <a:off x="2048256" y="4169664"/>
            <a:ext cx="4572000" cy="329184"/>
          </a:xfrm>
          <a:prstGeom prst="rect">
            <a:avLst/>
          </a:prstGeom>
          <a:noFill/>
          <a:ln/>
        </p:spPr>
        <p:txBody>
          <a:bodyPr wrap="square" lIns="0" tIns="0" rIns="0" bIns="0" rtlCol="0" anchor="ctr"/>
          <a:lstStyle/>
          <a:p>
            <a:pPr indent="0" marL="0">
              <a:buNone/>
            </a:pPr>
            <a:r>
              <a:rPr lang="en-US" sz="1200" dirty="0">
                <a:solidFill>
                  <a:srgbClr val="3A4557"/>
                </a:solidFill>
                <a:latin typeface="Calibri" pitchFamily="34" charset="0"/>
                <a:ea typeface="Calibri" pitchFamily="34" charset="-122"/>
                <a:cs typeface="Calibri" pitchFamily="34" charset="-120"/>
              </a:rPr>
              <a:t>something this room has to decide or assign an owner to</a:t>
            </a:r>
            <a:endParaRPr lang="en-US" sz="1200" dirty="0"/>
          </a:p>
        </p:txBody>
      </p:sp>
      <p:sp>
        <p:nvSpPr>
          <p:cNvPr id="20" name="Shape 17"/>
          <p:cNvSpPr/>
          <p:nvPr/>
        </p:nvSpPr>
        <p:spPr>
          <a:xfrm>
            <a:off x="6720840" y="2286000"/>
            <a:ext cx="4903927" cy="3566160"/>
          </a:xfrm>
          <a:prstGeom prst="roundRect">
            <a:avLst>
              <a:gd name="adj" fmla="val 1795"/>
            </a:avLst>
          </a:prstGeom>
          <a:solidFill>
            <a:srgbClr val="EFF2F6"/>
          </a:solidFill>
          <a:ln w="12700">
            <a:solidFill>
              <a:srgbClr val="EFF2F6"/>
            </a:solidFill>
            <a:prstDash val="solid"/>
          </a:ln>
        </p:spPr>
      </p:sp>
      <p:sp>
        <p:nvSpPr>
          <p:cNvPr id="21" name="Text 18"/>
          <p:cNvSpPr/>
          <p:nvPr/>
        </p:nvSpPr>
        <p:spPr>
          <a:xfrm>
            <a:off x="7040880" y="2542032"/>
            <a:ext cx="4206240" cy="274320"/>
          </a:xfrm>
          <a:prstGeom prst="rect">
            <a:avLst/>
          </a:prstGeom>
          <a:noFill/>
          <a:ln/>
        </p:spPr>
        <p:txBody>
          <a:bodyPr wrap="square" lIns="0" tIns="0" rIns="0" bIns="0" rtlCol="0" anchor="ctr"/>
          <a:lstStyle/>
          <a:p>
            <a:pPr indent="0" marL="0">
              <a:buNone/>
            </a:pPr>
            <a:r>
              <a:rPr lang="en-US" sz="950" b="1" spc="160" kern="0" dirty="0">
                <a:solidFill>
                  <a:srgbClr val="B87914"/>
                </a:solidFill>
                <a:latin typeface="Calibri" pitchFamily="34" charset="0"/>
                <a:ea typeface="Calibri" pitchFamily="34" charset="-122"/>
                <a:cs typeface="Calibri" pitchFamily="34" charset="-120"/>
              </a:rPr>
              <a:t>THE AUDIT BEHIND THE LABELS</a:t>
            </a:r>
            <a:endParaRPr lang="en-US" sz="950" dirty="0"/>
          </a:p>
        </p:txBody>
      </p:sp>
      <p:sp>
        <p:nvSpPr>
          <p:cNvPr id="22" name="Text 19"/>
          <p:cNvSpPr/>
          <p:nvPr/>
        </p:nvSpPr>
        <p:spPr>
          <a:xfrm>
            <a:off x="7040880" y="2944368"/>
            <a:ext cx="3291840" cy="402336"/>
          </a:xfrm>
          <a:prstGeom prst="rect">
            <a:avLst/>
          </a:prstGeom>
          <a:noFill/>
          <a:ln/>
        </p:spPr>
        <p:txBody>
          <a:bodyPr wrap="square" lIns="0" tIns="0" rIns="0" bIns="0" rtlCol="0" anchor="ctr"/>
          <a:lstStyle/>
          <a:p>
            <a:pPr indent="0" marL="0">
              <a:buNone/>
            </a:pPr>
            <a:r>
              <a:rPr lang="en-US" sz="1200" dirty="0">
                <a:solidFill>
                  <a:srgbClr val="3A4557"/>
                </a:solidFill>
                <a:latin typeface="Calibri" pitchFamily="34" charset="0"/>
                <a:ea typeface="Calibri" pitchFamily="34" charset="-122"/>
                <a:cs typeface="Calibri" pitchFamily="34" charset="-120"/>
              </a:rPr>
              <a:t>OK — exists and is correct</a:t>
            </a:r>
            <a:endParaRPr lang="en-US" sz="1200" dirty="0"/>
          </a:p>
        </p:txBody>
      </p:sp>
      <p:sp>
        <p:nvSpPr>
          <p:cNvPr id="23" name="Text 20"/>
          <p:cNvSpPr/>
          <p:nvPr/>
        </p:nvSpPr>
        <p:spPr>
          <a:xfrm>
            <a:off x="10332720" y="2944368"/>
            <a:ext cx="914400" cy="402336"/>
          </a:xfrm>
          <a:prstGeom prst="rect">
            <a:avLst/>
          </a:prstGeom>
          <a:noFill/>
          <a:ln/>
        </p:spPr>
        <p:txBody>
          <a:bodyPr wrap="square" lIns="0" tIns="0" rIns="0" bIns="0" rtlCol="0" anchor="ctr"/>
          <a:lstStyle/>
          <a:p>
            <a:pPr algn="r" indent="0" marL="0">
              <a:buNone/>
            </a:pPr>
            <a:r>
              <a:rPr lang="en-US" sz="1600" b="1" dirty="0">
                <a:solidFill>
                  <a:srgbClr val="161C28"/>
                </a:solidFill>
                <a:latin typeface="Cambria" pitchFamily="34" charset="0"/>
                <a:ea typeface="Cambria" pitchFamily="34" charset="-122"/>
                <a:cs typeface="Cambria" pitchFamily="34" charset="-120"/>
              </a:rPr>
              <a:t>21</a:t>
            </a:r>
            <a:endParaRPr lang="en-US" sz="1600" dirty="0"/>
          </a:p>
        </p:txBody>
      </p:sp>
      <p:sp>
        <p:nvSpPr>
          <p:cNvPr id="24" name="Text 21"/>
          <p:cNvSpPr/>
          <p:nvPr/>
        </p:nvSpPr>
        <p:spPr>
          <a:xfrm>
            <a:off x="7040880" y="3456432"/>
            <a:ext cx="3291840" cy="402336"/>
          </a:xfrm>
          <a:prstGeom prst="rect">
            <a:avLst/>
          </a:prstGeom>
          <a:noFill/>
          <a:ln/>
        </p:spPr>
        <p:txBody>
          <a:bodyPr wrap="square" lIns="0" tIns="0" rIns="0" bIns="0" rtlCol="0" anchor="ctr"/>
          <a:lstStyle/>
          <a:p>
            <a:pPr indent="0" marL="0">
              <a:buNone/>
            </a:pPr>
            <a:r>
              <a:rPr lang="en-US" sz="1200" dirty="0">
                <a:solidFill>
                  <a:srgbClr val="3A4557"/>
                </a:solidFill>
                <a:latin typeface="Calibri" pitchFamily="34" charset="0"/>
                <a:ea typeface="Calibri" pitchFamily="34" charset="-122"/>
                <a:cs typeface="Calibri" pitchFamily="34" charset="-120"/>
              </a:rPr>
              <a:t>IMPROVE — works, one defect</a:t>
            </a:r>
            <a:endParaRPr lang="en-US" sz="1200" dirty="0"/>
          </a:p>
        </p:txBody>
      </p:sp>
      <p:sp>
        <p:nvSpPr>
          <p:cNvPr id="25" name="Text 22"/>
          <p:cNvSpPr/>
          <p:nvPr/>
        </p:nvSpPr>
        <p:spPr>
          <a:xfrm>
            <a:off x="10332720" y="3456432"/>
            <a:ext cx="914400" cy="402336"/>
          </a:xfrm>
          <a:prstGeom prst="rect">
            <a:avLst/>
          </a:prstGeom>
          <a:noFill/>
          <a:ln/>
        </p:spPr>
        <p:txBody>
          <a:bodyPr wrap="square" lIns="0" tIns="0" rIns="0" bIns="0" rtlCol="0" anchor="ctr"/>
          <a:lstStyle/>
          <a:p>
            <a:pPr algn="r" indent="0" marL="0">
              <a:buNone/>
            </a:pPr>
            <a:r>
              <a:rPr lang="en-US" sz="1600" b="1" dirty="0">
                <a:solidFill>
                  <a:srgbClr val="161C28"/>
                </a:solidFill>
                <a:latin typeface="Cambria" pitchFamily="34" charset="0"/>
                <a:ea typeface="Cambria" pitchFamily="34" charset="-122"/>
                <a:cs typeface="Cambria" pitchFamily="34" charset="-120"/>
              </a:rPr>
              <a:t>9</a:t>
            </a:r>
            <a:endParaRPr lang="en-US" sz="1600" dirty="0"/>
          </a:p>
        </p:txBody>
      </p:sp>
      <p:sp>
        <p:nvSpPr>
          <p:cNvPr id="26" name="Text 23"/>
          <p:cNvSpPr/>
          <p:nvPr/>
        </p:nvSpPr>
        <p:spPr>
          <a:xfrm>
            <a:off x="7040880" y="3968496"/>
            <a:ext cx="3291840" cy="402336"/>
          </a:xfrm>
          <a:prstGeom prst="rect">
            <a:avLst/>
          </a:prstGeom>
          <a:noFill/>
          <a:ln/>
        </p:spPr>
        <p:txBody>
          <a:bodyPr wrap="square" lIns="0" tIns="0" rIns="0" bIns="0" rtlCol="0" anchor="ctr"/>
          <a:lstStyle/>
          <a:p>
            <a:pPr indent="0" marL="0">
              <a:buNone/>
            </a:pPr>
            <a:r>
              <a:rPr lang="en-US" sz="1200" dirty="0">
                <a:solidFill>
                  <a:srgbClr val="3A4557"/>
                </a:solidFill>
                <a:latin typeface="Calibri" pitchFamily="34" charset="0"/>
                <a:ea typeface="Calibri" pitchFamily="34" charset="-122"/>
                <a:cs typeface="Calibri" pitchFamily="34" charset="-120"/>
              </a:rPr>
              <a:t>PARTIAL — some of it exists</a:t>
            </a:r>
            <a:endParaRPr lang="en-US" sz="1200" dirty="0"/>
          </a:p>
        </p:txBody>
      </p:sp>
      <p:sp>
        <p:nvSpPr>
          <p:cNvPr id="27" name="Text 24"/>
          <p:cNvSpPr/>
          <p:nvPr/>
        </p:nvSpPr>
        <p:spPr>
          <a:xfrm>
            <a:off x="10332720" y="3968496"/>
            <a:ext cx="914400" cy="402336"/>
          </a:xfrm>
          <a:prstGeom prst="rect">
            <a:avLst/>
          </a:prstGeom>
          <a:noFill/>
          <a:ln/>
        </p:spPr>
        <p:txBody>
          <a:bodyPr wrap="square" lIns="0" tIns="0" rIns="0" bIns="0" rtlCol="0" anchor="ctr"/>
          <a:lstStyle/>
          <a:p>
            <a:pPr algn="r" indent="0" marL="0">
              <a:buNone/>
            </a:pPr>
            <a:r>
              <a:rPr lang="en-US" sz="1600" b="1" dirty="0">
                <a:solidFill>
                  <a:srgbClr val="161C28"/>
                </a:solidFill>
                <a:latin typeface="Cambria" pitchFamily="34" charset="0"/>
                <a:ea typeface="Cambria" pitchFamily="34" charset="-122"/>
                <a:cs typeface="Cambria" pitchFamily="34" charset="-120"/>
              </a:rPr>
              <a:t>12</a:t>
            </a:r>
            <a:endParaRPr lang="en-US" sz="1600" dirty="0"/>
          </a:p>
        </p:txBody>
      </p:sp>
      <p:sp>
        <p:nvSpPr>
          <p:cNvPr id="28" name="Text 25"/>
          <p:cNvSpPr/>
          <p:nvPr/>
        </p:nvSpPr>
        <p:spPr>
          <a:xfrm>
            <a:off x="7040880" y="4480560"/>
            <a:ext cx="3291840" cy="402336"/>
          </a:xfrm>
          <a:prstGeom prst="rect">
            <a:avLst/>
          </a:prstGeom>
          <a:noFill/>
          <a:ln/>
        </p:spPr>
        <p:txBody>
          <a:bodyPr wrap="square" lIns="0" tIns="0" rIns="0" bIns="0" rtlCol="0" anchor="ctr"/>
          <a:lstStyle/>
          <a:p>
            <a:pPr indent="0" marL="0">
              <a:buNone/>
            </a:pPr>
            <a:r>
              <a:rPr lang="en-US" sz="1200" dirty="0">
                <a:solidFill>
                  <a:srgbClr val="3A4557"/>
                </a:solidFill>
                <a:latin typeface="Calibri" pitchFamily="34" charset="0"/>
                <a:ea typeface="Calibri" pitchFamily="34" charset="-122"/>
                <a:cs typeface="Calibri" pitchFamily="34" charset="-120"/>
              </a:rPr>
              <a:t>MISSING — nothing implements it</a:t>
            </a:r>
            <a:endParaRPr lang="en-US" sz="1200" dirty="0"/>
          </a:p>
        </p:txBody>
      </p:sp>
      <p:sp>
        <p:nvSpPr>
          <p:cNvPr id="29" name="Text 26"/>
          <p:cNvSpPr/>
          <p:nvPr/>
        </p:nvSpPr>
        <p:spPr>
          <a:xfrm>
            <a:off x="10332720" y="4480560"/>
            <a:ext cx="914400" cy="402336"/>
          </a:xfrm>
          <a:prstGeom prst="rect">
            <a:avLst/>
          </a:prstGeom>
          <a:noFill/>
          <a:ln/>
        </p:spPr>
        <p:txBody>
          <a:bodyPr wrap="square" lIns="0" tIns="0" rIns="0" bIns="0" rtlCol="0" anchor="ctr"/>
          <a:lstStyle/>
          <a:p>
            <a:pPr algn="r" indent="0" marL="0">
              <a:buNone/>
            </a:pPr>
            <a:r>
              <a:rPr lang="en-US" sz="1600" b="1" dirty="0">
                <a:solidFill>
                  <a:srgbClr val="161C28"/>
                </a:solidFill>
                <a:latin typeface="Cambria" pitchFamily="34" charset="0"/>
                <a:ea typeface="Cambria" pitchFamily="34" charset="-122"/>
                <a:cs typeface="Cambria" pitchFamily="34" charset="-120"/>
              </a:rPr>
              <a:t>15</a:t>
            </a:r>
            <a:endParaRPr lang="en-US" sz="1600" dirty="0"/>
          </a:p>
        </p:txBody>
      </p:sp>
      <p:sp>
        <p:nvSpPr>
          <p:cNvPr id="30" name="Text 27"/>
          <p:cNvSpPr/>
          <p:nvPr/>
        </p:nvSpPr>
        <p:spPr>
          <a:xfrm>
            <a:off x="7040880" y="4992624"/>
            <a:ext cx="3291840" cy="402336"/>
          </a:xfrm>
          <a:prstGeom prst="rect">
            <a:avLst/>
          </a:prstGeom>
          <a:noFill/>
          <a:ln/>
        </p:spPr>
        <p:txBody>
          <a:bodyPr wrap="square" lIns="0" tIns="0" rIns="0" bIns="0" rtlCol="0" anchor="ctr"/>
          <a:lstStyle/>
          <a:p>
            <a:pPr indent="0" marL="0">
              <a:buNone/>
            </a:pPr>
            <a:r>
              <a:rPr lang="en-US" sz="1200" dirty="0">
                <a:solidFill>
                  <a:srgbClr val="3A4557"/>
                </a:solidFill>
                <a:latin typeface="Calibri" pitchFamily="34" charset="0"/>
                <a:ea typeface="Calibri" pitchFamily="34" charset="-122"/>
                <a:cs typeface="Calibri" pitchFamily="34" charset="-120"/>
              </a:rPr>
              <a:t>Obsolete (removed) · N/A</a:t>
            </a:r>
            <a:endParaRPr lang="en-US" sz="1200" dirty="0"/>
          </a:p>
        </p:txBody>
      </p:sp>
      <p:sp>
        <p:nvSpPr>
          <p:cNvPr id="31" name="Text 28"/>
          <p:cNvSpPr/>
          <p:nvPr/>
        </p:nvSpPr>
        <p:spPr>
          <a:xfrm>
            <a:off x="10332720" y="4992624"/>
            <a:ext cx="914400" cy="402336"/>
          </a:xfrm>
          <a:prstGeom prst="rect">
            <a:avLst/>
          </a:prstGeom>
          <a:noFill/>
          <a:ln/>
        </p:spPr>
        <p:txBody>
          <a:bodyPr wrap="square" lIns="0" tIns="0" rIns="0" bIns="0" rtlCol="0" anchor="ctr"/>
          <a:lstStyle/>
          <a:p>
            <a:pPr algn="r" indent="0" marL="0">
              <a:buNone/>
            </a:pPr>
            <a:r>
              <a:rPr lang="en-US" sz="1600" b="1" dirty="0">
                <a:solidFill>
                  <a:srgbClr val="161C28"/>
                </a:solidFill>
                <a:latin typeface="Cambria" pitchFamily="34" charset="0"/>
                <a:ea typeface="Cambria" pitchFamily="34" charset="-122"/>
                <a:cs typeface="Cambria" pitchFamily="34" charset="-120"/>
              </a:rPr>
              <a:t>1 · 2</a:t>
            </a:r>
            <a:endParaRPr lang="en-US" sz="1600" dirty="0"/>
          </a:p>
        </p:txBody>
      </p:sp>
      <p:sp>
        <p:nvSpPr>
          <p:cNvPr id="32" name="Text 29"/>
          <p:cNvSpPr/>
          <p:nvPr/>
        </p:nvSpPr>
        <p:spPr>
          <a:xfrm>
            <a:off x="7040880" y="5486400"/>
            <a:ext cx="4206240" cy="274320"/>
          </a:xfrm>
          <a:prstGeom prst="rect">
            <a:avLst/>
          </a:prstGeom>
          <a:noFill/>
          <a:ln/>
        </p:spPr>
        <p:txBody>
          <a:bodyPr wrap="square" lIns="0" tIns="0" rIns="0" bIns="0" rtlCol="0" anchor="ctr"/>
          <a:lstStyle/>
          <a:p>
            <a:pPr indent="0" marL="0">
              <a:buNone/>
            </a:pPr>
            <a:r>
              <a:rPr lang="en-US" sz="1000" dirty="0">
                <a:solidFill>
                  <a:srgbClr val="6B7891"/>
                </a:solidFill>
                <a:latin typeface="Calibri" pitchFamily="34" charset="0"/>
                <a:ea typeface="Calibri" pitchFamily="34" charset="-122"/>
                <a:cs typeface="Calibri" pitchFamily="34" charset="-120"/>
              </a:rPr>
              <a:t>60 requirement sections · docs/requirement-traceability.md</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2161F"/>
        </a:solidFill>
      </p:bgPr>
    </p:bg>
    <p:spTree>
      <p:nvGrpSpPr>
        <p:cNvPr id="1" name=""/>
        <p:cNvGrpSpPr/>
        <p:nvPr/>
      </p:nvGrpSpPr>
      <p:grpSpPr>
        <a:xfrm>
          <a:off x="0" y="0"/>
          <a:ext cx="0" cy="0"/>
          <a:chOff x="0" y="0"/>
          <a:chExt cx="0" cy="0"/>
        </a:xfrm>
      </p:grpSpPr>
      <p:sp>
        <p:nvSpPr>
          <p:cNvPr id="2" name="Text 0"/>
          <p:cNvSpPr/>
          <p:nvPr/>
        </p:nvSpPr>
        <p:spPr>
          <a:xfrm>
            <a:off x="566928" y="6345936"/>
            <a:ext cx="7315200" cy="274320"/>
          </a:xfrm>
          <a:prstGeom prst="rect">
            <a:avLst/>
          </a:prstGeom>
          <a:noFill/>
          <a:ln/>
        </p:spPr>
        <p:txBody>
          <a:bodyPr wrap="square" lIns="0" tIns="0" rIns="0" bIns="0" rtlCol="0" anchor="ctr"/>
          <a:lstStyle/>
          <a:p>
            <a:pPr indent="0" marL="0">
              <a:buNone/>
            </a:pPr>
            <a:r>
              <a:rPr lang="en-US" sz="900" dirty="0">
                <a:solidFill>
                  <a:srgbClr val="6E7B92"/>
                </a:solidFill>
                <a:latin typeface="Calibri" pitchFamily="34" charset="0"/>
                <a:ea typeface="Calibri" pitchFamily="34" charset="-122"/>
                <a:cs typeface="Calibri" pitchFamily="34" charset="-120"/>
              </a:rPr>
              <a:t>Enterprise Observability  ·  policy-as-data on Datadog</a:t>
            </a:r>
            <a:endParaRPr lang="en-US" sz="900" dirty="0"/>
          </a:p>
        </p:txBody>
      </p:sp>
      <p:sp>
        <p:nvSpPr>
          <p:cNvPr id="3" name="Text 1"/>
          <p:cNvSpPr/>
          <p:nvPr/>
        </p:nvSpPr>
        <p:spPr>
          <a:xfrm>
            <a:off x="10710367" y="6345936"/>
            <a:ext cx="914400" cy="274320"/>
          </a:xfrm>
          <a:prstGeom prst="rect">
            <a:avLst/>
          </a:prstGeom>
          <a:noFill/>
          <a:ln/>
        </p:spPr>
        <p:txBody>
          <a:bodyPr wrap="square" lIns="0" tIns="0" rIns="0" bIns="0" rtlCol="0" anchor="ctr"/>
          <a:lstStyle/>
          <a:p>
            <a:pPr algn="r" indent="0" marL="0">
              <a:buNone/>
            </a:pPr>
            <a:r>
              <a:rPr lang="en-US" sz="900" dirty="0">
                <a:solidFill>
                  <a:srgbClr val="6E7B92"/>
                </a:solidFill>
                <a:latin typeface="Calibri" pitchFamily="34" charset="0"/>
                <a:ea typeface="Calibri" pitchFamily="34" charset="-122"/>
                <a:cs typeface="Calibri" pitchFamily="34" charset="-120"/>
              </a:rPr>
              <a:t>3</a:t>
            </a:r>
            <a:endParaRPr lang="en-US" sz="900" dirty="0"/>
          </a:p>
        </p:txBody>
      </p:sp>
      <p:sp>
        <p:nvSpPr>
          <p:cNvPr id="5" name="Text 2"/>
          <p:cNvSpPr/>
          <p:nvPr/>
        </p:nvSpPr>
        <p:spPr>
          <a:xfrm>
            <a:off x="566928" y="566928"/>
            <a:ext cx="8686800" cy="292608"/>
          </a:xfrm>
          <a:prstGeom prst="rect">
            <a:avLst/>
          </a:prstGeom>
          <a:noFill/>
          <a:ln/>
        </p:spPr>
        <p:txBody>
          <a:bodyPr wrap="square" lIns="0" tIns="0" rIns="0" bIns="0" rtlCol="0" anchor="ctr"/>
          <a:lstStyle/>
          <a:p>
            <a:pPr indent="0" marL="0">
              <a:buNone/>
            </a:pPr>
            <a:r>
              <a:rPr lang="en-US" sz="1100" b="1" spc="220" kern="0" dirty="0">
                <a:solidFill>
                  <a:srgbClr val="E09A2E"/>
                </a:solidFill>
                <a:latin typeface="Calibri" pitchFamily="34" charset="0"/>
                <a:ea typeface="Calibri" pitchFamily="34" charset="-122"/>
                <a:cs typeface="Calibri" pitchFamily="34" charset="-120"/>
              </a:rPr>
              <a:t>THE SINGLE MOST IMPORTANT OPERATIONAL TRUTH</a:t>
            </a:r>
            <a:endParaRPr lang="en-US" sz="1100" dirty="0"/>
          </a:p>
        </p:txBody>
      </p:sp>
      <p:sp>
        <p:nvSpPr>
          <p:cNvPr id="6" name="Text 3"/>
          <p:cNvSpPr/>
          <p:nvPr/>
        </p:nvSpPr>
        <p:spPr>
          <a:xfrm>
            <a:off x="566928" y="932688"/>
            <a:ext cx="10515600" cy="1371600"/>
          </a:xfrm>
          <a:prstGeom prst="rect">
            <a:avLst/>
          </a:prstGeom>
          <a:noFill/>
          <a:ln/>
        </p:spPr>
        <p:txBody>
          <a:bodyPr wrap="square" lIns="0" tIns="0" rIns="0" bIns="0" rtlCol="0" anchor="t"/>
          <a:lstStyle/>
          <a:p>
            <a:pPr indent="0" marL="0">
              <a:lnSpc>
                <a:spcPct val="102000"/>
              </a:lnSpc>
              <a:buNone/>
            </a:pPr>
            <a:r>
              <a:rPr lang="en-US" sz="3800" b="1" dirty="0">
                <a:solidFill>
                  <a:srgbClr val="FFFFFF"/>
                </a:solidFill>
                <a:latin typeface="Cambria" pitchFamily="34" charset="0"/>
                <a:ea typeface="Cambria" pitchFamily="34" charset="-122"/>
                <a:cs typeface="Cambria" pitchFamily="34" charset="-120"/>
              </a:rPr>
              <a:t>651 monitors are correct.</a:t>
            </a:r>
            <a:endParaRPr lang="en-US" sz="3800" dirty="0"/>
          </a:p>
          <a:p>
            <a:pPr indent="0" marL="0">
              <a:lnSpc>
                <a:spcPct val="102000"/>
              </a:lnSpc>
              <a:buNone/>
            </a:pPr>
            <a:r>
              <a:rPr lang="en-US" sz="3800" b="1" dirty="0">
                <a:solidFill>
                  <a:srgbClr val="FFFFFF"/>
                </a:solidFill>
                <a:latin typeface="Cambria" pitchFamily="34" charset="0"/>
                <a:ea typeface="Cambria" pitchFamily="34" charset="-122"/>
                <a:cs typeface="Cambria" pitchFamily="34" charset="-120"/>
              </a:rPr>
              <a:t>Today they return no data.</a:t>
            </a:r>
            <a:endParaRPr lang="en-US" sz="3800" dirty="0"/>
          </a:p>
        </p:txBody>
      </p:sp>
      <p:sp>
        <p:nvSpPr>
          <p:cNvPr id="7" name="Text 4"/>
          <p:cNvSpPr/>
          <p:nvPr/>
        </p:nvSpPr>
        <p:spPr>
          <a:xfrm>
            <a:off x="566928" y="2304288"/>
            <a:ext cx="10607040" cy="731520"/>
          </a:xfrm>
          <a:prstGeom prst="rect">
            <a:avLst/>
          </a:prstGeom>
          <a:noFill/>
          <a:ln/>
        </p:spPr>
        <p:txBody>
          <a:bodyPr wrap="square" lIns="0" tIns="0" rIns="0" bIns="0" rtlCol="0" anchor="t"/>
          <a:lstStyle/>
          <a:p>
            <a:pPr indent="0" marL="0">
              <a:buNone/>
            </a:pPr>
            <a:r>
              <a:rPr lang="en-US" sz="1450" dirty="0">
                <a:solidFill>
                  <a:srgbClr val="B7C3D6"/>
                </a:solidFill>
                <a:latin typeface="Calibri" pitchFamily="34" charset="0"/>
                <a:ea typeface="Calibri" pitchFamily="34" charset="-122"/>
                <a:cs typeface="Calibri" pitchFamily="34" charset="-120"/>
              </a:rPr>
              <a:t>The queries select on tags the telemetry does not carry. A monitor that returns no data looks identical to a healthy one — which is why coverage reports 100% and the estate is still effectively unwatched.</a:t>
            </a:r>
            <a:endParaRPr lang="en-US" sz="1450" dirty="0"/>
          </a:p>
        </p:txBody>
      </p:sp>
      <p:sp>
        <p:nvSpPr>
          <p:cNvPr id="8" name="Shape 5"/>
          <p:cNvSpPr/>
          <p:nvPr/>
        </p:nvSpPr>
        <p:spPr>
          <a:xfrm>
            <a:off x="566928" y="3200400"/>
            <a:ext cx="3527450" cy="1417320"/>
          </a:xfrm>
          <a:prstGeom prst="roundRect">
            <a:avLst>
              <a:gd name="adj" fmla="val 3871"/>
            </a:avLst>
          </a:prstGeom>
          <a:solidFill>
            <a:srgbClr val="1E2531"/>
          </a:solidFill>
          <a:ln w="12700">
            <a:solidFill>
              <a:srgbClr val="1E2531"/>
            </a:solidFill>
            <a:prstDash val="solid"/>
          </a:ln>
        </p:spPr>
      </p:sp>
      <p:sp>
        <p:nvSpPr>
          <p:cNvPr id="9" name="Text 6"/>
          <p:cNvSpPr/>
          <p:nvPr/>
        </p:nvSpPr>
        <p:spPr>
          <a:xfrm>
            <a:off x="768096" y="3346704"/>
            <a:ext cx="3125114" cy="347472"/>
          </a:xfrm>
          <a:prstGeom prst="rect">
            <a:avLst/>
          </a:prstGeom>
          <a:noFill/>
          <a:ln/>
        </p:spPr>
        <p:txBody>
          <a:bodyPr wrap="square" lIns="0" tIns="0" rIns="0" bIns="0" rtlCol="0" anchor="t"/>
          <a:lstStyle/>
          <a:p>
            <a:pPr indent="0" marL="0">
              <a:buNone/>
            </a:pPr>
            <a:r>
              <a:rPr lang="en-US" sz="1600" b="1" dirty="0">
                <a:solidFill>
                  <a:srgbClr val="E09A2E"/>
                </a:solidFill>
                <a:latin typeface="Calibri" pitchFamily="34" charset="0"/>
                <a:ea typeface="Calibri" pitchFamily="34" charset="-122"/>
                <a:cs typeface="Calibri" pitchFamily="34" charset="-120"/>
              </a:rPr>
              <a:t>alert_band</a:t>
            </a:r>
            <a:endParaRPr lang="en-US" sz="1600" dirty="0"/>
          </a:p>
        </p:txBody>
      </p:sp>
      <p:sp>
        <p:nvSpPr>
          <p:cNvPr id="10" name="Text 7"/>
          <p:cNvSpPr/>
          <p:nvPr/>
        </p:nvSpPr>
        <p:spPr>
          <a:xfrm>
            <a:off x="768096" y="3730752"/>
            <a:ext cx="3125114" cy="740664"/>
          </a:xfrm>
          <a:prstGeom prst="rect">
            <a:avLst/>
          </a:prstGeom>
          <a:noFill/>
          <a:ln/>
        </p:spPr>
        <p:txBody>
          <a:bodyPr wrap="square" lIns="0" tIns="0" rIns="0" bIns="0" rtlCol="0" anchor="t"/>
          <a:lstStyle/>
          <a:p>
            <a:pPr indent="0" marL="0">
              <a:lnSpc>
                <a:spcPct val="102000"/>
              </a:lnSpc>
              <a:buNone/>
            </a:pPr>
            <a:r>
              <a:rPr lang="en-US" sz="1150" dirty="0">
                <a:solidFill>
                  <a:srgbClr val="AEBACD"/>
                </a:solidFill>
                <a:latin typeface="Calibri" pitchFamily="34" charset="0"/>
                <a:ea typeface="Calibri" pitchFamily="34" charset="-122"/>
                <a:cs typeface="Calibri" pitchFamily="34" charset="-120"/>
              </a:rPr>
              <a:t>Present on 0 of 27 profiled resources. Every archetype query filters on it, so every query resolves to an empty set.</a:t>
            </a:r>
            <a:endParaRPr lang="en-US" sz="1150" dirty="0"/>
          </a:p>
        </p:txBody>
      </p:sp>
      <p:sp>
        <p:nvSpPr>
          <p:cNvPr id="11" name="Shape 8"/>
          <p:cNvSpPr/>
          <p:nvPr/>
        </p:nvSpPr>
        <p:spPr>
          <a:xfrm>
            <a:off x="4332122" y="3200400"/>
            <a:ext cx="3527450" cy="1417320"/>
          </a:xfrm>
          <a:prstGeom prst="roundRect">
            <a:avLst>
              <a:gd name="adj" fmla="val 3871"/>
            </a:avLst>
          </a:prstGeom>
          <a:solidFill>
            <a:srgbClr val="1E2531"/>
          </a:solidFill>
          <a:ln w="12700">
            <a:solidFill>
              <a:srgbClr val="1E2531"/>
            </a:solidFill>
            <a:prstDash val="solid"/>
          </a:ln>
        </p:spPr>
      </p:sp>
      <p:sp>
        <p:nvSpPr>
          <p:cNvPr id="12" name="Text 9"/>
          <p:cNvSpPr/>
          <p:nvPr/>
        </p:nvSpPr>
        <p:spPr>
          <a:xfrm>
            <a:off x="4533290" y="3346704"/>
            <a:ext cx="3125114" cy="347472"/>
          </a:xfrm>
          <a:prstGeom prst="rect">
            <a:avLst/>
          </a:prstGeom>
          <a:noFill/>
          <a:ln/>
        </p:spPr>
        <p:txBody>
          <a:bodyPr wrap="square" lIns="0" tIns="0" rIns="0" bIns="0" rtlCol="0" anchor="t"/>
          <a:lstStyle/>
          <a:p>
            <a:pPr indent="0" marL="0">
              <a:buNone/>
            </a:pPr>
            <a:r>
              <a:rPr lang="en-US" sz="1600" b="1" dirty="0">
                <a:solidFill>
                  <a:srgbClr val="E09A2E"/>
                </a:solidFill>
                <a:latin typeface="Calibri" pitchFamily="34" charset="0"/>
                <a:ea typeface="Calibri" pitchFamily="34" charset="-122"/>
                <a:cs typeface="Calibri" pitchFamily="34" charset="-120"/>
              </a:rPr>
              <a:t>env:production</a:t>
            </a:r>
            <a:endParaRPr lang="en-US" sz="1600" dirty="0"/>
          </a:p>
        </p:txBody>
      </p:sp>
      <p:sp>
        <p:nvSpPr>
          <p:cNvPr id="13" name="Text 10"/>
          <p:cNvSpPr/>
          <p:nvPr/>
        </p:nvSpPr>
        <p:spPr>
          <a:xfrm>
            <a:off x="4533290" y="3730752"/>
            <a:ext cx="3125114" cy="740664"/>
          </a:xfrm>
          <a:prstGeom prst="rect">
            <a:avLst/>
          </a:prstGeom>
          <a:noFill/>
          <a:ln/>
        </p:spPr>
        <p:txBody>
          <a:bodyPr wrap="square" lIns="0" tIns="0" rIns="0" bIns="0" rtlCol="0" anchor="t"/>
          <a:lstStyle/>
          <a:p>
            <a:pPr indent="0" marL="0">
              <a:lnSpc>
                <a:spcPct val="102000"/>
              </a:lnSpc>
              <a:buNone/>
            </a:pPr>
            <a:r>
              <a:rPr lang="en-US" sz="1150" dirty="0">
                <a:solidFill>
                  <a:srgbClr val="AEBACD"/>
                </a:solidFill>
                <a:latin typeface="Calibri" pitchFamily="34" charset="0"/>
                <a:ea typeface="Calibri" pitchFamily="34" charset="-122"/>
                <a:cs typeface="Calibri" pitchFamily="34" charset="-120"/>
              </a:rPr>
              <a:t>22 resources use production. The vocabulary is dev · qa · stage · prod. production, prd and PROD match nothing.</a:t>
            </a:r>
            <a:endParaRPr lang="en-US" sz="1150" dirty="0"/>
          </a:p>
        </p:txBody>
      </p:sp>
      <p:sp>
        <p:nvSpPr>
          <p:cNvPr id="14" name="Shape 11"/>
          <p:cNvSpPr/>
          <p:nvPr/>
        </p:nvSpPr>
        <p:spPr>
          <a:xfrm>
            <a:off x="8097317" y="3200400"/>
            <a:ext cx="3527450" cy="1417320"/>
          </a:xfrm>
          <a:prstGeom prst="roundRect">
            <a:avLst>
              <a:gd name="adj" fmla="val 3871"/>
            </a:avLst>
          </a:prstGeom>
          <a:solidFill>
            <a:srgbClr val="1E2531"/>
          </a:solidFill>
          <a:ln w="12700">
            <a:solidFill>
              <a:srgbClr val="1E2531"/>
            </a:solidFill>
            <a:prstDash val="solid"/>
          </a:ln>
        </p:spPr>
      </p:sp>
      <p:sp>
        <p:nvSpPr>
          <p:cNvPr id="15" name="Text 12"/>
          <p:cNvSpPr/>
          <p:nvPr/>
        </p:nvSpPr>
        <p:spPr>
          <a:xfrm>
            <a:off x="8298485" y="3346704"/>
            <a:ext cx="3125114" cy="347472"/>
          </a:xfrm>
          <a:prstGeom prst="rect">
            <a:avLst/>
          </a:prstGeom>
          <a:noFill/>
          <a:ln/>
        </p:spPr>
        <p:txBody>
          <a:bodyPr wrap="square" lIns="0" tIns="0" rIns="0" bIns="0" rtlCol="0" anchor="t"/>
          <a:lstStyle/>
          <a:p>
            <a:pPr indent="0" marL="0">
              <a:buNone/>
            </a:pPr>
            <a:r>
              <a:rPr lang="en-US" sz="1600" b="1" dirty="0">
                <a:solidFill>
                  <a:srgbClr val="E09A2E"/>
                </a:solidFill>
                <a:latin typeface="Calibri" pitchFamily="34" charset="0"/>
                <a:ea typeface="Calibri" pitchFamily="34" charset="-122"/>
                <a:cs typeface="Calibri" pitchFamily="34" charset="-120"/>
              </a:rPr>
              <a:t>service_archetype</a:t>
            </a:r>
            <a:endParaRPr lang="en-US" sz="1600" dirty="0"/>
          </a:p>
        </p:txBody>
      </p:sp>
      <p:sp>
        <p:nvSpPr>
          <p:cNvPr id="16" name="Text 13"/>
          <p:cNvSpPr/>
          <p:nvPr/>
        </p:nvSpPr>
        <p:spPr>
          <a:xfrm>
            <a:off x="8298485" y="3730752"/>
            <a:ext cx="3125114" cy="740664"/>
          </a:xfrm>
          <a:prstGeom prst="rect">
            <a:avLst/>
          </a:prstGeom>
          <a:noFill/>
          <a:ln/>
        </p:spPr>
        <p:txBody>
          <a:bodyPr wrap="square" lIns="0" tIns="0" rIns="0" bIns="0" rtlCol="0" anchor="t"/>
          <a:lstStyle/>
          <a:p>
            <a:pPr indent="0" marL="0">
              <a:lnSpc>
                <a:spcPct val="102000"/>
              </a:lnSpc>
              <a:buNone/>
            </a:pPr>
            <a:r>
              <a:rPr lang="en-US" sz="1150" dirty="0">
                <a:solidFill>
                  <a:srgbClr val="AEBACD"/>
                </a:solidFill>
                <a:latin typeface="Calibri" pitchFamily="34" charset="0"/>
                <a:ea typeface="Calibri" pitchFamily="34" charset="-122"/>
                <a:cs typeface="Calibri" pitchFamily="34" charset="-120"/>
              </a:rPr>
              <a:t>Absent on 27 of 27. Without it the platform guesses — every one was inferred as api.</a:t>
            </a:r>
            <a:endParaRPr lang="en-US" sz="1150" dirty="0"/>
          </a:p>
        </p:txBody>
      </p:sp>
      <p:sp>
        <p:nvSpPr>
          <p:cNvPr id="17" name="Shape 14"/>
          <p:cNvSpPr/>
          <p:nvPr/>
        </p:nvSpPr>
        <p:spPr>
          <a:xfrm>
            <a:off x="566928" y="4892040"/>
            <a:ext cx="11057839" cy="1234440"/>
          </a:xfrm>
          <a:prstGeom prst="roundRect">
            <a:avLst>
              <a:gd name="adj" fmla="val 5185"/>
            </a:avLst>
          </a:prstGeom>
          <a:solidFill>
            <a:srgbClr val="2A1A16"/>
          </a:solidFill>
          <a:ln w="12700">
            <a:solidFill>
              <a:srgbClr val="BE4A3F"/>
            </a:solidFill>
            <a:prstDash val="solid"/>
          </a:ln>
        </p:spPr>
      </p:sp>
      <p:sp>
        <p:nvSpPr>
          <p:cNvPr id="18" name="Text 15"/>
          <p:cNvSpPr/>
          <p:nvPr/>
        </p:nvSpPr>
        <p:spPr>
          <a:xfrm>
            <a:off x="822960" y="5029200"/>
            <a:ext cx="4572000" cy="274320"/>
          </a:xfrm>
          <a:prstGeom prst="rect">
            <a:avLst/>
          </a:prstGeom>
          <a:noFill/>
          <a:ln/>
        </p:spPr>
        <p:txBody>
          <a:bodyPr wrap="square" lIns="0" tIns="0" rIns="0" bIns="0" rtlCol="0" anchor="ctr"/>
          <a:lstStyle/>
          <a:p>
            <a:pPr indent="0" marL="0">
              <a:buNone/>
            </a:pPr>
            <a:r>
              <a:rPr lang="en-US" sz="1000" b="1" spc="160" kern="0" dirty="0">
                <a:solidFill>
                  <a:srgbClr val="BE4A3F"/>
                </a:solidFill>
                <a:latin typeface="Calibri" pitchFamily="34" charset="0"/>
                <a:ea typeface="Calibri" pitchFamily="34" charset="-122"/>
                <a:cs typeface="Calibri" pitchFamily="34" charset="-120"/>
              </a:rPr>
              <a:t>THE FIX — DECIDE ONE, THIS WEEK</a:t>
            </a:r>
            <a:endParaRPr lang="en-US" sz="1000" dirty="0"/>
          </a:p>
        </p:txBody>
      </p:sp>
      <p:sp>
        <p:nvSpPr>
          <p:cNvPr id="19" name="Text 16"/>
          <p:cNvSpPr/>
          <p:nvPr/>
        </p:nvSpPr>
        <p:spPr>
          <a:xfrm>
            <a:off x="822960" y="5321808"/>
            <a:ext cx="10545775" cy="731520"/>
          </a:xfrm>
          <a:prstGeom prst="rect">
            <a:avLst/>
          </a:prstGeom>
          <a:noFill/>
          <a:ln/>
        </p:spPr>
        <p:txBody>
          <a:bodyPr wrap="square" lIns="0" tIns="0" rIns="0" bIns="0" rtlCol="0" anchor="t"/>
          <a:lstStyle/>
          <a:p>
            <a:pPr indent="0" marL="0">
              <a:lnSpc>
                <a:spcPct val="105000"/>
              </a:lnSpc>
              <a:buNone/>
            </a:pPr>
            <a:r>
              <a:rPr lang="en-US" sz="1200" b="1" dirty="0">
                <a:solidFill>
                  <a:srgbClr val="E8D5CF"/>
                </a:solidFill>
                <a:latin typeface="Calibri" pitchFamily="34" charset="0"/>
                <a:ea typeface="Calibri" pitchFamily="34" charset="-122"/>
                <a:cs typeface="Calibri" pitchFamily="34" charset="-120"/>
              </a:rPr>
              <a:t>1  Push the tags onto the telemetry</a:t>
            </a:r>
            <a:pPr indent="0" marL="0">
              <a:lnSpc>
                <a:spcPct val="105000"/>
              </a:lnSpc>
              <a:buNone/>
            </a:pPr>
            <a:r>
              <a:rPr lang="en-US" sz="1200" dirty="0">
                <a:solidFill>
                  <a:srgbClr val="E8D5CF"/>
                </a:solidFill>
                <a:latin typeface="Calibri" pitchFamily="34" charset="0"/>
                <a:ea typeface="Calibri" pitchFamily="34" charset="-122"/>
                <a:cs typeface="Calibri" pitchFamily="34" charset="-120"/>
              </a:rPr>
              <a:t>  — Azure Policy modify effect on resource groups, agent datadog.yaml tags, Kubernetes pod labels, DD_TAGS for APM. Correct and explicit; this is the design intent.</a:t>
            </a:r>
            <a:endParaRPr lang="en-US" sz="1200" dirty="0"/>
          </a:p>
          <a:p>
            <a:pPr indent="0" marL="0">
              <a:lnSpc>
                <a:spcPct val="105000"/>
              </a:lnSpc>
              <a:buNone/>
            </a:pPr>
            <a:r>
              <a:rPr lang="en-US" sz="1200" b="1" dirty="0">
                <a:solidFill>
                  <a:srgbClr val="E8D5CF"/>
                </a:solidFill>
                <a:latin typeface="Calibri" pitchFamily="34" charset="0"/>
                <a:ea typeface="Calibri" pitchFamily="34" charset="-122"/>
                <a:cs typeface="Calibri" pitchFamily="34" charset="-120"/>
              </a:rPr>
              <a:t>2  Or scope queries on tier instead</a:t>
            </a:r>
            <a:pPr indent="0" marL="0">
              <a:lnSpc>
                <a:spcPct val="105000"/>
              </a:lnSpc>
              <a:buNone/>
            </a:pPr>
            <a:r>
              <a:rPr lang="en-US" sz="1200" dirty="0">
                <a:solidFill>
                  <a:srgbClr val="E8D5CF"/>
                </a:solidFill>
                <a:latin typeface="Calibri" pitchFamily="34" charset="0"/>
                <a:ea typeface="Calibri" pitchFamily="34" charset="-122"/>
                <a:cs typeface="Calibri" pitchFamily="34" charset="-120"/>
              </a:rPr>
              <a:t>  — one policy change, no telemetry work, but coarser: tier0 and tier1 share a band today.</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2161F"/>
        </a:solidFill>
      </p:bgPr>
    </p:bg>
    <p:spTree>
      <p:nvGrpSpPr>
        <p:cNvPr id="1" name=""/>
        <p:cNvGrpSpPr/>
        <p:nvPr/>
      </p:nvGrpSpPr>
      <p:grpSpPr>
        <a:xfrm>
          <a:off x="0" y="0"/>
          <a:ext cx="0" cy="0"/>
          <a:chOff x="0" y="0"/>
          <a:chExt cx="0" cy="0"/>
        </a:xfrm>
      </p:grpSpPr>
      <p:sp>
        <p:nvSpPr>
          <p:cNvPr id="2" name="Text 0"/>
          <p:cNvSpPr/>
          <p:nvPr/>
        </p:nvSpPr>
        <p:spPr>
          <a:xfrm>
            <a:off x="566928" y="6345936"/>
            <a:ext cx="7315200" cy="274320"/>
          </a:xfrm>
          <a:prstGeom prst="rect">
            <a:avLst/>
          </a:prstGeom>
          <a:noFill/>
          <a:ln/>
        </p:spPr>
        <p:txBody>
          <a:bodyPr wrap="square" lIns="0" tIns="0" rIns="0" bIns="0" rtlCol="0" anchor="ctr"/>
          <a:lstStyle/>
          <a:p>
            <a:pPr indent="0" marL="0">
              <a:buNone/>
            </a:pPr>
            <a:r>
              <a:rPr lang="en-US" sz="900" dirty="0">
                <a:solidFill>
                  <a:srgbClr val="6E7B92"/>
                </a:solidFill>
                <a:latin typeface="Calibri" pitchFamily="34" charset="0"/>
                <a:ea typeface="Calibri" pitchFamily="34" charset="-122"/>
                <a:cs typeface="Calibri" pitchFamily="34" charset="-120"/>
              </a:rPr>
              <a:t>Enterprise Observability  ·  policy-as-data on Datadog</a:t>
            </a:r>
            <a:endParaRPr lang="en-US" sz="900" dirty="0"/>
          </a:p>
        </p:txBody>
      </p:sp>
      <p:sp>
        <p:nvSpPr>
          <p:cNvPr id="3" name="Text 1"/>
          <p:cNvSpPr/>
          <p:nvPr/>
        </p:nvSpPr>
        <p:spPr>
          <a:xfrm>
            <a:off x="10710367" y="6345936"/>
            <a:ext cx="914400" cy="274320"/>
          </a:xfrm>
          <a:prstGeom prst="rect">
            <a:avLst/>
          </a:prstGeom>
          <a:noFill/>
          <a:ln/>
        </p:spPr>
        <p:txBody>
          <a:bodyPr wrap="square" lIns="0" tIns="0" rIns="0" bIns="0" rtlCol="0" anchor="ctr"/>
          <a:lstStyle/>
          <a:p>
            <a:pPr algn="r" indent="0" marL="0">
              <a:buNone/>
            </a:pPr>
            <a:r>
              <a:rPr lang="en-US" sz="900" dirty="0">
                <a:solidFill>
                  <a:srgbClr val="6E7B92"/>
                </a:solidFill>
                <a:latin typeface="Calibri" pitchFamily="34" charset="0"/>
                <a:ea typeface="Calibri" pitchFamily="34" charset="-122"/>
                <a:cs typeface="Calibri" pitchFamily="34" charset="-120"/>
              </a:rPr>
              <a:t>4</a:t>
            </a:r>
            <a:endParaRPr lang="en-US" sz="900" dirty="0"/>
          </a:p>
        </p:txBody>
      </p:sp>
      <p:sp>
        <p:nvSpPr>
          <p:cNvPr id="5" name="Text 2"/>
          <p:cNvSpPr/>
          <p:nvPr/>
        </p:nvSpPr>
        <p:spPr>
          <a:xfrm>
            <a:off x="566928" y="1417320"/>
            <a:ext cx="5486400" cy="457200"/>
          </a:xfrm>
          <a:prstGeom prst="rect">
            <a:avLst/>
          </a:prstGeom>
          <a:noFill/>
          <a:ln/>
        </p:spPr>
        <p:txBody>
          <a:bodyPr wrap="square" lIns="0" tIns="0" rIns="0" bIns="0" rtlCol="0" anchor="ctr"/>
          <a:lstStyle/>
          <a:p>
            <a:pPr indent="0" marL="0">
              <a:buNone/>
            </a:pPr>
            <a:r>
              <a:rPr lang="en-US" sz="1200" b="1" spc="240" kern="0" dirty="0">
                <a:solidFill>
                  <a:srgbClr val="E09A2E"/>
                </a:solidFill>
                <a:latin typeface="Calibri" pitchFamily="34" charset="0"/>
                <a:ea typeface="Calibri" pitchFamily="34" charset="-122"/>
                <a:cs typeface="Calibri" pitchFamily="34" charset="-120"/>
              </a:rPr>
              <a:t>PART ONE</a:t>
            </a:r>
            <a:endParaRPr lang="en-US" sz="1200" dirty="0"/>
          </a:p>
        </p:txBody>
      </p:sp>
      <p:sp>
        <p:nvSpPr>
          <p:cNvPr id="6" name="Text 3"/>
          <p:cNvSpPr/>
          <p:nvPr/>
        </p:nvSpPr>
        <p:spPr>
          <a:xfrm>
            <a:off x="566928" y="1874520"/>
            <a:ext cx="6766560" cy="173736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Why we are</a:t>
            </a:r>
            <a:endParaRPr lang="en-US" sz="4000" dirty="0"/>
          </a:p>
          <a:p>
            <a:pPr indent="0" marL="0">
              <a:buNone/>
            </a:pPr>
            <a:r>
              <a:rPr lang="en-US" sz="4000" b="1" dirty="0">
                <a:solidFill>
                  <a:srgbClr val="FFFFFF"/>
                </a:solidFill>
                <a:latin typeface="Cambria" pitchFamily="34" charset="0"/>
                <a:ea typeface="Cambria" pitchFamily="34" charset="-122"/>
                <a:cs typeface="Cambria" pitchFamily="34" charset="-120"/>
              </a:rPr>
              <a:t>changing</a:t>
            </a:r>
            <a:endParaRPr lang="en-US" sz="4000" dirty="0"/>
          </a:p>
        </p:txBody>
      </p:sp>
      <p:sp>
        <p:nvSpPr>
          <p:cNvPr id="7" name="Text 4"/>
          <p:cNvSpPr/>
          <p:nvPr/>
        </p:nvSpPr>
        <p:spPr>
          <a:xfrm>
            <a:off x="566928" y="3749040"/>
            <a:ext cx="6035040" cy="822960"/>
          </a:xfrm>
          <a:prstGeom prst="rect">
            <a:avLst/>
          </a:prstGeom>
          <a:noFill/>
          <a:ln/>
        </p:spPr>
        <p:txBody>
          <a:bodyPr wrap="square" lIns="0" tIns="0" rIns="0" bIns="0" rtlCol="0" anchor="t"/>
          <a:lstStyle/>
          <a:p>
            <a:pPr indent="0" marL="0">
              <a:buNone/>
            </a:pPr>
            <a:r>
              <a:rPr lang="en-US" sz="1400" dirty="0">
                <a:solidFill>
                  <a:srgbClr val="9FADC4"/>
                </a:solidFill>
                <a:latin typeface="Calibri" pitchFamily="34" charset="0"/>
                <a:ea typeface="Calibri" pitchFamily="34" charset="-122"/>
                <a:cs typeface="Calibri" pitchFamily="34" charset="-120"/>
              </a:rPr>
              <a:t>The case for the programme, what the old model cost us, and the model that replaces it.</a:t>
            </a:r>
            <a:endParaRPr lang="en-US" sz="1400" dirty="0"/>
          </a:p>
        </p:txBody>
      </p:sp>
      <p:sp>
        <p:nvSpPr>
          <p:cNvPr id="8" name="Shape 5"/>
          <p:cNvSpPr/>
          <p:nvPr/>
        </p:nvSpPr>
        <p:spPr>
          <a:xfrm>
            <a:off x="7360920" y="1371600"/>
            <a:ext cx="4263847" cy="4434840"/>
          </a:xfrm>
          <a:prstGeom prst="roundRect">
            <a:avLst>
              <a:gd name="adj" fmla="val 1501"/>
            </a:avLst>
          </a:prstGeom>
          <a:solidFill>
            <a:srgbClr val="1E2531"/>
          </a:solidFill>
          <a:ln w="12700">
            <a:solidFill>
              <a:srgbClr val="323C4D"/>
            </a:solidFill>
            <a:prstDash val="solid"/>
          </a:ln>
        </p:spPr>
      </p:sp>
      <p:sp>
        <p:nvSpPr>
          <p:cNvPr id="9" name="Text 6"/>
          <p:cNvSpPr/>
          <p:nvPr/>
        </p:nvSpPr>
        <p:spPr>
          <a:xfrm>
            <a:off x="7680960" y="1627632"/>
            <a:ext cx="3840480" cy="274320"/>
          </a:xfrm>
          <a:prstGeom prst="rect">
            <a:avLst/>
          </a:prstGeom>
          <a:noFill/>
          <a:ln/>
        </p:spPr>
        <p:txBody>
          <a:bodyPr wrap="square" lIns="0" tIns="0" rIns="0" bIns="0" rtlCol="0" anchor="ctr"/>
          <a:lstStyle/>
          <a:p>
            <a:pPr indent="0" marL="0">
              <a:buNone/>
            </a:pPr>
            <a:r>
              <a:rPr lang="en-US" sz="950" b="1" spc="160" kern="0" dirty="0">
                <a:solidFill>
                  <a:srgbClr val="E09A2E"/>
                </a:solidFill>
                <a:latin typeface="Calibri" pitchFamily="34" charset="0"/>
                <a:ea typeface="Calibri" pitchFamily="34" charset="-122"/>
                <a:cs typeface="Calibri" pitchFamily="34" charset="-120"/>
              </a:rPr>
              <a:t>TOPICS IN THIS PART</a:t>
            </a:r>
            <a:endParaRPr lang="en-US" sz="950" dirty="0"/>
          </a:p>
        </p:txBody>
      </p:sp>
      <p:sp>
        <p:nvSpPr>
          <p:cNvPr id="10" name="Text 7"/>
          <p:cNvSpPr/>
          <p:nvPr/>
        </p:nvSpPr>
        <p:spPr>
          <a:xfrm>
            <a:off x="7680960" y="1993392"/>
            <a:ext cx="3977640" cy="3566160"/>
          </a:xfrm>
          <a:prstGeom prst="rect">
            <a:avLst/>
          </a:prstGeom>
          <a:noFill/>
          <a:ln/>
        </p:spPr>
        <p:txBody>
          <a:bodyPr wrap="square" lIns="0" tIns="0" rIns="0" bIns="0" rtlCol="0" anchor="t"/>
          <a:lstStyle/>
          <a:p>
            <a:pPr indent="0" marL="0">
              <a:spcAft>
                <a:spcPts val="700"/>
              </a:spcAft>
              <a:buNone/>
            </a:pPr>
            <a:r>
              <a:rPr lang="en-US" sz="1300" dirty="0">
                <a:solidFill>
                  <a:srgbClr val="D3DCE9"/>
                </a:solidFill>
                <a:latin typeface="Calibri" pitchFamily="34" charset="0"/>
                <a:ea typeface="Calibri" pitchFamily="34" charset="-122"/>
                <a:cs typeface="Calibri" pitchFamily="34" charset="-120"/>
              </a:rPr>
              <a:t>1.  Why the programme exists</a:t>
            </a:r>
            <a:endParaRPr lang="en-US" sz="1300" dirty="0"/>
          </a:p>
          <a:p>
            <a:pPr indent="0" marL="0">
              <a:spcAft>
                <a:spcPts val="700"/>
              </a:spcAft>
              <a:buNone/>
            </a:pPr>
            <a:r>
              <a:rPr lang="en-US" sz="1300" dirty="0">
                <a:solidFill>
                  <a:srgbClr val="D3DCE9"/>
                </a:solidFill>
                <a:latin typeface="Calibri" pitchFamily="34" charset="0"/>
                <a:ea typeface="Calibri" pitchFamily="34" charset="-122"/>
                <a:cs typeface="Calibri" pitchFamily="34" charset="-120"/>
              </a:rPr>
              <a:t>2.  What was wrong with the previous model</a:t>
            </a:r>
            <a:endParaRPr lang="en-US" sz="1300" dirty="0"/>
          </a:p>
          <a:p>
            <a:pPr indent="0" marL="0">
              <a:spcAft>
                <a:spcPts val="700"/>
              </a:spcAft>
              <a:buNone/>
            </a:pPr>
            <a:r>
              <a:rPr lang="en-US" sz="1300" dirty="0">
                <a:solidFill>
                  <a:srgbClr val="D3DCE9"/>
                </a:solidFill>
                <a:latin typeface="Calibri" pitchFamily="34" charset="0"/>
                <a:ea typeface="Calibri" pitchFamily="34" charset="-122"/>
                <a:cs typeface="Calibri" pitchFamily="34" charset="-120"/>
              </a:rPr>
              <a:t>3.  The target operating model</a:t>
            </a:r>
            <a:endParaRPr lang="en-US" sz="1300" dirty="0"/>
          </a:p>
          <a:p>
            <a:pPr indent="0" marL="0">
              <a:spcAft>
                <a:spcPts val="700"/>
              </a:spcAft>
              <a:buNone/>
            </a:pPr>
            <a:r>
              <a:rPr lang="en-US" sz="1300" dirty="0">
                <a:solidFill>
                  <a:srgbClr val="D3DCE9"/>
                </a:solidFill>
                <a:latin typeface="Calibri" pitchFamily="34" charset="0"/>
                <a:ea typeface="Calibri" pitchFamily="34" charset="-122"/>
                <a:cs typeface="Calibri" pitchFamily="34" charset="-120"/>
              </a:rPr>
              <a:t>4.  What teams actually have to do</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8778240" cy="256032"/>
          </a:xfrm>
          <a:prstGeom prst="rect">
            <a:avLst/>
          </a:prstGeom>
          <a:noFill/>
          <a:ln/>
        </p:spPr>
        <p:txBody>
          <a:bodyPr wrap="square" lIns="0" tIns="0" rIns="0" bIns="0" rtlCol="0" anchor="ctr"/>
          <a:lstStyle/>
          <a:p>
            <a:pPr indent="0" marL="0">
              <a:buNone/>
            </a:pPr>
            <a:r>
              <a:rPr lang="en-US" sz="1050" b="1" spc="160" kern="0" dirty="0">
                <a:solidFill>
                  <a:srgbClr val="B87914"/>
                </a:solidFill>
                <a:latin typeface="Calibri" pitchFamily="34" charset="0"/>
                <a:ea typeface="Calibri" pitchFamily="34" charset="-122"/>
                <a:cs typeface="Calibri" pitchFamily="34" charset="-120"/>
              </a:rPr>
              <a:t>TOPIC 1</a:t>
            </a:r>
            <a:endParaRPr lang="en-US" sz="1050" dirty="0"/>
          </a:p>
        </p:txBody>
      </p:sp>
      <p:sp>
        <p:nvSpPr>
          <p:cNvPr id="3" name="Text 1"/>
          <p:cNvSpPr/>
          <p:nvPr/>
        </p:nvSpPr>
        <p:spPr>
          <a:xfrm>
            <a:off x="566928" y="694944"/>
            <a:ext cx="10424160" cy="786384"/>
          </a:xfrm>
          <a:prstGeom prst="rect">
            <a:avLst/>
          </a:prstGeom>
          <a:noFill/>
          <a:ln/>
        </p:spPr>
        <p:txBody>
          <a:bodyPr wrap="square" lIns="0" tIns="0" rIns="0" bIns="0" rtlCol="0" anchor="ctr"/>
          <a:lstStyle/>
          <a:p>
            <a:pPr indent="0" marL="0">
              <a:buNone/>
            </a:pPr>
            <a:r>
              <a:rPr lang="en-US" sz="3100" b="1" dirty="0">
                <a:solidFill>
                  <a:srgbClr val="161C28"/>
                </a:solidFill>
                <a:latin typeface="Cambria" pitchFamily="34" charset="0"/>
                <a:ea typeface="Cambria" pitchFamily="34" charset="-122"/>
                <a:cs typeface="Cambria" pitchFamily="34" charset="-120"/>
              </a:rPr>
              <a:t>Why the programme exists</a:t>
            </a:r>
            <a:endParaRPr lang="en-US" sz="3100" dirty="0"/>
          </a:p>
        </p:txBody>
      </p:sp>
      <p:sp>
        <p:nvSpPr>
          <p:cNvPr id="4" name="Shape 2"/>
          <p:cNvSpPr/>
          <p:nvPr/>
        </p:nvSpPr>
        <p:spPr>
          <a:xfrm>
            <a:off x="10568635" y="420624"/>
            <a:ext cx="1056132" cy="310896"/>
          </a:xfrm>
          <a:prstGeom prst="roundRect">
            <a:avLst>
              <a:gd name="adj" fmla="val 50000"/>
            </a:avLst>
          </a:prstGeom>
          <a:solidFill>
            <a:srgbClr val="27807C"/>
          </a:solidFill>
          <a:ln w="12700">
            <a:solidFill>
              <a:srgbClr val="27807C"/>
            </a:solidFill>
            <a:prstDash val="solid"/>
          </a:ln>
        </p:spPr>
      </p:sp>
      <p:sp>
        <p:nvSpPr>
          <p:cNvPr id="5" name="Text 3"/>
          <p:cNvSpPr/>
          <p:nvPr/>
        </p:nvSpPr>
        <p:spPr>
          <a:xfrm>
            <a:off x="10568635" y="420624"/>
            <a:ext cx="1056132" cy="310896"/>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SHIPPED</a:t>
            </a:r>
            <a:endParaRPr lang="en-US" sz="950" dirty="0"/>
          </a:p>
        </p:txBody>
      </p:sp>
      <p:sp>
        <p:nvSpPr>
          <p:cNvPr id="6" name="Text 4"/>
          <p:cNvSpPr/>
          <p:nvPr/>
        </p:nvSpPr>
        <p:spPr>
          <a:xfrm>
            <a:off x="566928" y="6345936"/>
            <a:ext cx="7315200" cy="274320"/>
          </a:xfrm>
          <a:prstGeom prst="rect">
            <a:avLst/>
          </a:prstGeom>
          <a:noFill/>
          <a:ln/>
        </p:spPr>
        <p:txBody>
          <a:bodyPr wrap="square" lIns="0" tIns="0" rIns="0" bIns="0" rtlCol="0" anchor="ctr"/>
          <a:lstStyle/>
          <a:p>
            <a:pPr indent="0" marL="0">
              <a:buNone/>
            </a:pPr>
            <a:r>
              <a:rPr lang="en-US" sz="900" dirty="0">
                <a:solidFill>
                  <a:srgbClr val="6B7891"/>
                </a:solidFill>
                <a:latin typeface="Calibri" pitchFamily="34" charset="0"/>
                <a:ea typeface="Calibri" pitchFamily="34" charset="-122"/>
                <a:cs typeface="Calibri" pitchFamily="34" charset="-120"/>
              </a:rPr>
              <a:t>Enterprise Observability  ·  policy-as-data on Datadog</a:t>
            </a:r>
            <a:endParaRPr lang="en-US" sz="900" dirty="0"/>
          </a:p>
        </p:txBody>
      </p:sp>
      <p:sp>
        <p:nvSpPr>
          <p:cNvPr id="7" name="Text 5"/>
          <p:cNvSpPr/>
          <p:nvPr/>
        </p:nvSpPr>
        <p:spPr>
          <a:xfrm>
            <a:off x="10710367" y="6345936"/>
            <a:ext cx="914400" cy="274320"/>
          </a:xfrm>
          <a:prstGeom prst="rect">
            <a:avLst/>
          </a:prstGeom>
          <a:noFill/>
          <a:ln/>
        </p:spPr>
        <p:txBody>
          <a:bodyPr wrap="square" lIns="0" tIns="0" rIns="0" bIns="0" rtlCol="0" anchor="ctr"/>
          <a:lstStyle/>
          <a:p>
            <a:pPr algn="r" indent="0" marL="0">
              <a:buNone/>
            </a:pPr>
            <a:r>
              <a:rPr lang="en-US" sz="900" dirty="0">
                <a:solidFill>
                  <a:srgbClr val="6B7891"/>
                </a:solidFill>
                <a:latin typeface="Calibri" pitchFamily="34" charset="0"/>
                <a:ea typeface="Calibri" pitchFamily="34" charset="-122"/>
                <a:cs typeface="Calibri" pitchFamily="34" charset="-120"/>
              </a:rPr>
              <a:t>5</a:t>
            </a:r>
            <a:endParaRPr lang="en-US" sz="900" dirty="0"/>
          </a:p>
        </p:txBody>
      </p:sp>
      <p:sp>
        <p:nvSpPr>
          <p:cNvPr id="9" name="Text 6"/>
          <p:cNvSpPr/>
          <p:nvPr/>
        </p:nvSpPr>
        <p:spPr>
          <a:xfrm>
            <a:off x="566928" y="1517904"/>
            <a:ext cx="10607040" cy="365760"/>
          </a:xfrm>
          <a:prstGeom prst="rect">
            <a:avLst/>
          </a:prstGeom>
          <a:noFill/>
          <a:ln/>
        </p:spPr>
        <p:txBody>
          <a:bodyPr wrap="square" lIns="0" tIns="0" rIns="0" bIns="0" rtlCol="0" anchor="t"/>
          <a:lstStyle/>
          <a:p>
            <a:pPr indent="0" marL="0">
              <a:buNone/>
            </a:pPr>
            <a:r>
              <a:rPr lang="en-US" sz="1500" dirty="0">
                <a:solidFill>
                  <a:srgbClr val="3A4557"/>
                </a:solidFill>
                <a:latin typeface="Calibri" pitchFamily="34" charset="0"/>
                <a:ea typeface="Calibri" pitchFamily="34" charset="-122"/>
                <a:cs typeface="Calibri" pitchFamily="34" charset="-120"/>
              </a:rPr>
              <a:t>The invariant the whole platform is built on</a:t>
            </a:r>
            <a:endParaRPr lang="en-US" sz="1500" dirty="0"/>
          </a:p>
        </p:txBody>
      </p:sp>
      <p:sp>
        <p:nvSpPr>
          <p:cNvPr id="10" name="Shape 7"/>
          <p:cNvSpPr/>
          <p:nvPr/>
        </p:nvSpPr>
        <p:spPr>
          <a:xfrm>
            <a:off x="566928" y="2011680"/>
            <a:ext cx="5257800" cy="1874520"/>
          </a:xfrm>
          <a:prstGeom prst="roundRect">
            <a:avLst>
              <a:gd name="adj" fmla="val 3415"/>
            </a:avLst>
          </a:prstGeom>
          <a:solidFill>
            <a:srgbClr val="EFF2F6"/>
          </a:solidFill>
          <a:ln w="12700">
            <a:solidFill>
              <a:srgbClr val="EFF2F6"/>
            </a:solidFill>
            <a:prstDash val="solid"/>
          </a:ln>
        </p:spPr>
      </p:sp>
      <p:sp>
        <p:nvSpPr>
          <p:cNvPr id="11" name="Text 8"/>
          <p:cNvSpPr/>
          <p:nvPr/>
        </p:nvSpPr>
        <p:spPr>
          <a:xfrm>
            <a:off x="886968" y="2212848"/>
            <a:ext cx="4572000" cy="868680"/>
          </a:xfrm>
          <a:prstGeom prst="rect">
            <a:avLst/>
          </a:prstGeom>
          <a:noFill/>
          <a:ln/>
        </p:spPr>
        <p:txBody>
          <a:bodyPr wrap="square" lIns="0" tIns="0" rIns="0" bIns="0" rtlCol="0" anchor="ctr"/>
          <a:lstStyle/>
          <a:p>
            <a:pPr algn="l" indent="0" marL="0">
              <a:buNone/>
            </a:pPr>
            <a:r>
              <a:rPr lang="en-US" sz="4000" b="1" dirty="0">
                <a:solidFill>
                  <a:srgbClr val="6B7891"/>
                </a:solidFill>
                <a:latin typeface="Cambria" pitchFamily="34" charset="0"/>
                <a:ea typeface="Cambria" pitchFamily="34" charset="-122"/>
                <a:cs typeface="Cambria" pitchFamily="34" charset="-120"/>
              </a:rPr>
              <a:t>~8,000,000</a:t>
            </a:r>
            <a:endParaRPr lang="en-US" sz="4000" dirty="0"/>
          </a:p>
        </p:txBody>
      </p:sp>
      <p:sp>
        <p:nvSpPr>
          <p:cNvPr id="12" name="Text 9"/>
          <p:cNvSpPr/>
          <p:nvPr/>
        </p:nvSpPr>
        <p:spPr>
          <a:xfrm>
            <a:off x="886968" y="3044952"/>
            <a:ext cx="4572000" cy="548640"/>
          </a:xfrm>
          <a:prstGeom prst="rect">
            <a:avLst/>
          </a:prstGeom>
          <a:noFill/>
          <a:ln/>
        </p:spPr>
        <p:txBody>
          <a:bodyPr wrap="square" lIns="0" tIns="0" rIns="0" bIns="0" rtlCol="0" anchor="t"/>
          <a:lstStyle/>
          <a:p>
            <a:pPr algn="l" indent="0" marL="0">
              <a:buNone/>
            </a:pPr>
            <a:r>
              <a:rPr lang="en-US" sz="1150" dirty="0">
                <a:solidFill>
                  <a:srgbClr val="6B7891"/>
                </a:solidFill>
                <a:latin typeface="Calibri" pitchFamily="34" charset="0"/>
                <a:ea typeface="Calibri" pitchFamily="34" charset="-122"/>
                <a:cs typeface="Calibri" pitchFamily="34" charset="-120"/>
              </a:rPr>
              <a:t>monitors — the naive model: 100k services × 4 environments × 20 signals</a:t>
            </a:r>
            <a:endParaRPr lang="en-US" sz="1150" dirty="0"/>
          </a:p>
        </p:txBody>
      </p:sp>
      <p:sp>
        <p:nvSpPr>
          <p:cNvPr id="13" name="Shape 10"/>
          <p:cNvSpPr/>
          <p:nvPr/>
        </p:nvSpPr>
        <p:spPr>
          <a:xfrm>
            <a:off x="6099048" y="2011680"/>
            <a:ext cx="5257800" cy="1874520"/>
          </a:xfrm>
          <a:prstGeom prst="roundRect">
            <a:avLst>
              <a:gd name="adj" fmla="val 3415"/>
            </a:avLst>
          </a:prstGeom>
          <a:solidFill>
            <a:srgbClr val="12161F"/>
          </a:solidFill>
          <a:ln w="12700">
            <a:solidFill>
              <a:srgbClr val="12161F"/>
            </a:solidFill>
            <a:prstDash val="solid"/>
          </a:ln>
        </p:spPr>
      </p:sp>
      <p:sp>
        <p:nvSpPr>
          <p:cNvPr id="14" name="Text 11"/>
          <p:cNvSpPr/>
          <p:nvPr/>
        </p:nvSpPr>
        <p:spPr>
          <a:xfrm>
            <a:off x="6419088" y="2212848"/>
            <a:ext cx="4572000" cy="868680"/>
          </a:xfrm>
          <a:prstGeom prst="rect">
            <a:avLst/>
          </a:prstGeom>
          <a:noFill/>
          <a:ln/>
        </p:spPr>
        <p:txBody>
          <a:bodyPr wrap="square" lIns="0" tIns="0" rIns="0" bIns="0" rtlCol="0" anchor="ctr"/>
          <a:lstStyle/>
          <a:p>
            <a:pPr algn="l" indent="0" marL="0">
              <a:buNone/>
            </a:pPr>
            <a:r>
              <a:rPr lang="en-US" sz="4000" b="1" dirty="0">
                <a:solidFill>
                  <a:srgbClr val="E09A2E"/>
                </a:solidFill>
                <a:latin typeface="Cambria" pitchFamily="34" charset="0"/>
                <a:ea typeface="Cambria" pitchFamily="34" charset="-122"/>
                <a:cs typeface="Cambria" pitchFamily="34" charset="-120"/>
              </a:rPr>
              <a:t>651</a:t>
            </a:r>
            <a:endParaRPr lang="en-US" sz="4000" dirty="0"/>
          </a:p>
        </p:txBody>
      </p:sp>
      <p:sp>
        <p:nvSpPr>
          <p:cNvPr id="15" name="Text 12"/>
          <p:cNvSpPr/>
          <p:nvPr/>
        </p:nvSpPr>
        <p:spPr>
          <a:xfrm>
            <a:off x="6419088" y="3044952"/>
            <a:ext cx="4572000" cy="548640"/>
          </a:xfrm>
          <a:prstGeom prst="rect">
            <a:avLst/>
          </a:prstGeom>
          <a:noFill/>
          <a:ln/>
        </p:spPr>
        <p:txBody>
          <a:bodyPr wrap="square" lIns="0" tIns="0" rIns="0" bIns="0" rtlCol="0" anchor="t"/>
          <a:lstStyle/>
          <a:p>
            <a:pPr algn="l" indent="0" marL="0">
              <a:buNone/>
            </a:pPr>
            <a:r>
              <a:rPr lang="en-US" sz="1150" dirty="0">
                <a:solidFill>
                  <a:srgbClr val="9FADC4"/>
                </a:solidFill>
                <a:latin typeface="Calibri" pitchFamily="34" charset="0"/>
                <a:ea typeface="Calibri" pitchFamily="34" charset="-122"/>
                <a:cs typeface="Calibri" pitchFamily="34" charset="-120"/>
              </a:rPr>
              <a:t>monitors — this platform, same coverage, every one reviewed in a pull request</a:t>
            </a:r>
            <a:endParaRPr lang="en-US" sz="1150" dirty="0"/>
          </a:p>
        </p:txBody>
      </p:sp>
      <p:sp>
        <p:nvSpPr>
          <p:cNvPr id="16" name="Shape 13"/>
          <p:cNvSpPr/>
          <p:nvPr/>
        </p:nvSpPr>
        <p:spPr>
          <a:xfrm>
            <a:off x="566928" y="4114800"/>
            <a:ext cx="2586152" cy="1371600"/>
          </a:xfrm>
          <a:prstGeom prst="roundRect">
            <a:avLst>
              <a:gd name="adj" fmla="val 4000"/>
            </a:avLst>
          </a:prstGeom>
          <a:solidFill>
            <a:srgbClr val="EFF2F6"/>
          </a:solidFill>
          <a:ln w="12700">
            <a:solidFill>
              <a:srgbClr val="EFF2F6"/>
            </a:solidFill>
            <a:prstDash val="solid"/>
          </a:ln>
        </p:spPr>
      </p:sp>
      <p:sp>
        <p:nvSpPr>
          <p:cNvPr id="17" name="Text 14"/>
          <p:cNvSpPr/>
          <p:nvPr/>
        </p:nvSpPr>
        <p:spPr>
          <a:xfrm>
            <a:off x="768096" y="4261104"/>
            <a:ext cx="2183816" cy="347472"/>
          </a:xfrm>
          <a:prstGeom prst="rect">
            <a:avLst/>
          </a:prstGeom>
          <a:noFill/>
          <a:ln/>
        </p:spPr>
        <p:txBody>
          <a:bodyPr wrap="square" lIns="0" tIns="0" rIns="0" bIns="0" rtlCol="0" anchor="t"/>
          <a:lstStyle/>
          <a:p>
            <a:pPr indent="0" marL="0">
              <a:buNone/>
            </a:pPr>
            <a:r>
              <a:rPr lang="en-US" sz="1450" b="1" dirty="0">
                <a:solidFill>
                  <a:srgbClr val="161C28"/>
                </a:solidFill>
                <a:latin typeface="Calibri" pitchFamily="34" charset="0"/>
                <a:ea typeface="Calibri" pitchFamily="34" charset="-122"/>
                <a:cs typeface="Calibri" pitchFamily="34" charset="-120"/>
              </a:rPr>
              <a:t>Cost</a:t>
            </a:r>
            <a:endParaRPr lang="en-US" sz="1450" dirty="0"/>
          </a:p>
        </p:txBody>
      </p:sp>
      <p:sp>
        <p:nvSpPr>
          <p:cNvPr id="18" name="Text 15"/>
          <p:cNvSpPr/>
          <p:nvPr/>
        </p:nvSpPr>
        <p:spPr>
          <a:xfrm>
            <a:off x="768096" y="4645152"/>
            <a:ext cx="2183816" cy="694944"/>
          </a:xfrm>
          <a:prstGeom prst="rect">
            <a:avLst/>
          </a:prstGeom>
          <a:noFill/>
          <a:ln/>
        </p:spPr>
        <p:txBody>
          <a:bodyPr wrap="square" lIns="0" tIns="0" rIns="0" bIns="0" rtlCol="0" anchor="t"/>
          <a:lstStyle/>
          <a:p>
            <a:pPr indent="0" marL="0">
              <a:lnSpc>
                <a:spcPct val="102000"/>
              </a:lnSpc>
              <a:buNone/>
            </a:pPr>
            <a:r>
              <a:rPr lang="en-US" sz="1150" dirty="0">
                <a:solidFill>
                  <a:srgbClr val="3A4557"/>
                </a:solidFill>
                <a:latin typeface="Calibri" pitchFamily="34" charset="0"/>
                <a:ea typeface="Calibri" pitchFamily="34" charset="-122"/>
                <a:cs typeface="Calibri" pitchFamily="34" charset="-120"/>
              </a:rPr>
              <a:t>Object count drives licence spend and, more expensively, the human review time nobody budgets for.</a:t>
            </a:r>
            <a:endParaRPr lang="en-US" sz="1150" dirty="0"/>
          </a:p>
        </p:txBody>
      </p:sp>
      <p:sp>
        <p:nvSpPr>
          <p:cNvPr id="19" name="Shape 16"/>
          <p:cNvSpPr/>
          <p:nvPr/>
        </p:nvSpPr>
        <p:spPr>
          <a:xfrm>
            <a:off x="3390824" y="4114800"/>
            <a:ext cx="2586152" cy="1371600"/>
          </a:xfrm>
          <a:prstGeom prst="roundRect">
            <a:avLst>
              <a:gd name="adj" fmla="val 4000"/>
            </a:avLst>
          </a:prstGeom>
          <a:solidFill>
            <a:srgbClr val="EFF2F6"/>
          </a:solidFill>
          <a:ln w="12700">
            <a:solidFill>
              <a:srgbClr val="EFF2F6"/>
            </a:solidFill>
            <a:prstDash val="solid"/>
          </a:ln>
        </p:spPr>
      </p:sp>
      <p:sp>
        <p:nvSpPr>
          <p:cNvPr id="20" name="Text 17"/>
          <p:cNvSpPr/>
          <p:nvPr/>
        </p:nvSpPr>
        <p:spPr>
          <a:xfrm>
            <a:off x="3591992" y="4261104"/>
            <a:ext cx="2183816" cy="347472"/>
          </a:xfrm>
          <a:prstGeom prst="rect">
            <a:avLst/>
          </a:prstGeom>
          <a:noFill/>
          <a:ln/>
        </p:spPr>
        <p:txBody>
          <a:bodyPr wrap="square" lIns="0" tIns="0" rIns="0" bIns="0" rtlCol="0" anchor="t"/>
          <a:lstStyle/>
          <a:p>
            <a:pPr indent="0" marL="0">
              <a:buNone/>
            </a:pPr>
            <a:r>
              <a:rPr lang="en-US" sz="1450" b="1" dirty="0">
                <a:solidFill>
                  <a:srgbClr val="161C28"/>
                </a:solidFill>
                <a:latin typeface="Calibri" pitchFamily="34" charset="0"/>
                <a:ea typeface="Calibri" pitchFamily="34" charset="-122"/>
                <a:cs typeface="Calibri" pitchFamily="34" charset="-120"/>
              </a:rPr>
              <a:t>Trust</a:t>
            </a:r>
            <a:endParaRPr lang="en-US" sz="1450" dirty="0"/>
          </a:p>
        </p:txBody>
      </p:sp>
      <p:sp>
        <p:nvSpPr>
          <p:cNvPr id="21" name="Text 18"/>
          <p:cNvSpPr/>
          <p:nvPr/>
        </p:nvSpPr>
        <p:spPr>
          <a:xfrm>
            <a:off x="3591992" y="4645152"/>
            <a:ext cx="2183816" cy="694944"/>
          </a:xfrm>
          <a:prstGeom prst="rect">
            <a:avLst/>
          </a:prstGeom>
          <a:noFill/>
          <a:ln/>
        </p:spPr>
        <p:txBody>
          <a:bodyPr wrap="square" lIns="0" tIns="0" rIns="0" bIns="0" rtlCol="0" anchor="t"/>
          <a:lstStyle/>
          <a:p>
            <a:pPr indent="0" marL="0">
              <a:lnSpc>
                <a:spcPct val="102000"/>
              </a:lnSpc>
              <a:buNone/>
            </a:pPr>
            <a:r>
              <a:rPr lang="en-US" sz="1150" dirty="0">
                <a:solidFill>
                  <a:srgbClr val="3A4557"/>
                </a:solidFill>
                <a:latin typeface="Calibri" pitchFamily="34" charset="0"/>
                <a:ea typeface="Calibri" pitchFamily="34" charset="-122"/>
                <a:cs typeface="Calibri" pitchFamily="34" charset="-120"/>
              </a:rPr>
              <a:t>An estate nobody can review is an estate nobody believes at 3am. Belief is the product.</a:t>
            </a:r>
            <a:endParaRPr lang="en-US" sz="1150" dirty="0"/>
          </a:p>
        </p:txBody>
      </p:sp>
      <p:sp>
        <p:nvSpPr>
          <p:cNvPr id="22" name="Shape 19"/>
          <p:cNvSpPr/>
          <p:nvPr/>
        </p:nvSpPr>
        <p:spPr>
          <a:xfrm>
            <a:off x="6214720" y="4114800"/>
            <a:ext cx="2586152" cy="1371600"/>
          </a:xfrm>
          <a:prstGeom prst="roundRect">
            <a:avLst>
              <a:gd name="adj" fmla="val 4000"/>
            </a:avLst>
          </a:prstGeom>
          <a:solidFill>
            <a:srgbClr val="EFF2F6"/>
          </a:solidFill>
          <a:ln w="12700">
            <a:solidFill>
              <a:srgbClr val="EFF2F6"/>
            </a:solidFill>
            <a:prstDash val="solid"/>
          </a:ln>
        </p:spPr>
      </p:sp>
      <p:sp>
        <p:nvSpPr>
          <p:cNvPr id="23" name="Text 20"/>
          <p:cNvSpPr/>
          <p:nvPr/>
        </p:nvSpPr>
        <p:spPr>
          <a:xfrm>
            <a:off x="6415888" y="4261104"/>
            <a:ext cx="2183816" cy="347472"/>
          </a:xfrm>
          <a:prstGeom prst="rect">
            <a:avLst/>
          </a:prstGeom>
          <a:noFill/>
          <a:ln/>
        </p:spPr>
        <p:txBody>
          <a:bodyPr wrap="square" lIns="0" tIns="0" rIns="0" bIns="0" rtlCol="0" anchor="t"/>
          <a:lstStyle/>
          <a:p>
            <a:pPr indent="0" marL="0">
              <a:buNone/>
            </a:pPr>
            <a:r>
              <a:rPr lang="en-US" sz="1450" b="1" dirty="0">
                <a:solidFill>
                  <a:srgbClr val="161C28"/>
                </a:solidFill>
                <a:latin typeface="Calibri" pitchFamily="34" charset="0"/>
                <a:ea typeface="Calibri" pitchFamily="34" charset="-122"/>
                <a:cs typeface="Calibri" pitchFamily="34" charset="-120"/>
              </a:rPr>
              <a:t>Auditability</a:t>
            </a:r>
            <a:endParaRPr lang="en-US" sz="1450" dirty="0"/>
          </a:p>
        </p:txBody>
      </p:sp>
      <p:sp>
        <p:nvSpPr>
          <p:cNvPr id="24" name="Text 21"/>
          <p:cNvSpPr/>
          <p:nvPr/>
        </p:nvSpPr>
        <p:spPr>
          <a:xfrm>
            <a:off x="6415888" y="4645152"/>
            <a:ext cx="2183816" cy="694944"/>
          </a:xfrm>
          <a:prstGeom prst="rect">
            <a:avLst/>
          </a:prstGeom>
          <a:noFill/>
          <a:ln/>
        </p:spPr>
        <p:txBody>
          <a:bodyPr wrap="square" lIns="0" tIns="0" rIns="0" bIns="0" rtlCol="0" anchor="t"/>
          <a:lstStyle/>
          <a:p>
            <a:pPr indent="0" marL="0">
              <a:lnSpc>
                <a:spcPct val="102000"/>
              </a:lnSpc>
              <a:buNone/>
            </a:pPr>
            <a:r>
              <a:rPr lang="en-US" sz="1150" dirty="0">
                <a:solidFill>
                  <a:srgbClr val="3A4557"/>
                </a:solidFill>
                <a:latin typeface="Calibri" pitchFamily="34" charset="0"/>
                <a:ea typeface="Calibri" pitchFamily="34" charset="-122"/>
                <a:cs typeface="Calibri" pitchFamily="34" charset="-120"/>
              </a:rPr>
              <a:t>651 objects generated from reviewed YAML can be explained. Eight million hand-made ones cannot.</a:t>
            </a:r>
            <a:endParaRPr lang="en-US" sz="1150" dirty="0"/>
          </a:p>
        </p:txBody>
      </p:sp>
      <p:sp>
        <p:nvSpPr>
          <p:cNvPr id="25" name="Shape 22"/>
          <p:cNvSpPr/>
          <p:nvPr/>
        </p:nvSpPr>
        <p:spPr>
          <a:xfrm>
            <a:off x="9038615" y="4114800"/>
            <a:ext cx="2586152" cy="1371600"/>
          </a:xfrm>
          <a:prstGeom prst="roundRect">
            <a:avLst>
              <a:gd name="adj" fmla="val 4000"/>
            </a:avLst>
          </a:prstGeom>
          <a:solidFill>
            <a:srgbClr val="EFF2F6"/>
          </a:solidFill>
          <a:ln w="12700">
            <a:solidFill>
              <a:srgbClr val="EFF2F6"/>
            </a:solidFill>
            <a:prstDash val="solid"/>
          </a:ln>
        </p:spPr>
      </p:sp>
      <p:sp>
        <p:nvSpPr>
          <p:cNvPr id="26" name="Text 23"/>
          <p:cNvSpPr/>
          <p:nvPr/>
        </p:nvSpPr>
        <p:spPr>
          <a:xfrm>
            <a:off x="9239783" y="4261104"/>
            <a:ext cx="2183816" cy="347472"/>
          </a:xfrm>
          <a:prstGeom prst="rect">
            <a:avLst/>
          </a:prstGeom>
          <a:noFill/>
          <a:ln/>
        </p:spPr>
        <p:txBody>
          <a:bodyPr wrap="square" lIns="0" tIns="0" rIns="0" bIns="0" rtlCol="0" anchor="t"/>
          <a:lstStyle/>
          <a:p>
            <a:pPr indent="0" marL="0">
              <a:buNone/>
            </a:pPr>
            <a:r>
              <a:rPr lang="en-US" sz="1450" b="1" dirty="0">
                <a:solidFill>
                  <a:srgbClr val="161C28"/>
                </a:solidFill>
                <a:latin typeface="Calibri" pitchFamily="34" charset="0"/>
                <a:ea typeface="Calibri" pitchFamily="34" charset="-122"/>
                <a:cs typeface="Calibri" pitchFamily="34" charset="-120"/>
              </a:rPr>
              <a:t>Scale</a:t>
            </a:r>
            <a:endParaRPr lang="en-US" sz="1450" dirty="0"/>
          </a:p>
        </p:txBody>
      </p:sp>
      <p:sp>
        <p:nvSpPr>
          <p:cNvPr id="27" name="Text 24"/>
          <p:cNvSpPr/>
          <p:nvPr/>
        </p:nvSpPr>
        <p:spPr>
          <a:xfrm>
            <a:off x="9239783" y="4645152"/>
            <a:ext cx="2183816" cy="694944"/>
          </a:xfrm>
          <a:prstGeom prst="rect">
            <a:avLst/>
          </a:prstGeom>
          <a:noFill/>
          <a:ln/>
        </p:spPr>
        <p:txBody>
          <a:bodyPr wrap="square" lIns="0" tIns="0" rIns="0" bIns="0" rtlCol="0" anchor="t"/>
          <a:lstStyle/>
          <a:p>
            <a:pPr indent="0" marL="0">
              <a:lnSpc>
                <a:spcPct val="102000"/>
              </a:lnSpc>
              <a:buNone/>
            </a:pPr>
            <a:r>
              <a:rPr lang="en-US" sz="1150" dirty="0">
                <a:solidFill>
                  <a:srgbClr val="3A4557"/>
                </a:solidFill>
                <a:latin typeface="Calibri" pitchFamily="34" charset="0"/>
                <a:ea typeface="Calibri" pitchFamily="34" charset="-122"/>
                <a:cs typeface="Calibri" pitchFamily="34" charset="-120"/>
              </a:rPr>
              <a:t>Adding 50,000 services creates zero new Datadog objects. Growth is free by construction.</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8778240" cy="256032"/>
          </a:xfrm>
          <a:prstGeom prst="rect">
            <a:avLst/>
          </a:prstGeom>
          <a:noFill/>
          <a:ln/>
        </p:spPr>
        <p:txBody>
          <a:bodyPr wrap="square" lIns="0" tIns="0" rIns="0" bIns="0" rtlCol="0" anchor="ctr"/>
          <a:lstStyle/>
          <a:p>
            <a:pPr indent="0" marL="0">
              <a:buNone/>
            </a:pPr>
            <a:r>
              <a:rPr lang="en-US" sz="1050" b="1" spc="160" kern="0" dirty="0">
                <a:solidFill>
                  <a:srgbClr val="B87914"/>
                </a:solidFill>
                <a:latin typeface="Calibri" pitchFamily="34" charset="0"/>
                <a:ea typeface="Calibri" pitchFamily="34" charset="-122"/>
                <a:cs typeface="Calibri" pitchFamily="34" charset="-120"/>
              </a:rPr>
              <a:t>TOPIC 2</a:t>
            </a:r>
            <a:endParaRPr lang="en-US" sz="1050" dirty="0"/>
          </a:p>
        </p:txBody>
      </p:sp>
      <p:sp>
        <p:nvSpPr>
          <p:cNvPr id="3" name="Text 1"/>
          <p:cNvSpPr/>
          <p:nvPr/>
        </p:nvSpPr>
        <p:spPr>
          <a:xfrm>
            <a:off x="566928" y="694944"/>
            <a:ext cx="10424160" cy="786384"/>
          </a:xfrm>
          <a:prstGeom prst="rect">
            <a:avLst/>
          </a:prstGeom>
          <a:noFill/>
          <a:ln/>
        </p:spPr>
        <p:txBody>
          <a:bodyPr wrap="square" lIns="0" tIns="0" rIns="0" bIns="0" rtlCol="0" anchor="ctr"/>
          <a:lstStyle/>
          <a:p>
            <a:pPr indent="0" marL="0">
              <a:buNone/>
            </a:pPr>
            <a:r>
              <a:rPr lang="en-US" sz="3100" b="1" dirty="0">
                <a:solidFill>
                  <a:srgbClr val="161C28"/>
                </a:solidFill>
                <a:latin typeface="Cambria" pitchFamily="34" charset="0"/>
                <a:ea typeface="Cambria" pitchFamily="34" charset="-122"/>
                <a:cs typeface="Cambria" pitchFamily="34" charset="-120"/>
              </a:rPr>
              <a:t>What was wrong with the previous model</a:t>
            </a:r>
            <a:endParaRPr lang="en-US" sz="3100" dirty="0"/>
          </a:p>
        </p:txBody>
      </p:sp>
      <p:sp>
        <p:nvSpPr>
          <p:cNvPr id="4" name="Shape 2"/>
          <p:cNvSpPr/>
          <p:nvPr/>
        </p:nvSpPr>
        <p:spPr>
          <a:xfrm>
            <a:off x="10568635" y="420624"/>
            <a:ext cx="1056132" cy="310896"/>
          </a:xfrm>
          <a:prstGeom prst="roundRect">
            <a:avLst>
              <a:gd name="adj" fmla="val 50000"/>
            </a:avLst>
          </a:prstGeom>
          <a:solidFill>
            <a:srgbClr val="27807C"/>
          </a:solidFill>
          <a:ln w="12700">
            <a:solidFill>
              <a:srgbClr val="27807C"/>
            </a:solidFill>
            <a:prstDash val="solid"/>
          </a:ln>
        </p:spPr>
      </p:sp>
      <p:sp>
        <p:nvSpPr>
          <p:cNvPr id="5" name="Text 3"/>
          <p:cNvSpPr/>
          <p:nvPr/>
        </p:nvSpPr>
        <p:spPr>
          <a:xfrm>
            <a:off x="10568635" y="420624"/>
            <a:ext cx="1056132" cy="310896"/>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SHIPPED</a:t>
            </a:r>
            <a:endParaRPr lang="en-US" sz="950" dirty="0"/>
          </a:p>
        </p:txBody>
      </p:sp>
      <p:sp>
        <p:nvSpPr>
          <p:cNvPr id="6" name="Text 4"/>
          <p:cNvSpPr/>
          <p:nvPr/>
        </p:nvSpPr>
        <p:spPr>
          <a:xfrm>
            <a:off x="566928" y="6345936"/>
            <a:ext cx="7315200" cy="274320"/>
          </a:xfrm>
          <a:prstGeom prst="rect">
            <a:avLst/>
          </a:prstGeom>
          <a:noFill/>
          <a:ln/>
        </p:spPr>
        <p:txBody>
          <a:bodyPr wrap="square" lIns="0" tIns="0" rIns="0" bIns="0" rtlCol="0" anchor="ctr"/>
          <a:lstStyle/>
          <a:p>
            <a:pPr indent="0" marL="0">
              <a:buNone/>
            </a:pPr>
            <a:r>
              <a:rPr lang="en-US" sz="900" dirty="0">
                <a:solidFill>
                  <a:srgbClr val="6B7891"/>
                </a:solidFill>
                <a:latin typeface="Calibri" pitchFamily="34" charset="0"/>
                <a:ea typeface="Calibri" pitchFamily="34" charset="-122"/>
                <a:cs typeface="Calibri" pitchFamily="34" charset="-120"/>
              </a:rPr>
              <a:t>Enterprise Observability  ·  policy-as-data on Datadog</a:t>
            </a:r>
            <a:endParaRPr lang="en-US" sz="900" dirty="0"/>
          </a:p>
        </p:txBody>
      </p:sp>
      <p:sp>
        <p:nvSpPr>
          <p:cNvPr id="7" name="Text 5"/>
          <p:cNvSpPr/>
          <p:nvPr/>
        </p:nvSpPr>
        <p:spPr>
          <a:xfrm>
            <a:off x="10710367" y="6345936"/>
            <a:ext cx="914400" cy="274320"/>
          </a:xfrm>
          <a:prstGeom prst="rect">
            <a:avLst/>
          </a:prstGeom>
          <a:noFill/>
          <a:ln/>
        </p:spPr>
        <p:txBody>
          <a:bodyPr wrap="square" lIns="0" tIns="0" rIns="0" bIns="0" rtlCol="0" anchor="ctr"/>
          <a:lstStyle/>
          <a:p>
            <a:pPr algn="r" indent="0" marL="0">
              <a:buNone/>
            </a:pPr>
            <a:r>
              <a:rPr lang="en-US" sz="900" dirty="0">
                <a:solidFill>
                  <a:srgbClr val="6B7891"/>
                </a:solidFill>
                <a:latin typeface="Calibri" pitchFamily="34" charset="0"/>
                <a:ea typeface="Calibri" pitchFamily="34" charset="-122"/>
                <a:cs typeface="Calibri" pitchFamily="34" charset="-120"/>
              </a:rPr>
              <a:t>6</a:t>
            </a:r>
            <a:endParaRPr lang="en-US" sz="900" dirty="0"/>
          </a:p>
        </p:txBody>
      </p:sp>
      <p:sp>
        <p:nvSpPr>
          <p:cNvPr id="9" name="Text 6"/>
          <p:cNvSpPr/>
          <p:nvPr/>
        </p:nvSpPr>
        <p:spPr>
          <a:xfrm>
            <a:off x="566928" y="1554480"/>
            <a:ext cx="5212080" cy="274320"/>
          </a:xfrm>
          <a:prstGeom prst="rect">
            <a:avLst/>
          </a:prstGeom>
          <a:noFill/>
          <a:ln/>
        </p:spPr>
        <p:txBody>
          <a:bodyPr wrap="square" lIns="0" tIns="0" rIns="0" bIns="0" rtlCol="0" anchor="ctr"/>
          <a:lstStyle/>
          <a:p>
            <a:pPr indent="0" marL="0">
              <a:buNone/>
            </a:pPr>
            <a:r>
              <a:rPr lang="en-US" sz="1050" b="1" spc="180" kern="0" dirty="0">
                <a:solidFill>
                  <a:srgbClr val="6B7891"/>
                </a:solidFill>
                <a:latin typeface="Calibri" pitchFamily="34" charset="0"/>
                <a:ea typeface="Calibri" pitchFamily="34" charset="-122"/>
                <a:cs typeface="Calibri" pitchFamily="34" charset="-120"/>
              </a:rPr>
              <a:t>BEFORE</a:t>
            </a:r>
            <a:endParaRPr lang="en-US" sz="1050" dirty="0"/>
          </a:p>
        </p:txBody>
      </p:sp>
      <p:sp>
        <p:nvSpPr>
          <p:cNvPr id="10" name="Text 7"/>
          <p:cNvSpPr/>
          <p:nvPr/>
        </p:nvSpPr>
        <p:spPr>
          <a:xfrm>
            <a:off x="6373368" y="1554480"/>
            <a:ext cx="5212080" cy="274320"/>
          </a:xfrm>
          <a:prstGeom prst="rect">
            <a:avLst/>
          </a:prstGeom>
          <a:noFill/>
          <a:ln/>
        </p:spPr>
        <p:txBody>
          <a:bodyPr wrap="square" lIns="0" tIns="0" rIns="0" bIns="0" rtlCol="0" anchor="ctr"/>
          <a:lstStyle/>
          <a:p>
            <a:pPr indent="0" marL="0">
              <a:buNone/>
            </a:pPr>
            <a:r>
              <a:rPr lang="en-US" sz="1050" b="1" spc="180" kern="0" dirty="0">
                <a:solidFill>
                  <a:srgbClr val="27807C"/>
                </a:solidFill>
                <a:latin typeface="Calibri" pitchFamily="34" charset="0"/>
                <a:ea typeface="Calibri" pitchFamily="34" charset="-122"/>
                <a:cs typeface="Calibri" pitchFamily="34" charset="-120"/>
              </a:rPr>
              <a:t>NOW</a:t>
            </a:r>
            <a:endParaRPr lang="en-US" sz="1050" dirty="0"/>
          </a:p>
        </p:txBody>
      </p:sp>
      <p:sp>
        <p:nvSpPr>
          <p:cNvPr id="11" name="Shape 8"/>
          <p:cNvSpPr/>
          <p:nvPr/>
        </p:nvSpPr>
        <p:spPr>
          <a:xfrm>
            <a:off x="566928" y="1901952"/>
            <a:ext cx="5212080" cy="603504"/>
          </a:xfrm>
          <a:prstGeom prst="roundRect">
            <a:avLst>
              <a:gd name="adj" fmla="val 7576"/>
            </a:avLst>
          </a:prstGeom>
          <a:solidFill>
            <a:srgbClr val="F3F4F6"/>
          </a:solidFill>
          <a:ln w="12700">
            <a:solidFill>
              <a:srgbClr val="F3F4F6"/>
            </a:solidFill>
            <a:prstDash val="solid"/>
          </a:ln>
        </p:spPr>
      </p:sp>
      <p:sp>
        <p:nvSpPr>
          <p:cNvPr id="12" name="Text 9"/>
          <p:cNvSpPr/>
          <p:nvPr/>
        </p:nvSpPr>
        <p:spPr>
          <a:xfrm>
            <a:off x="749808" y="1901952"/>
            <a:ext cx="4846320" cy="603504"/>
          </a:xfrm>
          <a:prstGeom prst="rect">
            <a:avLst/>
          </a:prstGeom>
          <a:noFill/>
          <a:ln/>
        </p:spPr>
        <p:txBody>
          <a:bodyPr wrap="square" lIns="0" tIns="0" rIns="0" bIns="0" rtlCol="0" anchor="ctr"/>
          <a:lstStyle/>
          <a:p>
            <a:pPr indent="0" marL="0">
              <a:buNone/>
            </a:pPr>
            <a:r>
              <a:rPr lang="en-US" sz="1200" dirty="0">
                <a:solidFill>
                  <a:srgbClr val="6B7891"/>
                </a:solidFill>
                <a:latin typeface="Calibri" pitchFamily="34" charset="0"/>
                <a:ea typeface="Calibri" pitchFamily="34" charset="-122"/>
                <a:cs typeface="Calibri" pitchFamily="34" charset="-120"/>
              </a:rPr>
              <a:t>A monitor per resource — coverage tracked hiring</a:t>
            </a:r>
            <a:endParaRPr lang="en-US" sz="1200" dirty="0"/>
          </a:p>
        </p:txBody>
      </p:sp>
      <p:sp>
        <p:nvSpPr>
          <p:cNvPr id="13" name="Shape 10"/>
          <p:cNvSpPr/>
          <p:nvPr/>
        </p:nvSpPr>
        <p:spPr>
          <a:xfrm>
            <a:off x="5916168" y="2121408"/>
            <a:ext cx="292608" cy="164592"/>
          </a:xfrm>
          <a:prstGeom prst="rightArrow">
            <a:avLst/>
          </a:prstGeom>
          <a:solidFill>
            <a:srgbClr val="5F7189"/>
          </a:solidFill>
          <a:ln w="12700">
            <a:solidFill>
              <a:srgbClr val="5F7189"/>
            </a:solidFill>
            <a:prstDash val="solid"/>
          </a:ln>
        </p:spPr>
      </p:sp>
      <p:sp>
        <p:nvSpPr>
          <p:cNvPr id="14" name="Shape 11"/>
          <p:cNvSpPr/>
          <p:nvPr/>
        </p:nvSpPr>
        <p:spPr>
          <a:xfrm>
            <a:off x="6373368" y="1901952"/>
            <a:ext cx="5212080" cy="603504"/>
          </a:xfrm>
          <a:prstGeom prst="roundRect">
            <a:avLst>
              <a:gd name="adj" fmla="val 7576"/>
            </a:avLst>
          </a:prstGeom>
          <a:solidFill>
            <a:srgbClr val="EAF3F1"/>
          </a:solidFill>
          <a:ln w="12700">
            <a:solidFill>
              <a:srgbClr val="EAF3F1"/>
            </a:solidFill>
            <a:prstDash val="solid"/>
          </a:ln>
        </p:spPr>
      </p:sp>
      <p:sp>
        <p:nvSpPr>
          <p:cNvPr id="15" name="Text 12"/>
          <p:cNvSpPr/>
          <p:nvPr/>
        </p:nvSpPr>
        <p:spPr>
          <a:xfrm>
            <a:off x="6556248" y="1901952"/>
            <a:ext cx="4846320" cy="603504"/>
          </a:xfrm>
          <a:prstGeom prst="rect">
            <a:avLst/>
          </a:prstGeom>
          <a:noFill/>
          <a:ln/>
        </p:spPr>
        <p:txBody>
          <a:bodyPr wrap="square" lIns="0" tIns="0" rIns="0" bIns="0" rtlCol="0" anchor="ctr"/>
          <a:lstStyle/>
          <a:p>
            <a:pPr indent="0" marL="0">
              <a:buNone/>
            </a:pPr>
            <a:r>
              <a:rPr lang="en-US" sz="1200" b="1" dirty="0">
                <a:solidFill>
                  <a:srgbClr val="1D5C59"/>
                </a:solidFill>
                <a:latin typeface="Calibri" pitchFamily="34" charset="0"/>
                <a:ea typeface="Calibri" pitchFamily="34" charset="-122"/>
                <a:cs typeface="Calibri" pitchFamily="34" charset="-120"/>
              </a:rPr>
              <a:t>A resource is a group inside a monitor that exists</a:t>
            </a:r>
            <a:endParaRPr lang="en-US" sz="1200" dirty="0"/>
          </a:p>
        </p:txBody>
      </p:sp>
      <p:sp>
        <p:nvSpPr>
          <p:cNvPr id="16" name="Shape 13"/>
          <p:cNvSpPr/>
          <p:nvPr/>
        </p:nvSpPr>
        <p:spPr>
          <a:xfrm>
            <a:off x="566928" y="2606040"/>
            <a:ext cx="5212080" cy="603504"/>
          </a:xfrm>
          <a:prstGeom prst="roundRect">
            <a:avLst>
              <a:gd name="adj" fmla="val 7576"/>
            </a:avLst>
          </a:prstGeom>
          <a:solidFill>
            <a:srgbClr val="F3F4F6"/>
          </a:solidFill>
          <a:ln w="12700">
            <a:solidFill>
              <a:srgbClr val="F3F4F6"/>
            </a:solidFill>
            <a:prstDash val="solid"/>
          </a:ln>
        </p:spPr>
      </p:sp>
      <p:sp>
        <p:nvSpPr>
          <p:cNvPr id="17" name="Text 14"/>
          <p:cNvSpPr/>
          <p:nvPr/>
        </p:nvSpPr>
        <p:spPr>
          <a:xfrm>
            <a:off x="749808" y="2606040"/>
            <a:ext cx="4846320" cy="603504"/>
          </a:xfrm>
          <a:prstGeom prst="rect">
            <a:avLst/>
          </a:prstGeom>
          <a:noFill/>
          <a:ln/>
        </p:spPr>
        <p:txBody>
          <a:bodyPr wrap="square" lIns="0" tIns="0" rIns="0" bIns="0" rtlCol="0" anchor="ctr"/>
          <a:lstStyle/>
          <a:p>
            <a:pPr indent="0" marL="0">
              <a:buNone/>
            </a:pPr>
            <a:r>
              <a:rPr lang="en-US" sz="1200" dirty="0">
                <a:solidFill>
                  <a:srgbClr val="6B7891"/>
                </a:solidFill>
                <a:latin typeface="Calibri" pitchFamily="34" charset="0"/>
                <a:ea typeface="Calibri" pitchFamily="34" charset="-122"/>
                <a:cs typeface="Calibri" pitchFamily="34" charset="-120"/>
              </a:rPr>
              <a:t>Thresholds copied between teams: CPU &gt; 80%</a:t>
            </a:r>
            <a:endParaRPr lang="en-US" sz="1200" dirty="0"/>
          </a:p>
        </p:txBody>
      </p:sp>
      <p:sp>
        <p:nvSpPr>
          <p:cNvPr id="18" name="Shape 15"/>
          <p:cNvSpPr/>
          <p:nvPr/>
        </p:nvSpPr>
        <p:spPr>
          <a:xfrm>
            <a:off x="5916168" y="2825496"/>
            <a:ext cx="292608" cy="164592"/>
          </a:xfrm>
          <a:prstGeom prst="rightArrow">
            <a:avLst/>
          </a:prstGeom>
          <a:solidFill>
            <a:srgbClr val="5F7189"/>
          </a:solidFill>
          <a:ln w="12700">
            <a:solidFill>
              <a:srgbClr val="5F7189"/>
            </a:solidFill>
            <a:prstDash val="solid"/>
          </a:ln>
        </p:spPr>
      </p:sp>
      <p:sp>
        <p:nvSpPr>
          <p:cNvPr id="19" name="Shape 16"/>
          <p:cNvSpPr/>
          <p:nvPr/>
        </p:nvSpPr>
        <p:spPr>
          <a:xfrm>
            <a:off x="6373368" y="2606040"/>
            <a:ext cx="5212080" cy="603504"/>
          </a:xfrm>
          <a:prstGeom prst="roundRect">
            <a:avLst>
              <a:gd name="adj" fmla="val 7576"/>
            </a:avLst>
          </a:prstGeom>
          <a:solidFill>
            <a:srgbClr val="EAF3F1"/>
          </a:solidFill>
          <a:ln w="12700">
            <a:solidFill>
              <a:srgbClr val="EAF3F1"/>
            </a:solidFill>
            <a:prstDash val="solid"/>
          </a:ln>
        </p:spPr>
      </p:sp>
      <p:sp>
        <p:nvSpPr>
          <p:cNvPr id="20" name="Text 17"/>
          <p:cNvSpPr/>
          <p:nvPr/>
        </p:nvSpPr>
        <p:spPr>
          <a:xfrm>
            <a:off x="6556248" y="2606040"/>
            <a:ext cx="4846320" cy="603504"/>
          </a:xfrm>
          <a:prstGeom prst="rect">
            <a:avLst/>
          </a:prstGeom>
          <a:noFill/>
          <a:ln/>
        </p:spPr>
        <p:txBody>
          <a:bodyPr wrap="square" lIns="0" tIns="0" rIns="0" bIns="0" rtlCol="0" anchor="ctr"/>
          <a:lstStyle/>
          <a:p>
            <a:pPr indent="0" marL="0">
              <a:buNone/>
            </a:pPr>
            <a:r>
              <a:rPr lang="en-US" sz="1200" b="1" dirty="0">
                <a:solidFill>
                  <a:srgbClr val="1D5C59"/>
                </a:solidFill>
                <a:latin typeface="Calibri" pitchFamily="34" charset="0"/>
                <a:ea typeface="Calibri" pitchFamily="34" charset="-122"/>
                <a:cs typeface="Calibri" pitchFamily="34" charset="-120"/>
              </a:rPr>
              <a:t>~40% predictive; fixed numbers need a written rationale</a:t>
            </a:r>
            <a:endParaRPr lang="en-US" sz="1200" dirty="0"/>
          </a:p>
        </p:txBody>
      </p:sp>
      <p:sp>
        <p:nvSpPr>
          <p:cNvPr id="21" name="Shape 18"/>
          <p:cNvSpPr/>
          <p:nvPr/>
        </p:nvSpPr>
        <p:spPr>
          <a:xfrm>
            <a:off x="566928" y="3310128"/>
            <a:ext cx="5212080" cy="603504"/>
          </a:xfrm>
          <a:prstGeom prst="roundRect">
            <a:avLst>
              <a:gd name="adj" fmla="val 7576"/>
            </a:avLst>
          </a:prstGeom>
          <a:solidFill>
            <a:srgbClr val="F3F4F6"/>
          </a:solidFill>
          <a:ln w="12700">
            <a:solidFill>
              <a:srgbClr val="F3F4F6"/>
            </a:solidFill>
            <a:prstDash val="solid"/>
          </a:ln>
        </p:spPr>
      </p:sp>
      <p:sp>
        <p:nvSpPr>
          <p:cNvPr id="22" name="Text 19"/>
          <p:cNvSpPr/>
          <p:nvPr/>
        </p:nvSpPr>
        <p:spPr>
          <a:xfrm>
            <a:off x="749808" y="3310128"/>
            <a:ext cx="4846320" cy="603504"/>
          </a:xfrm>
          <a:prstGeom prst="rect">
            <a:avLst/>
          </a:prstGeom>
          <a:noFill/>
          <a:ln/>
        </p:spPr>
        <p:txBody>
          <a:bodyPr wrap="square" lIns="0" tIns="0" rIns="0" bIns="0" rtlCol="0" anchor="ctr"/>
          <a:lstStyle/>
          <a:p>
            <a:pPr indent="0" marL="0">
              <a:buNone/>
            </a:pPr>
            <a:r>
              <a:rPr lang="en-US" sz="1200" dirty="0">
                <a:solidFill>
                  <a:srgbClr val="6B7891"/>
                </a:solidFill>
                <a:latin typeface="Calibri" pitchFamily="34" charset="0"/>
                <a:ea typeface="Calibri" pitchFamily="34" charset="-122"/>
                <a:cs typeface="Calibri" pitchFamily="34" charset="-120"/>
              </a:rPr>
              <a:t>Destinations hard-coded into each monitor</a:t>
            </a:r>
            <a:endParaRPr lang="en-US" sz="1200" dirty="0"/>
          </a:p>
        </p:txBody>
      </p:sp>
      <p:sp>
        <p:nvSpPr>
          <p:cNvPr id="23" name="Shape 20"/>
          <p:cNvSpPr/>
          <p:nvPr/>
        </p:nvSpPr>
        <p:spPr>
          <a:xfrm>
            <a:off x="5916168" y="3529584"/>
            <a:ext cx="292608" cy="164592"/>
          </a:xfrm>
          <a:prstGeom prst="rightArrow">
            <a:avLst/>
          </a:prstGeom>
          <a:solidFill>
            <a:srgbClr val="5F7189"/>
          </a:solidFill>
          <a:ln w="12700">
            <a:solidFill>
              <a:srgbClr val="5F7189"/>
            </a:solidFill>
            <a:prstDash val="solid"/>
          </a:ln>
        </p:spPr>
      </p:sp>
      <p:sp>
        <p:nvSpPr>
          <p:cNvPr id="24" name="Shape 21"/>
          <p:cNvSpPr/>
          <p:nvPr/>
        </p:nvSpPr>
        <p:spPr>
          <a:xfrm>
            <a:off x="6373368" y="3310128"/>
            <a:ext cx="5212080" cy="603504"/>
          </a:xfrm>
          <a:prstGeom prst="roundRect">
            <a:avLst>
              <a:gd name="adj" fmla="val 7576"/>
            </a:avLst>
          </a:prstGeom>
          <a:solidFill>
            <a:srgbClr val="EAF3F1"/>
          </a:solidFill>
          <a:ln w="12700">
            <a:solidFill>
              <a:srgbClr val="EAF3F1"/>
            </a:solidFill>
            <a:prstDash val="solid"/>
          </a:ln>
        </p:spPr>
      </p:sp>
      <p:sp>
        <p:nvSpPr>
          <p:cNvPr id="25" name="Text 22"/>
          <p:cNvSpPr/>
          <p:nvPr/>
        </p:nvSpPr>
        <p:spPr>
          <a:xfrm>
            <a:off x="6556248" y="3310128"/>
            <a:ext cx="4846320" cy="603504"/>
          </a:xfrm>
          <a:prstGeom prst="rect">
            <a:avLst/>
          </a:prstGeom>
          <a:noFill/>
          <a:ln/>
        </p:spPr>
        <p:txBody>
          <a:bodyPr wrap="square" lIns="0" tIns="0" rIns="0" bIns="0" rtlCol="0" anchor="ctr"/>
          <a:lstStyle/>
          <a:p>
            <a:pPr indent="0" marL="0">
              <a:buNone/>
            </a:pPr>
            <a:r>
              <a:rPr lang="en-US" sz="1200" b="1" dirty="0">
                <a:solidFill>
                  <a:srgbClr val="1D5C59"/>
                </a:solidFill>
                <a:latin typeface="Calibri" pitchFamily="34" charset="0"/>
                <a:ea typeface="Calibri" pitchFamily="34" charset="-122"/>
                <a:cs typeface="Calibri" pitchFamily="34" charset="-120"/>
              </a:rPr>
              <a:t>Monitors carry no destinations; 111 rules resolve tags</a:t>
            </a:r>
            <a:endParaRPr lang="en-US" sz="1200" dirty="0"/>
          </a:p>
        </p:txBody>
      </p:sp>
      <p:sp>
        <p:nvSpPr>
          <p:cNvPr id="26" name="Shape 23"/>
          <p:cNvSpPr/>
          <p:nvPr/>
        </p:nvSpPr>
        <p:spPr>
          <a:xfrm>
            <a:off x="566928" y="4014216"/>
            <a:ext cx="5212080" cy="603504"/>
          </a:xfrm>
          <a:prstGeom prst="roundRect">
            <a:avLst>
              <a:gd name="adj" fmla="val 7576"/>
            </a:avLst>
          </a:prstGeom>
          <a:solidFill>
            <a:srgbClr val="F3F4F6"/>
          </a:solidFill>
          <a:ln w="12700">
            <a:solidFill>
              <a:srgbClr val="F3F4F6"/>
            </a:solidFill>
            <a:prstDash val="solid"/>
          </a:ln>
        </p:spPr>
      </p:sp>
      <p:sp>
        <p:nvSpPr>
          <p:cNvPr id="27" name="Text 24"/>
          <p:cNvSpPr/>
          <p:nvPr/>
        </p:nvSpPr>
        <p:spPr>
          <a:xfrm>
            <a:off x="749808" y="4014216"/>
            <a:ext cx="4846320" cy="603504"/>
          </a:xfrm>
          <a:prstGeom prst="rect">
            <a:avLst/>
          </a:prstGeom>
          <a:noFill/>
          <a:ln/>
        </p:spPr>
        <p:txBody>
          <a:bodyPr wrap="square" lIns="0" tIns="0" rIns="0" bIns="0" rtlCol="0" anchor="ctr"/>
          <a:lstStyle/>
          <a:p>
            <a:pPr indent="0" marL="0">
              <a:buNone/>
            </a:pPr>
            <a:r>
              <a:rPr lang="en-US" sz="1200" dirty="0">
                <a:solidFill>
                  <a:srgbClr val="6B7891"/>
                </a:solidFill>
                <a:latin typeface="Calibri" pitchFamily="34" charset="0"/>
                <a:ea typeface="Calibri" pitchFamily="34" charset="-122"/>
                <a:cs typeface="Calibri" pitchFamily="34" charset="-120"/>
              </a:rPr>
              <a:t>Everything paged, so nothing did</a:t>
            </a:r>
            <a:endParaRPr lang="en-US" sz="1200" dirty="0"/>
          </a:p>
        </p:txBody>
      </p:sp>
      <p:sp>
        <p:nvSpPr>
          <p:cNvPr id="28" name="Shape 25"/>
          <p:cNvSpPr/>
          <p:nvPr/>
        </p:nvSpPr>
        <p:spPr>
          <a:xfrm>
            <a:off x="5916168" y="4233672"/>
            <a:ext cx="292608" cy="164592"/>
          </a:xfrm>
          <a:prstGeom prst="rightArrow">
            <a:avLst/>
          </a:prstGeom>
          <a:solidFill>
            <a:srgbClr val="5F7189"/>
          </a:solidFill>
          <a:ln w="12700">
            <a:solidFill>
              <a:srgbClr val="5F7189"/>
            </a:solidFill>
            <a:prstDash val="solid"/>
          </a:ln>
        </p:spPr>
      </p:sp>
      <p:sp>
        <p:nvSpPr>
          <p:cNvPr id="29" name="Shape 26"/>
          <p:cNvSpPr/>
          <p:nvPr/>
        </p:nvSpPr>
        <p:spPr>
          <a:xfrm>
            <a:off x="6373368" y="4014216"/>
            <a:ext cx="5212080" cy="603504"/>
          </a:xfrm>
          <a:prstGeom prst="roundRect">
            <a:avLst>
              <a:gd name="adj" fmla="val 7576"/>
            </a:avLst>
          </a:prstGeom>
          <a:solidFill>
            <a:srgbClr val="EAF3F1"/>
          </a:solidFill>
          <a:ln w="12700">
            <a:solidFill>
              <a:srgbClr val="EAF3F1"/>
            </a:solidFill>
            <a:prstDash val="solid"/>
          </a:ln>
        </p:spPr>
      </p:sp>
      <p:sp>
        <p:nvSpPr>
          <p:cNvPr id="30" name="Text 27"/>
          <p:cNvSpPr/>
          <p:nvPr/>
        </p:nvSpPr>
        <p:spPr>
          <a:xfrm>
            <a:off x="6556248" y="4014216"/>
            <a:ext cx="4846320" cy="603504"/>
          </a:xfrm>
          <a:prstGeom prst="rect">
            <a:avLst/>
          </a:prstGeom>
          <a:noFill/>
          <a:ln/>
        </p:spPr>
        <p:txBody>
          <a:bodyPr wrap="square" lIns="0" tIns="0" rIns="0" bIns="0" rtlCol="0" anchor="ctr"/>
          <a:lstStyle/>
          <a:p>
            <a:pPr indent="0" marL="0">
              <a:buNone/>
            </a:pPr>
            <a:r>
              <a:rPr lang="en-US" sz="1200" b="1" dirty="0">
                <a:solidFill>
                  <a:srgbClr val="1D5C59"/>
                </a:solidFill>
                <a:latin typeface="Calibri" pitchFamily="34" charset="0"/>
                <a:ea typeface="Calibri" pitchFamily="34" charset="-122"/>
                <a:cs typeface="Calibri" pitchFamily="34" charset="-120"/>
              </a:rPr>
              <a:t>70 of 651 monitors (11%) may wake a human</a:t>
            </a:r>
            <a:endParaRPr lang="en-US" sz="1200" dirty="0"/>
          </a:p>
        </p:txBody>
      </p:sp>
      <p:sp>
        <p:nvSpPr>
          <p:cNvPr id="31" name="Shape 28"/>
          <p:cNvSpPr/>
          <p:nvPr/>
        </p:nvSpPr>
        <p:spPr>
          <a:xfrm>
            <a:off x="566928" y="4718304"/>
            <a:ext cx="5212080" cy="603504"/>
          </a:xfrm>
          <a:prstGeom prst="roundRect">
            <a:avLst>
              <a:gd name="adj" fmla="val 7576"/>
            </a:avLst>
          </a:prstGeom>
          <a:solidFill>
            <a:srgbClr val="F3F4F6"/>
          </a:solidFill>
          <a:ln w="12700">
            <a:solidFill>
              <a:srgbClr val="F3F4F6"/>
            </a:solidFill>
            <a:prstDash val="solid"/>
          </a:ln>
        </p:spPr>
      </p:sp>
      <p:sp>
        <p:nvSpPr>
          <p:cNvPr id="32" name="Text 29"/>
          <p:cNvSpPr/>
          <p:nvPr/>
        </p:nvSpPr>
        <p:spPr>
          <a:xfrm>
            <a:off x="749808" y="4718304"/>
            <a:ext cx="4846320" cy="603504"/>
          </a:xfrm>
          <a:prstGeom prst="rect">
            <a:avLst/>
          </a:prstGeom>
          <a:noFill/>
          <a:ln/>
        </p:spPr>
        <p:txBody>
          <a:bodyPr wrap="square" lIns="0" tIns="0" rIns="0" bIns="0" rtlCol="0" anchor="ctr"/>
          <a:lstStyle/>
          <a:p>
            <a:pPr indent="0" marL="0">
              <a:buNone/>
            </a:pPr>
            <a:r>
              <a:rPr lang="en-US" sz="1200" dirty="0">
                <a:solidFill>
                  <a:srgbClr val="6B7891"/>
                </a:solidFill>
                <a:latin typeface="Calibri" pitchFamily="34" charset="0"/>
                <a:ea typeface="Calibri" pitchFamily="34" charset="-122"/>
                <a:cs typeface="Calibri" pitchFamily="34" charset="-120"/>
              </a:rPr>
              <a:t>Runbook = a link to a wiki page that had rotted</a:t>
            </a:r>
            <a:endParaRPr lang="en-US" sz="1200" dirty="0"/>
          </a:p>
        </p:txBody>
      </p:sp>
      <p:sp>
        <p:nvSpPr>
          <p:cNvPr id="33" name="Shape 30"/>
          <p:cNvSpPr/>
          <p:nvPr/>
        </p:nvSpPr>
        <p:spPr>
          <a:xfrm>
            <a:off x="5916168" y="4937760"/>
            <a:ext cx="292608" cy="164592"/>
          </a:xfrm>
          <a:prstGeom prst="rightArrow">
            <a:avLst/>
          </a:prstGeom>
          <a:solidFill>
            <a:srgbClr val="5F7189"/>
          </a:solidFill>
          <a:ln w="12700">
            <a:solidFill>
              <a:srgbClr val="5F7189"/>
            </a:solidFill>
            <a:prstDash val="solid"/>
          </a:ln>
        </p:spPr>
      </p:sp>
      <p:sp>
        <p:nvSpPr>
          <p:cNvPr id="34" name="Shape 31"/>
          <p:cNvSpPr/>
          <p:nvPr/>
        </p:nvSpPr>
        <p:spPr>
          <a:xfrm>
            <a:off x="6373368" y="4718304"/>
            <a:ext cx="5212080" cy="603504"/>
          </a:xfrm>
          <a:prstGeom prst="roundRect">
            <a:avLst>
              <a:gd name="adj" fmla="val 7576"/>
            </a:avLst>
          </a:prstGeom>
          <a:solidFill>
            <a:srgbClr val="EAF3F1"/>
          </a:solidFill>
          <a:ln w="12700">
            <a:solidFill>
              <a:srgbClr val="EAF3F1"/>
            </a:solidFill>
            <a:prstDash val="solid"/>
          </a:ln>
        </p:spPr>
      </p:sp>
      <p:sp>
        <p:nvSpPr>
          <p:cNvPr id="35" name="Text 32"/>
          <p:cNvSpPr/>
          <p:nvPr/>
        </p:nvSpPr>
        <p:spPr>
          <a:xfrm>
            <a:off x="6556248" y="4718304"/>
            <a:ext cx="4846320" cy="603504"/>
          </a:xfrm>
          <a:prstGeom prst="rect">
            <a:avLst/>
          </a:prstGeom>
          <a:noFill/>
          <a:ln/>
        </p:spPr>
        <p:txBody>
          <a:bodyPr wrap="square" lIns="0" tIns="0" rIns="0" bIns="0" rtlCol="0" anchor="ctr"/>
          <a:lstStyle/>
          <a:p>
            <a:pPr indent="0" marL="0">
              <a:buNone/>
            </a:pPr>
            <a:r>
              <a:rPr lang="en-US" sz="1200" b="1" dirty="0">
                <a:solidFill>
                  <a:srgbClr val="1D5C59"/>
                </a:solidFill>
                <a:latin typeface="Calibri" pitchFamily="34" charset="0"/>
                <a:ea typeface="Calibri" pitchFamily="34" charset="-122"/>
                <a:cs typeface="Calibri" pitchFamily="34" charset="-120"/>
              </a:rPr>
              <a:t>651/651 native notebooks attached to the monitor</a:t>
            </a:r>
            <a:endParaRPr lang="en-US" sz="1200" dirty="0"/>
          </a:p>
        </p:txBody>
      </p:sp>
      <p:sp>
        <p:nvSpPr>
          <p:cNvPr id="36" name="Shape 33"/>
          <p:cNvSpPr/>
          <p:nvPr/>
        </p:nvSpPr>
        <p:spPr>
          <a:xfrm>
            <a:off x="566928" y="5422392"/>
            <a:ext cx="5212080" cy="603504"/>
          </a:xfrm>
          <a:prstGeom prst="roundRect">
            <a:avLst>
              <a:gd name="adj" fmla="val 7576"/>
            </a:avLst>
          </a:prstGeom>
          <a:solidFill>
            <a:srgbClr val="F3F4F6"/>
          </a:solidFill>
          <a:ln w="12700">
            <a:solidFill>
              <a:srgbClr val="F3F4F6"/>
            </a:solidFill>
            <a:prstDash val="solid"/>
          </a:ln>
        </p:spPr>
      </p:sp>
      <p:sp>
        <p:nvSpPr>
          <p:cNvPr id="37" name="Text 34"/>
          <p:cNvSpPr/>
          <p:nvPr/>
        </p:nvSpPr>
        <p:spPr>
          <a:xfrm>
            <a:off x="749808" y="5422392"/>
            <a:ext cx="4846320" cy="603504"/>
          </a:xfrm>
          <a:prstGeom prst="rect">
            <a:avLst/>
          </a:prstGeom>
          <a:noFill/>
          <a:ln/>
        </p:spPr>
        <p:txBody>
          <a:bodyPr wrap="square" lIns="0" tIns="0" rIns="0" bIns="0" rtlCol="0" anchor="ctr"/>
          <a:lstStyle/>
          <a:p>
            <a:pPr indent="0" marL="0">
              <a:buNone/>
            </a:pPr>
            <a:r>
              <a:rPr lang="en-US" sz="1200" dirty="0">
                <a:solidFill>
                  <a:srgbClr val="6B7891"/>
                </a:solidFill>
                <a:latin typeface="Calibri" pitchFamily="34" charset="0"/>
                <a:ea typeface="Calibri" pitchFamily="34" charset="-122"/>
                <a:cs typeface="Calibri" pitchFamily="34" charset="-120"/>
              </a:rPr>
              <a:t>Silence read as health</a:t>
            </a:r>
            <a:endParaRPr lang="en-US" sz="1200" dirty="0"/>
          </a:p>
        </p:txBody>
      </p:sp>
      <p:sp>
        <p:nvSpPr>
          <p:cNvPr id="38" name="Shape 35"/>
          <p:cNvSpPr/>
          <p:nvPr/>
        </p:nvSpPr>
        <p:spPr>
          <a:xfrm>
            <a:off x="5916168" y="5641848"/>
            <a:ext cx="292608" cy="164592"/>
          </a:xfrm>
          <a:prstGeom prst="rightArrow">
            <a:avLst/>
          </a:prstGeom>
          <a:solidFill>
            <a:srgbClr val="5F7189"/>
          </a:solidFill>
          <a:ln w="12700">
            <a:solidFill>
              <a:srgbClr val="5F7189"/>
            </a:solidFill>
            <a:prstDash val="solid"/>
          </a:ln>
        </p:spPr>
      </p:sp>
      <p:sp>
        <p:nvSpPr>
          <p:cNvPr id="39" name="Shape 36"/>
          <p:cNvSpPr/>
          <p:nvPr/>
        </p:nvSpPr>
        <p:spPr>
          <a:xfrm>
            <a:off x="6373368" y="5422392"/>
            <a:ext cx="5212080" cy="603504"/>
          </a:xfrm>
          <a:prstGeom prst="roundRect">
            <a:avLst>
              <a:gd name="adj" fmla="val 7576"/>
            </a:avLst>
          </a:prstGeom>
          <a:solidFill>
            <a:srgbClr val="EAF3F1"/>
          </a:solidFill>
          <a:ln w="12700">
            <a:solidFill>
              <a:srgbClr val="EAF3F1"/>
            </a:solidFill>
            <a:prstDash val="solid"/>
          </a:ln>
        </p:spPr>
      </p:sp>
      <p:sp>
        <p:nvSpPr>
          <p:cNvPr id="40" name="Text 37"/>
          <p:cNvSpPr/>
          <p:nvPr/>
        </p:nvSpPr>
        <p:spPr>
          <a:xfrm>
            <a:off x="6556248" y="5422392"/>
            <a:ext cx="4846320" cy="603504"/>
          </a:xfrm>
          <a:prstGeom prst="rect">
            <a:avLst/>
          </a:prstGeom>
          <a:noFill/>
          <a:ln/>
        </p:spPr>
        <p:txBody>
          <a:bodyPr wrap="square" lIns="0" tIns="0" rIns="0" bIns="0" rtlCol="0" anchor="ctr"/>
          <a:lstStyle/>
          <a:p>
            <a:pPr indent="0" marL="0">
              <a:buNone/>
            </a:pPr>
            <a:r>
              <a:rPr lang="en-US" sz="1200" b="1" dirty="0">
                <a:solidFill>
                  <a:srgbClr val="1D5C59"/>
                </a:solidFill>
                <a:latin typeface="Calibri" pitchFamily="34" charset="0"/>
                <a:ea typeface="Calibri" pitchFamily="34" charset="-122"/>
                <a:cs typeface="Calibri" pitchFamily="34" charset="-120"/>
              </a:rPr>
              <a:t>Telemetry-loss monitors make absence detectable</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8778240" cy="256032"/>
          </a:xfrm>
          <a:prstGeom prst="rect">
            <a:avLst/>
          </a:prstGeom>
          <a:noFill/>
          <a:ln/>
        </p:spPr>
        <p:txBody>
          <a:bodyPr wrap="square" lIns="0" tIns="0" rIns="0" bIns="0" rtlCol="0" anchor="ctr"/>
          <a:lstStyle/>
          <a:p>
            <a:pPr indent="0" marL="0">
              <a:buNone/>
            </a:pPr>
            <a:r>
              <a:rPr lang="en-US" sz="1050" b="1" spc="160" kern="0" dirty="0">
                <a:solidFill>
                  <a:srgbClr val="B87914"/>
                </a:solidFill>
                <a:latin typeface="Calibri" pitchFamily="34" charset="0"/>
                <a:ea typeface="Calibri" pitchFamily="34" charset="-122"/>
                <a:cs typeface="Calibri" pitchFamily="34" charset="-120"/>
              </a:rPr>
              <a:t>TOPIC 3</a:t>
            </a:r>
            <a:endParaRPr lang="en-US" sz="1050" dirty="0"/>
          </a:p>
        </p:txBody>
      </p:sp>
      <p:sp>
        <p:nvSpPr>
          <p:cNvPr id="3" name="Text 1"/>
          <p:cNvSpPr/>
          <p:nvPr/>
        </p:nvSpPr>
        <p:spPr>
          <a:xfrm>
            <a:off x="566928" y="694944"/>
            <a:ext cx="10424160" cy="786384"/>
          </a:xfrm>
          <a:prstGeom prst="rect">
            <a:avLst/>
          </a:prstGeom>
          <a:noFill/>
          <a:ln/>
        </p:spPr>
        <p:txBody>
          <a:bodyPr wrap="square" lIns="0" tIns="0" rIns="0" bIns="0" rtlCol="0" anchor="ctr"/>
          <a:lstStyle/>
          <a:p>
            <a:pPr indent="0" marL="0">
              <a:buNone/>
            </a:pPr>
            <a:r>
              <a:rPr lang="en-US" sz="3100" b="1" dirty="0">
                <a:solidFill>
                  <a:srgbClr val="161C28"/>
                </a:solidFill>
                <a:latin typeface="Cambria" pitchFamily="34" charset="0"/>
                <a:ea typeface="Cambria" pitchFamily="34" charset="-122"/>
                <a:cs typeface="Cambria" pitchFamily="34" charset="-120"/>
              </a:rPr>
              <a:t>The target operating model</a:t>
            </a:r>
            <a:endParaRPr lang="en-US" sz="3100" dirty="0"/>
          </a:p>
        </p:txBody>
      </p:sp>
      <p:sp>
        <p:nvSpPr>
          <p:cNvPr id="4" name="Text 2"/>
          <p:cNvSpPr/>
          <p:nvPr/>
        </p:nvSpPr>
        <p:spPr>
          <a:xfrm>
            <a:off x="566928" y="1481328"/>
            <a:ext cx="10698480" cy="457200"/>
          </a:xfrm>
          <a:prstGeom prst="rect">
            <a:avLst/>
          </a:prstGeom>
          <a:noFill/>
          <a:ln/>
        </p:spPr>
        <p:txBody>
          <a:bodyPr wrap="square" lIns="0" tIns="0" rIns="0" bIns="0" rtlCol="0" anchor="t"/>
          <a:lstStyle/>
          <a:p>
            <a:pPr indent="0" marL="0">
              <a:buNone/>
            </a:pPr>
            <a:r>
              <a:rPr lang="en-US" sz="1450" dirty="0">
                <a:solidFill>
                  <a:srgbClr val="3A4557"/>
                </a:solidFill>
                <a:latin typeface="Calibri" pitchFamily="34" charset="0"/>
                <a:ea typeface="Calibri" pitchFamily="34" charset="-122"/>
                <a:cs typeface="Calibri" pitchFamily="34" charset="-120"/>
              </a:rPr>
              <a:t>Policy is data. Terraform interprets it. No monitoring decision lives in HCL, in a UI, or in anyone's head.</a:t>
            </a:r>
            <a:endParaRPr lang="en-US" sz="1450" dirty="0"/>
          </a:p>
        </p:txBody>
      </p:sp>
      <p:sp>
        <p:nvSpPr>
          <p:cNvPr id="5" name="Shape 3"/>
          <p:cNvSpPr/>
          <p:nvPr/>
        </p:nvSpPr>
        <p:spPr>
          <a:xfrm>
            <a:off x="10568635" y="420624"/>
            <a:ext cx="1056132" cy="310896"/>
          </a:xfrm>
          <a:prstGeom prst="roundRect">
            <a:avLst>
              <a:gd name="adj" fmla="val 50000"/>
            </a:avLst>
          </a:prstGeom>
          <a:solidFill>
            <a:srgbClr val="27807C"/>
          </a:solidFill>
          <a:ln w="12700">
            <a:solidFill>
              <a:srgbClr val="27807C"/>
            </a:solidFill>
            <a:prstDash val="solid"/>
          </a:ln>
        </p:spPr>
      </p:sp>
      <p:sp>
        <p:nvSpPr>
          <p:cNvPr id="6" name="Text 4"/>
          <p:cNvSpPr/>
          <p:nvPr/>
        </p:nvSpPr>
        <p:spPr>
          <a:xfrm>
            <a:off x="10568635" y="420624"/>
            <a:ext cx="1056132" cy="310896"/>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SHIPPED</a:t>
            </a:r>
            <a:endParaRPr lang="en-US" sz="950" dirty="0"/>
          </a:p>
        </p:txBody>
      </p:sp>
      <p:sp>
        <p:nvSpPr>
          <p:cNvPr id="7" name="Text 5"/>
          <p:cNvSpPr/>
          <p:nvPr/>
        </p:nvSpPr>
        <p:spPr>
          <a:xfrm>
            <a:off x="566928" y="6345936"/>
            <a:ext cx="7315200" cy="274320"/>
          </a:xfrm>
          <a:prstGeom prst="rect">
            <a:avLst/>
          </a:prstGeom>
          <a:noFill/>
          <a:ln/>
        </p:spPr>
        <p:txBody>
          <a:bodyPr wrap="square" lIns="0" tIns="0" rIns="0" bIns="0" rtlCol="0" anchor="ctr"/>
          <a:lstStyle/>
          <a:p>
            <a:pPr indent="0" marL="0">
              <a:buNone/>
            </a:pPr>
            <a:r>
              <a:rPr lang="en-US" sz="900" dirty="0">
                <a:solidFill>
                  <a:srgbClr val="6B7891"/>
                </a:solidFill>
                <a:latin typeface="Calibri" pitchFamily="34" charset="0"/>
                <a:ea typeface="Calibri" pitchFamily="34" charset="-122"/>
                <a:cs typeface="Calibri" pitchFamily="34" charset="-120"/>
              </a:rPr>
              <a:t>Enterprise Observability  ·  policy-as-data on Datadog</a:t>
            </a:r>
            <a:endParaRPr lang="en-US" sz="900" dirty="0"/>
          </a:p>
        </p:txBody>
      </p:sp>
      <p:sp>
        <p:nvSpPr>
          <p:cNvPr id="8" name="Text 6"/>
          <p:cNvSpPr/>
          <p:nvPr/>
        </p:nvSpPr>
        <p:spPr>
          <a:xfrm>
            <a:off x="10710367" y="6345936"/>
            <a:ext cx="914400" cy="274320"/>
          </a:xfrm>
          <a:prstGeom prst="rect">
            <a:avLst/>
          </a:prstGeom>
          <a:noFill/>
          <a:ln/>
        </p:spPr>
        <p:txBody>
          <a:bodyPr wrap="square" lIns="0" tIns="0" rIns="0" bIns="0" rtlCol="0" anchor="ctr"/>
          <a:lstStyle/>
          <a:p>
            <a:pPr algn="r" indent="0" marL="0">
              <a:buNone/>
            </a:pPr>
            <a:r>
              <a:rPr lang="en-US" sz="900" dirty="0">
                <a:solidFill>
                  <a:srgbClr val="6B7891"/>
                </a:solidFill>
                <a:latin typeface="Calibri" pitchFamily="34" charset="0"/>
                <a:ea typeface="Calibri" pitchFamily="34" charset="-122"/>
                <a:cs typeface="Calibri" pitchFamily="34" charset="-120"/>
              </a:rPr>
              <a:t>7</a:t>
            </a:r>
            <a:endParaRPr lang="en-US" sz="900" dirty="0"/>
          </a:p>
        </p:txBody>
      </p:sp>
      <p:sp>
        <p:nvSpPr>
          <p:cNvPr id="10" name="Shape 7"/>
          <p:cNvSpPr/>
          <p:nvPr/>
        </p:nvSpPr>
        <p:spPr>
          <a:xfrm>
            <a:off x="566928" y="2103120"/>
            <a:ext cx="1992112" cy="960120"/>
          </a:xfrm>
          <a:prstGeom prst="roundRect">
            <a:avLst>
              <a:gd name="adj" fmla="val 5714"/>
            </a:avLst>
          </a:prstGeom>
          <a:solidFill>
            <a:srgbClr val="EFF2F6"/>
          </a:solidFill>
          <a:ln w="12700">
            <a:solidFill>
              <a:srgbClr val="EFF2F6"/>
            </a:solidFill>
            <a:prstDash val="solid"/>
          </a:ln>
        </p:spPr>
      </p:sp>
      <p:sp>
        <p:nvSpPr>
          <p:cNvPr id="11" name="Text 8"/>
          <p:cNvSpPr/>
          <p:nvPr/>
        </p:nvSpPr>
        <p:spPr>
          <a:xfrm>
            <a:off x="676656" y="2212848"/>
            <a:ext cx="1772656" cy="740664"/>
          </a:xfrm>
          <a:prstGeom prst="rect">
            <a:avLst/>
          </a:prstGeom>
          <a:noFill/>
          <a:ln/>
        </p:spPr>
        <p:txBody>
          <a:bodyPr wrap="square" lIns="0" tIns="0" rIns="0" bIns="0" rtlCol="0" anchor="ctr"/>
          <a:lstStyle/>
          <a:p>
            <a:pPr algn="ctr" indent="0" marL="0">
              <a:lnSpc>
                <a:spcPct val="100000"/>
              </a:lnSpc>
              <a:buNone/>
            </a:pPr>
            <a:r>
              <a:rPr lang="en-US" sz="1250" b="1" dirty="0">
                <a:solidFill>
                  <a:srgbClr val="161C28"/>
                </a:solidFill>
                <a:latin typeface="Calibri" pitchFamily="34" charset="0"/>
                <a:ea typeface="Calibri" pitchFamily="34" charset="-122"/>
                <a:cs typeface="Calibri" pitchFamily="34" charset="-120"/>
              </a:rPr>
              <a:t>YAML policy</a:t>
            </a:r>
            <a:endParaRPr lang="en-US" sz="1250" dirty="0"/>
          </a:p>
          <a:p>
            <a:pPr algn="ctr" indent="0" marL="0">
              <a:lnSpc>
                <a:spcPct val="100000"/>
              </a:lnSpc>
              <a:buNone/>
            </a:pPr>
            <a:r>
              <a:rPr lang="en-US" sz="1250" b="1" dirty="0">
                <a:solidFill>
                  <a:srgbClr val="161C28"/>
                </a:solidFill>
                <a:latin typeface="Calibri" pitchFamily="34" charset="0"/>
                <a:ea typeface="Calibri" pitchFamily="34" charset="-122"/>
                <a:cs typeface="Calibri" pitchFamily="34" charset="-120"/>
              </a:rPr>
              <a:t>platform/*.yaml</a:t>
            </a:r>
            <a:endParaRPr lang="en-US" sz="1250" dirty="0"/>
          </a:p>
        </p:txBody>
      </p:sp>
      <p:sp>
        <p:nvSpPr>
          <p:cNvPr id="12" name="Shape 9"/>
          <p:cNvSpPr/>
          <p:nvPr/>
        </p:nvSpPr>
        <p:spPr>
          <a:xfrm>
            <a:off x="2613904" y="2500884"/>
            <a:ext cx="164592" cy="164592"/>
          </a:xfrm>
          <a:prstGeom prst="rightArrow">
            <a:avLst/>
          </a:prstGeom>
          <a:solidFill>
            <a:srgbClr val="5F7189"/>
          </a:solidFill>
          <a:ln w="12700">
            <a:solidFill>
              <a:srgbClr val="5F7189"/>
            </a:solidFill>
            <a:prstDash val="solid"/>
          </a:ln>
        </p:spPr>
      </p:sp>
      <p:sp>
        <p:nvSpPr>
          <p:cNvPr id="13" name="Shape 10"/>
          <p:cNvSpPr/>
          <p:nvPr/>
        </p:nvSpPr>
        <p:spPr>
          <a:xfrm>
            <a:off x="2833360" y="2103120"/>
            <a:ext cx="1992112" cy="960120"/>
          </a:xfrm>
          <a:prstGeom prst="roundRect">
            <a:avLst>
              <a:gd name="adj" fmla="val 5714"/>
            </a:avLst>
          </a:prstGeom>
          <a:solidFill>
            <a:srgbClr val="EFF2F6"/>
          </a:solidFill>
          <a:ln w="12700">
            <a:solidFill>
              <a:srgbClr val="EFF2F6"/>
            </a:solidFill>
            <a:prstDash val="solid"/>
          </a:ln>
        </p:spPr>
      </p:sp>
      <p:sp>
        <p:nvSpPr>
          <p:cNvPr id="14" name="Text 11"/>
          <p:cNvSpPr/>
          <p:nvPr/>
        </p:nvSpPr>
        <p:spPr>
          <a:xfrm>
            <a:off x="2943088" y="2212848"/>
            <a:ext cx="1772656" cy="740664"/>
          </a:xfrm>
          <a:prstGeom prst="rect">
            <a:avLst/>
          </a:prstGeom>
          <a:noFill/>
          <a:ln/>
        </p:spPr>
        <p:txBody>
          <a:bodyPr wrap="square" lIns="0" tIns="0" rIns="0" bIns="0" rtlCol="0" anchor="ctr"/>
          <a:lstStyle/>
          <a:p>
            <a:pPr algn="ctr" indent="0" marL="0">
              <a:lnSpc>
                <a:spcPct val="100000"/>
              </a:lnSpc>
              <a:buNone/>
            </a:pPr>
            <a:r>
              <a:rPr lang="en-US" sz="1250" b="1" dirty="0">
                <a:solidFill>
                  <a:srgbClr val="161C28"/>
                </a:solidFill>
                <a:latin typeface="Calibri" pitchFamily="34" charset="0"/>
                <a:ea typeface="Calibri" pitchFamily="34" charset="-122"/>
                <a:cs typeface="Calibri" pitchFamily="34" charset="-120"/>
              </a:rPr>
              <a:t>Pull request</a:t>
            </a:r>
            <a:endParaRPr lang="en-US" sz="1250" dirty="0"/>
          </a:p>
          <a:p>
            <a:pPr algn="ctr" indent="0" marL="0">
              <a:lnSpc>
                <a:spcPct val="100000"/>
              </a:lnSpc>
              <a:buNone/>
            </a:pPr>
            <a:r>
              <a:rPr lang="en-US" sz="1250" b="1" dirty="0">
                <a:solidFill>
                  <a:srgbClr val="161C28"/>
                </a:solidFill>
                <a:latin typeface="Calibri" pitchFamily="34" charset="0"/>
                <a:ea typeface="Calibri" pitchFamily="34" charset="-122"/>
                <a:cs typeface="Calibri" pitchFamily="34" charset="-120"/>
              </a:rPr>
              <a:t>review + CI gate</a:t>
            </a:r>
            <a:endParaRPr lang="en-US" sz="1250" dirty="0"/>
          </a:p>
        </p:txBody>
      </p:sp>
      <p:sp>
        <p:nvSpPr>
          <p:cNvPr id="15" name="Shape 12"/>
          <p:cNvSpPr/>
          <p:nvPr/>
        </p:nvSpPr>
        <p:spPr>
          <a:xfrm>
            <a:off x="4880336" y="2500884"/>
            <a:ext cx="164592" cy="164592"/>
          </a:xfrm>
          <a:prstGeom prst="rightArrow">
            <a:avLst/>
          </a:prstGeom>
          <a:solidFill>
            <a:srgbClr val="5F7189"/>
          </a:solidFill>
          <a:ln w="12700">
            <a:solidFill>
              <a:srgbClr val="5F7189"/>
            </a:solidFill>
            <a:prstDash val="solid"/>
          </a:ln>
        </p:spPr>
      </p:sp>
      <p:sp>
        <p:nvSpPr>
          <p:cNvPr id="16" name="Shape 13"/>
          <p:cNvSpPr/>
          <p:nvPr/>
        </p:nvSpPr>
        <p:spPr>
          <a:xfrm>
            <a:off x="5099792" y="2103120"/>
            <a:ext cx="1992112" cy="960120"/>
          </a:xfrm>
          <a:prstGeom prst="roundRect">
            <a:avLst>
              <a:gd name="adj" fmla="val 5714"/>
            </a:avLst>
          </a:prstGeom>
          <a:solidFill>
            <a:srgbClr val="EFF2F6"/>
          </a:solidFill>
          <a:ln w="12700">
            <a:solidFill>
              <a:srgbClr val="EFF2F6"/>
            </a:solidFill>
            <a:prstDash val="solid"/>
          </a:ln>
        </p:spPr>
      </p:sp>
      <p:sp>
        <p:nvSpPr>
          <p:cNvPr id="17" name="Text 14"/>
          <p:cNvSpPr/>
          <p:nvPr/>
        </p:nvSpPr>
        <p:spPr>
          <a:xfrm>
            <a:off x="5209520" y="2212848"/>
            <a:ext cx="1772656" cy="740664"/>
          </a:xfrm>
          <a:prstGeom prst="rect">
            <a:avLst/>
          </a:prstGeom>
          <a:noFill/>
          <a:ln/>
        </p:spPr>
        <p:txBody>
          <a:bodyPr wrap="square" lIns="0" tIns="0" rIns="0" bIns="0" rtlCol="0" anchor="ctr"/>
          <a:lstStyle/>
          <a:p>
            <a:pPr algn="ctr" indent="0" marL="0">
              <a:lnSpc>
                <a:spcPct val="100000"/>
              </a:lnSpc>
              <a:buNone/>
            </a:pPr>
            <a:r>
              <a:rPr lang="en-US" sz="1250" b="1" dirty="0">
                <a:solidFill>
                  <a:srgbClr val="161C28"/>
                </a:solidFill>
                <a:latin typeface="Calibri" pitchFamily="34" charset="0"/>
                <a:ea typeface="Calibri" pitchFamily="34" charset="-122"/>
                <a:cs typeface="Calibri" pitchFamily="34" charset="-120"/>
              </a:rPr>
              <a:t>Terraform</a:t>
            </a:r>
            <a:endParaRPr lang="en-US" sz="1250" dirty="0"/>
          </a:p>
          <a:p>
            <a:pPr algn="ctr" indent="0" marL="0">
              <a:lnSpc>
                <a:spcPct val="100000"/>
              </a:lnSpc>
              <a:buNone/>
            </a:pPr>
            <a:r>
              <a:rPr lang="en-US" sz="1250" b="1" dirty="0">
                <a:solidFill>
                  <a:srgbClr val="161C28"/>
                </a:solidFill>
                <a:latin typeface="Calibri" pitchFamily="34" charset="0"/>
                <a:ea typeface="Calibri" pitchFamily="34" charset="-122"/>
                <a:cs typeface="Calibri" pitchFamily="34" charset="-120"/>
              </a:rPr>
              <a:t>pure interpreter</a:t>
            </a:r>
            <a:endParaRPr lang="en-US" sz="1250" dirty="0"/>
          </a:p>
        </p:txBody>
      </p:sp>
      <p:sp>
        <p:nvSpPr>
          <p:cNvPr id="18" name="Shape 15"/>
          <p:cNvSpPr/>
          <p:nvPr/>
        </p:nvSpPr>
        <p:spPr>
          <a:xfrm>
            <a:off x="7146768" y="2500884"/>
            <a:ext cx="164592" cy="164592"/>
          </a:xfrm>
          <a:prstGeom prst="rightArrow">
            <a:avLst/>
          </a:prstGeom>
          <a:solidFill>
            <a:srgbClr val="5F7189"/>
          </a:solidFill>
          <a:ln w="12700">
            <a:solidFill>
              <a:srgbClr val="5F7189"/>
            </a:solidFill>
            <a:prstDash val="solid"/>
          </a:ln>
        </p:spPr>
      </p:sp>
      <p:sp>
        <p:nvSpPr>
          <p:cNvPr id="19" name="Shape 16"/>
          <p:cNvSpPr/>
          <p:nvPr/>
        </p:nvSpPr>
        <p:spPr>
          <a:xfrm>
            <a:off x="7366224" y="2103120"/>
            <a:ext cx="1992112" cy="960120"/>
          </a:xfrm>
          <a:prstGeom prst="roundRect">
            <a:avLst>
              <a:gd name="adj" fmla="val 5714"/>
            </a:avLst>
          </a:prstGeom>
          <a:solidFill>
            <a:srgbClr val="12161F"/>
          </a:solidFill>
          <a:ln w="12700">
            <a:solidFill>
              <a:srgbClr val="12161F"/>
            </a:solidFill>
            <a:prstDash val="solid"/>
          </a:ln>
        </p:spPr>
      </p:sp>
      <p:sp>
        <p:nvSpPr>
          <p:cNvPr id="20" name="Text 17"/>
          <p:cNvSpPr/>
          <p:nvPr/>
        </p:nvSpPr>
        <p:spPr>
          <a:xfrm>
            <a:off x="7475952" y="2212848"/>
            <a:ext cx="1772656" cy="740664"/>
          </a:xfrm>
          <a:prstGeom prst="rect">
            <a:avLst/>
          </a:prstGeom>
          <a:noFill/>
          <a:ln/>
        </p:spPr>
        <p:txBody>
          <a:bodyPr wrap="square" lIns="0" tIns="0" rIns="0" bIns="0" rtlCol="0" anchor="ctr"/>
          <a:lstStyle/>
          <a:p>
            <a:pPr algn="ctr" indent="0" marL="0">
              <a:lnSpc>
                <a:spcPct val="100000"/>
              </a:lnSpc>
              <a:buNone/>
            </a:pPr>
            <a:r>
              <a:rPr lang="en-US" sz="1250" b="1" dirty="0">
                <a:solidFill>
                  <a:srgbClr val="FFFFFF"/>
                </a:solidFill>
                <a:latin typeface="Calibri" pitchFamily="34" charset="0"/>
                <a:ea typeface="Calibri" pitchFamily="34" charset="-122"/>
                <a:cs typeface="Calibri" pitchFamily="34" charset="-120"/>
              </a:rPr>
              <a:t>Datadog</a:t>
            </a:r>
            <a:endParaRPr lang="en-US" sz="1250" dirty="0"/>
          </a:p>
          <a:p>
            <a:pPr algn="ctr" indent="0" marL="0">
              <a:lnSpc>
                <a:spcPct val="100000"/>
              </a:lnSpc>
              <a:buNone/>
            </a:pPr>
            <a:r>
              <a:rPr lang="en-US" sz="1250" b="1" dirty="0">
                <a:solidFill>
                  <a:srgbClr val="FFFFFF"/>
                </a:solidFill>
                <a:latin typeface="Calibri" pitchFamily="34" charset="0"/>
                <a:ea typeface="Calibri" pitchFamily="34" charset="-122"/>
                <a:cs typeface="Calibri" pitchFamily="34" charset="-120"/>
              </a:rPr>
              <a:t>qa → stage → prod</a:t>
            </a:r>
            <a:endParaRPr lang="en-US" sz="1250" dirty="0"/>
          </a:p>
        </p:txBody>
      </p:sp>
      <p:sp>
        <p:nvSpPr>
          <p:cNvPr id="21" name="Shape 18"/>
          <p:cNvSpPr/>
          <p:nvPr/>
        </p:nvSpPr>
        <p:spPr>
          <a:xfrm>
            <a:off x="9413199" y="2500884"/>
            <a:ext cx="164592" cy="164592"/>
          </a:xfrm>
          <a:prstGeom prst="rightArrow">
            <a:avLst/>
          </a:prstGeom>
          <a:solidFill>
            <a:srgbClr val="5F7189"/>
          </a:solidFill>
          <a:ln w="12700">
            <a:solidFill>
              <a:srgbClr val="5F7189"/>
            </a:solidFill>
            <a:prstDash val="solid"/>
          </a:ln>
        </p:spPr>
      </p:sp>
      <p:sp>
        <p:nvSpPr>
          <p:cNvPr id="22" name="Shape 19"/>
          <p:cNvSpPr/>
          <p:nvPr/>
        </p:nvSpPr>
        <p:spPr>
          <a:xfrm>
            <a:off x="9632655" y="2103120"/>
            <a:ext cx="1992112" cy="960120"/>
          </a:xfrm>
          <a:prstGeom prst="roundRect">
            <a:avLst>
              <a:gd name="adj" fmla="val 5714"/>
            </a:avLst>
          </a:prstGeom>
          <a:solidFill>
            <a:srgbClr val="FBF1E2"/>
          </a:solidFill>
          <a:ln w="12700">
            <a:solidFill>
              <a:srgbClr val="FBF1E2"/>
            </a:solidFill>
            <a:prstDash val="solid"/>
          </a:ln>
        </p:spPr>
      </p:sp>
      <p:sp>
        <p:nvSpPr>
          <p:cNvPr id="23" name="Text 20"/>
          <p:cNvSpPr/>
          <p:nvPr/>
        </p:nvSpPr>
        <p:spPr>
          <a:xfrm>
            <a:off x="9742383" y="2212848"/>
            <a:ext cx="1772656" cy="740664"/>
          </a:xfrm>
          <a:prstGeom prst="rect">
            <a:avLst/>
          </a:prstGeom>
          <a:noFill/>
          <a:ln/>
        </p:spPr>
        <p:txBody>
          <a:bodyPr wrap="square" lIns="0" tIns="0" rIns="0" bIns="0" rtlCol="0" anchor="ctr"/>
          <a:lstStyle/>
          <a:p>
            <a:pPr algn="ctr" indent="0" marL="0">
              <a:lnSpc>
                <a:spcPct val="100000"/>
              </a:lnSpc>
              <a:buNone/>
            </a:pPr>
            <a:r>
              <a:rPr lang="en-US" sz="1250" b="1" dirty="0">
                <a:solidFill>
                  <a:srgbClr val="161C28"/>
                </a:solidFill>
                <a:latin typeface="Calibri" pitchFamily="34" charset="0"/>
                <a:ea typeface="Calibri" pitchFamily="34" charset="-122"/>
                <a:cs typeface="Calibri" pitchFamily="34" charset="-120"/>
              </a:rPr>
              <a:t>Governance loops</a:t>
            </a:r>
            <a:endParaRPr lang="en-US" sz="1250" dirty="0"/>
          </a:p>
          <a:p>
            <a:pPr algn="ctr" indent="0" marL="0">
              <a:lnSpc>
                <a:spcPct val="100000"/>
              </a:lnSpc>
              <a:buNone/>
            </a:pPr>
            <a:r>
              <a:rPr lang="en-US" sz="1250" b="1" dirty="0">
                <a:solidFill>
                  <a:srgbClr val="161C28"/>
                </a:solidFill>
                <a:latin typeface="Calibri" pitchFamily="34" charset="0"/>
                <a:ea typeface="Calibri" pitchFamily="34" charset="-122"/>
                <a:cs typeface="Calibri" pitchFamily="34" charset="-120"/>
              </a:rPr>
              <a:t>drift · coverage · quality</a:t>
            </a:r>
            <a:endParaRPr lang="en-US" sz="1250" dirty="0"/>
          </a:p>
        </p:txBody>
      </p:sp>
      <p:sp>
        <p:nvSpPr>
          <p:cNvPr id="24" name="Shape 21"/>
          <p:cNvSpPr/>
          <p:nvPr/>
        </p:nvSpPr>
        <p:spPr>
          <a:xfrm>
            <a:off x="566928" y="3429000"/>
            <a:ext cx="3527450" cy="1691640"/>
          </a:xfrm>
          <a:prstGeom prst="roundRect">
            <a:avLst>
              <a:gd name="adj" fmla="val 3243"/>
            </a:avLst>
          </a:prstGeom>
          <a:solidFill>
            <a:srgbClr val="EFF2F6"/>
          </a:solidFill>
          <a:ln w="12700">
            <a:solidFill>
              <a:srgbClr val="EFF2F6"/>
            </a:solidFill>
            <a:prstDash val="solid"/>
          </a:ln>
        </p:spPr>
      </p:sp>
      <p:sp>
        <p:nvSpPr>
          <p:cNvPr id="25" name="Text 22"/>
          <p:cNvSpPr/>
          <p:nvPr/>
        </p:nvSpPr>
        <p:spPr>
          <a:xfrm>
            <a:off x="768096" y="3575304"/>
            <a:ext cx="3125114" cy="347472"/>
          </a:xfrm>
          <a:prstGeom prst="rect">
            <a:avLst/>
          </a:prstGeom>
          <a:noFill/>
          <a:ln/>
        </p:spPr>
        <p:txBody>
          <a:bodyPr wrap="square" lIns="0" tIns="0" rIns="0" bIns="0" rtlCol="0" anchor="t"/>
          <a:lstStyle/>
          <a:p>
            <a:pPr indent="0" marL="0">
              <a:buNone/>
            </a:pPr>
            <a:r>
              <a:rPr lang="en-US" sz="1450" b="1" dirty="0">
                <a:solidFill>
                  <a:srgbClr val="161C28"/>
                </a:solidFill>
                <a:latin typeface="Calibri" pitchFamily="34" charset="0"/>
                <a:ea typeface="Calibri" pitchFamily="34" charset="-122"/>
                <a:cs typeface="Calibri" pitchFamily="34" charset="-120"/>
              </a:rPr>
              <a:t>Delivery loop — every PR</a:t>
            </a:r>
            <a:endParaRPr lang="en-US" sz="1450" dirty="0"/>
          </a:p>
        </p:txBody>
      </p:sp>
      <p:sp>
        <p:nvSpPr>
          <p:cNvPr id="26" name="Text 23"/>
          <p:cNvSpPr/>
          <p:nvPr/>
        </p:nvSpPr>
        <p:spPr>
          <a:xfrm>
            <a:off x="768096" y="3959352"/>
            <a:ext cx="3125114" cy="1014984"/>
          </a:xfrm>
          <a:prstGeom prst="rect">
            <a:avLst/>
          </a:prstGeom>
          <a:noFill/>
          <a:ln/>
        </p:spPr>
        <p:txBody>
          <a:bodyPr wrap="square" lIns="0" tIns="0" rIns="0" bIns="0" rtlCol="0" anchor="t"/>
          <a:lstStyle/>
          <a:p>
            <a:pPr indent="0" marL="0">
              <a:lnSpc>
                <a:spcPct val="102000"/>
              </a:lnSpc>
              <a:buNone/>
            </a:pPr>
            <a:r>
              <a:rPr lang="en-US" sz="1150" dirty="0">
                <a:solidFill>
                  <a:srgbClr val="3A4557"/>
                </a:solidFill>
                <a:latin typeface="Calibri" pitchFamily="34" charset="0"/>
                <a:ea typeface="Calibri" pitchFamily="34" charset="-122"/>
                <a:cs typeface="Calibri" pitchFamily="34" charset="-120"/>
              </a:rPr>
              <a:t>Schema · policy lint · pytest · terraform validate · offline plan with budget checks · plan determinism · Trivy + gitleaks · every planned monitor validated by Datadog's own API.</a:t>
            </a:r>
            <a:endParaRPr lang="en-US" sz="1150" dirty="0"/>
          </a:p>
        </p:txBody>
      </p:sp>
      <p:sp>
        <p:nvSpPr>
          <p:cNvPr id="27" name="Shape 24"/>
          <p:cNvSpPr/>
          <p:nvPr/>
        </p:nvSpPr>
        <p:spPr>
          <a:xfrm>
            <a:off x="4332122" y="3429000"/>
            <a:ext cx="3527450" cy="1691640"/>
          </a:xfrm>
          <a:prstGeom prst="roundRect">
            <a:avLst>
              <a:gd name="adj" fmla="val 3243"/>
            </a:avLst>
          </a:prstGeom>
          <a:solidFill>
            <a:srgbClr val="EFF2F6"/>
          </a:solidFill>
          <a:ln w="12700">
            <a:solidFill>
              <a:srgbClr val="EFF2F6"/>
            </a:solidFill>
            <a:prstDash val="solid"/>
          </a:ln>
        </p:spPr>
      </p:sp>
      <p:sp>
        <p:nvSpPr>
          <p:cNvPr id="28" name="Text 25"/>
          <p:cNvSpPr/>
          <p:nvPr/>
        </p:nvSpPr>
        <p:spPr>
          <a:xfrm>
            <a:off x="4533290" y="3575304"/>
            <a:ext cx="3125114" cy="347472"/>
          </a:xfrm>
          <a:prstGeom prst="rect">
            <a:avLst/>
          </a:prstGeom>
          <a:noFill/>
          <a:ln/>
        </p:spPr>
        <p:txBody>
          <a:bodyPr wrap="square" lIns="0" tIns="0" rIns="0" bIns="0" rtlCol="0" anchor="t"/>
          <a:lstStyle/>
          <a:p>
            <a:pPr indent="0" marL="0">
              <a:buNone/>
            </a:pPr>
            <a:r>
              <a:rPr lang="en-US" sz="1450" b="1" dirty="0">
                <a:solidFill>
                  <a:srgbClr val="161C28"/>
                </a:solidFill>
                <a:latin typeface="Calibri" pitchFamily="34" charset="0"/>
                <a:ea typeface="Calibri" pitchFamily="34" charset="-122"/>
                <a:cs typeface="Calibri" pitchFamily="34" charset="-120"/>
              </a:rPr>
              <a:t>Discovery loop — scheduled</a:t>
            </a:r>
            <a:endParaRPr lang="en-US" sz="1450" dirty="0"/>
          </a:p>
        </p:txBody>
      </p:sp>
      <p:sp>
        <p:nvSpPr>
          <p:cNvPr id="29" name="Text 26"/>
          <p:cNvSpPr/>
          <p:nvPr/>
        </p:nvSpPr>
        <p:spPr>
          <a:xfrm>
            <a:off x="4533290" y="3959352"/>
            <a:ext cx="3125114" cy="1014984"/>
          </a:xfrm>
          <a:prstGeom prst="rect">
            <a:avLst/>
          </a:prstGeom>
          <a:noFill/>
          <a:ln/>
        </p:spPr>
        <p:txBody>
          <a:bodyPr wrap="square" lIns="0" tIns="0" rIns="0" bIns="0" rtlCol="0" anchor="t"/>
          <a:lstStyle/>
          <a:p>
            <a:pPr indent="0" marL="0">
              <a:lnSpc>
                <a:spcPct val="102000"/>
              </a:lnSpc>
              <a:buNone/>
            </a:pPr>
            <a:r>
              <a:rPr lang="en-US" sz="1150" dirty="0">
                <a:solidFill>
                  <a:srgbClr val="3A4557"/>
                </a:solidFill>
                <a:latin typeface="Calibri" pitchFamily="34" charset="0"/>
                <a:ea typeface="Calibri" pitchFamily="34" charset="-122"/>
                <a:cs typeface="Calibri" pitchFamily="34" charset="-120"/>
              </a:rPr>
              <a:t>Rebuild inventory from the live org, assign owner / domain / profile / band, converge the catalog. New resources are already covered; the loop only updates accounting.</a:t>
            </a:r>
            <a:endParaRPr lang="en-US" sz="1150" dirty="0"/>
          </a:p>
        </p:txBody>
      </p:sp>
      <p:sp>
        <p:nvSpPr>
          <p:cNvPr id="30" name="Shape 27"/>
          <p:cNvSpPr/>
          <p:nvPr/>
        </p:nvSpPr>
        <p:spPr>
          <a:xfrm>
            <a:off x="8097317" y="3429000"/>
            <a:ext cx="3527450" cy="1691640"/>
          </a:xfrm>
          <a:prstGeom prst="roundRect">
            <a:avLst>
              <a:gd name="adj" fmla="val 3243"/>
            </a:avLst>
          </a:prstGeom>
          <a:solidFill>
            <a:srgbClr val="EFF2F6"/>
          </a:solidFill>
          <a:ln w="12700">
            <a:solidFill>
              <a:srgbClr val="EFF2F6"/>
            </a:solidFill>
            <a:prstDash val="solid"/>
          </a:ln>
        </p:spPr>
      </p:sp>
      <p:sp>
        <p:nvSpPr>
          <p:cNvPr id="31" name="Text 28"/>
          <p:cNvSpPr/>
          <p:nvPr/>
        </p:nvSpPr>
        <p:spPr>
          <a:xfrm>
            <a:off x="8298485" y="3575304"/>
            <a:ext cx="3125114" cy="347472"/>
          </a:xfrm>
          <a:prstGeom prst="rect">
            <a:avLst/>
          </a:prstGeom>
          <a:noFill/>
          <a:ln/>
        </p:spPr>
        <p:txBody>
          <a:bodyPr wrap="square" lIns="0" tIns="0" rIns="0" bIns="0" rtlCol="0" anchor="t"/>
          <a:lstStyle/>
          <a:p>
            <a:pPr indent="0" marL="0">
              <a:buNone/>
            </a:pPr>
            <a:r>
              <a:rPr lang="en-US" sz="1450" b="1" dirty="0">
                <a:solidFill>
                  <a:srgbClr val="161C28"/>
                </a:solidFill>
                <a:latin typeface="Calibri" pitchFamily="34" charset="0"/>
                <a:ea typeface="Calibri" pitchFamily="34" charset="-122"/>
                <a:cs typeface="Calibri" pitchFamily="34" charset="-120"/>
              </a:rPr>
              <a:t>Governance loop — scheduled</a:t>
            </a:r>
            <a:endParaRPr lang="en-US" sz="1450" dirty="0"/>
          </a:p>
        </p:txBody>
      </p:sp>
      <p:sp>
        <p:nvSpPr>
          <p:cNvPr id="32" name="Text 29"/>
          <p:cNvSpPr/>
          <p:nvPr/>
        </p:nvSpPr>
        <p:spPr>
          <a:xfrm>
            <a:off x="8298485" y="3959352"/>
            <a:ext cx="3125114" cy="1014984"/>
          </a:xfrm>
          <a:prstGeom prst="rect">
            <a:avLst/>
          </a:prstGeom>
          <a:noFill/>
          <a:ln/>
        </p:spPr>
        <p:txBody>
          <a:bodyPr wrap="square" lIns="0" tIns="0" rIns="0" bIns="0" rtlCol="0" anchor="t"/>
          <a:lstStyle/>
          <a:p>
            <a:pPr indent="0" marL="0">
              <a:lnSpc>
                <a:spcPct val="102000"/>
              </a:lnSpc>
              <a:buNone/>
            </a:pPr>
            <a:r>
              <a:rPr lang="en-US" sz="1150" dirty="0">
                <a:solidFill>
                  <a:srgbClr val="3A4557"/>
                </a:solidFill>
                <a:latin typeface="Calibri" pitchFamily="34" charset="0"/>
                <a:ea typeface="Calibri" pitchFamily="34" charset="-122"/>
                <a:cs typeface="Calibri" pitchFamily="34" charset="-120"/>
              </a:rPr>
              <a:t>Nightly Terraform and runbook drift. Weekday coverage report (C1–C17) and quality scorecard. A red run opens a governance issue automatically.</a:t>
            </a:r>
            <a:endParaRPr lang="en-US" sz="1150" dirty="0"/>
          </a:p>
        </p:txBody>
      </p:sp>
      <p:sp>
        <p:nvSpPr>
          <p:cNvPr id="33" name="Shape 30"/>
          <p:cNvSpPr/>
          <p:nvPr/>
        </p:nvSpPr>
        <p:spPr>
          <a:xfrm>
            <a:off x="475488" y="5212080"/>
            <a:ext cx="11240719" cy="347472"/>
          </a:xfrm>
          <a:prstGeom prst="rect">
            <a:avLst/>
          </a:prstGeom>
          <a:solidFill>
            <a:srgbClr val="F5F7FA"/>
          </a:solidFill>
          <a:ln w="12700">
            <a:solidFill>
              <a:srgbClr val="F5F7FA"/>
            </a:solidFill>
            <a:prstDash val="solid"/>
          </a:ln>
        </p:spPr>
      </p:sp>
      <p:sp>
        <p:nvSpPr>
          <p:cNvPr id="34" name="Text 31"/>
          <p:cNvSpPr/>
          <p:nvPr/>
        </p:nvSpPr>
        <p:spPr>
          <a:xfrm>
            <a:off x="566928" y="5212080"/>
            <a:ext cx="2651760" cy="347472"/>
          </a:xfrm>
          <a:prstGeom prst="rect">
            <a:avLst/>
          </a:prstGeom>
          <a:noFill/>
          <a:ln/>
        </p:spPr>
        <p:txBody>
          <a:bodyPr wrap="square" lIns="0" tIns="0" rIns="0" bIns="0" rtlCol="0" anchor="ctr"/>
          <a:lstStyle/>
          <a:p>
            <a:pPr indent="0" marL="0">
              <a:buNone/>
            </a:pPr>
            <a:r>
              <a:rPr lang="en-US" sz="1150" b="1" dirty="0">
                <a:solidFill>
                  <a:srgbClr val="161C28"/>
                </a:solidFill>
                <a:latin typeface="Calibri" pitchFamily="34" charset="0"/>
                <a:ea typeface="Calibri" pitchFamily="34" charset="-122"/>
                <a:cs typeface="Calibri" pitchFamily="34" charset="-120"/>
              </a:rPr>
              <a:t>Platform team owns</a:t>
            </a:r>
            <a:endParaRPr lang="en-US" sz="1150" dirty="0"/>
          </a:p>
        </p:txBody>
      </p:sp>
      <p:sp>
        <p:nvSpPr>
          <p:cNvPr id="35" name="Text 32"/>
          <p:cNvSpPr/>
          <p:nvPr/>
        </p:nvSpPr>
        <p:spPr>
          <a:xfrm>
            <a:off x="3401568" y="5212080"/>
            <a:ext cx="8223199" cy="347472"/>
          </a:xfrm>
          <a:prstGeom prst="rect">
            <a:avLst/>
          </a:prstGeom>
          <a:noFill/>
          <a:ln/>
        </p:spPr>
        <p:txBody>
          <a:bodyPr wrap="square" lIns="0" tIns="0" rIns="0" bIns="0" rtlCol="0" anchor="ctr"/>
          <a:lstStyle/>
          <a:p>
            <a:pPr indent="0" marL="0">
              <a:buNone/>
            </a:pPr>
            <a:r>
              <a:rPr lang="en-US" sz="1150" dirty="0">
                <a:solidFill>
                  <a:srgbClr val="3A4557"/>
                </a:solidFill>
                <a:latin typeface="Calibri" pitchFamily="34" charset="0"/>
                <a:ea typeface="Calibri" pitchFamily="34" charset="-122"/>
                <a:cs typeface="Calibri" pitchFamily="34" charset="-120"/>
              </a:rPr>
              <a:t>the policy hierarchy, the archetype catalog, the Terraform modules and the CI gate</a:t>
            </a:r>
            <a:endParaRPr lang="en-US" sz="1150" dirty="0"/>
          </a:p>
        </p:txBody>
      </p:sp>
      <p:sp>
        <p:nvSpPr>
          <p:cNvPr id="36" name="Text 33"/>
          <p:cNvSpPr/>
          <p:nvPr/>
        </p:nvSpPr>
        <p:spPr>
          <a:xfrm>
            <a:off x="566928" y="5559552"/>
            <a:ext cx="2651760" cy="347472"/>
          </a:xfrm>
          <a:prstGeom prst="rect">
            <a:avLst/>
          </a:prstGeom>
          <a:noFill/>
          <a:ln/>
        </p:spPr>
        <p:txBody>
          <a:bodyPr wrap="square" lIns="0" tIns="0" rIns="0" bIns="0" rtlCol="0" anchor="ctr"/>
          <a:lstStyle/>
          <a:p>
            <a:pPr indent="0" marL="0">
              <a:buNone/>
            </a:pPr>
            <a:r>
              <a:rPr lang="en-US" sz="1150" b="1" dirty="0">
                <a:solidFill>
                  <a:srgbClr val="161C28"/>
                </a:solidFill>
                <a:latin typeface="Calibri" pitchFamily="34" charset="0"/>
                <a:ea typeface="Calibri" pitchFamily="34" charset="-122"/>
                <a:cs typeface="Calibri" pitchFamily="34" charset="-120"/>
              </a:rPr>
              <a:t>Service teams own</a:t>
            </a:r>
            <a:endParaRPr lang="en-US" sz="1150" dirty="0"/>
          </a:p>
        </p:txBody>
      </p:sp>
      <p:sp>
        <p:nvSpPr>
          <p:cNvPr id="37" name="Text 34"/>
          <p:cNvSpPr/>
          <p:nvPr/>
        </p:nvSpPr>
        <p:spPr>
          <a:xfrm>
            <a:off x="3401568" y="5559552"/>
            <a:ext cx="8223199" cy="347472"/>
          </a:xfrm>
          <a:prstGeom prst="rect">
            <a:avLst/>
          </a:prstGeom>
          <a:noFill/>
          <a:ln/>
        </p:spPr>
        <p:txBody>
          <a:bodyPr wrap="square" lIns="0" tIns="0" rIns="0" bIns="0" rtlCol="0" anchor="ctr"/>
          <a:lstStyle/>
          <a:p>
            <a:pPr indent="0" marL="0">
              <a:buNone/>
            </a:pPr>
            <a:r>
              <a:rPr lang="en-US" sz="1150" dirty="0">
                <a:solidFill>
                  <a:srgbClr val="3A4557"/>
                </a:solidFill>
                <a:latin typeface="Calibri" pitchFamily="34" charset="0"/>
                <a:ea typeface="Calibri" pitchFamily="34" charset="-122"/>
                <a:cs typeface="Calibri" pitchFamily="34" charset="-120"/>
              </a:rPr>
              <a:t>their registration, their tier decision, their runbook content and their on-call roster</a:t>
            </a:r>
            <a:endParaRPr lang="en-US" sz="1150" dirty="0"/>
          </a:p>
        </p:txBody>
      </p:sp>
      <p:sp>
        <p:nvSpPr>
          <p:cNvPr id="38" name="Shape 35"/>
          <p:cNvSpPr/>
          <p:nvPr/>
        </p:nvSpPr>
        <p:spPr>
          <a:xfrm>
            <a:off x="475488" y="5907024"/>
            <a:ext cx="11240719" cy="347472"/>
          </a:xfrm>
          <a:prstGeom prst="rect">
            <a:avLst/>
          </a:prstGeom>
          <a:solidFill>
            <a:srgbClr val="F5F7FA"/>
          </a:solidFill>
          <a:ln w="12700">
            <a:solidFill>
              <a:srgbClr val="F5F7FA"/>
            </a:solidFill>
            <a:prstDash val="solid"/>
          </a:ln>
        </p:spPr>
      </p:sp>
      <p:sp>
        <p:nvSpPr>
          <p:cNvPr id="39" name="Text 36"/>
          <p:cNvSpPr/>
          <p:nvPr/>
        </p:nvSpPr>
        <p:spPr>
          <a:xfrm>
            <a:off x="566928" y="5907024"/>
            <a:ext cx="2651760" cy="347472"/>
          </a:xfrm>
          <a:prstGeom prst="rect">
            <a:avLst/>
          </a:prstGeom>
          <a:noFill/>
          <a:ln/>
        </p:spPr>
        <p:txBody>
          <a:bodyPr wrap="square" lIns="0" tIns="0" rIns="0" bIns="0" rtlCol="0" anchor="ctr"/>
          <a:lstStyle/>
          <a:p>
            <a:pPr indent="0" marL="0">
              <a:buNone/>
            </a:pPr>
            <a:r>
              <a:rPr lang="en-US" sz="1150" b="1" dirty="0">
                <a:solidFill>
                  <a:srgbClr val="161C28"/>
                </a:solidFill>
                <a:latin typeface="Calibri" pitchFamily="34" charset="0"/>
                <a:ea typeface="Calibri" pitchFamily="34" charset="-122"/>
                <a:cs typeface="Calibri" pitchFamily="34" charset="-120"/>
              </a:rPr>
              <a:t>Nothing is deployed</a:t>
            </a:r>
            <a:endParaRPr lang="en-US" sz="1150" dirty="0"/>
          </a:p>
        </p:txBody>
      </p:sp>
      <p:sp>
        <p:nvSpPr>
          <p:cNvPr id="40" name="Text 37"/>
          <p:cNvSpPr/>
          <p:nvPr/>
        </p:nvSpPr>
        <p:spPr>
          <a:xfrm>
            <a:off x="3401568" y="5907024"/>
            <a:ext cx="8223199" cy="347472"/>
          </a:xfrm>
          <a:prstGeom prst="rect">
            <a:avLst/>
          </a:prstGeom>
          <a:noFill/>
          <a:ln/>
        </p:spPr>
        <p:txBody>
          <a:bodyPr wrap="square" lIns="0" tIns="0" rIns="0" bIns="0" rtlCol="0" anchor="ctr"/>
          <a:lstStyle/>
          <a:p>
            <a:pPr indent="0" marL="0">
              <a:buNone/>
            </a:pPr>
            <a:r>
              <a:rPr lang="en-US" sz="1150" dirty="0">
                <a:solidFill>
                  <a:srgbClr val="3A4557"/>
                </a:solidFill>
                <a:latin typeface="Calibri" pitchFamily="34" charset="0"/>
                <a:ea typeface="Calibri" pitchFamily="34" charset="-122"/>
                <a:cs typeface="Calibri" pitchFamily="34" charset="-120"/>
              </a:rPr>
              <a:t>outside Terraform and the runbook publisher — click-ops objects are detected within a day (check C9)</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8778240" cy="256032"/>
          </a:xfrm>
          <a:prstGeom prst="rect">
            <a:avLst/>
          </a:prstGeom>
          <a:noFill/>
          <a:ln/>
        </p:spPr>
        <p:txBody>
          <a:bodyPr wrap="square" lIns="0" tIns="0" rIns="0" bIns="0" rtlCol="0" anchor="ctr"/>
          <a:lstStyle/>
          <a:p>
            <a:pPr indent="0" marL="0">
              <a:buNone/>
            </a:pPr>
            <a:r>
              <a:rPr lang="en-US" sz="1050" b="1" spc="160" kern="0" dirty="0">
                <a:solidFill>
                  <a:srgbClr val="B87914"/>
                </a:solidFill>
                <a:latin typeface="Calibri" pitchFamily="34" charset="0"/>
                <a:ea typeface="Calibri" pitchFamily="34" charset="-122"/>
                <a:cs typeface="Calibri" pitchFamily="34" charset="-120"/>
              </a:rPr>
              <a:t>TOPIC 4</a:t>
            </a:r>
            <a:endParaRPr lang="en-US" sz="1050" dirty="0"/>
          </a:p>
        </p:txBody>
      </p:sp>
      <p:sp>
        <p:nvSpPr>
          <p:cNvPr id="3" name="Text 1"/>
          <p:cNvSpPr/>
          <p:nvPr/>
        </p:nvSpPr>
        <p:spPr>
          <a:xfrm>
            <a:off x="566928" y="694944"/>
            <a:ext cx="10424160" cy="786384"/>
          </a:xfrm>
          <a:prstGeom prst="rect">
            <a:avLst/>
          </a:prstGeom>
          <a:noFill/>
          <a:ln/>
        </p:spPr>
        <p:txBody>
          <a:bodyPr wrap="square" lIns="0" tIns="0" rIns="0" bIns="0" rtlCol="0" anchor="ctr"/>
          <a:lstStyle/>
          <a:p>
            <a:pPr indent="0" marL="0">
              <a:buNone/>
            </a:pPr>
            <a:r>
              <a:rPr lang="en-US" sz="3100" b="1" dirty="0">
                <a:solidFill>
                  <a:srgbClr val="161C28"/>
                </a:solidFill>
                <a:latin typeface="Cambria" pitchFamily="34" charset="0"/>
                <a:ea typeface="Cambria" pitchFamily="34" charset="-122"/>
                <a:cs typeface="Cambria" pitchFamily="34" charset="-120"/>
              </a:rPr>
              <a:t>What teams actually have to do</a:t>
            </a:r>
            <a:endParaRPr lang="en-US" sz="3100" dirty="0"/>
          </a:p>
        </p:txBody>
      </p:sp>
      <p:sp>
        <p:nvSpPr>
          <p:cNvPr id="4" name="Text 2"/>
          <p:cNvSpPr/>
          <p:nvPr/>
        </p:nvSpPr>
        <p:spPr>
          <a:xfrm>
            <a:off x="566928" y="1481328"/>
            <a:ext cx="10698480" cy="457200"/>
          </a:xfrm>
          <a:prstGeom prst="rect">
            <a:avLst/>
          </a:prstGeom>
          <a:noFill/>
          <a:ln/>
        </p:spPr>
        <p:txBody>
          <a:bodyPr wrap="square" lIns="0" tIns="0" rIns="0" bIns="0" rtlCol="0" anchor="t"/>
          <a:lstStyle/>
          <a:p>
            <a:pPr indent="0" marL="0">
              <a:buNone/>
            </a:pPr>
            <a:r>
              <a:rPr lang="en-US" sz="1450" dirty="0">
                <a:solidFill>
                  <a:srgbClr val="3A4557"/>
                </a:solidFill>
                <a:latin typeface="Calibri" pitchFamily="34" charset="0"/>
                <a:ea typeface="Calibri" pitchFamily="34" charset="-122"/>
                <a:cs typeface="Calibri" pitchFamily="34" charset="-120"/>
              </a:rPr>
              <a:t>For most teams: apply the tags and register the service. That is the whole obligation. No Terraform, no notification handles, no monitor configuration.</a:t>
            </a:r>
            <a:endParaRPr lang="en-US" sz="1450" dirty="0"/>
          </a:p>
        </p:txBody>
      </p:sp>
      <p:sp>
        <p:nvSpPr>
          <p:cNvPr id="5" name="Shape 3"/>
          <p:cNvSpPr/>
          <p:nvPr/>
        </p:nvSpPr>
        <p:spPr>
          <a:xfrm>
            <a:off x="9512503" y="420624"/>
            <a:ext cx="2112264" cy="310896"/>
          </a:xfrm>
          <a:prstGeom prst="roundRect">
            <a:avLst>
              <a:gd name="adj" fmla="val 50000"/>
            </a:avLst>
          </a:prstGeom>
          <a:solidFill>
            <a:srgbClr val="E09A2E"/>
          </a:solidFill>
          <a:ln w="12700">
            <a:solidFill>
              <a:srgbClr val="E09A2E"/>
            </a:solidFill>
            <a:prstDash val="solid"/>
          </a:ln>
        </p:spPr>
      </p:sp>
      <p:sp>
        <p:nvSpPr>
          <p:cNvPr id="6" name="Text 4"/>
          <p:cNvSpPr/>
          <p:nvPr/>
        </p:nvSpPr>
        <p:spPr>
          <a:xfrm>
            <a:off x="9512503" y="420624"/>
            <a:ext cx="2112264" cy="310896"/>
          </a:xfrm>
          <a:prstGeom prst="rect">
            <a:avLst/>
          </a:prstGeom>
          <a:noFill/>
          <a:ln/>
        </p:spPr>
        <p:txBody>
          <a:bodyPr wrap="square" lIns="0" tIns="0" rIns="0" bIns="0" rtlCol="0" anchor="ctr"/>
          <a:lstStyle/>
          <a:p>
            <a:pPr algn="ctr" indent="0" marL="0">
              <a:buNone/>
            </a:pPr>
            <a:r>
              <a:rPr lang="en-US" sz="950" b="1" spc="100" kern="0" dirty="0">
                <a:solidFill>
                  <a:srgbClr val="2A1D06"/>
                </a:solidFill>
                <a:latin typeface="Calibri" pitchFamily="34" charset="0"/>
                <a:ea typeface="Calibri" pitchFamily="34" charset="-122"/>
                <a:cs typeface="Calibri" pitchFamily="34" charset="-120"/>
              </a:rPr>
              <a:t>PARTIAL — THE TAGS</a:t>
            </a:r>
            <a:endParaRPr lang="en-US" sz="950" dirty="0"/>
          </a:p>
        </p:txBody>
      </p:sp>
      <p:sp>
        <p:nvSpPr>
          <p:cNvPr id="7" name="Text 5"/>
          <p:cNvSpPr/>
          <p:nvPr/>
        </p:nvSpPr>
        <p:spPr>
          <a:xfrm>
            <a:off x="566928" y="6345936"/>
            <a:ext cx="7315200" cy="274320"/>
          </a:xfrm>
          <a:prstGeom prst="rect">
            <a:avLst/>
          </a:prstGeom>
          <a:noFill/>
          <a:ln/>
        </p:spPr>
        <p:txBody>
          <a:bodyPr wrap="square" lIns="0" tIns="0" rIns="0" bIns="0" rtlCol="0" anchor="ctr"/>
          <a:lstStyle/>
          <a:p>
            <a:pPr indent="0" marL="0">
              <a:buNone/>
            </a:pPr>
            <a:r>
              <a:rPr lang="en-US" sz="900" dirty="0">
                <a:solidFill>
                  <a:srgbClr val="6B7891"/>
                </a:solidFill>
                <a:latin typeface="Calibri" pitchFamily="34" charset="0"/>
                <a:ea typeface="Calibri" pitchFamily="34" charset="-122"/>
                <a:cs typeface="Calibri" pitchFamily="34" charset="-120"/>
              </a:rPr>
              <a:t>Enterprise Observability  ·  policy-as-data on Datadog</a:t>
            </a:r>
            <a:endParaRPr lang="en-US" sz="900" dirty="0"/>
          </a:p>
        </p:txBody>
      </p:sp>
      <p:sp>
        <p:nvSpPr>
          <p:cNvPr id="8" name="Text 6"/>
          <p:cNvSpPr/>
          <p:nvPr/>
        </p:nvSpPr>
        <p:spPr>
          <a:xfrm>
            <a:off x="10710367" y="6345936"/>
            <a:ext cx="914400" cy="274320"/>
          </a:xfrm>
          <a:prstGeom prst="rect">
            <a:avLst/>
          </a:prstGeom>
          <a:noFill/>
          <a:ln/>
        </p:spPr>
        <p:txBody>
          <a:bodyPr wrap="square" lIns="0" tIns="0" rIns="0" bIns="0" rtlCol="0" anchor="ctr"/>
          <a:lstStyle/>
          <a:p>
            <a:pPr algn="r" indent="0" marL="0">
              <a:buNone/>
            </a:pPr>
            <a:r>
              <a:rPr lang="en-US" sz="900" dirty="0">
                <a:solidFill>
                  <a:srgbClr val="6B7891"/>
                </a:solidFill>
                <a:latin typeface="Calibri" pitchFamily="34" charset="0"/>
                <a:ea typeface="Calibri" pitchFamily="34" charset="-122"/>
                <a:cs typeface="Calibri" pitchFamily="34" charset="-120"/>
              </a:rPr>
              <a:t>8</a:t>
            </a:r>
            <a:endParaRPr lang="en-US" sz="900" dirty="0"/>
          </a:p>
        </p:txBody>
      </p:sp>
      <p:sp>
        <p:nvSpPr>
          <p:cNvPr id="10" name="Shape 7"/>
          <p:cNvSpPr/>
          <p:nvPr/>
        </p:nvSpPr>
        <p:spPr>
          <a:xfrm>
            <a:off x="566928" y="2084832"/>
            <a:ext cx="5394960" cy="2148840"/>
          </a:xfrm>
          <a:prstGeom prst="roundRect">
            <a:avLst>
              <a:gd name="adj" fmla="val 2979"/>
            </a:avLst>
          </a:prstGeom>
          <a:solidFill>
            <a:srgbClr val="12161F"/>
          </a:solidFill>
          <a:ln w="12700">
            <a:solidFill>
              <a:srgbClr val="12161F"/>
            </a:solidFill>
            <a:prstDash val="solid"/>
          </a:ln>
        </p:spPr>
      </p:sp>
      <p:sp>
        <p:nvSpPr>
          <p:cNvPr id="11" name="Text 8"/>
          <p:cNvSpPr/>
          <p:nvPr/>
        </p:nvSpPr>
        <p:spPr>
          <a:xfrm>
            <a:off x="841248" y="2267712"/>
            <a:ext cx="4846320" cy="274320"/>
          </a:xfrm>
          <a:prstGeom prst="rect">
            <a:avLst/>
          </a:prstGeom>
          <a:noFill/>
          <a:ln/>
        </p:spPr>
        <p:txBody>
          <a:bodyPr wrap="square" lIns="0" tIns="0" rIns="0" bIns="0" rtlCol="0" anchor="ctr"/>
          <a:lstStyle/>
          <a:p>
            <a:pPr indent="0" marL="0">
              <a:buNone/>
            </a:pPr>
            <a:r>
              <a:rPr lang="en-US" sz="1000" b="1" spc="160" kern="0" dirty="0">
                <a:solidFill>
                  <a:srgbClr val="E09A2E"/>
                </a:solidFill>
                <a:latin typeface="Calibri" pitchFamily="34" charset="0"/>
                <a:ea typeface="Calibri" pitchFamily="34" charset="-122"/>
                <a:cs typeface="Calibri" pitchFamily="34" charset="-120"/>
              </a:rPr>
              <a:t>1 · TAG THE TELEMETRY</a:t>
            </a:r>
            <a:endParaRPr lang="en-US" sz="1000" dirty="0"/>
          </a:p>
        </p:txBody>
      </p:sp>
      <p:sp>
        <p:nvSpPr>
          <p:cNvPr id="12" name="Text 9"/>
          <p:cNvSpPr/>
          <p:nvPr/>
        </p:nvSpPr>
        <p:spPr>
          <a:xfrm>
            <a:off x="841248" y="2578608"/>
            <a:ext cx="4846320" cy="384048"/>
          </a:xfrm>
          <a:prstGeom prst="rect">
            <a:avLst/>
          </a:prstGeom>
          <a:noFill/>
          <a:ln/>
        </p:spPr>
        <p:txBody>
          <a:bodyPr wrap="square" lIns="0" tIns="0" rIns="0" bIns="0" rtlCol="0" anchor="ctr"/>
          <a:lstStyle/>
          <a:p>
            <a:pPr indent="0" marL="0">
              <a:buNone/>
            </a:pPr>
            <a:r>
              <a:rPr lang="en-US" sz="1500" b="1" dirty="0">
                <a:solidFill>
                  <a:srgbClr val="FFFFFF"/>
                </a:solidFill>
                <a:latin typeface="Courier New" pitchFamily="34" charset="0"/>
                <a:ea typeface="Courier New" pitchFamily="34" charset="-122"/>
                <a:cs typeface="Courier New" pitchFamily="34" charset="-120"/>
              </a:rPr>
              <a:t>env   service   team   tier   service_archetype</a:t>
            </a:r>
            <a:endParaRPr lang="en-US" sz="1500" dirty="0"/>
          </a:p>
        </p:txBody>
      </p:sp>
      <p:sp>
        <p:nvSpPr>
          <p:cNvPr id="13" name="Text 10"/>
          <p:cNvSpPr/>
          <p:nvPr/>
        </p:nvSpPr>
        <p:spPr>
          <a:xfrm>
            <a:off x="841248" y="2980944"/>
            <a:ext cx="4846320" cy="329184"/>
          </a:xfrm>
          <a:prstGeom prst="rect">
            <a:avLst/>
          </a:prstGeom>
          <a:noFill/>
          <a:ln/>
        </p:spPr>
        <p:txBody>
          <a:bodyPr wrap="square" lIns="0" tIns="0" rIns="0" bIns="0" rtlCol="0" anchor="ctr"/>
          <a:lstStyle/>
          <a:p>
            <a:pPr indent="0" marL="0">
              <a:buNone/>
            </a:pPr>
            <a:r>
              <a:rPr lang="en-US" sz="1500" b="1" dirty="0">
                <a:solidFill>
                  <a:srgbClr val="BE4A3F"/>
                </a:solidFill>
                <a:latin typeface="Courier New" pitchFamily="34" charset="0"/>
                <a:ea typeface="Courier New" pitchFamily="34" charset="-122"/>
                <a:cs typeface="Courier New" pitchFamily="34" charset="-120"/>
              </a:rPr>
              <a:t>alert_band</a:t>
            </a:r>
            <a:endParaRPr lang="en-US" sz="1500" dirty="0"/>
          </a:p>
        </p:txBody>
      </p:sp>
      <p:sp>
        <p:nvSpPr>
          <p:cNvPr id="14" name="Text 11"/>
          <p:cNvSpPr/>
          <p:nvPr/>
        </p:nvSpPr>
        <p:spPr>
          <a:xfrm>
            <a:off x="841248" y="3364992"/>
            <a:ext cx="4846320" cy="731520"/>
          </a:xfrm>
          <a:prstGeom prst="rect">
            <a:avLst/>
          </a:prstGeom>
          <a:noFill/>
          <a:ln/>
        </p:spPr>
        <p:txBody>
          <a:bodyPr wrap="square" lIns="0" tIns="0" rIns="0" bIns="0" rtlCol="0" anchor="t"/>
          <a:lstStyle/>
          <a:p>
            <a:pPr indent="0" marL="0">
              <a:buNone/>
            </a:pPr>
            <a:r>
              <a:rPr lang="en-US" sz="1150" dirty="0">
                <a:solidFill>
                  <a:srgbClr val="A9B6CB"/>
                </a:solidFill>
                <a:latin typeface="Calibri" pitchFamily="34" charset="0"/>
                <a:ea typeface="Calibri" pitchFamily="34" charset="-122"/>
                <a:cs typeface="Calibri" pitchFamily="34" charset="-120"/>
              </a:rPr>
              <a:t>Five you already own, plus the band the platform derives for you — which must land on the telemetry. That last one is the open gap from slide 3.</a:t>
            </a:r>
            <a:endParaRPr lang="en-US" sz="1150" dirty="0"/>
          </a:p>
        </p:txBody>
      </p:sp>
      <p:sp>
        <p:nvSpPr>
          <p:cNvPr id="15" name="Shape 12"/>
          <p:cNvSpPr/>
          <p:nvPr/>
        </p:nvSpPr>
        <p:spPr>
          <a:xfrm>
            <a:off x="6236208" y="2084832"/>
            <a:ext cx="5394960" cy="2148840"/>
          </a:xfrm>
          <a:prstGeom prst="roundRect">
            <a:avLst>
              <a:gd name="adj" fmla="val 2979"/>
            </a:avLst>
          </a:prstGeom>
          <a:solidFill>
            <a:srgbClr val="EFF2F6"/>
          </a:solidFill>
          <a:ln w="12700">
            <a:solidFill>
              <a:srgbClr val="EFF2F6"/>
            </a:solidFill>
            <a:prstDash val="solid"/>
          </a:ln>
        </p:spPr>
      </p:sp>
      <p:sp>
        <p:nvSpPr>
          <p:cNvPr id="16" name="Text 13"/>
          <p:cNvSpPr/>
          <p:nvPr/>
        </p:nvSpPr>
        <p:spPr>
          <a:xfrm>
            <a:off x="6510528" y="2267712"/>
            <a:ext cx="4846320" cy="274320"/>
          </a:xfrm>
          <a:prstGeom prst="rect">
            <a:avLst/>
          </a:prstGeom>
          <a:noFill/>
          <a:ln/>
        </p:spPr>
        <p:txBody>
          <a:bodyPr wrap="square" lIns="0" tIns="0" rIns="0" bIns="0" rtlCol="0" anchor="ctr"/>
          <a:lstStyle/>
          <a:p>
            <a:pPr indent="0" marL="0">
              <a:buNone/>
            </a:pPr>
            <a:r>
              <a:rPr lang="en-US" sz="1000" b="1" spc="160" kern="0" dirty="0">
                <a:solidFill>
                  <a:srgbClr val="B87914"/>
                </a:solidFill>
                <a:latin typeface="Calibri" pitchFamily="34" charset="0"/>
                <a:ea typeface="Calibri" pitchFamily="34" charset="-122"/>
                <a:cs typeface="Calibri" pitchFamily="34" charset="-120"/>
              </a:rPr>
              <a:t>2 · REGISTER THE SERVICE</a:t>
            </a:r>
            <a:endParaRPr lang="en-US" sz="1000" dirty="0"/>
          </a:p>
        </p:txBody>
      </p:sp>
      <p:sp>
        <p:nvSpPr>
          <p:cNvPr id="17" name="Text 14"/>
          <p:cNvSpPr/>
          <p:nvPr/>
        </p:nvSpPr>
        <p:spPr>
          <a:xfrm>
            <a:off x="6510528" y="2560320"/>
            <a:ext cx="4846320" cy="1463040"/>
          </a:xfrm>
          <a:prstGeom prst="rect">
            <a:avLst/>
          </a:prstGeom>
          <a:noFill/>
          <a:ln/>
        </p:spPr>
        <p:txBody>
          <a:bodyPr wrap="square" lIns="0" tIns="0" rIns="0" bIns="0" rtlCol="0" anchor="t"/>
          <a:lstStyle/>
          <a:p>
            <a:pPr indent="0" marL="0">
              <a:lnSpc>
                <a:spcPct val="106000"/>
              </a:lnSpc>
              <a:buNone/>
            </a:pPr>
            <a:r>
              <a:rPr lang="en-US" sz="1150" dirty="0">
                <a:solidFill>
                  <a:srgbClr val="161C28"/>
                </a:solidFill>
                <a:latin typeface="Courier New" pitchFamily="34" charset="0"/>
                <a:ea typeface="Courier New" pitchFamily="34" charset="-122"/>
                <a:cs typeface="Courier New" pitchFamily="34" charset="-120"/>
              </a:rPr>
              <a:t>service:</a:t>
            </a:r>
            <a:endParaRPr lang="en-US" sz="1150" dirty="0"/>
          </a:p>
          <a:p>
            <a:pPr indent="0" marL="0">
              <a:lnSpc>
                <a:spcPct val="106000"/>
              </a:lnSpc>
              <a:buNone/>
            </a:pPr>
            <a:r>
              <a:rPr lang="en-US" sz="1150" dirty="0">
                <a:solidFill>
                  <a:srgbClr val="161C28"/>
                </a:solidFill>
                <a:latin typeface="Courier New" pitchFamily="34" charset="0"/>
                <a:ea typeface="Courier New" pitchFamily="34" charset="-122"/>
                <a:cs typeface="Courier New" pitchFamily="34" charset="-120"/>
              </a:rPr>
              <a:t>  name: checkout-api</a:t>
            </a:r>
            <a:endParaRPr lang="en-US" sz="1150" dirty="0"/>
          </a:p>
          <a:p>
            <a:pPr indent="0" marL="0">
              <a:lnSpc>
                <a:spcPct val="106000"/>
              </a:lnSpc>
              <a:buNone/>
            </a:pPr>
            <a:r>
              <a:rPr lang="en-US" sz="1150" dirty="0">
                <a:solidFill>
                  <a:srgbClr val="161C28"/>
                </a:solidFill>
                <a:latin typeface="Courier New" pitchFamily="34" charset="0"/>
                <a:ea typeface="Courier New" pitchFamily="34" charset="-122"/>
                <a:cs typeface="Courier New" pitchFamily="34" charset="-120"/>
              </a:rPr>
              <a:t>  team: application-development</a:t>
            </a:r>
            <a:endParaRPr lang="en-US" sz="1150" dirty="0"/>
          </a:p>
          <a:p>
            <a:pPr indent="0" marL="0">
              <a:lnSpc>
                <a:spcPct val="106000"/>
              </a:lnSpc>
              <a:buNone/>
            </a:pPr>
            <a:r>
              <a:rPr lang="en-US" sz="1150" dirty="0">
                <a:solidFill>
                  <a:srgbClr val="161C28"/>
                </a:solidFill>
                <a:latin typeface="Courier New" pitchFamily="34" charset="0"/>
                <a:ea typeface="Courier New" pitchFamily="34" charset="-122"/>
                <a:cs typeface="Courier New" pitchFamily="34" charset="-120"/>
              </a:rPr>
              <a:t>  tier: tier0</a:t>
            </a:r>
            <a:endParaRPr lang="en-US" sz="1150" dirty="0"/>
          </a:p>
          <a:p>
            <a:pPr indent="0" marL="0">
              <a:lnSpc>
                <a:spcPct val="106000"/>
              </a:lnSpc>
              <a:buNone/>
            </a:pPr>
            <a:r>
              <a:rPr lang="en-US" sz="1150" dirty="0">
                <a:solidFill>
                  <a:srgbClr val="161C28"/>
                </a:solidFill>
                <a:latin typeface="Courier New" pitchFamily="34" charset="0"/>
                <a:ea typeface="Courier New" pitchFamily="34" charset="-122"/>
                <a:cs typeface="Courier New" pitchFamily="34" charset="-120"/>
              </a:rPr>
              <a:t>  service_archetype: api</a:t>
            </a:r>
            <a:endParaRPr lang="en-US" sz="1150" dirty="0"/>
          </a:p>
          <a:p>
            <a:pPr indent="0" marL="0">
              <a:lnSpc>
                <a:spcPct val="106000"/>
              </a:lnSpc>
              <a:buNone/>
            </a:pPr>
            <a:r>
              <a:rPr lang="en-US" sz="1150" dirty="0">
                <a:solidFill>
                  <a:srgbClr val="161C28"/>
                </a:solidFill>
                <a:latin typeface="Courier New" pitchFamily="34" charset="0"/>
                <a:ea typeface="Courier New" pitchFamily="34" charset="-122"/>
                <a:cs typeface="Courier New" pitchFamily="34" charset="-120"/>
              </a:rPr>
              <a:t>  envs: [dev, qa, stage, prod]</a:t>
            </a:r>
            <a:endParaRPr lang="en-US" sz="1150" dirty="0"/>
          </a:p>
        </p:txBody>
      </p:sp>
      <p:sp>
        <p:nvSpPr>
          <p:cNvPr id="18" name="Text 15"/>
          <p:cNvSpPr/>
          <p:nvPr/>
        </p:nvSpPr>
        <p:spPr>
          <a:xfrm>
            <a:off x="566928" y="4407408"/>
            <a:ext cx="10607040" cy="292608"/>
          </a:xfrm>
          <a:prstGeom prst="rect">
            <a:avLst/>
          </a:prstGeom>
          <a:noFill/>
          <a:ln/>
        </p:spPr>
        <p:txBody>
          <a:bodyPr wrap="square" lIns="0" tIns="0" rIns="0" bIns="0" rtlCol="0" anchor="ctr"/>
          <a:lstStyle/>
          <a:p>
            <a:pPr indent="0" marL="0">
              <a:buNone/>
            </a:pPr>
            <a:r>
              <a:rPr lang="en-US" sz="1300" b="1" dirty="0">
                <a:solidFill>
                  <a:srgbClr val="161C28"/>
                </a:solidFill>
                <a:latin typeface="Calibri" pitchFamily="34" charset="0"/>
                <a:ea typeface="Calibri" pitchFamily="34" charset="-122"/>
                <a:cs typeface="Calibri" pitchFamily="34" charset="-120"/>
              </a:rPr>
              <a:t>Everything below is then automatic — no monitor configuration is required</a:t>
            </a:r>
            <a:endParaRPr lang="en-US" sz="1300" dirty="0"/>
          </a:p>
        </p:txBody>
      </p:sp>
      <p:sp>
        <p:nvSpPr>
          <p:cNvPr id="19" name="Shape 16"/>
          <p:cNvSpPr/>
          <p:nvPr/>
        </p:nvSpPr>
        <p:spPr>
          <a:xfrm>
            <a:off x="566928" y="4773168"/>
            <a:ext cx="2606040" cy="384048"/>
          </a:xfrm>
          <a:prstGeom prst="roundRect">
            <a:avLst>
              <a:gd name="adj" fmla="val 11905"/>
            </a:avLst>
          </a:prstGeom>
          <a:solidFill>
            <a:srgbClr val="EAF3F1"/>
          </a:solidFill>
          <a:ln w="12700">
            <a:solidFill>
              <a:srgbClr val="EAF3F1"/>
            </a:solidFill>
            <a:prstDash val="solid"/>
          </a:ln>
        </p:spPr>
      </p:sp>
      <p:sp>
        <p:nvSpPr>
          <p:cNvPr id="20" name="Text 17"/>
          <p:cNvSpPr/>
          <p:nvPr/>
        </p:nvSpPr>
        <p:spPr>
          <a:xfrm>
            <a:off x="713232" y="4773168"/>
            <a:ext cx="2377440" cy="384048"/>
          </a:xfrm>
          <a:prstGeom prst="rect">
            <a:avLst/>
          </a:prstGeom>
          <a:noFill/>
          <a:ln/>
        </p:spPr>
        <p:txBody>
          <a:bodyPr wrap="square" lIns="0" tIns="0" rIns="0" bIns="0" rtlCol="0" anchor="ctr"/>
          <a:lstStyle/>
          <a:p>
            <a:pPr indent="0" marL="0">
              <a:buNone/>
            </a:pPr>
            <a:r>
              <a:rPr lang="en-US" sz="1150" dirty="0">
                <a:solidFill>
                  <a:srgbClr val="1D5C59"/>
                </a:solidFill>
                <a:latin typeface="Calibri" pitchFamily="34" charset="0"/>
                <a:ea typeface="Calibri" pitchFamily="34" charset="-122"/>
                <a:cs typeface="Calibri" pitchFamily="34" charset="-120"/>
              </a:rPr>
              <a:t>Baseline monitors</a:t>
            </a:r>
            <a:endParaRPr lang="en-US" sz="1150" dirty="0"/>
          </a:p>
        </p:txBody>
      </p:sp>
      <p:sp>
        <p:nvSpPr>
          <p:cNvPr id="21" name="Shape 18"/>
          <p:cNvSpPr/>
          <p:nvPr/>
        </p:nvSpPr>
        <p:spPr>
          <a:xfrm>
            <a:off x="3355848" y="4773168"/>
            <a:ext cx="2606040" cy="384048"/>
          </a:xfrm>
          <a:prstGeom prst="roundRect">
            <a:avLst>
              <a:gd name="adj" fmla="val 11905"/>
            </a:avLst>
          </a:prstGeom>
          <a:solidFill>
            <a:srgbClr val="EAF3F1"/>
          </a:solidFill>
          <a:ln w="12700">
            <a:solidFill>
              <a:srgbClr val="EAF3F1"/>
            </a:solidFill>
            <a:prstDash val="solid"/>
          </a:ln>
        </p:spPr>
      </p:sp>
      <p:sp>
        <p:nvSpPr>
          <p:cNvPr id="22" name="Text 19"/>
          <p:cNvSpPr/>
          <p:nvPr/>
        </p:nvSpPr>
        <p:spPr>
          <a:xfrm>
            <a:off x="3502152" y="4773168"/>
            <a:ext cx="2377440" cy="384048"/>
          </a:xfrm>
          <a:prstGeom prst="rect">
            <a:avLst/>
          </a:prstGeom>
          <a:noFill/>
          <a:ln/>
        </p:spPr>
        <p:txBody>
          <a:bodyPr wrap="square" lIns="0" tIns="0" rIns="0" bIns="0" rtlCol="0" anchor="ctr"/>
          <a:lstStyle/>
          <a:p>
            <a:pPr indent="0" marL="0">
              <a:buNone/>
            </a:pPr>
            <a:r>
              <a:rPr lang="en-US" sz="1150" dirty="0">
                <a:solidFill>
                  <a:srgbClr val="1D5C59"/>
                </a:solidFill>
                <a:latin typeface="Calibri" pitchFamily="34" charset="0"/>
                <a:ea typeface="Calibri" pitchFamily="34" charset="-122"/>
                <a:cs typeface="Calibri" pitchFamily="34" charset="-120"/>
              </a:rPr>
              <a:t>SLO + burn-rate paging</a:t>
            </a:r>
            <a:endParaRPr lang="en-US" sz="1150" dirty="0"/>
          </a:p>
        </p:txBody>
      </p:sp>
      <p:sp>
        <p:nvSpPr>
          <p:cNvPr id="23" name="Shape 20"/>
          <p:cNvSpPr/>
          <p:nvPr/>
        </p:nvSpPr>
        <p:spPr>
          <a:xfrm>
            <a:off x="6144768" y="4773168"/>
            <a:ext cx="2606040" cy="384048"/>
          </a:xfrm>
          <a:prstGeom prst="roundRect">
            <a:avLst>
              <a:gd name="adj" fmla="val 11905"/>
            </a:avLst>
          </a:prstGeom>
          <a:solidFill>
            <a:srgbClr val="EAF3F1"/>
          </a:solidFill>
          <a:ln w="12700">
            <a:solidFill>
              <a:srgbClr val="EAF3F1"/>
            </a:solidFill>
            <a:prstDash val="solid"/>
          </a:ln>
        </p:spPr>
      </p:sp>
      <p:sp>
        <p:nvSpPr>
          <p:cNvPr id="24" name="Text 21"/>
          <p:cNvSpPr/>
          <p:nvPr/>
        </p:nvSpPr>
        <p:spPr>
          <a:xfrm>
            <a:off x="6291072" y="4773168"/>
            <a:ext cx="2377440" cy="384048"/>
          </a:xfrm>
          <a:prstGeom prst="rect">
            <a:avLst/>
          </a:prstGeom>
          <a:noFill/>
          <a:ln/>
        </p:spPr>
        <p:txBody>
          <a:bodyPr wrap="square" lIns="0" tIns="0" rIns="0" bIns="0" rtlCol="0" anchor="ctr"/>
          <a:lstStyle/>
          <a:p>
            <a:pPr indent="0" marL="0">
              <a:buNone/>
            </a:pPr>
            <a:r>
              <a:rPr lang="en-US" sz="1150" dirty="0">
                <a:solidFill>
                  <a:srgbClr val="1D5C59"/>
                </a:solidFill>
                <a:latin typeface="Calibri" pitchFamily="34" charset="0"/>
                <a:ea typeface="Calibri" pitchFamily="34" charset="-122"/>
                <a:cs typeface="Calibri" pitchFamily="34" charset="-120"/>
              </a:rPr>
              <a:t>Alert routing</a:t>
            </a:r>
            <a:endParaRPr lang="en-US" sz="1150" dirty="0"/>
          </a:p>
        </p:txBody>
      </p:sp>
      <p:sp>
        <p:nvSpPr>
          <p:cNvPr id="25" name="Shape 22"/>
          <p:cNvSpPr/>
          <p:nvPr/>
        </p:nvSpPr>
        <p:spPr>
          <a:xfrm>
            <a:off x="8933688" y="4773168"/>
            <a:ext cx="2606040" cy="384048"/>
          </a:xfrm>
          <a:prstGeom prst="roundRect">
            <a:avLst>
              <a:gd name="adj" fmla="val 11905"/>
            </a:avLst>
          </a:prstGeom>
          <a:solidFill>
            <a:srgbClr val="EAF3F1"/>
          </a:solidFill>
          <a:ln w="12700">
            <a:solidFill>
              <a:srgbClr val="EAF3F1"/>
            </a:solidFill>
            <a:prstDash val="solid"/>
          </a:ln>
        </p:spPr>
      </p:sp>
      <p:sp>
        <p:nvSpPr>
          <p:cNvPr id="26" name="Text 23"/>
          <p:cNvSpPr/>
          <p:nvPr/>
        </p:nvSpPr>
        <p:spPr>
          <a:xfrm>
            <a:off x="9079992" y="4773168"/>
            <a:ext cx="2377440" cy="384048"/>
          </a:xfrm>
          <a:prstGeom prst="rect">
            <a:avLst/>
          </a:prstGeom>
          <a:noFill/>
          <a:ln/>
        </p:spPr>
        <p:txBody>
          <a:bodyPr wrap="square" lIns="0" tIns="0" rIns="0" bIns="0" rtlCol="0" anchor="ctr"/>
          <a:lstStyle/>
          <a:p>
            <a:pPr indent="0" marL="0">
              <a:buNone/>
            </a:pPr>
            <a:r>
              <a:rPr lang="en-US" sz="1150" dirty="0">
                <a:solidFill>
                  <a:srgbClr val="1D5C59"/>
                </a:solidFill>
                <a:latin typeface="Calibri" pitchFamily="34" charset="0"/>
                <a:ea typeface="Calibri" pitchFamily="34" charset="-122"/>
                <a:cs typeface="Calibri" pitchFamily="34" charset="-120"/>
              </a:rPr>
              <a:t>Environment behaviour</a:t>
            </a:r>
            <a:endParaRPr lang="en-US" sz="1150" dirty="0"/>
          </a:p>
        </p:txBody>
      </p:sp>
      <p:sp>
        <p:nvSpPr>
          <p:cNvPr id="27" name="Shape 24"/>
          <p:cNvSpPr/>
          <p:nvPr/>
        </p:nvSpPr>
        <p:spPr>
          <a:xfrm>
            <a:off x="566928" y="5230368"/>
            <a:ext cx="2606040" cy="384048"/>
          </a:xfrm>
          <a:prstGeom prst="roundRect">
            <a:avLst>
              <a:gd name="adj" fmla="val 11905"/>
            </a:avLst>
          </a:prstGeom>
          <a:solidFill>
            <a:srgbClr val="EAF3F1"/>
          </a:solidFill>
          <a:ln w="12700">
            <a:solidFill>
              <a:srgbClr val="EAF3F1"/>
            </a:solidFill>
            <a:prstDash val="solid"/>
          </a:ln>
        </p:spPr>
      </p:sp>
      <p:sp>
        <p:nvSpPr>
          <p:cNvPr id="28" name="Text 25"/>
          <p:cNvSpPr/>
          <p:nvPr/>
        </p:nvSpPr>
        <p:spPr>
          <a:xfrm>
            <a:off x="713232" y="5230368"/>
            <a:ext cx="2377440" cy="384048"/>
          </a:xfrm>
          <a:prstGeom prst="rect">
            <a:avLst/>
          </a:prstGeom>
          <a:noFill/>
          <a:ln/>
        </p:spPr>
        <p:txBody>
          <a:bodyPr wrap="square" lIns="0" tIns="0" rIns="0" bIns="0" rtlCol="0" anchor="ctr"/>
          <a:lstStyle/>
          <a:p>
            <a:pPr indent="0" marL="0">
              <a:buNone/>
            </a:pPr>
            <a:r>
              <a:rPr lang="en-US" sz="1150" dirty="0">
                <a:solidFill>
                  <a:srgbClr val="1D5C59"/>
                </a:solidFill>
                <a:latin typeface="Calibri" pitchFamily="34" charset="0"/>
                <a:ea typeface="Calibri" pitchFamily="34" charset="-122"/>
                <a:cs typeface="Calibri" pitchFamily="34" charset="-120"/>
              </a:rPr>
              <a:t>Tier policy</a:t>
            </a:r>
            <a:endParaRPr lang="en-US" sz="1150" dirty="0"/>
          </a:p>
        </p:txBody>
      </p:sp>
      <p:sp>
        <p:nvSpPr>
          <p:cNvPr id="29" name="Shape 26"/>
          <p:cNvSpPr/>
          <p:nvPr/>
        </p:nvSpPr>
        <p:spPr>
          <a:xfrm>
            <a:off x="3355848" y="5230368"/>
            <a:ext cx="2606040" cy="384048"/>
          </a:xfrm>
          <a:prstGeom prst="roundRect">
            <a:avLst>
              <a:gd name="adj" fmla="val 11905"/>
            </a:avLst>
          </a:prstGeom>
          <a:solidFill>
            <a:srgbClr val="EAF3F1"/>
          </a:solidFill>
          <a:ln w="12700">
            <a:solidFill>
              <a:srgbClr val="EAF3F1"/>
            </a:solidFill>
            <a:prstDash val="solid"/>
          </a:ln>
        </p:spPr>
      </p:sp>
      <p:sp>
        <p:nvSpPr>
          <p:cNvPr id="30" name="Text 27"/>
          <p:cNvSpPr/>
          <p:nvPr/>
        </p:nvSpPr>
        <p:spPr>
          <a:xfrm>
            <a:off x="3502152" y="5230368"/>
            <a:ext cx="2377440" cy="384048"/>
          </a:xfrm>
          <a:prstGeom prst="rect">
            <a:avLst/>
          </a:prstGeom>
          <a:noFill/>
          <a:ln/>
        </p:spPr>
        <p:txBody>
          <a:bodyPr wrap="square" lIns="0" tIns="0" rIns="0" bIns="0" rtlCol="0" anchor="ctr"/>
          <a:lstStyle/>
          <a:p>
            <a:pPr indent="0" marL="0">
              <a:buNone/>
            </a:pPr>
            <a:r>
              <a:rPr lang="en-US" sz="1150" dirty="0">
                <a:solidFill>
                  <a:srgbClr val="1D5C59"/>
                </a:solidFill>
                <a:latin typeface="Calibri" pitchFamily="34" charset="0"/>
                <a:ea typeface="Calibri" pitchFamily="34" charset="-122"/>
                <a:cs typeface="Calibri" pitchFamily="34" charset="-120"/>
              </a:rPr>
              <a:t>Runbook links</a:t>
            </a:r>
            <a:endParaRPr lang="en-US" sz="1150" dirty="0"/>
          </a:p>
        </p:txBody>
      </p:sp>
      <p:sp>
        <p:nvSpPr>
          <p:cNvPr id="31" name="Shape 28"/>
          <p:cNvSpPr/>
          <p:nvPr/>
        </p:nvSpPr>
        <p:spPr>
          <a:xfrm>
            <a:off x="6144768" y="5230368"/>
            <a:ext cx="2606040" cy="384048"/>
          </a:xfrm>
          <a:prstGeom prst="roundRect">
            <a:avLst>
              <a:gd name="adj" fmla="val 11905"/>
            </a:avLst>
          </a:prstGeom>
          <a:solidFill>
            <a:srgbClr val="EAF3F1"/>
          </a:solidFill>
          <a:ln w="12700">
            <a:solidFill>
              <a:srgbClr val="EAF3F1"/>
            </a:solidFill>
            <a:prstDash val="solid"/>
          </a:ln>
        </p:spPr>
      </p:sp>
      <p:sp>
        <p:nvSpPr>
          <p:cNvPr id="32" name="Text 29"/>
          <p:cNvSpPr/>
          <p:nvPr/>
        </p:nvSpPr>
        <p:spPr>
          <a:xfrm>
            <a:off x="6291072" y="5230368"/>
            <a:ext cx="2377440" cy="384048"/>
          </a:xfrm>
          <a:prstGeom prst="rect">
            <a:avLst/>
          </a:prstGeom>
          <a:noFill/>
          <a:ln/>
        </p:spPr>
        <p:txBody>
          <a:bodyPr wrap="square" lIns="0" tIns="0" rIns="0" bIns="0" rtlCol="0" anchor="ctr"/>
          <a:lstStyle/>
          <a:p>
            <a:pPr indent="0" marL="0">
              <a:buNone/>
            </a:pPr>
            <a:r>
              <a:rPr lang="en-US" sz="1150" dirty="0">
                <a:solidFill>
                  <a:srgbClr val="1D5C59"/>
                </a:solidFill>
                <a:latin typeface="Calibri" pitchFamily="34" charset="0"/>
                <a:ea typeface="Calibri" pitchFamily="34" charset="-122"/>
                <a:cs typeface="Calibri" pitchFamily="34" charset="-120"/>
              </a:rPr>
              <a:t>On-call routing</a:t>
            </a:r>
            <a:endParaRPr lang="en-US" sz="1150" dirty="0"/>
          </a:p>
        </p:txBody>
      </p:sp>
      <p:sp>
        <p:nvSpPr>
          <p:cNvPr id="33" name="Shape 30"/>
          <p:cNvSpPr/>
          <p:nvPr/>
        </p:nvSpPr>
        <p:spPr>
          <a:xfrm>
            <a:off x="8933688" y="5230368"/>
            <a:ext cx="2606040" cy="384048"/>
          </a:xfrm>
          <a:prstGeom prst="roundRect">
            <a:avLst>
              <a:gd name="adj" fmla="val 11905"/>
            </a:avLst>
          </a:prstGeom>
          <a:solidFill>
            <a:srgbClr val="EAF3F1"/>
          </a:solidFill>
          <a:ln w="12700">
            <a:solidFill>
              <a:srgbClr val="EAF3F1"/>
            </a:solidFill>
            <a:prstDash val="solid"/>
          </a:ln>
        </p:spPr>
      </p:sp>
      <p:sp>
        <p:nvSpPr>
          <p:cNvPr id="34" name="Text 31"/>
          <p:cNvSpPr/>
          <p:nvPr/>
        </p:nvSpPr>
        <p:spPr>
          <a:xfrm>
            <a:off x="9079992" y="5230368"/>
            <a:ext cx="2377440" cy="384048"/>
          </a:xfrm>
          <a:prstGeom prst="rect">
            <a:avLst/>
          </a:prstGeom>
          <a:noFill/>
          <a:ln/>
        </p:spPr>
        <p:txBody>
          <a:bodyPr wrap="square" lIns="0" tIns="0" rIns="0" bIns="0" rtlCol="0" anchor="ctr"/>
          <a:lstStyle/>
          <a:p>
            <a:pPr indent="0" marL="0">
              <a:buNone/>
            </a:pPr>
            <a:r>
              <a:rPr lang="en-US" sz="1150" dirty="0">
                <a:solidFill>
                  <a:srgbClr val="1D5C59"/>
                </a:solidFill>
                <a:latin typeface="Calibri" pitchFamily="34" charset="0"/>
                <a:ea typeface="Calibri" pitchFamily="34" charset="-122"/>
                <a:cs typeface="Calibri" pitchFamily="34" charset="-120"/>
              </a:rPr>
              <a:t>Catalog ownership</a:t>
            </a:r>
            <a:endParaRPr lang="en-US" sz="1150" dirty="0"/>
          </a:p>
        </p:txBody>
      </p:sp>
      <p:sp>
        <p:nvSpPr>
          <p:cNvPr id="35" name="Shape 32"/>
          <p:cNvSpPr/>
          <p:nvPr/>
        </p:nvSpPr>
        <p:spPr>
          <a:xfrm>
            <a:off x="566928" y="5687568"/>
            <a:ext cx="2606040" cy="384048"/>
          </a:xfrm>
          <a:prstGeom prst="roundRect">
            <a:avLst>
              <a:gd name="adj" fmla="val 11905"/>
            </a:avLst>
          </a:prstGeom>
          <a:solidFill>
            <a:srgbClr val="EAF3F1"/>
          </a:solidFill>
          <a:ln w="12700">
            <a:solidFill>
              <a:srgbClr val="EAF3F1"/>
            </a:solidFill>
            <a:prstDash val="solid"/>
          </a:ln>
        </p:spPr>
      </p:sp>
      <p:sp>
        <p:nvSpPr>
          <p:cNvPr id="36" name="Text 33"/>
          <p:cNvSpPr/>
          <p:nvPr/>
        </p:nvSpPr>
        <p:spPr>
          <a:xfrm>
            <a:off x="713232" y="5687568"/>
            <a:ext cx="2377440" cy="384048"/>
          </a:xfrm>
          <a:prstGeom prst="rect">
            <a:avLst/>
          </a:prstGeom>
          <a:noFill/>
          <a:ln/>
        </p:spPr>
        <p:txBody>
          <a:bodyPr wrap="square" lIns="0" tIns="0" rIns="0" bIns="0" rtlCol="0" anchor="ctr"/>
          <a:lstStyle/>
          <a:p>
            <a:pPr indent="0" marL="0">
              <a:buNone/>
            </a:pPr>
            <a:r>
              <a:rPr lang="en-US" sz="1150" dirty="0">
                <a:solidFill>
                  <a:srgbClr val="1D5C59"/>
                </a:solidFill>
                <a:latin typeface="Calibri" pitchFamily="34" charset="0"/>
                <a:ea typeface="Calibri" pitchFamily="34" charset="-122"/>
                <a:cs typeface="Calibri" pitchFamily="34" charset="-120"/>
              </a:rPr>
              <a:t>Event correlation</a:t>
            </a:r>
            <a:endParaRPr lang="en-US" sz="1150" dirty="0"/>
          </a:p>
        </p:txBody>
      </p:sp>
      <p:sp>
        <p:nvSpPr>
          <p:cNvPr id="37" name="Shape 34"/>
          <p:cNvSpPr/>
          <p:nvPr/>
        </p:nvSpPr>
        <p:spPr>
          <a:xfrm>
            <a:off x="3355848" y="5687568"/>
            <a:ext cx="2606040" cy="384048"/>
          </a:xfrm>
          <a:prstGeom prst="roundRect">
            <a:avLst>
              <a:gd name="adj" fmla="val 11905"/>
            </a:avLst>
          </a:prstGeom>
          <a:solidFill>
            <a:srgbClr val="EAF3F1"/>
          </a:solidFill>
          <a:ln w="12700">
            <a:solidFill>
              <a:srgbClr val="EAF3F1"/>
            </a:solidFill>
            <a:prstDash val="solid"/>
          </a:ln>
        </p:spPr>
      </p:sp>
      <p:sp>
        <p:nvSpPr>
          <p:cNvPr id="38" name="Text 35"/>
          <p:cNvSpPr/>
          <p:nvPr/>
        </p:nvSpPr>
        <p:spPr>
          <a:xfrm>
            <a:off x="3502152" y="5687568"/>
            <a:ext cx="2377440" cy="384048"/>
          </a:xfrm>
          <a:prstGeom prst="rect">
            <a:avLst/>
          </a:prstGeom>
          <a:noFill/>
          <a:ln/>
        </p:spPr>
        <p:txBody>
          <a:bodyPr wrap="square" lIns="0" tIns="0" rIns="0" bIns="0" rtlCol="0" anchor="ctr"/>
          <a:lstStyle/>
          <a:p>
            <a:pPr indent="0" marL="0">
              <a:buNone/>
            </a:pPr>
            <a:r>
              <a:rPr lang="en-US" sz="1150" dirty="0">
                <a:solidFill>
                  <a:srgbClr val="1D5C59"/>
                </a:solidFill>
                <a:latin typeface="Calibri" pitchFamily="34" charset="0"/>
                <a:ea typeface="Calibri" pitchFamily="34" charset="-122"/>
                <a:cs typeface="Calibri" pitchFamily="34" charset="-120"/>
              </a:rPr>
              <a:t>Predictive baselines</a:t>
            </a:r>
            <a:endParaRPr lang="en-US" sz="1150" dirty="0"/>
          </a:p>
        </p:txBody>
      </p:sp>
      <p:sp>
        <p:nvSpPr>
          <p:cNvPr id="39" name="Shape 36"/>
          <p:cNvSpPr/>
          <p:nvPr/>
        </p:nvSpPr>
        <p:spPr>
          <a:xfrm>
            <a:off x="6144768" y="5687568"/>
            <a:ext cx="2606040" cy="384048"/>
          </a:xfrm>
          <a:prstGeom prst="roundRect">
            <a:avLst>
              <a:gd name="adj" fmla="val 11905"/>
            </a:avLst>
          </a:prstGeom>
          <a:solidFill>
            <a:srgbClr val="EAF3F1"/>
          </a:solidFill>
          <a:ln w="12700">
            <a:solidFill>
              <a:srgbClr val="EAF3F1"/>
            </a:solidFill>
            <a:prstDash val="solid"/>
          </a:ln>
        </p:spPr>
      </p:sp>
      <p:sp>
        <p:nvSpPr>
          <p:cNvPr id="40" name="Text 37"/>
          <p:cNvSpPr/>
          <p:nvPr/>
        </p:nvSpPr>
        <p:spPr>
          <a:xfrm>
            <a:off x="6291072" y="5687568"/>
            <a:ext cx="2377440" cy="384048"/>
          </a:xfrm>
          <a:prstGeom prst="rect">
            <a:avLst/>
          </a:prstGeom>
          <a:noFill/>
          <a:ln/>
        </p:spPr>
        <p:txBody>
          <a:bodyPr wrap="square" lIns="0" tIns="0" rIns="0" bIns="0" rtlCol="0" anchor="ctr"/>
          <a:lstStyle/>
          <a:p>
            <a:pPr indent="0" marL="0">
              <a:buNone/>
            </a:pPr>
            <a:r>
              <a:rPr lang="en-US" sz="1150" dirty="0">
                <a:solidFill>
                  <a:srgbClr val="1D5C59"/>
                </a:solidFill>
                <a:latin typeface="Calibri" pitchFamily="34" charset="0"/>
                <a:ea typeface="Calibri" pitchFamily="34" charset="-122"/>
                <a:cs typeface="Calibri" pitchFamily="34" charset="-120"/>
              </a:rPr>
              <a:t>Dashboard visibility</a:t>
            </a:r>
            <a:endParaRPr lang="en-US" sz="1150" dirty="0"/>
          </a:p>
        </p:txBody>
      </p:sp>
      <p:sp>
        <p:nvSpPr>
          <p:cNvPr id="41" name="Shape 38"/>
          <p:cNvSpPr/>
          <p:nvPr/>
        </p:nvSpPr>
        <p:spPr>
          <a:xfrm>
            <a:off x="8933688" y="5687568"/>
            <a:ext cx="2606040" cy="384048"/>
          </a:xfrm>
          <a:prstGeom prst="roundRect">
            <a:avLst>
              <a:gd name="adj" fmla="val 11905"/>
            </a:avLst>
          </a:prstGeom>
          <a:solidFill>
            <a:srgbClr val="EAF3F1"/>
          </a:solidFill>
          <a:ln w="12700">
            <a:solidFill>
              <a:srgbClr val="EAF3F1"/>
            </a:solidFill>
            <a:prstDash val="solid"/>
          </a:ln>
        </p:spPr>
      </p:sp>
      <p:sp>
        <p:nvSpPr>
          <p:cNvPr id="42" name="Text 39"/>
          <p:cNvSpPr/>
          <p:nvPr/>
        </p:nvSpPr>
        <p:spPr>
          <a:xfrm>
            <a:off x="9079992" y="5687568"/>
            <a:ext cx="2377440" cy="384048"/>
          </a:xfrm>
          <a:prstGeom prst="rect">
            <a:avLst/>
          </a:prstGeom>
          <a:noFill/>
          <a:ln/>
        </p:spPr>
        <p:txBody>
          <a:bodyPr wrap="square" lIns="0" tIns="0" rIns="0" bIns="0" rtlCol="0" anchor="ctr"/>
          <a:lstStyle/>
          <a:p>
            <a:pPr indent="0" marL="0">
              <a:buNone/>
            </a:pPr>
            <a:r>
              <a:rPr lang="en-US" sz="1150" dirty="0">
                <a:solidFill>
                  <a:srgbClr val="1D5C59"/>
                </a:solidFill>
                <a:latin typeface="Calibri" pitchFamily="34" charset="0"/>
                <a:ea typeface="Calibri" pitchFamily="34" charset="-122"/>
                <a:cs typeface="Calibri" pitchFamily="34" charset="-120"/>
              </a:rPr>
              <a:t>Auto-resolve windows</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2161F"/>
        </a:solidFill>
      </p:bgPr>
    </p:bg>
    <p:spTree>
      <p:nvGrpSpPr>
        <p:cNvPr id="1" name=""/>
        <p:cNvGrpSpPr/>
        <p:nvPr/>
      </p:nvGrpSpPr>
      <p:grpSpPr>
        <a:xfrm>
          <a:off x="0" y="0"/>
          <a:ext cx="0" cy="0"/>
          <a:chOff x="0" y="0"/>
          <a:chExt cx="0" cy="0"/>
        </a:xfrm>
      </p:grpSpPr>
      <p:sp>
        <p:nvSpPr>
          <p:cNvPr id="2" name="Text 0"/>
          <p:cNvSpPr/>
          <p:nvPr/>
        </p:nvSpPr>
        <p:spPr>
          <a:xfrm>
            <a:off x="566928" y="6345936"/>
            <a:ext cx="7315200" cy="274320"/>
          </a:xfrm>
          <a:prstGeom prst="rect">
            <a:avLst/>
          </a:prstGeom>
          <a:noFill/>
          <a:ln/>
        </p:spPr>
        <p:txBody>
          <a:bodyPr wrap="square" lIns="0" tIns="0" rIns="0" bIns="0" rtlCol="0" anchor="ctr"/>
          <a:lstStyle/>
          <a:p>
            <a:pPr indent="0" marL="0">
              <a:buNone/>
            </a:pPr>
            <a:r>
              <a:rPr lang="en-US" sz="900" dirty="0">
                <a:solidFill>
                  <a:srgbClr val="6E7B92"/>
                </a:solidFill>
                <a:latin typeface="Calibri" pitchFamily="34" charset="0"/>
                <a:ea typeface="Calibri" pitchFamily="34" charset="-122"/>
                <a:cs typeface="Calibri" pitchFamily="34" charset="-120"/>
              </a:rPr>
              <a:t>Enterprise Observability  ·  policy-as-data on Datadog</a:t>
            </a:r>
            <a:endParaRPr lang="en-US" sz="900" dirty="0"/>
          </a:p>
        </p:txBody>
      </p:sp>
      <p:sp>
        <p:nvSpPr>
          <p:cNvPr id="3" name="Text 1"/>
          <p:cNvSpPr/>
          <p:nvPr/>
        </p:nvSpPr>
        <p:spPr>
          <a:xfrm>
            <a:off x="10710367" y="6345936"/>
            <a:ext cx="914400" cy="274320"/>
          </a:xfrm>
          <a:prstGeom prst="rect">
            <a:avLst/>
          </a:prstGeom>
          <a:noFill/>
          <a:ln/>
        </p:spPr>
        <p:txBody>
          <a:bodyPr wrap="square" lIns="0" tIns="0" rIns="0" bIns="0" rtlCol="0" anchor="ctr"/>
          <a:lstStyle/>
          <a:p>
            <a:pPr algn="r" indent="0" marL="0">
              <a:buNone/>
            </a:pPr>
            <a:r>
              <a:rPr lang="en-US" sz="900" dirty="0">
                <a:solidFill>
                  <a:srgbClr val="6E7B92"/>
                </a:solidFill>
                <a:latin typeface="Calibri" pitchFamily="34" charset="0"/>
                <a:ea typeface="Calibri" pitchFamily="34" charset="-122"/>
                <a:cs typeface="Calibri" pitchFamily="34" charset="-120"/>
              </a:rPr>
              <a:t>9</a:t>
            </a:r>
            <a:endParaRPr lang="en-US" sz="900" dirty="0"/>
          </a:p>
        </p:txBody>
      </p:sp>
      <p:sp>
        <p:nvSpPr>
          <p:cNvPr id="5" name="Text 2"/>
          <p:cNvSpPr/>
          <p:nvPr/>
        </p:nvSpPr>
        <p:spPr>
          <a:xfrm>
            <a:off x="566928" y="1417320"/>
            <a:ext cx="5486400" cy="457200"/>
          </a:xfrm>
          <a:prstGeom prst="rect">
            <a:avLst/>
          </a:prstGeom>
          <a:noFill/>
          <a:ln/>
        </p:spPr>
        <p:txBody>
          <a:bodyPr wrap="square" lIns="0" tIns="0" rIns="0" bIns="0" rtlCol="0" anchor="ctr"/>
          <a:lstStyle/>
          <a:p>
            <a:pPr indent="0" marL="0">
              <a:buNone/>
            </a:pPr>
            <a:r>
              <a:rPr lang="en-US" sz="1200" b="1" spc="240" kern="0" dirty="0">
                <a:solidFill>
                  <a:srgbClr val="E09A2E"/>
                </a:solidFill>
                <a:latin typeface="Calibri" pitchFamily="34" charset="0"/>
                <a:ea typeface="Calibri" pitchFamily="34" charset="-122"/>
                <a:cs typeface="Calibri" pitchFamily="34" charset="-120"/>
              </a:rPr>
              <a:t>PART TWO</a:t>
            </a:r>
            <a:endParaRPr lang="en-US" sz="1200" dirty="0"/>
          </a:p>
        </p:txBody>
      </p:sp>
      <p:sp>
        <p:nvSpPr>
          <p:cNvPr id="6" name="Text 3"/>
          <p:cNvSpPr/>
          <p:nvPr/>
        </p:nvSpPr>
        <p:spPr>
          <a:xfrm>
            <a:off x="566928" y="1874520"/>
            <a:ext cx="6766560" cy="173736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The model</a:t>
            </a:r>
            <a:endParaRPr lang="en-US" sz="4000" dirty="0"/>
          </a:p>
          <a:p>
            <a:pPr indent="0" marL="0">
              <a:buNone/>
            </a:pPr>
            <a:r>
              <a:rPr lang="en-US" sz="4000" b="1" dirty="0">
                <a:solidFill>
                  <a:srgbClr val="FFFFFF"/>
                </a:solidFill>
                <a:latin typeface="Cambria" pitchFamily="34" charset="0"/>
                <a:ea typeface="Cambria" pitchFamily="34" charset="-122"/>
                <a:cs typeface="Cambria" pitchFamily="34" charset="-120"/>
              </a:rPr>
              <a:t>underneath</a:t>
            </a:r>
            <a:endParaRPr lang="en-US" sz="4000" dirty="0"/>
          </a:p>
        </p:txBody>
      </p:sp>
      <p:sp>
        <p:nvSpPr>
          <p:cNvPr id="7" name="Text 4"/>
          <p:cNvSpPr/>
          <p:nvPr/>
        </p:nvSpPr>
        <p:spPr>
          <a:xfrm>
            <a:off x="566928" y="3749040"/>
            <a:ext cx="6035040" cy="822960"/>
          </a:xfrm>
          <a:prstGeom prst="rect">
            <a:avLst/>
          </a:prstGeom>
          <a:noFill/>
          <a:ln/>
        </p:spPr>
        <p:txBody>
          <a:bodyPr wrap="square" lIns="0" tIns="0" rIns="0" bIns="0" rtlCol="0" anchor="t"/>
          <a:lstStyle/>
          <a:p>
            <a:pPr indent="0" marL="0">
              <a:buNone/>
            </a:pPr>
            <a:r>
              <a:rPr lang="en-US" sz="1400" dirty="0">
                <a:solidFill>
                  <a:srgbClr val="9FADC4"/>
                </a:solidFill>
                <a:latin typeface="Calibri" pitchFamily="34" charset="0"/>
                <a:ea typeface="Calibri" pitchFamily="34" charset="-122"/>
                <a:cs typeface="Calibri" pitchFamily="34" charset="-120"/>
              </a:rPr>
              <a:t>How an entity joins the platform, and how one file becomes a monitored estate.</a:t>
            </a:r>
            <a:endParaRPr lang="en-US" sz="1400" dirty="0"/>
          </a:p>
        </p:txBody>
      </p:sp>
      <p:sp>
        <p:nvSpPr>
          <p:cNvPr id="8" name="Shape 5"/>
          <p:cNvSpPr/>
          <p:nvPr/>
        </p:nvSpPr>
        <p:spPr>
          <a:xfrm>
            <a:off x="7360920" y="1371600"/>
            <a:ext cx="4263847" cy="4434840"/>
          </a:xfrm>
          <a:prstGeom prst="roundRect">
            <a:avLst>
              <a:gd name="adj" fmla="val 1501"/>
            </a:avLst>
          </a:prstGeom>
          <a:solidFill>
            <a:srgbClr val="1E2531"/>
          </a:solidFill>
          <a:ln w="12700">
            <a:solidFill>
              <a:srgbClr val="323C4D"/>
            </a:solidFill>
            <a:prstDash val="solid"/>
          </a:ln>
        </p:spPr>
      </p:sp>
      <p:sp>
        <p:nvSpPr>
          <p:cNvPr id="9" name="Text 6"/>
          <p:cNvSpPr/>
          <p:nvPr/>
        </p:nvSpPr>
        <p:spPr>
          <a:xfrm>
            <a:off x="7680960" y="1627632"/>
            <a:ext cx="3840480" cy="274320"/>
          </a:xfrm>
          <a:prstGeom prst="rect">
            <a:avLst/>
          </a:prstGeom>
          <a:noFill/>
          <a:ln/>
        </p:spPr>
        <p:txBody>
          <a:bodyPr wrap="square" lIns="0" tIns="0" rIns="0" bIns="0" rtlCol="0" anchor="ctr"/>
          <a:lstStyle/>
          <a:p>
            <a:pPr indent="0" marL="0">
              <a:buNone/>
            </a:pPr>
            <a:r>
              <a:rPr lang="en-US" sz="950" b="1" spc="160" kern="0" dirty="0">
                <a:solidFill>
                  <a:srgbClr val="E09A2E"/>
                </a:solidFill>
                <a:latin typeface="Calibri" pitchFamily="34" charset="0"/>
                <a:ea typeface="Calibri" pitchFamily="34" charset="-122"/>
                <a:cs typeface="Calibri" pitchFamily="34" charset="-120"/>
              </a:rPr>
              <a:t>TOPICS IN THIS PART</a:t>
            </a:r>
            <a:endParaRPr lang="en-US" sz="950" dirty="0"/>
          </a:p>
        </p:txBody>
      </p:sp>
      <p:sp>
        <p:nvSpPr>
          <p:cNvPr id="10" name="Text 7"/>
          <p:cNvSpPr/>
          <p:nvPr/>
        </p:nvSpPr>
        <p:spPr>
          <a:xfrm>
            <a:off x="7680960" y="1993392"/>
            <a:ext cx="3977640" cy="3566160"/>
          </a:xfrm>
          <a:prstGeom prst="rect">
            <a:avLst/>
          </a:prstGeom>
          <a:noFill/>
          <a:ln/>
        </p:spPr>
        <p:txBody>
          <a:bodyPr wrap="square" lIns="0" tIns="0" rIns="0" bIns="0" rtlCol="0" anchor="t"/>
          <a:lstStyle/>
          <a:p>
            <a:pPr indent="0" marL="0">
              <a:spcAft>
                <a:spcPts val="700"/>
              </a:spcAft>
              <a:buNone/>
            </a:pPr>
            <a:r>
              <a:rPr lang="en-US" sz="1300" dirty="0">
                <a:solidFill>
                  <a:srgbClr val="D3DCE9"/>
                </a:solidFill>
                <a:latin typeface="Calibri" pitchFamily="34" charset="0"/>
                <a:ea typeface="Calibri" pitchFamily="34" charset="-122"/>
                <a:cs typeface="Calibri" pitchFamily="34" charset="-120"/>
              </a:rPr>
              <a:t>5.  Entity onboarding</a:t>
            </a:r>
            <a:endParaRPr lang="en-US" sz="1300" dirty="0"/>
          </a:p>
          <a:p>
            <a:pPr indent="0" marL="0">
              <a:spcAft>
                <a:spcPts val="700"/>
              </a:spcAft>
              <a:buNone/>
            </a:pPr>
            <a:r>
              <a:rPr lang="en-US" sz="1300" dirty="0">
                <a:solidFill>
                  <a:srgbClr val="D3DCE9"/>
                </a:solidFill>
                <a:latin typeface="Calibri" pitchFamily="34" charset="0"/>
                <a:ea typeface="Calibri" pitchFamily="34" charset="-122"/>
                <a:cs typeface="Calibri" pitchFamily="34" charset="-120"/>
              </a:rPr>
              <a:t>6.  The correct catalog entity model</a:t>
            </a:r>
            <a:endParaRPr lang="en-US" sz="1300" dirty="0"/>
          </a:p>
          <a:p>
            <a:pPr indent="0" marL="0">
              <a:spcAft>
                <a:spcPts val="700"/>
              </a:spcAft>
              <a:buNone/>
            </a:pPr>
            <a:r>
              <a:rPr lang="en-US" sz="1300" dirty="0">
                <a:solidFill>
                  <a:srgbClr val="D3DCE9"/>
                </a:solidFill>
                <a:latin typeface="Calibri" pitchFamily="34" charset="0"/>
                <a:ea typeface="Calibri" pitchFamily="34" charset="-122"/>
                <a:cs typeface="Calibri" pitchFamily="34" charset="-120"/>
              </a:rPr>
              <a:t>7.  How one YAML definition drives observability</a:t>
            </a:r>
            <a:endParaRPr lang="en-US" sz="1300" dirty="0"/>
          </a:p>
          <a:p>
            <a:pPr indent="0" marL="0">
              <a:spcAft>
                <a:spcPts val="700"/>
              </a:spcAft>
              <a:buNone/>
            </a:pPr>
            <a:r>
              <a:rPr lang="en-US" sz="1300" dirty="0">
                <a:solidFill>
                  <a:srgbClr val="D3DCE9"/>
                </a:solidFill>
                <a:latin typeface="Calibri" pitchFamily="34" charset="0"/>
                <a:ea typeface="Calibri" pitchFamily="34" charset="-122"/>
                <a:cs typeface="Calibri" pitchFamily="34" charset="-120"/>
              </a:rPr>
              <a:t>8.  Monitoring profiles</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8778240" cy="256032"/>
          </a:xfrm>
          <a:prstGeom prst="rect">
            <a:avLst/>
          </a:prstGeom>
          <a:noFill/>
          <a:ln/>
        </p:spPr>
        <p:txBody>
          <a:bodyPr wrap="square" lIns="0" tIns="0" rIns="0" bIns="0" rtlCol="0" anchor="ctr"/>
          <a:lstStyle/>
          <a:p>
            <a:pPr indent="0" marL="0">
              <a:buNone/>
            </a:pPr>
            <a:r>
              <a:rPr lang="en-US" sz="1050" b="1" spc="160" kern="0" dirty="0">
                <a:solidFill>
                  <a:srgbClr val="B87914"/>
                </a:solidFill>
                <a:latin typeface="Calibri" pitchFamily="34" charset="0"/>
                <a:ea typeface="Calibri" pitchFamily="34" charset="-122"/>
                <a:cs typeface="Calibri" pitchFamily="34" charset="-120"/>
              </a:rPr>
              <a:t>TOPIC 5</a:t>
            </a:r>
            <a:endParaRPr lang="en-US" sz="1050" dirty="0"/>
          </a:p>
        </p:txBody>
      </p:sp>
      <p:sp>
        <p:nvSpPr>
          <p:cNvPr id="3" name="Text 1"/>
          <p:cNvSpPr/>
          <p:nvPr/>
        </p:nvSpPr>
        <p:spPr>
          <a:xfrm>
            <a:off x="566928" y="694944"/>
            <a:ext cx="10424160" cy="786384"/>
          </a:xfrm>
          <a:prstGeom prst="rect">
            <a:avLst/>
          </a:prstGeom>
          <a:noFill/>
          <a:ln/>
        </p:spPr>
        <p:txBody>
          <a:bodyPr wrap="square" lIns="0" tIns="0" rIns="0" bIns="0" rtlCol="0" anchor="ctr"/>
          <a:lstStyle/>
          <a:p>
            <a:pPr indent="0" marL="0">
              <a:buNone/>
            </a:pPr>
            <a:r>
              <a:rPr lang="en-US" sz="3100" b="1" dirty="0">
                <a:solidFill>
                  <a:srgbClr val="161C28"/>
                </a:solidFill>
                <a:latin typeface="Cambria" pitchFamily="34" charset="0"/>
                <a:ea typeface="Cambria" pitchFamily="34" charset="-122"/>
                <a:cs typeface="Cambria" pitchFamily="34" charset="-120"/>
              </a:rPr>
              <a:t>Entity onboarding</a:t>
            </a:r>
            <a:endParaRPr lang="en-US" sz="3100" dirty="0"/>
          </a:p>
        </p:txBody>
      </p:sp>
      <p:sp>
        <p:nvSpPr>
          <p:cNvPr id="4" name="Text 2"/>
          <p:cNvSpPr/>
          <p:nvPr/>
        </p:nvSpPr>
        <p:spPr>
          <a:xfrm>
            <a:off x="566928" y="1481328"/>
            <a:ext cx="10698480" cy="457200"/>
          </a:xfrm>
          <a:prstGeom prst="rect">
            <a:avLst/>
          </a:prstGeom>
          <a:noFill/>
          <a:ln/>
        </p:spPr>
        <p:txBody>
          <a:bodyPr wrap="square" lIns="0" tIns="0" rIns="0" bIns="0" rtlCol="0" anchor="t"/>
          <a:lstStyle/>
          <a:p>
            <a:pPr indent="0" marL="0">
              <a:buNone/>
            </a:pPr>
            <a:r>
              <a:rPr lang="en-US" sz="1450" dirty="0">
                <a:solidFill>
                  <a:srgbClr val="3A4557"/>
                </a:solidFill>
                <a:latin typeface="Calibri" pitchFamily="34" charset="0"/>
                <a:ea typeface="Calibri" pitchFamily="34" charset="-122"/>
                <a:cs typeface="Calibri" pitchFamily="34" charset="-120"/>
              </a:rPr>
              <a:t>Discovery covers everything that emits telemetry. Registration adds intent — the part discovery cannot infer.</a:t>
            </a:r>
            <a:endParaRPr lang="en-US" sz="1450" dirty="0"/>
          </a:p>
        </p:txBody>
      </p:sp>
      <p:sp>
        <p:nvSpPr>
          <p:cNvPr id="5" name="Shape 3"/>
          <p:cNvSpPr/>
          <p:nvPr/>
        </p:nvSpPr>
        <p:spPr>
          <a:xfrm>
            <a:off x="9032443" y="420624"/>
            <a:ext cx="2592324" cy="310896"/>
          </a:xfrm>
          <a:prstGeom prst="roundRect">
            <a:avLst>
              <a:gd name="adj" fmla="val 50000"/>
            </a:avLst>
          </a:prstGeom>
          <a:solidFill>
            <a:srgbClr val="E09A2E"/>
          </a:solidFill>
          <a:ln w="12700">
            <a:solidFill>
              <a:srgbClr val="E09A2E"/>
            </a:solidFill>
            <a:prstDash val="solid"/>
          </a:ln>
        </p:spPr>
      </p:sp>
      <p:sp>
        <p:nvSpPr>
          <p:cNvPr id="6" name="Text 4"/>
          <p:cNvSpPr/>
          <p:nvPr/>
        </p:nvSpPr>
        <p:spPr>
          <a:xfrm>
            <a:off x="9032443" y="420624"/>
            <a:ext cx="2592324" cy="310896"/>
          </a:xfrm>
          <a:prstGeom prst="rect">
            <a:avLst/>
          </a:prstGeom>
          <a:noFill/>
          <a:ln/>
        </p:spPr>
        <p:txBody>
          <a:bodyPr wrap="square" lIns="0" tIns="0" rIns="0" bIns="0" rtlCol="0" anchor="ctr"/>
          <a:lstStyle/>
          <a:p>
            <a:pPr algn="ctr" indent="0" marL="0">
              <a:buNone/>
            </a:pPr>
            <a:r>
              <a:rPr lang="en-US" sz="950" b="1" spc="100" kern="0" dirty="0">
                <a:solidFill>
                  <a:srgbClr val="2A1D06"/>
                </a:solidFill>
                <a:latin typeface="Calibri" pitchFamily="34" charset="0"/>
                <a:ea typeface="Calibri" pitchFamily="34" charset="-122"/>
                <a:cs typeface="Calibri" pitchFamily="34" charset="-120"/>
              </a:rPr>
              <a:t>PARTIAL — SERVICES ONLY</a:t>
            </a:r>
            <a:endParaRPr lang="en-US" sz="950" dirty="0"/>
          </a:p>
        </p:txBody>
      </p:sp>
      <p:sp>
        <p:nvSpPr>
          <p:cNvPr id="7" name="Text 5"/>
          <p:cNvSpPr/>
          <p:nvPr/>
        </p:nvSpPr>
        <p:spPr>
          <a:xfrm>
            <a:off x="566928" y="6345936"/>
            <a:ext cx="7315200" cy="274320"/>
          </a:xfrm>
          <a:prstGeom prst="rect">
            <a:avLst/>
          </a:prstGeom>
          <a:noFill/>
          <a:ln/>
        </p:spPr>
        <p:txBody>
          <a:bodyPr wrap="square" lIns="0" tIns="0" rIns="0" bIns="0" rtlCol="0" anchor="ctr"/>
          <a:lstStyle/>
          <a:p>
            <a:pPr indent="0" marL="0">
              <a:buNone/>
            </a:pPr>
            <a:r>
              <a:rPr lang="en-US" sz="900" dirty="0">
                <a:solidFill>
                  <a:srgbClr val="6B7891"/>
                </a:solidFill>
                <a:latin typeface="Calibri" pitchFamily="34" charset="0"/>
                <a:ea typeface="Calibri" pitchFamily="34" charset="-122"/>
                <a:cs typeface="Calibri" pitchFamily="34" charset="-120"/>
              </a:rPr>
              <a:t>Enterprise Observability  ·  policy-as-data on Datadog</a:t>
            </a:r>
            <a:endParaRPr lang="en-US" sz="900" dirty="0"/>
          </a:p>
        </p:txBody>
      </p:sp>
      <p:sp>
        <p:nvSpPr>
          <p:cNvPr id="8" name="Text 6"/>
          <p:cNvSpPr/>
          <p:nvPr/>
        </p:nvSpPr>
        <p:spPr>
          <a:xfrm>
            <a:off x="10710367" y="6345936"/>
            <a:ext cx="914400" cy="274320"/>
          </a:xfrm>
          <a:prstGeom prst="rect">
            <a:avLst/>
          </a:prstGeom>
          <a:noFill/>
          <a:ln/>
        </p:spPr>
        <p:txBody>
          <a:bodyPr wrap="square" lIns="0" tIns="0" rIns="0" bIns="0" rtlCol="0" anchor="ctr"/>
          <a:lstStyle/>
          <a:p>
            <a:pPr algn="r" indent="0" marL="0">
              <a:buNone/>
            </a:pPr>
            <a:r>
              <a:rPr lang="en-US" sz="900" dirty="0">
                <a:solidFill>
                  <a:srgbClr val="6B7891"/>
                </a:solidFill>
                <a:latin typeface="Calibri" pitchFamily="34" charset="0"/>
                <a:ea typeface="Calibri" pitchFamily="34" charset="-122"/>
                <a:cs typeface="Calibri" pitchFamily="34" charset="-120"/>
              </a:rPr>
              <a:t>10</a:t>
            </a:r>
            <a:endParaRPr lang="en-US" sz="900" dirty="0"/>
          </a:p>
        </p:txBody>
      </p:sp>
      <p:sp>
        <p:nvSpPr>
          <p:cNvPr id="10" name="Shape 7"/>
          <p:cNvSpPr/>
          <p:nvPr/>
        </p:nvSpPr>
        <p:spPr>
          <a:xfrm>
            <a:off x="566928" y="2057400"/>
            <a:ext cx="5349240" cy="1371600"/>
          </a:xfrm>
          <a:prstGeom prst="roundRect">
            <a:avLst>
              <a:gd name="adj" fmla="val 4667"/>
            </a:avLst>
          </a:prstGeom>
          <a:solidFill>
            <a:srgbClr val="EFF2F6"/>
          </a:solidFill>
          <a:ln w="12700">
            <a:solidFill>
              <a:srgbClr val="EFF2F6"/>
            </a:solidFill>
            <a:prstDash val="solid"/>
          </a:ln>
        </p:spPr>
      </p:sp>
      <p:sp>
        <p:nvSpPr>
          <p:cNvPr id="11" name="Text 8"/>
          <p:cNvSpPr/>
          <p:nvPr/>
        </p:nvSpPr>
        <p:spPr>
          <a:xfrm>
            <a:off x="822960" y="2212848"/>
            <a:ext cx="4846320" cy="274320"/>
          </a:xfrm>
          <a:prstGeom prst="rect">
            <a:avLst/>
          </a:prstGeom>
          <a:noFill/>
          <a:ln/>
        </p:spPr>
        <p:txBody>
          <a:bodyPr wrap="square" lIns="0" tIns="0" rIns="0" bIns="0" rtlCol="0" anchor="ctr"/>
          <a:lstStyle/>
          <a:p>
            <a:pPr indent="0" marL="0">
              <a:buNone/>
            </a:pPr>
            <a:r>
              <a:rPr lang="en-US" sz="1050" b="1" spc="140" kern="0" dirty="0">
                <a:solidFill>
                  <a:srgbClr val="B87914"/>
                </a:solidFill>
                <a:latin typeface="Calibri" pitchFamily="34" charset="0"/>
                <a:ea typeface="Calibri" pitchFamily="34" charset="-122"/>
                <a:cs typeface="Calibri" pitchFamily="34" charset="-120"/>
              </a:rPr>
              <a:t>DISCOVERY — automatic</a:t>
            </a:r>
            <a:endParaRPr lang="en-US" sz="1050" dirty="0"/>
          </a:p>
        </p:txBody>
      </p:sp>
      <p:sp>
        <p:nvSpPr>
          <p:cNvPr id="12" name="Text 9"/>
          <p:cNvSpPr/>
          <p:nvPr/>
        </p:nvSpPr>
        <p:spPr>
          <a:xfrm>
            <a:off x="822960" y="2523744"/>
            <a:ext cx="4846320" cy="777240"/>
          </a:xfrm>
          <a:prstGeom prst="rect">
            <a:avLst/>
          </a:prstGeom>
          <a:noFill/>
          <a:ln/>
        </p:spPr>
        <p:txBody>
          <a:bodyPr wrap="square" lIns="0" tIns="0" rIns="0" bIns="0" rtlCol="0" anchor="t"/>
          <a:lstStyle/>
          <a:p>
            <a:pPr indent="0" marL="0">
              <a:buNone/>
            </a:pPr>
            <a:r>
              <a:rPr lang="en-US" sz="1200" dirty="0">
                <a:solidFill>
                  <a:srgbClr val="3A4557"/>
                </a:solidFill>
                <a:latin typeface="Calibri" pitchFamily="34" charset="0"/>
                <a:ea typeface="Calibri" pitchFamily="34" charset="-122"/>
                <a:cs typeface="Calibri" pitchFamily="34" charset="-120"/>
              </a:rPr>
              <a:t>A resource that emits correctly-tagged telemetry becomes a group inside monitors that already exist. First trace, first metric — covered. No ticket, no onboarding queue, no platform-team involvement.</a:t>
            </a:r>
            <a:endParaRPr lang="en-US" sz="1200" dirty="0"/>
          </a:p>
        </p:txBody>
      </p:sp>
      <p:sp>
        <p:nvSpPr>
          <p:cNvPr id="13" name="Shape 10"/>
          <p:cNvSpPr/>
          <p:nvPr/>
        </p:nvSpPr>
        <p:spPr>
          <a:xfrm>
            <a:off x="6281928" y="2057400"/>
            <a:ext cx="5349240" cy="1371600"/>
          </a:xfrm>
          <a:prstGeom prst="roundRect">
            <a:avLst>
              <a:gd name="adj" fmla="val 4667"/>
            </a:avLst>
          </a:prstGeom>
          <a:solidFill>
            <a:srgbClr val="12161F"/>
          </a:solidFill>
          <a:ln w="12700">
            <a:solidFill>
              <a:srgbClr val="12161F"/>
            </a:solidFill>
            <a:prstDash val="solid"/>
          </a:ln>
        </p:spPr>
      </p:sp>
      <p:sp>
        <p:nvSpPr>
          <p:cNvPr id="14" name="Text 11"/>
          <p:cNvSpPr/>
          <p:nvPr/>
        </p:nvSpPr>
        <p:spPr>
          <a:xfrm>
            <a:off x="6537960" y="2212848"/>
            <a:ext cx="4846320" cy="274320"/>
          </a:xfrm>
          <a:prstGeom prst="rect">
            <a:avLst/>
          </a:prstGeom>
          <a:noFill/>
          <a:ln/>
        </p:spPr>
        <p:txBody>
          <a:bodyPr wrap="square" lIns="0" tIns="0" rIns="0" bIns="0" rtlCol="0" anchor="ctr"/>
          <a:lstStyle/>
          <a:p>
            <a:pPr indent="0" marL="0">
              <a:buNone/>
            </a:pPr>
            <a:r>
              <a:rPr lang="en-US" sz="1050" b="1" spc="140" kern="0" dirty="0">
                <a:solidFill>
                  <a:srgbClr val="E09A2E"/>
                </a:solidFill>
                <a:latin typeface="Calibri" pitchFamily="34" charset="0"/>
                <a:ea typeface="Calibri" pitchFamily="34" charset="-122"/>
                <a:cs typeface="Calibri" pitchFamily="34" charset="-120"/>
              </a:rPr>
              <a:t>REGISTRATION — one YAML file</a:t>
            </a:r>
            <a:endParaRPr lang="en-US" sz="1050" dirty="0"/>
          </a:p>
        </p:txBody>
      </p:sp>
      <p:sp>
        <p:nvSpPr>
          <p:cNvPr id="15" name="Text 12"/>
          <p:cNvSpPr/>
          <p:nvPr/>
        </p:nvSpPr>
        <p:spPr>
          <a:xfrm>
            <a:off x="6537960" y="2523744"/>
            <a:ext cx="4846320" cy="777240"/>
          </a:xfrm>
          <a:prstGeom prst="rect">
            <a:avLst/>
          </a:prstGeom>
          <a:noFill/>
          <a:ln/>
        </p:spPr>
        <p:txBody>
          <a:bodyPr wrap="square" lIns="0" tIns="0" rIns="0" bIns="0" rtlCol="0" anchor="t"/>
          <a:lstStyle/>
          <a:p>
            <a:pPr indent="0" marL="0">
              <a:buNone/>
            </a:pPr>
            <a:r>
              <a:rPr lang="en-US" sz="1200" dirty="0">
                <a:solidFill>
                  <a:srgbClr val="A9B6CB"/>
                </a:solidFill>
                <a:latin typeface="Calibri" pitchFamily="34" charset="0"/>
                <a:ea typeface="Calibri" pitchFamily="34" charset="-122"/>
                <a:cs typeface="Calibri" pitchFamily="34" charset="-120"/>
              </a:rPr>
              <a:t>Declares what telemetry cannot infer: the owning team, the business tier, the kind of thing it is, and the environments it runs in. Five fields, reviewed in a pull request.</a:t>
            </a:r>
            <a:endParaRPr lang="en-US" sz="1200" dirty="0"/>
          </a:p>
        </p:txBody>
      </p:sp>
      <p:sp>
        <p:nvSpPr>
          <p:cNvPr id="16" name="Text 13"/>
          <p:cNvSpPr/>
          <p:nvPr/>
        </p:nvSpPr>
        <p:spPr>
          <a:xfrm>
            <a:off x="566928" y="3611880"/>
            <a:ext cx="7315200" cy="292608"/>
          </a:xfrm>
          <a:prstGeom prst="rect">
            <a:avLst/>
          </a:prstGeom>
          <a:noFill/>
          <a:ln/>
        </p:spPr>
        <p:txBody>
          <a:bodyPr wrap="square" lIns="0" tIns="0" rIns="0" bIns="0" rtlCol="0" anchor="ctr"/>
          <a:lstStyle/>
          <a:p>
            <a:pPr indent="0" marL="0">
              <a:buNone/>
            </a:pPr>
            <a:r>
              <a:rPr lang="en-US" sz="1400" b="1" dirty="0">
                <a:solidFill>
                  <a:srgbClr val="161C28"/>
                </a:solidFill>
                <a:latin typeface="Calibri" pitchFamily="34" charset="0"/>
                <a:ea typeface="Calibri" pitchFamily="34" charset="-122"/>
                <a:cs typeface="Calibri" pitchFamily="34" charset="-120"/>
              </a:rPr>
              <a:t>What registration adds over tagging alone</a:t>
            </a:r>
            <a:endParaRPr lang="en-US" sz="1400" dirty="0"/>
          </a:p>
        </p:txBody>
      </p:sp>
      <p:sp>
        <p:nvSpPr>
          <p:cNvPr id="17" name="Shape 14"/>
          <p:cNvSpPr/>
          <p:nvPr/>
        </p:nvSpPr>
        <p:spPr>
          <a:xfrm>
            <a:off x="566928" y="3977640"/>
            <a:ext cx="11057839" cy="384048"/>
          </a:xfrm>
          <a:prstGeom prst="rect">
            <a:avLst/>
          </a:prstGeom>
          <a:solidFill>
            <a:srgbClr val="12161F"/>
          </a:solidFill>
          <a:ln w="12700">
            <a:solidFill>
              <a:srgbClr val="12161F"/>
            </a:solidFill>
            <a:prstDash val="solid"/>
          </a:ln>
        </p:spPr>
      </p:sp>
      <p:sp>
        <p:nvSpPr>
          <p:cNvPr id="18" name="Text 15"/>
          <p:cNvSpPr/>
          <p:nvPr/>
        </p:nvSpPr>
        <p:spPr>
          <a:xfrm>
            <a:off x="749808" y="3977640"/>
            <a:ext cx="4937760" cy="384048"/>
          </a:xfrm>
          <a:prstGeom prst="rect">
            <a:avLst/>
          </a:prstGeom>
          <a:noFill/>
          <a:ln/>
        </p:spPr>
        <p:txBody>
          <a:bodyPr wrap="square" lIns="0" tIns="0" rIns="0" bIns="0" rtlCol="0" anchor="ctr"/>
          <a:lstStyle/>
          <a:p>
            <a:pPr indent="0" marL="0">
              <a:buNone/>
            </a:pPr>
            <a:endParaRPr lang="en-US" sz="1200" dirty="0"/>
          </a:p>
        </p:txBody>
      </p:sp>
      <p:sp>
        <p:nvSpPr>
          <p:cNvPr id="19" name="Text 16"/>
          <p:cNvSpPr/>
          <p:nvPr/>
        </p:nvSpPr>
        <p:spPr>
          <a:xfrm>
            <a:off x="5870448" y="3977640"/>
            <a:ext cx="2743200" cy="38404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Tagged only</a:t>
            </a:r>
            <a:endParaRPr lang="en-US" sz="1200" dirty="0"/>
          </a:p>
        </p:txBody>
      </p:sp>
      <p:sp>
        <p:nvSpPr>
          <p:cNvPr id="20" name="Text 17"/>
          <p:cNvSpPr/>
          <p:nvPr/>
        </p:nvSpPr>
        <p:spPr>
          <a:xfrm>
            <a:off x="8705088" y="3977640"/>
            <a:ext cx="2834640" cy="38404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Tagged + registered</a:t>
            </a:r>
            <a:endParaRPr lang="en-US" sz="1200" dirty="0"/>
          </a:p>
        </p:txBody>
      </p:sp>
      <p:sp>
        <p:nvSpPr>
          <p:cNvPr id="21" name="Shape 18"/>
          <p:cNvSpPr/>
          <p:nvPr/>
        </p:nvSpPr>
        <p:spPr>
          <a:xfrm>
            <a:off x="566928" y="4361688"/>
            <a:ext cx="11057839" cy="384048"/>
          </a:xfrm>
          <a:prstGeom prst="rect">
            <a:avLst/>
          </a:prstGeom>
          <a:solidFill>
            <a:srgbClr val="F5F7FA"/>
          </a:solidFill>
          <a:ln w="12700">
            <a:solidFill>
              <a:srgbClr val="F5F7FA"/>
            </a:solidFill>
            <a:prstDash val="solid"/>
          </a:ln>
        </p:spPr>
      </p:sp>
      <p:sp>
        <p:nvSpPr>
          <p:cNvPr id="22" name="Text 19"/>
          <p:cNvSpPr/>
          <p:nvPr/>
        </p:nvSpPr>
        <p:spPr>
          <a:xfrm>
            <a:off x="749808" y="4361688"/>
            <a:ext cx="4937760" cy="384048"/>
          </a:xfrm>
          <a:prstGeom prst="rect">
            <a:avLst/>
          </a:prstGeom>
          <a:noFill/>
          <a:ln/>
        </p:spPr>
        <p:txBody>
          <a:bodyPr wrap="square" lIns="0" tIns="0" rIns="0" bIns="0" rtlCol="0" anchor="ctr"/>
          <a:lstStyle/>
          <a:p>
            <a:pPr indent="0" marL="0">
              <a:buNone/>
            </a:pPr>
            <a:r>
              <a:rPr lang="en-US" sz="1200" b="1" dirty="0">
                <a:solidFill>
                  <a:srgbClr val="3A4557"/>
                </a:solidFill>
                <a:latin typeface="Calibri" pitchFamily="34" charset="0"/>
                <a:ea typeface="Calibri" pitchFamily="34" charset="-122"/>
                <a:cs typeface="Calibri" pitchFamily="34" charset="-120"/>
              </a:rPr>
              <a:t>Covered by monitor packs</a:t>
            </a:r>
            <a:endParaRPr lang="en-US" sz="1200" dirty="0"/>
          </a:p>
        </p:txBody>
      </p:sp>
      <p:sp>
        <p:nvSpPr>
          <p:cNvPr id="23" name="Text 20"/>
          <p:cNvSpPr/>
          <p:nvPr/>
        </p:nvSpPr>
        <p:spPr>
          <a:xfrm>
            <a:off x="5870448" y="4361688"/>
            <a:ext cx="2743200" cy="384048"/>
          </a:xfrm>
          <a:prstGeom prst="rect">
            <a:avLst/>
          </a:prstGeom>
          <a:noFill/>
          <a:ln/>
        </p:spPr>
        <p:txBody>
          <a:bodyPr wrap="square" lIns="0" tIns="0" rIns="0" bIns="0" rtlCol="0" anchor="ctr"/>
          <a:lstStyle/>
          <a:p>
            <a:pPr indent="0" marL="0">
              <a:buNone/>
            </a:pPr>
            <a:r>
              <a:rPr lang="en-US" sz="1200" dirty="0">
                <a:solidFill>
                  <a:srgbClr val="3A4557"/>
                </a:solidFill>
                <a:latin typeface="Calibri" pitchFamily="34" charset="0"/>
                <a:ea typeface="Calibri" pitchFamily="34" charset="-122"/>
                <a:cs typeface="Calibri" pitchFamily="34" charset="-120"/>
              </a:rPr>
              <a:t>yes</a:t>
            </a:r>
            <a:endParaRPr lang="en-US" sz="1200" dirty="0"/>
          </a:p>
        </p:txBody>
      </p:sp>
      <p:sp>
        <p:nvSpPr>
          <p:cNvPr id="24" name="Text 21"/>
          <p:cNvSpPr/>
          <p:nvPr/>
        </p:nvSpPr>
        <p:spPr>
          <a:xfrm>
            <a:off x="8705088" y="4361688"/>
            <a:ext cx="2834640" cy="384048"/>
          </a:xfrm>
          <a:prstGeom prst="rect">
            <a:avLst/>
          </a:prstGeom>
          <a:noFill/>
          <a:ln/>
        </p:spPr>
        <p:txBody>
          <a:bodyPr wrap="square" lIns="0" tIns="0" rIns="0" bIns="0" rtlCol="0" anchor="ctr"/>
          <a:lstStyle/>
          <a:p>
            <a:pPr indent="0" marL="0">
              <a:buNone/>
            </a:pPr>
            <a:r>
              <a:rPr lang="en-US" sz="1200" dirty="0">
                <a:solidFill>
                  <a:srgbClr val="1D5C59"/>
                </a:solidFill>
                <a:latin typeface="Calibri" pitchFamily="34" charset="0"/>
                <a:ea typeface="Calibri" pitchFamily="34" charset="-122"/>
                <a:cs typeface="Calibri" pitchFamily="34" charset="-120"/>
              </a:rPr>
              <a:t>yes</a:t>
            </a:r>
            <a:endParaRPr lang="en-US" sz="1200" dirty="0"/>
          </a:p>
        </p:txBody>
      </p:sp>
      <p:sp>
        <p:nvSpPr>
          <p:cNvPr id="25" name="Text 22"/>
          <p:cNvSpPr/>
          <p:nvPr/>
        </p:nvSpPr>
        <p:spPr>
          <a:xfrm>
            <a:off x="749808" y="4745736"/>
            <a:ext cx="4937760" cy="384048"/>
          </a:xfrm>
          <a:prstGeom prst="rect">
            <a:avLst/>
          </a:prstGeom>
          <a:noFill/>
          <a:ln/>
        </p:spPr>
        <p:txBody>
          <a:bodyPr wrap="square" lIns="0" tIns="0" rIns="0" bIns="0" rtlCol="0" anchor="ctr"/>
          <a:lstStyle/>
          <a:p>
            <a:pPr indent="0" marL="0">
              <a:buNone/>
            </a:pPr>
            <a:r>
              <a:rPr lang="en-US" sz="1200" b="1" dirty="0">
                <a:solidFill>
                  <a:srgbClr val="3A4557"/>
                </a:solidFill>
                <a:latin typeface="Calibri" pitchFamily="34" charset="0"/>
                <a:ea typeface="Calibri" pitchFamily="34" charset="-122"/>
                <a:cs typeface="Calibri" pitchFamily="34" charset="-120"/>
              </a:rPr>
              <a:t>Ownership in Datadog's catalog</a:t>
            </a:r>
            <a:endParaRPr lang="en-US" sz="1200" dirty="0"/>
          </a:p>
        </p:txBody>
      </p:sp>
      <p:sp>
        <p:nvSpPr>
          <p:cNvPr id="26" name="Text 23"/>
          <p:cNvSpPr/>
          <p:nvPr/>
        </p:nvSpPr>
        <p:spPr>
          <a:xfrm>
            <a:off x="5870448" y="4745736"/>
            <a:ext cx="2743200" cy="384048"/>
          </a:xfrm>
          <a:prstGeom prst="rect">
            <a:avLst/>
          </a:prstGeom>
          <a:noFill/>
          <a:ln/>
        </p:spPr>
        <p:txBody>
          <a:bodyPr wrap="square" lIns="0" tIns="0" rIns="0" bIns="0" rtlCol="0" anchor="ctr"/>
          <a:lstStyle/>
          <a:p>
            <a:pPr indent="0" marL="0">
              <a:buNone/>
            </a:pPr>
            <a:r>
              <a:rPr lang="en-US" sz="1200" dirty="0">
                <a:solidFill>
                  <a:srgbClr val="3A4557"/>
                </a:solidFill>
                <a:latin typeface="Calibri" pitchFamily="34" charset="0"/>
                <a:ea typeface="Calibri" pitchFamily="34" charset="-122"/>
                <a:cs typeface="Calibri" pitchFamily="34" charset="-120"/>
              </a:rPr>
              <a:t>inferred</a:t>
            </a:r>
            <a:endParaRPr lang="en-US" sz="1200" dirty="0"/>
          </a:p>
        </p:txBody>
      </p:sp>
      <p:sp>
        <p:nvSpPr>
          <p:cNvPr id="27" name="Text 24"/>
          <p:cNvSpPr/>
          <p:nvPr/>
        </p:nvSpPr>
        <p:spPr>
          <a:xfrm>
            <a:off x="8705088" y="4745736"/>
            <a:ext cx="2834640" cy="384048"/>
          </a:xfrm>
          <a:prstGeom prst="rect">
            <a:avLst/>
          </a:prstGeom>
          <a:noFill/>
          <a:ln/>
        </p:spPr>
        <p:txBody>
          <a:bodyPr wrap="square" lIns="0" tIns="0" rIns="0" bIns="0" rtlCol="0" anchor="ctr"/>
          <a:lstStyle/>
          <a:p>
            <a:pPr indent="0" marL="0">
              <a:buNone/>
            </a:pPr>
            <a:r>
              <a:rPr lang="en-US" sz="1200" dirty="0">
                <a:solidFill>
                  <a:srgbClr val="1D5C59"/>
                </a:solidFill>
                <a:latin typeface="Calibri" pitchFamily="34" charset="0"/>
                <a:ea typeface="Calibri" pitchFamily="34" charset="-122"/>
                <a:cs typeface="Calibri" pitchFamily="34" charset="-120"/>
              </a:rPr>
              <a:t>declared</a:t>
            </a:r>
            <a:endParaRPr lang="en-US" sz="1200" dirty="0"/>
          </a:p>
        </p:txBody>
      </p:sp>
      <p:sp>
        <p:nvSpPr>
          <p:cNvPr id="28" name="Shape 25"/>
          <p:cNvSpPr/>
          <p:nvPr/>
        </p:nvSpPr>
        <p:spPr>
          <a:xfrm>
            <a:off x="566928" y="5129784"/>
            <a:ext cx="11057839" cy="384048"/>
          </a:xfrm>
          <a:prstGeom prst="rect">
            <a:avLst/>
          </a:prstGeom>
          <a:solidFill>
            <a:srgbClr val="F5F7FA"/>
          </a:solidFill>
          <a:ln w="12700">
            <a:solidFill>
              <a:srgbClr val="F5F7FA"/>
            </a:solidFill>
            <a:prstDash val="solid"/>
          </a:ln>
        </p:spPr>
      </p:sp>
      <p:sp>
        <p:nvSpPr>
          <p:cNvPr id="29" name="Text 26"/>
          <p:cNvSpPr/>
          <p:nvPr/>
        </p:nvSpPr>
        <p:spPr>
          <a:xfrm>
            <a:off x="749808" y="5129784"/>
            <a:ext cx="4937760" cy="384048"/>
          </a:xfrm>
          <a:prstGeom prst="rect">
            <a:avLst/>
          </a:prstGeom>
          <a:noFill/>
          <a:ln/>
        </p:spPr>
        <p:txBody>
          <a:bodyPr wrap="square" lIns="0" tIns="0" rIns="0" bIns="0" rtlCol="0" anchor="ctr"/>
          <a:lstStyle/>
          <a:p>
            <a:pPr indent="0" marL="0">
              <a:buNone/>
            </a:pPr>
            <a:r>
              <a:rPr lang="en-US" sz="1200" b="1" dirty="0">
                <a:solidFill>
                  <a:srgbClr val="3A4557"/>
                </a:solidFill>
                <a:latin typeface="Calibri" pitchFamily="34" charset="0"/>
                <a:ea typeface="Calibri" pitchFamily="34" charset="-122"/>
                <a:cs typeface="Calibri" pitchFamily="34" charset="-120"/>
              </a:rPr>
              <a:t>Tier</a:t>
            </a:r>
            <a:endParaRPr lang="en-US" sz="1200" dirty="0"/>
          </a:p>
        </p:txBody>
      </p:sp>
      <p:sp>
        <p:nvSpPr>
          <p:cNvPr id="30" name="Text 27"/>
          <p:cNvSpPr/>
          <p:nvPr/>
        </p:nvSpPr>
        <p:spPr>
          <a:xfrm>
            <a:off x="5870448" y="5129784"/>
            <a:ext cx="2743200" cy="384048"/>
          </a:xfrm>
          <a:prstGeom prst="rect">
            <a:avLst/>
          </a:prstGeom>
          <a:noFill/>
          <a:ln/>
        </p:spPr>
        <p:txBody>
          <a:bodyPr wrap="square" lIns="0" tIns="0" rIns="0" bIns="0" rtlCol="0" anchor="ctr"/>
          <a:lstStyle/>
          <a:p>
            <a:pPr indent="0" marL="0">
              <a:buNone/>
            </a:pPr>
            <a:r>
              <a:rPr lang="en-US" sz="1200" dirty="0">
                <a:solidFill>
                  <a:srgbClr val="3A4557"/>
                </a:solidFill>
                <a:latin typeface="Calibri" pitchFamily="34" charset="0"/>
                <a:ea typeface="Calibri" pitchFamily="34" charset="-122"/>
                <a:cs typeface="Calibri" pitchFamily="34" charset="-120"/>
              </a:rPr>
              <a:t>inferred from environment</a:t>
            </a:r>
            <a:endParaRPr lang="en-US" sz="1200" dirty="0"/>
          </a:p>
        </p:txBody>
      </p:sp>
      <p:sp>
        <p:nvSpPr>
          <p:cNvPr id="31" name="Text 28"/>
          <p:cNvSpPr/>
          <p:nvPr/>
        </p:nvSpPr>
        <p:spPr>
          <a:xfrm>
            <a:off x="8705088" y="5129784"/>
            <a:ext cx="2834640" cy="384048"/>
          </a:xfrm>
          <a:prstGeom prst="rect">
            <a:avLst/>
          </a:prstGeom>
          <a:noFill/>
          <a:ln/>
        </p:spPr>
        <p:txBody>
          <a:bodyPr wrap="square" lIns="0" tIns="0" rIns="0" bIns="0" rtlCol="0" anchor="ctr"/>
          <a:lstStyle/>
          <a:p>
            <a:pPr indent="0" marL="0">
              <a:buNone/>
            </a:pPr>
            <a:r>
              <a:rPr lang="en-US" sz="1200" dirty="0">
                <a:solidFill>
                  <a:srgbClr val="1D5C59"/>
                </a:solidFill>
                <a:latin typeface="Calibri" pitchFamily="34" charset="0"/>
                <a:ea typeface="Calibri" pitchFamily="34" charset="-122"/>
                <a:cs typeface="Calibri" pitchFamily="34" charset="-120"/>
              </a:rPr>
              <a:t>your business decision</a:t>
            </a:r>
            <a:endParaRPr lang="en-US" sz="1200" dirty="0"/>
          </a:p>
        </p:txBody>
      </p:sp>
      <p:sp>
        <p:nvSpPr>
          <p:cNvPr id="32" name="Text 29"/>
          <p:cNvSpPr/>
          <p:nvPr/>
        </p:nvSpPr>
        <p:spPr>
          <a:xfrm>
            <a:off x="749808" y="5513832"/>
            <a:ext cx="4937760" cy="384048"/>
          </a:xfrm>
          <a:prstGeom prst="rect">
            <a:avLst/>
          </a:prstGeom>
          <a:noFill/>
          <a:ln/>
        </p:spPr>
        <p:txBody>
          <a:bodyPr wrap="square" lIns="0" tIns="0" rIns="0" bIns="0" rtlCol="0" anchor="ctr"/>
          <a:lstStyle/>
          <a:p>
            <a:pPr indent="0" marL="0">
              <a:buNone/>
            </a:pPr>
            <a:r>
              <a:rPr lang="en-US" sz="1200" b="1" dirty="0">
                <a:solidFill>
                  <a:srgbClr val="3A4557"/>
                </a:solidFill>
                <a:latin typeface="Calibri" pitchFamily="34" charset="0"/>
                <a:ea typeface="Calibri" pitchFamily="34" charset="-122"/>
                <a:cs typeface="Calibri" pitchFamily="34" charset="-120"/>
              </a:rPr>
              <a:t>Per-service SLO (tier0)</a:t>
            </a:r>
            <a:endParaRPr lang="en-US" sz="1200" dirty="0"/>
          </a:p>
        </p:txBody>
      </p:sp>
      <p:sp>
        <p:nvSpPr>
          <p:cNvPr id="33" name="Text 30"/>
          <p:cNvSpPr/>
          <p:nvPr/>
        </p:nvSpPr>
        <p:spPr>
          <a:xfrm>
            <a:off x="5870448" y="5513832"/>
            <a:ext cx="2743200" cy="384048"/>
          </a:xfrm>
          <a:prstGeom prst="rect">
            <a:avLst/>
          </a:prstGeom>
          <a:noFill/>
          <a:ln/>
        </p:spPr>
        <p:txBody>
          <a:bodyPr wrap="square" lIns="0" tIns="0" rIns="0" bIns="0" rtlCol="0" anchor="ctr"/>
          <a:lstStyle/>
          <a:p>
            <a:pPr indent="0" marL="0">
              <a:buNone/>
            </a:pPr>
            <a:r>
              <a:rPr lang="en-US" sz="1200" dirty="0">
                <a:solidFill>
                  <a:srgbClr val="3A4557"/>
                </a:solidFill>
                <a:latin typeface="Calibri" pitchFamily="34" charset="0"/>
                <a:ea typeface="Calibri" pitchFamily="34" charset="-122"/>
                <a:cs typeface="Calibri" pitchFamily="34" charset="-120"/>
              </a:rPr>
              <a:t>—</a:t>
            </a:r>
            <a:endParaRPr lang="en-US" sz="1200" dirty="0"/>
          </a:p>
        </p:txBody>
      </p:sp>
      <p:sp>
        <p:nvSpPr>
          <p:cNvPr id="34" name="Text 31"/>
          <p:cNvSpPr/>
          <p:nvPr/>
        </p:nvSpPr>
        <p:spPr>
          <a:xfrm>
            <a:off x="8705088" y="5513832"/>
            <a:ext cx="2834640" cy="384048"/>
          </a:xfrm>
          <a:prstGeom prst="rect">
            <a:avLst/>
          </a:prstGeom>
          <a:noFill/>
          <a:ln/>
        </p:spPr>
        <p:txBody>
          <a:bodyPr wrap="square" lIns="0" tIns="0" rIns="0" bIns="0" rtlCol="0" anchor="ctr"/>
          <a:lstStyle/>
          <a:p>
            <a:pPr indent="0" marL="0">
              <a:buNone/>
            </a:pPr>
            <a:r>
              <a:rPr lang="en-US" sz="1200" dirty="0">
                <a:solidFill>
                  <a:srgbClr val="1D5C59"/>
                </a:solidFill>
                <a:latin typeface="Calibri" pitchFamily="34" charset="0"/>
                <a:ea typeface="Calibri" pitchFamily="34" charset="-122"/>
                <a:cs typeface="Calibri" pitchFamily="34" charset="-120"/>
              </a:rPr>
              <a:t>yes</a:t>
            </a:r>
            <a:endParaRPr lang="en-US" sz="1200" dirty="0"/>
          </a:p>
        </p:txBody>
      </p:sp>
      <p:sp>
        <p:nvSpPr>
          <p:cNvPr id="35" name="Shape 32"/>
          <p:cNvSpPr/>
          <p:nvPr/>
        </p:nvSpPr>
        <p:spPr>
          <a:xfrm>
            <a:off x="566928" y="5897880"/>
            <a:ext cx="11057839" cy="384048"/>
          </a:xfrm>
          <a:prstGeom prst="rect">
            <a:avLst/>
          </a:prstGeom>
          <a:solidFill>
            <a:srgbClr val="F5F7FA"/>
          </a:solidFill>
          <a:ln w="12700">
            <a:solidFill>
              <a:srgbClr val="F5F7FA"/>
            </a:solidFill>
            <a:prstDash val="solid"/>
          </a:ln>
        </p:spPr>
      </p:sp>
      <p:sp>
        <p:nvSpPr>
          <p:cNvPr id="36" name="Text 33"/>
          <p:cNvSpPr/>
          <p:nvPr/>
        </p:nvSpPr>
        <p:spPr>
          <a:xfrm>
            <a:off x="749808" y="5897880"/>
            <a:ext cx="4937760" cy="384048"/>
          </a:xfrm>
          <a:prstGeom prst="rect">
            <a:avLst/>
          </a:prstGeom>
          <a:noFill/>
          <a:ln/>
        </p:spPr>
        <p:txBody>
          <a:bodyPr wrap="square" lIns="0" tIns="0" rIns="0" bIns="0" rtlCol="0" anchor="ctr"/>
          <a:lstStyle/>
          <a:p>
            <a:pPr indent="0" marL="0">
              <a:buNone/>
            </a:pPr>
            <a:r>
              <a:rPr lang="en-US" sz="1200" b="1" dirty="0">
                <a:solidFill>
                  <a:srgbClr val="3A4557"/>
                </a:solidFill>
                <a:latin typeface="Calibri" pitchFamily="34" charset="0"/>
                <a:ea typeface="Calibri" pitchFamily="34" charset="-122"/>
                <a:cs typeface="Calibri" pitchFamily="34" charset="-120"/>
              </a:rPr>
              <a:t>Appears in coverage as owned</a:t>
            </a:r>
            <a:endParaRPr lang="en-US" sz="1200" dirty="0"/>
          </a:p>
        </p:txBody>
      </p:sp>
      <p:sp>
        <p:nvSpPr>
          <p:cNvPr id="37" name="Text 34"/>
          <p:cNvSpPr/>
          <p:nvPr/>
        </p:nvSpPr>
        <p:spPr>
          <a:xfrm>
            <a:off x="5870448" y="5897880"/>
            <a:ext cx="2743200" cy="384048"/>
          </a:xfrm>
          <a:prstGeom prst="rect">
            <a:avLst/>
          </a:prstGeom>
          <a:noFill/>
          <a:ln/>
        </p:spPr>
        <p:txBody>
          <a:bodyPr wrap="square" lIns="0" tIns="0" rIns="0" bIns="0" rtlCol="0" anchor="ctr"/>
          <a:lstStyle/>
          <a:p>
            <a:pPr indent="0" marL="0">
              <a:buNone/>
            </a:pPr>
            <a:r>
              <a:rPr lang="en-US" sz="1200" dirty="0">
                <a:solidFill>
                  <a:srgbClr val="3A4557"/>
                </a:solidFill>
                <a:latin typeface="Calibri" pitchFamily="34" charset="0"/>
                <a:ea typeface="Calibri" pitchFamily="34" charset="-122"/>
                <a:cs typeface="Calibri" pitchFamily="34" charset="-120"/>
              </a:rPr>
              <a:t>no — a C2 violation</a:t>
            </a:r>
            <a:endParaRPr lang="en-US" sz="1200" dirty="0"/>
          </a:p>
        </p:txBody>
      </p:sp>
      <p:sp>
        <p:nvSpPr>
          <p:cNvPr id="38" name="Text 35"/>
          <p:cNvSpPr/>
          <p:nvPr/>
        </p:nvSpPr>
        <p:spPr>
          <a:xfrm>
            <a:off x="8705088" y="5897880"/>
            <a:ext cx="2834640" cy="384048"/>
          </a:xfrm>
          <a:prstGeom prst="rect">
            <a:avLst/>
          </a:prstGeom>
          <a:noFill/>
          <a:ln/>
        </p:spPr>
        <p:txBody>
          <a:bodyPr wrap="square" lIns="0" tIns="0" rIns="0" bIns="0" rtlCol="0" anchor="ctr"/>
          <a:lstStyle/>
          <a:p>
            <a:pPr indent="0" marL="0">
              <a:buNone/>
            </a:pPr>
            <a:r>
              <a:rPr lang="en-US" sz="1200" dirty="0">
                <a:solidFill>
                  <a:srgbClr val="1D5C59"/>
                </a:solidFill>
                <a:latin typeface="Calibri" pitchFamily="34" charset="0"/>
                <a:ea typeface="Calibri" pitchFamily="34" charset="-122"/>
                <a:cs typeface="Calibri" pitchFamily="34" charset="-120"/>
              </a:rPr>
              <a:t>yes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8778240" cy="256032"/>
          </a:xfrm>
          <a:prstGeom prst="rect">
            <a:avLst/>
          </a:prstGeom>
          <a:noFill/>
          <a:ln/>
        </p:spPr>
        <p:txBody>
          <a:bodyPr wrap="square" lIns="0" tIns="0" rIns="0" bIns="0" rtlCol="0" anchor="ctr"/>
          <a:lstStyle/>
          <a:p>
            <a:pPr indent="0" marL="0">
              <a:buNone/>
            </a:pPr>
            <a:r>
              <a:rPr lang="en-US" sz="1050" b="1" spc="160" kern="0" dirty="0">
                <a:solidFill>
                  <a:srgbClr val="B87914"/>
                </a:solidFill>
                <a:latin typeface="Calibri" pitchFamily="34" charset="0"/>
                <a:ea typeface="Calibri" pitchFamily="34" charset="-122"/>
                <a:cs typeface="Calibri" pitchFamily="34" charset="-120"/>
              </a:rPr>
              <a:t>TOPIC 6</a:t>
            </a:r>
            <a:endParaRPr lang="en-US" sz="1050" dirty="0"/>
          </a:p>
        </p:txBody>
      </p:sp>
      <p:sp>
        <p:nvSpPr>
          <p:cNvPr id="3" name="Text 1"/>
          <p:cNvSpPr/>
          <p:nvPr/>
        </p:nvSpPr>
        <p:spPr>
          <a:xfrm>
            <a:off x="566928" y="694944"/>
            <a:ext cx="10424160" cy="786384"/>
          </a:xfrm>
          <a:prstGeom prst="rect">
            <a:avLst/>
          </a:prstGeom>
          <a:noFill/>
          <a:ln/>
        </p:spPr>
        <p:txBody>
          <a:bodyPr wrap="square" lIns="0" tIns="0" rIns="0" bIns="0" rtlCol="0" anchor="ctr"/>
          <a:lstStyle/>
          <a:p>
            <a:pPr indent="0" marL="0">
              <a:buNone/>
            </a:pPr>
            <a:r>
              <a:rPr lang="en-US" sz="3100" b="1" dirty="0">
                <a:solidFill>
                  <a:srgbClr val="161C28"/>
                </a:solidFill>
                <a:latin typeface="Cambria" pitchFamily="34" charset="0"/>
                <a:ea typeface="Cambria" pitchFamily="34" charset="-122"/>
                <a:cs typeface="Cambria" pitchFamily="34" charset="-120"/>
              </a:rPr>
              <a:t>The correct catalog entity model</a:t>
            </a:r>
            <a:endParaRPr lang="en-US" sz="3100" dirty="0"/>
          </a:p>
        </p:txBody>
      </p:sp>
      <p:sp>
        <p:nvSpPr>
          <p:cNvPr id="4" name="Text 2"/>
          <p:cNvSpPr/>
          <p:nvPr/>
        </p:nvSpPr>
        <p:spPr>
          <a:xfrm>
            <a:off x="566928" y="1481328"/>
            <a:ext cx="10698480" cy="457200"/>
          </a:xfrm>
          <a:prstGeom prst="rect">
            <a:avLst/>
          </a:prstGeom>
          <a:noFill/>
          <a:ln/>
        </p:spPr>
        <p:txBody>
          <a:bodyPr wrap="square" lIns="0" tIns="0" rIns="0" bIns="0" rtlCol="0" anchor="t"/>
          <a:lstStyle/>
          <a:p>
            <a:pPr indent="0" marL="0">
              <a:buNone/>
            </a:pPr>
            <a:r>
              <a:rPr lang="en-US" sz="1450" dirty="0">
                <a:solidFill>
                  <a:srgbClr val="3A4557"/>
                </a:solidFill>
                <a:latin typeface="Calibri" pitchFamily="34" charset="0"/>
                <a:ea typeface="Calibri" pitchFamily="34" charset="-122"/>
                <a:cs typeface="Calibri" pitchFamily="34" charset="-120"/>
              </a:rPr>
              <a:t>An estate is not a list of services. Until the catalog can say what kind of thing something is, ownership and impact questions have to be answered by a human.</a:t>
            </a:r>
            <a:endParaRPr lang="en-US" sz="1450" dirty="0"/>
          </a:p>
        </p:txBody>
      </p:sp>
      <p:sp>
        <p:nvSpPr>
          <p:cNvPr id="5" name="Shape 3"/>
          <p:cNvSpPr/>
          <p:nvPr/>
        </p:nvSpPr>
        <p:spPr>
          <a:xfrm>
            <a:off x="9608515" y="420624"/>
            <a:ext cx="2016252" cy="310896"/>
          </a:xfrm>
          <a:prstGeom prst="roundRect">
            <a:avLst>
              <a:gd name="adj" fmla="val 50000"/>
            </a:avLst>
          </a:prstGeom>
          <a:solidFill>
            <a:srgbClr val="DFE5EE"/>
          </a:solidFill>
          <a:ln w="12700">
            <a:solidFill>
              <a:srgbClr val="DFE5EE"/>
            </a:solidFill>
            <a:prstDash val="solid"/>
          </a:ln>
        </p:spPr>
      </p:sp>
      <p:sp>
        <p:nvSpPr>
          <p:cNvPr id="6" name="Text 4"/>
          <p:cNvSpPr/>
          <p:nvPr/>
        </p:nvSpPr>
        <p:spPr>
          <a:xfrm>
            <a:off x="9608515" y="420624"/>
            <a:ext cx="2016252" cy="310896"/>
          </a:xfrm>
          <a:prstGeom prst="rect">
            <a:avLst/>
          </a:prstGeom>
          <a:noFill/>
          <a:ln/>
        </p:spPr>
        <p:txBody>
          <a:bodyPr wrap="square" lIns="0" tIns="0" rIns="0" bIns="0" rtlCol="0" anchor="ctr"/>
          <a:lstStyle/>
          <a:p>
            <a:pPr algn="ctr" indent="0" marL="0">
              <a:buNone/>
            </a:pPr>
            <a:r>
              <a:rPr lang="en-US" sz="950" b="1" spc="100" kern="0" dirty="0">
                <a:solidFill>
                  <a:srgbClr val="5F7189"/>
                </a:solidFill>
                <a:latin typeface="Calibri" pitchFamily="34" charset="0"/>
                <a:ea typeface="Calibri" pitchFamily="34" charset="-122"/>
                <a:cs typeface="Calibri" pitchFamily="34" charset="-120"/>
              </a:rPr>
              <a:t>ROADMAP · PHASE 1</a:t>
            </a:r>
            <a:endParaRPr lang="en-US" sz="950" dirty="0"/>
          </a:p>
        </p:txBody>
      </p:sp>
      <p:sp>
        <p:nvSpPr>
          <p:cNvPr id="7" name="Text 5"/>
          <p:cNvSpPr/>
          <p:nvPr/>
        </p:nvSpPr>
        <p:spPr>
          <a:xfrm>
            <a:off x="566928" y="6345936"/>
            <a:ext cx="7315200" cy="274320"/>
          </a:xfrm>
          <a:prstGeom prst="rect">
            <a:avLst/>
          </a:prstGeom>
          <a:noFill/>
          <a:ln/>
        </p:spPr>
        <p:txBody>
          <a:bodyPr wrap="square" lIns="0" tIns="0" rIns="0" bIns="0" rtlCol="0" anchor="ctr"/>
          <a:lstStyle/>
          <a:p>
            <a:pPr indent="0" marL="0">
              <a:buNone/>
            </a:pPr>
            <a:r>
              <a:rPr lang="en-US" sz="900" dirty="0">
                <a:solidFill>
                  <a:srgbClr val="6B7891"/>
                </a:solidFill>
                <a:latin typeface="Calibri" pitchFamily="34" charset="0"/>
                <a:ea typeface="Calibri" pitchFamily="34" charset="-122"/>
                <a:cs typeface="Calibri" pitchFamily="34" charset="-120"/>
              </a:rPr>
              <a:t>Enterprise Observability  ·  policy-as-data on Datadog</a:t>
            </a:r>
            <a:endParaRPr lang="en-US" sz="900" dirty="0"/>
          </a:p>
        </p:txBody>
      </p:sp>
      <p:sp>
        <p:nvSpPr>
          <p:cNvPr id="8" name="Text 6"/>
          <p:cNvSpPr/>
          <p:nvPr/>
        </p:nvSpPr>
        <p:spPr>
          <a:xfrm>
            <a:off x="10710367" y="6345936"/>
            <a:ext cx="914400" cy="274320"/>
          </a:xfrm>
          <a:prstGeom prst="rect">
            <a:avLst/>
          </a:prstGeom>
          <a:noFill/>
          <a:ln/>
        </p:spPr>
        <p:txBody>
          <a:bodyPr wrap="square" lIns="0" tIns="0" rIns="0" bIns="0" rtlCol="0" anchor="ctr"/>
          <a:lstStyle/>
          <a:p>
            <a:pPr algn="r" indent="0" marL="0">
              <a:buNone/>
            </a:pPr>
            <a:r>
              <a:rPr lang="en-US" sz="900" dirty="0">
                <a:solidFill>
                  <a:srgbClr val="6B7891"/>
                </a:solidFill>
                <a:latin typeface="Calibri" pitchFamily="34" charset="0"/>
                <a:ea typeface="Calibri" pitchFamily="34" charset="-122"/>
                <a:cs typeface="Calibri" pitchFamily="34" charset="-120"/>
              </a:rPr>
              <a:t>11</a:t>
            </a:r>
            <a:endParaRPr lang="en-US" sz="900" dirty="0"/>
          </a:p>
        </p:txBody>
      </p:sp>
      <p:sp>
        <p:nvSpPr>
          <p:cNvPr id="10" name="Shape 7"/>
          <p:cNvSpPr/>
          <p:nvPr/>
        </p:nvSpPr>
        <p:spPr>
          <a:xfrm>
            <a:off x="566928" y="2148840"/>
            <a:ext cx="5349240" cy="1828800"/>
          </a:xfrm>
          <a:prstGeom prst="roundRect">
            <a:avLst>
              <a:gd name="adj" fmla="val 3500"/>
            </a:avLst>
          </a:prstGeom>
          <a:solidFill>
            <a:srgbClr val="F3F4F6"/>
          </a:solidFill>
          <a:ln w="12700">
            <a:solidFill>
              <a:srgbClr val="F3F4F6"/>
            </a:solidFill>
            <a:prstDash val="solid"/>
          </a:ln>
        </p:spPr>
      </p:sp>
      <p:sp>
        <p:nvSpPr>
          <p:cNvPr id="11" name="Text 8"/>
          <p:cNvSpPr/>
          <p:nvPr/>
        </p:nvSpPr>
        <p:spPr>
          <a:xfrm>
            <a:off x="822960" y="2304288"/>
            <a:ext cx="4846320" cy="274320"/>
          </a:xfrm>
          <a:prstGeom prst="rect">
            <a:avLst/>
          </a:prstGeom>
          <a:noFill/>
          <a:ln/>
        </p:spPr>
        <p:txBody>
          <a:bodyPr wrap="square" lIns="0" tIns="0" rIns="0" bIns="0" rtlCol="0" anchor="ctr"/>
          <a:lstStyle/>
          <a:p>
            <a:pPr indent="0" marL="0">
              <a:buNone/>
            </a:pPr>
            <a:r>
              <a:rPr lang="en-US" sz="1050" b="1" spc="160" kern="0" dirty="0">
                <a:solidFill>
                  <a:srgbClr val="6B7891"/>
                </a:solidFill>
                <a:latin typeface="Calibri" pitchFamily="34" charset="0"/>
                <a:ea typeface="Calibri" pitchFamily="34" charset="-122"/>
                <a:cs typeface="Calibri" pitchFamily="34" charset="-120"/>
              </a:rPr>
              <a:t>TODAY</a:t>
            </a:r>
            <a:endParaRPr lang="en-US" sz="1050" dirty="0"/>
          </a:p>
        </p:txBody>
      </p:sp>
      <p:sp>
        <p:nvSpPr>
          <p:cNvPr id="12" name="Text 9"/>
          <p:cNvSpPr/>
          <p:nvPr/>
        </p:nvSpPr>
        <p:spPr>
          <a:xfrm>
            <a:off x="822960" y="2596896"/>
            <a:ext cx="4846320" cy="365760"/>
          </a:xfrm>
          <a:prstGeom prst="rect">
            <a:avLst/>
          </a:prstGeom>
          <a:noFill/>
          <a:ln/>
        </p:spPr>
        <p:txBody>
          <a:bodyPr wrap="square" lIns="0" tIns="0" rIns="0" bIns="0" rtlCol="0" anchor="ctr"/>
          <a:lstStyle/>
          <a:p>
            <a:pPr indent="0" marL="0">
              <a:buNone/>
            </a:pPr>
            <a:r>
              <a:rPr lang="en-US" sz="1700" b="1" dirty="0">
                <a:solidFill>
                  <a:srgbClr val="161C28"/>
                </a:solidFill>
                <a:latin typeface="Cambria" pitchFamily="34" charset="0"/>
                <a:ea typeface="Cambria" pitchFamily="34" charset="-122"/>
                <a:cs typeface="Cambria" pitchFamily="34" charset="-120"/>
              </a:rPr>
              <a:t>Every catalog object is a Service</a:t>
            </a:r>
            <a:endParaRPr lang="en-US" sz="1700" dirty="0"/>
          </a:p>
        </p:txBody>
      </p:sp>
      <p:sp>
        <p:nvSpPr>
          <p:cNvPr id="13" name="Text 10"/>
          <p:cNvSpPr/>
          <p:nvPr/>
        </p:nvSpPr>
        <p:spPr>
          <a:xfrm>
            <a:off x="822960" y="2999232"/>
            <a:ext cx="4846320" cy="822960"/>
          </a:xfrm>
          <a:prstGeom prst="rect">
            <a:avLst/>
          </a:prstGeom>
          <a:noFill/>
          <a:ln/>
        </p:spPr>
        <p:txBody>
          <a:bodyPr wrap="square" lIns="0" tIns="0" rIns="0" bIns="0" rtlCol="0" anchor="t"/>
          <a:lstStyle/>
          <a:p>
            <a:pPr indent="0" marL="0">
              <a:buNone/>
            </a:pPr>
            <a:r>
              <a:rPr lang="en-US" sz="1200" dirty="0">
                <a:solidFill>
                  <a:srgbClr val="3A4557"/>
                </a:solidFill>
                <a:latin typeface="Calibri" pitchFamily="34" charset="0"/>
                <a:ea typeface="Calibri" pitchFamily="34" charset="-122"/>
                <a:cs typeface="Calibri" pitchFamily="34" charset="-120"/>
              </a:rPr>
              <a:t>The module emits service definitions only. A database, a queue or a gateway exists in the platform as a tag on a monitor, not as an entity with dependencies and an owner.</a:t>
            </a:r>
            <a:endParaRPr lang="en-US" sz="1200" dirty="0"/>
          </a:p>
        </p:txBody>
      </p:sp>
      <p:sp>
        <p:nvSpPr>
          <p:cNvPr id="14" name="Shape 11"/>
          <p:cNvSpPr/>
          <p:nvPr/>
        </p:nvSpPr>
        <p:spPr>
          <a:xfrm>
            <a:off x="6281928" y="2148840"/>
            <a:ext cx="5349240" cy="1828800"/>
          </a:xfrm>
          <a:prstGeom prst="roundRect">
            <a:avLst>
              <a:gd name="adj" fmla="val 3500"/>
            </a:avLst>
          </a:prstGeom>
          <a:solidFill>
            <a:srgbClr val="12161F"/>
          </a:solidFill>
          <a:ln w="12700">
            <a:solidFill>
              <a:srgbClr val="12161F"/>
            </a:solidFill>
            <a:prstDash val="solid"/>
          </a:ln>
        </p:spPr>
      </p:sp>
      <p:sp>
        <p:nvSpPr>
          <p:cNvPr id="15" name="Text 12"/>
          <p:cNvSpPr/>
          <p:nvPr/>
        </p:nvSpPr>
        <p:spPr>
          <a:xfrm>
            <a:off x="6537960" y="2304288"/>
            <a:ext cx="4846320" cy="274320"/>
          </a:xfrm>
          <a:prstGeom prst="rect">
            <a:avLst/>
          </a:prstGeom>
          <a:noFill/>
          <a:ln/>
        </p:spPr>
        <p:txBody>
          <a:bodyPr wrap="square" lIns="0" tIns="0" rIns="0" bIns="0" rtlCol="0" anchor="ctr"/>
          <a:lstStyle/>
          <a:p>
            <a:pPr indent="0" marL="0">
              <a:buNone/>
            </a:pPr>
            <a:r>
              <a:rPr lang="en-US" sz="1050" b="1" spc="160" kern="0" dirty="0">
                <a:solidFill>
                  <a:srgbClr val="E09A2E"/>
                </a:solidFill>
                <a:latin typeface="Calibri" pitchFamily="34" charset="0"/>
                <a:ea typeface="Calibri" pitchFamily="34" charset="-122"/>
                <a:cs typeface="Calibri" pitchFamily="34" charset="-120"/>
              </a:rPr>
              <a:t>TARGET — PHASE 1</a:t>
            </a:r>
            <a:endParaRPr lang="en-US" sz="1050" dirty="0"/>
          </a:p>
        </p:txBody>
      </p:sp>
      <p:sp>
        <p:nvSpPr>
          <p:cNvPr id="16" name="Text 13"/>
          <p:cNvSpPr/>
          <p:nvPr/>
        </p:nvSpPr>
        <p:spPr>
          <a:xfrm>
            <a:off x="6537960" y="2596896"/>
            <a:ext cx="4846320" cy="36576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Eight entity kinds, declared in YAML</a:t>
            </a:r>
            <a:endParaRPr lang="en-US" sz="1700" dirty="0"/>
          </a:p>
        </p:txBody>
      </p:sp>
      <p:sp>
        <p:nvSpPr>
          <p:cNvPr id="17" name="Text 14"/>
          <p:cNvSpPr/>
          <p:nvPr/>
        </p:nvSpPr>
        <p:spPr>
          <a:xfrm>
            <a:off x="6537960" y="2999232"/>
            <a:ext cx="4846320" cy="822960"/>
          </a:xfrm>
          <a:prstGeom prst="rect">
            <a:avLst/>
          </a:prstGeom>
          <a:noFill/>
          <a:ln/>
        </p:spPr>
        <p:txBody>
          <a:bodyPr wrap="square" lIns="0" tIns="0" rIns="0" bIns="0" rtlCol="0" anchor="t"/>
          <a:lstStyle/>
          <a:p>
            <a:pPr indent="0" marL="0">
              <a:buNone/>
            </a:pPr>
            <a:r>
              <a:rPr lang="en-US" sz="1200" dirty="0">
                <a:solidFill>
                  <a:srgbClr val="A9B6CB"/>
                </a:solidFill>
                <a:latin typeface="Calibri" pitchFamily="34" charset="0"/>
                <a:ea typeface="Calibri" pitchFamily="34" charset="-122"/>
                <a:cs typeface="Calibri" pitchFamily="34" charset="-120"/>
              </a:rPr>
              <a:t>System · Datastore · Queue · API · Endpoint · Frontend App · Repository · External Provider — Datadog's v3 kinds, with kind: added to the entity schema and an entity resolver behind it.</a:t>
            </a:r>
            <a:endParaRPr lang="en-US" sz="1200" dirty="0"/>
          </a:p>
        </p:txBody>
      </p:sp>
      <p:sp>
        <p:nvSpPr>
          <p:cNvPr id="18" name="Shape 15"/>
          <p:cNvSpPr/>
          <p:nvPr/>
        </p:nvSpPr>
        <p:spPr>
          <a:xfrm>
            <a:off x="566928" y="4160520"/>
            <a:ext cx="3527450" cy="1600200"/>
          </a:xfrm>
          <a:prstGeom prst="roundRect">
            <a:avLst>
              <a:gd name="adj" fmla="val 3429"/>
            </a:avLst>
          </a:prstGeom>
          <a:solidFill>
            <a:srgbClr val="EFF2F6"/>
          </a:solidFill>
          <a:ln w="12700">
            <a:solidFill>
              <a:srgbClr val="EFF2F6"/>
            </a:solidFill>
            <a:prstDash val="solid"/>
          </a:ln>
        </p:spPr>
      </p:sp>
      <p:sp>
        <p:nvSpPr>
          <p:cNvPr id="19" name="Text 16"/>
          <p:cNvSpPr/>
          <p:nvPr/>
        </p:nvSpPr>
        <p:spPr>
          <a:xfrm>
            <a:off x="768096" y="4306824"/>
            <a:ext cx="3125114" cy="347472"/>
          </a:xfrm>
          <a:prstGeom prst="rect">
            <a:avLst/>
          </a:prstGeom>
          <a:noFill/>
          <a:ln/>
        </p:spPr>
        <p:txBody>
          <a:bodyPr wrap="square" lIns="0" tIns="0" rIns="0" bIns="0" rtlCol="0" anchor="t"/>
          <a:lstStyle/>
          <a:p>
            <a:pPr indent="0" marL="0">
              <a:buNone/>
            </a:pPr>
            <a:r>
              <a:rPr lang="en-US" sz="1450" b="1" dirty="0">
                <a:solidFill>
                  <a:srgbClr val="161C28"/>
                </a:solidFill>
                <a:latin typeface="Calibri" pitchFamily="34" charset="0"/>
                <a:ea typeface="Calibri" pitchFamily="34" charset="-122"/>
                <a:cs typeface="Calibri" pitchFamily="34" charset="-120"/>
              </a:rPr>
              <a:t>What the gap costs</a:t>
            </a:r>
            <a:endParaRPr lang="en-US" sz="1450" dirty="0"/>
          </a:p>
        </p:txBody>
      </p:sp>
      <p:sp>
        <p:nvSpPr>
          <p:cNvPr id="20" name="Text 17"/>
          <p:cNvSpPr/>
          <p:nvPr/>
        </p:nvSpPr>
        <p:spPr>
          <a:xfrm>
            <a:off x="768096" y="4690872"/>
            <a:ext cx="3125114" cy="923544"/>
          </a:xfrm>
          <a:prstGeom prst="rect">
            <a:avLst/>
          </a:prstGeom>
          <a:noFill/>
          <a:ln/>
        </p:spPr>
        <p:txBody>
          <a:bodyPr wrap="square" lIns="0" tIns="0" rIns="0" bIns="0" rtlCol="0" anchor="t"/>
          <a:lstStyle/>
          <a:p>
            <a:pPr indent="0" marL="0">
              <a:lnSpc>
                <a:spcPct val="102000"/>
              </a:lnSpc>
              <a:buNone/>
            </a:pPr>
            <a:r>
              <a:rPr lang="en-US" sz="1150" dirty="0">
                <a:solidFill>
                  <a:srgbClr val="3A4557"/>
                </a:solidFill>
                <a:latin typeface="Calibri" pitchFamily="34" charset="0"/>
                <a:ea typeface="Calibri" pitchFamily="34" charset="-122"/>
                <a:cs typeface="Calibri" pitchFamily="34" charset="-120"/>
              </a:rPr>
              <a:t>"Which systems depend on this database?" and "what is the blast radius of this queue?" are answered by a human who knows the estate — not by the catalog.</a:t>
            </a:r>
            <a:endParaRPr lang="en-US" sz="1150" dirty="0"/>
          </a:p>
        </p:txBody>
      </p:sp>
      <p:sp>
        <p:nvSpPr>
          <p:cNvPr id="21" name="Shape 18"/>
          <p:cNvSpPr/>
          <p:nvPr/>
        </p:nvSpPr>
        <p:spPr>
          <a:xfrm>
            <a:off x="4332122" y="4160520"/>
            <a:ext cx="3527450" cy="1600200"/>
          </a:xfrm>
          <a:prstGeom prst="roundRect">
            <a:avLst>
              <a:gd name="adj" fmla="val 3429"/>
            </a:avLst>
          </a:prstGeom>
          <a:solidFill>
            <a:srgbClr val="EFF2F6"/>
          </a:solidFill>
          <a:ln w="12700">
            <a:solidFill>
              <a:srgbClr val="EFF2F6"/>
            </a:solidFill>
            <a:prstDash val="solid"/>
          </a:ln>
        </p:spPr>
      </p:sp>
      <p:sp>
        <p:nvSpPr>
          <p:cNvPr id="22" name="Text 19"/>
          <p:cNvSpPr/>
          <p:nvPr/>
        </p:nvSpPr>
        <p:spPr>
          <a:xfrm>
            <a:off x="4533290" y="4306824"/>
            <a:ext cx="3125114" cy="347472"/>
          </a:xfrm>
          <a:prstGeom prst="rect">
            <a:avLst/>
          </a:prstGeom>
          <a:noFill/>
          <a:ln/>
        </p:spPr>
        <p:txBody>
          <a:bodyPr wrap="square" lIns="0" tIns="0" rIns="0" bIns="0" rtlCol="0" anchor="t"/>
          <a:lstStyle/>
          <a:p>
            <a:pPr indent="0" marL="0">
              <a:buNone/>
            </a:pPr>
            <a:r>
              <a:rPr lang="en-US" sz="1450" b="1" dirty="0">
                <a:solidFill>
                  <a:srgbClr val="161C28"/>
                </a:solidFill>
                <a:latin typeface="Calibri" pitchFamily="34" charset="0"/>
                <a:ea typeface="Calibri" pitchFamily="34" charset="-122"/>
                <a:cs typeface="Calibri" pitchFamily="34" charset="-120"/>
              </a:rPr>
              <a:t>What it does not cost</a:t>
            </a:r>
            <a:endParaRPr lang="en-US" sz="1450" dirty="0"/>
          </a:p>
        </p:txBody>
      </p:sp>
      <p:sp>
        <p:nvSpPr>
          <p:cNvPr id="23" name="Text 20"/>
          <p:cNvSpPr/>
          <p:nvPr/>
        </p:nvSpPr>
        <p:spPr>
          <a:xfrm>
            <a:off x="4533290" y="4690872"/>
            <a:ext cx="3125114" cy="923544"/>
          </a:xfrm>
          <a:prstGeom prst="rect">
            <a:avLst/>
          </a:prstGeom>
          <a:noFill/>
          <a:ln/>
        </p:spPr>
        <p:txBody>
          <a:bodyPr wrap="square" lIns="0" tIns="0" rIns="0" bIns="0" rtlCol="0" anchor="t"/>
          <a:lstStyle/>
          <a:p>
            <a:pPr indent="0" marL="0">
              <a:lnSpc>
                <a:spcPct val="102000"/>
              </a:lnSpc>
              <a:buNone/>
            </a:pPr>
            <a:r>
              <a:rPr lang="en-US" sz="1150" dirty="0">
                <a:solidFill>
                  <a:srgbClr val="3A4557"/>
                </a:solidFill>
                <a:latin typeface="Calibri" pitchFamily="34" charset="0"/>
                <a:ea typeface="Calibri" pitchFamily="34" charset="-122"/>
                <a:cs typeface="Calibri" pitchFamily="34" charset="-120"/>
              </a:rPr>
              <a:t>Detection. Coverage comes from tags, not from entity kinds. Every monitor works exactly as designed regardless of how the catalog models the thing.</a:t>
            </a:r>
            <a:endParaRPr lang="en-US" sz="1150" dirty="0"/>
          </a:p>
        </p:txBody>
      </p:sp>
      <p:sp>
        <p:nvSpPr>
          <p:cNvPr id="24" name="Shape 21"/>
          <p:cNvSpPr/>
          <p:nvPr/>
        </p:nvSpPr>
        <p:spPr>
          <a:xfrm>
            <a:off x="8097317" y="4160520"/>
            <a:ext cx="3527450" cy="1600200"/>
          </a:xfrm>
          <a:prstGeom prst="roundRect">
            <a:avLst>
              <a:gd name="adj" fmla="val 3429"/>
            </a:avLst>
          </a:prstGeom>
          <a:solidFill>
            <a:srgbClr val="EFF2F6"/>
          </a:solidFill>
          <a:ln w="12700">
            <a:solidFill>
              <a:srgbClr val="EFF2F6"/>
            </a:solidFill>
            <a:prstDash val="solid"/>
          </a:ln>
        </p:spPr>
      </p:sp>
      <p:sp>
        <p:nvSpPr>
          <p:cNvPr id="25" name="Text 22"/>
          <p:cNvSpPr/>
          <p:nvPr/>
        </p:nvSpPr>
        <p:spPr>
          <a:xfrm>
            <a:off x="8298485" y="4306824"/>
            <a:ext cx="3125114" cy="347472"/>
          </a:xfrm>
          <a:prstGeom prst="rect">
            <a:avLst/>
          </a:prstGeom>
          <a:noFill/>
          <a:ln/>
        </p:spPr>
        <p:txBody>
          <a:bodyPr wrap="square" lIns="0" tIns="0" rIns="0" bIns="0" rtlCol="0" anchor="t"/>
          <a:lstStyle/>
          <a:p>
            <a:pPr indent="0" marL="0">
              <a:buNone/>
            </a:pPr>
            <a:r>
              <a:rPr lang="en-US" sz="1450" b="1" dirty="0">
                <a:solidFill>
                  <a:srgbClr val="161C28"/>
                </a:solidFill>
                <a:latin typeface="Calibri" pitchFamily="34" charset="0"/>
                <a:ea typeface="Calibri" pitchFamily="34" charset="-122"/>
                <a:cs typeface="Calibri" pitchFamily="34" charset="-120"/>
              </a:rPr>
              <a:t>The reconciliation number</a:t>
            </a:r>
            <a:endParaRPr lang="en-US" sz="1450" dirty="0"/>
          </a:p>
        </p:txBody>
      </p:sp>
      <p:sp>
        <p:nvSpPr>
          <p:cNvPr id="26" name="Text 23"/>
          <p:cNvSpPr/>
          <p:nvPr/>
        </p:nvSpPr>
        <p:spPr>
          <a:xfrm>
            <a:off x="8298485" y="4690872"/>
            <a:ext cx="3125114" cy="923544"/>
          </a:xfrm>
          <a:prstGeom prst="rect">
            <a:avLst/>
          </a:prstGeom>
          <a:noFill/>
          <a:ln/>
        </p:spPr>
        <p:txBody>
          <a:bodyPr wrap="square" lIns="0" tIns="0" rIns="0" bIns="0" rtlCol="0" anchor="t"/>
          <a:lstStyle/>
          <a:p>
            <a:pPr indent="0" marL="0">
              <a:lnSpc>
                <a:spcPct val="102000"/>
              </a:lnSpc>
              <a:buNone/>
            </a:pPr>
            <a:r>
              <a:rPr lang="en-US" sz="1150" dirty="0">
                <a:solidFill>
                  <a:srgbClr val="3A4557"/>
                </a:solidFill>
                <a:latin typeface="Calibri" pitchFamily="34" charset="0"/>
                <a:ea typeface="Calibri" pitchFamily="34" charset="-122"/>
                <a:cs typeface="Calibri" pitchFamily="34" charset="-120"/>
              </a:rPr>
              <a:t>The live catalog holds 27 entries; 3 are managed from this repository. Merging discovered entities with declared intent is the same phase-one work.</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8778240" cy="256032"/>
          </a:xfrm>
          <a:prstGeom prst="rect">
            <a:avLst/>
          </a:prstGeom>
          <a:noFill/>
          <a:ln/>
        </p:spPr>
        <p:txBody>
          <a:bodyPr wrap="square" lIns="0" tIns="0" rIns="0" bIns="0" rtlCol="0" anchor="ctr"/>
          <a:lstStyle/>
          <a:p>
            <a:pPr indent="0" marL="0">
              <a:buNone/>
            </a:pPr>
            <a:r>
              <a:rPr lang="en-US" sz="1050" b="1" spc="160" kern="0" dirty="0">
                <a:solidFill>
                  <a:srgbClr val="B87914"/>
                </a:solidFill>
                <a:latin typeface="Calibri" pitchFamily="34" charset="0"/>
                <a:ea typeface="Calibri" pitchFamily="34" charset="-122"/>
                <a:cs typeface="Calibri" pitchFamily="34" charset="-120"/>
              </a:rPr>
              <a:t>TOPIC 7</a:t>
            </a:r>
            <a:endParaRPr lang="en-US" sz="1050" dirty="0"/>
          </a:p>
        </p:txBody>
      </p:sp>
      <p:sp>
        <p:nvSpPr>
          <p:cNvPr id="3" name="Text 1"/>
          <p:cNvSpPr/>
          <p:nvPr/>
        </p:nvSpPr>
        <p:spPr>
          <a:xfrm>
            <a:off x="566928" y="694944"/>
            <a:ext cx="10424160" cy="786384"/>
          </a:xfrm>
          <a:prstGeom prst="rect">
            <a:avLst/>
          </a:prstGeom>
          <a:noFill/>
          <a:ln/>
        </p:spPr>
        <p:txBody>
          <a:bodyPr wrap="square" lIns="0" tIns="0" rIns="0" bIns="0" rtlCol="0" anchor="ctr"/>
          <a:lstStyle/>
          <a:p>
            <a:pPr indent="0" marL="0">
              <a:buNone/>
            </a:pPr>
            <a:r>
              <a:rPr lang="en-US" sz="3100" b="1" dirty="0">
                <a:solidFill>
                  <a:srgbClr val="161C28"/>
                </a:solidFill>
                <a:latin typeface="Cambria" pitchFamily="34" charset="0"/>
                <a:ea typeface="Cambria" pitchFamily="34" charset="-122"/>
                <a:cs typeface="Cambria" pitchFamily="34" charset="-120"/>
              </a:rPr>
              <a:t>How one YAML definition drives observability</a:t>
            </a:r>
            <a:endParaRPr lang="en-US" sz="3100" dirty="0"/>
          </a:p>
        </p:txBody>
      </p:sp>
      <p:sp>
        <p:nvSpPr>
          <p:cNvPr id="4" name="Text 2"/>
          <p:cNvSpPr/>
          <p:nvPr/>
        </p:nvSpPr>
        <p:spPr>
          <a:xfrm>
            <a:off x="566928" y="1481328"/>
            <a:ext cx="10698480" cy="457200"/>
          </a:xfrm>
          <a:prstGeom prst="rect">
            <a:avLst/>
          </a:prstGeom>
          <a:noFill/>
          <a:ln/>
        </p:spPr>
        <p:txBody>
          <a:bodyPr wrap="square" lIns="0" tIns="0" rIns="0" bIns="0" rtlCol="0" anchor="t"/>
          <a:lstStyle/>
          <a:p>
            <a:pPr indent="0" marL="0">
              <a:buNone/>
            </a:pPr>
            <a:r>
              <a:rPr lang="en-US" sz="1450" dirty="0">
                <a:solidFill>
                  <a:srgbClr val="3A4557"/>
                </a:solidFill>
                <a:latin typeface="Calibri" pitchFamily="34" charset="0"/>
                <a:ea typeface="Calibri" pitchFamily="34" charset="-122"/>
                <a:cs typeface="Calibri" pitchFamily="34" charset="-120"/>
              </a:rPr>
              <a:t>One archetype file describes a detection. The framework supplies naming, tags, priority, routing, runbook, automation, correlation, recovery and the SLO link — none of which the author writes.</a:t>
            </a:r>
            <a:endParaRPr lang="en-US" sz="1450" dirty="0"/>
          </a:p>
        </p:txBody>
      </p:sp>
      <p:sp>
        <p:nvSpPr>
          <p:cNvPr id="5" name="Shape 3"/>
          <p:cNvSpPr/>
          <p:nvPr/>
        </p:nvSpPr>
        <p:spPr>
          <a:xfrm>
            <a:off x="10568635" y="420624"/>
            <a:ext cx="1056132" cy="310896"/>
          </a:xfrm>
          <a:prstGeom prst="roundRect">
            <a:avLst>
              <a:gd name="adj" fmla="val 50000"/>
            </a:avLst>
          </a:prstGeom>
          <a:solidFill>
            <a:srgbClr val="27807C"/>
          </a:solidFill>
          <a:ln w="12700">
            <a:solidFill>
              <a:srgbClr val="27807C"/>
            </a:solidFill>
            <a:prstDash val="solid"/>
          </a:ln>
        </p:spPr>
      </p:sp>
      <p:sp>
        <p:nvSpPr>
          <p:cNvPr id="6" name="Text 4"/>
          <p:cNvSpPr/>
          <p:nvPr/>
        </p:nvSpPr>
        <p:spPr>
          <a:xfrm>
            <a:off x="10568635" y="420624"/>
            <a:ext cx="1056132" cy="310896"/>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SHIPPED</a:t>
            </a:r>
            <a:endParaRPr lang="en-US" sz="950" dirty="0"/>
          </a:p>
        </p:txBody>
      </p:sp>
      <p:sp>
        <p:nvSpPr>
          <p:cNvPr id="7" name="Text 5"/>
          <p:cNvSpPr/>
          <p:nvPr/>
        </p:nvSpPr>
        <p:spPr>
          <a:xfrm>
            <a:off x="566928" y="6345936"/>
            <a:ext cx="7315200" cy="274320"/>
          </a:xfrm>
          <a:prstGeom prst="rect">
            <a:avLst/>
          </a:prstGeom>
          <a:noFill/>
          <a:ln/>
        </p:spPr>
        <p:txBody>
          <a:bodyPr wrap="square" lIns="0" tIns="0" rIns="0" bIns="0" rtlCol="0" anchor="ctr"/>
          <a:lstStyle/>
          <a:p>
            <a:pPr indent="0" marL="0">
              <a:buNone/>
            </a:pPr>
            <a:r>
              <a:rPr lang="en-US" sz="900" dirty="0">
                <a:solidFill>
                  <a:srgbClr val="6B7891"/>
                </a:solidFill>
                <a:latin typeface="Calibri" pitchFamily="34" charset="0"/>
                <a:ea typeface="Calibri" pitchFamily="34" charset="-122"/>
                <a:cs typeface="Calibri" pitchFamily="34" charset="-120"/>
              </a:rPr>
              <a:t>Enterprise Observability  ·  policy-as-data on Datadog</a:t>
            </a:r>
            <a:endParaRPr lang="en-US" sz="900" dirty="0"/>
          </a:p>
        </p:txBody>
      </p:sp>
      <p:sp>
        <p:nvSpPr>
          <p:cNvPr id="8" name="Text 6"/>
          <p:cNvSpPr/>
          <p:nvPr/>
        </p:nvSpPr>
        <p:spPr>
          <a:xfrm>
            <a:off x="10710367" y="6345936"/>
            <a:ext cx="914400" cy="274320"/>
          </a:xfrm>
          <a:prstGeom prst="rect">
            <a:avLst/>
          </a:prstGeom>
          <a:noFill/>
          <a:ln/>
        </p:spPr>
        <p:txBody>
          <a:bodyPr wrap="square" lIns="0" tIns="0" rIns="0" bIns="0" rtlCol="0" anchor="ctr"/>
          <a:lstStyle/>
          <a:p>
            <a:pPr algn="r" indent="0" marL="0">
              <a:buNone/>
            </a:pPr>
            <a:r>
              <a:rPr lang="en-US" sz="900" dirty="0">
                <a:solidFill>
                  <a:srgbClr val="6B7891"/>
                </a:solidFill>
                <a:latin typeface="Calibri" pitchFamily="34" charset="0"/>
                <a:ea typeface="Calibri" pitchFamily="34" charset="-122"/>
                <a:cs typeface="Calibri" pitchFamily="34" charset="-120"/>
              </a:rPr>
              <a:t>12</a:t>
            </a:r>
            <a:endParaRPr lang="en-US" sz="900" dirty="0"/>
          </a:p>
        </p:txBody>
      </p:sp>
      <p:sp>
        <p:nvSpPr>
          <p:cNvPr id="10" name="Shape 7"/>
          <p:cNvSpPr/>
          <p:nvPr/>
        </p:nvSpPr>
        <p:spPr>
          <a:xfrm>
            <a:off x="566928" y="2286000"/>
            <a:ext cx="4114800" cy="3246120"/>
          </a:xfrm>
          <a:prstGeom prst="roundRect">
            <a:avLst>
              <a:gd name="adj" fmla="val 1972"/>
            </a:avLst>
          </a:prstGeom>
          <a:solidFill>
            <a:srgbClr val="12161F"/>
          </a:solidFill>
          <a:ln w="12700">
            <a:solidFill>
              <a:srgbClr val="12161F"/>
            </a:solidFill>
            <a:prstDash val="solid"/>
          </a:ln>
        </p:spPr>
      </p:sp>
      <p:sp>
        <p:nvSpPr>
          <p:cNvPr id="11" name="Text 8"/>
          <p:cNvSpPr/>
          <p:nvPr/>
        </p:nvSpPr>
        <p:spPr>
          <a:xfrm>
            <a:off x="804672" y="2432304"/>
            <a:ext cx="3657600" cy="256032"/>
          </a:xfrm>
          <a:prstGeom prst="rect">
            <a:avLst/>
          </a:prstGeom>
          <a:noFill/>
          <a:ln/>
        </p:spPr>
        <p:txBody>
          <a:bodyPr wrap="square" lIns="0" tIns="0" rIns="0" bIns="0" rtlCol="0" anchor="ctr"/>
          <a:lstStyle/>
          <a:p>
            <a:pPr indent="0" marL="0">
              <a:buNone/>
            </a:pPr>
            <a:r>
              <a:rPr lang="en-US" sz="950" b="1" spc="160" kern="0" dirty="0">
                <a:solidFill>
                  <a:srgbClr val="E09A2E"/>
                </a:solidFill>
                <a:latin typeface="Calibri" pitchFamily="34" charset="0"/>
                <a:ea typeface="Calibri" pitchFamily="34" charset="-122"/>
                <a:cs typeface="Calibri" pitchFamily="34" charset="-120"/>
              </a:rPr>
              <a:t>ONE ARCHETYPE FILE</a:t>
            </a:r>
            <a:endParaRPr lang="en-US" sz="950" dirty="0"/>
          </a:p>
        </p:txBody>
      </p:sp>
      <p:sp>
        <p:nvSpPr>
          <p:cNvPr id="12" name="Text 9"/>
          <p:cNvSpPr/>
          <p:nvPr/>
        </p:nvSpPr>
        <p:spPr>
          <a:xfrm>
            <a:off x="804672" y="2724912"/>
            <a:ext cx="3657600" cy="2651760"/>
          </a:xfrm>
          <a:prstGeom prst="rect">
            <a:avLst/>
          </a:prstGeom>
          <a:noFill/>
          <a:ln/>
        </p:spPr>
        <p:txBody>
          <a:bodyPr wrap="square" lIns="0" tIns="0" rIns="0" bIns="0" rtlCol="0" anchor="t"/>
          <a:lstStyle/>
          <a:p>
            <a:pPr indent="0" marL="0">
              <a:lnSpc>
                <a:spcPct val="108000"/>
              </a:lnSpc>
              <a:buNone/>
            </a:pPr>
            <a:r>
              <a:rPr lang="en-US" sz="1050" dirty="0">
                <a:solidFill>
                  <a:srgbClr val="D3DCE9"/>
                </a:solidFill>
                <a:latin typeface="Courier New" pitchFamily="34" charset="0"/>
                <a:ea typeface="Courier New" pitchFamily="34" charset="-122"/>
                <a:cs typeface="Courier New" pitchFamily="34" charset="-120"/>
              </a:rPr>
              <a:t>k8s-pod-crashloop:</a:t>
            </a:r>
            <a:endParaRPr lang="en-US" sz="1050" dirty="0"/>
          </a:p>
          <a:p>
            <a:pPr indent="0" marL="0">
              <a:lnSpc>
                <a:spcPct val="108000"/>
              </a:lnSpc>
              <a:buNone/>
            </a:pPr>
            <a:r>
              <a:rPr lang="en-US" sz="1050" dirty="0">
                <a:solidFill>
                  <a:srgbClr val="D3DCE9"/>
                </a:solidFill>
                <a:latin typeface="Courier New" pitchFamily="34" charset="0"/>
                <a:ea typeface="Courier New" pitchFamily="34" charset="-122"/>
                <a:cs typeface="Courier New" pitchFamily="34" charset="-120"/>
              </a:rPr>
              <a:t>  signal: availability</a:t>
            </a:r>
            <a:endParaRPr lang="en-US" sz="1050" dirty="0"/>
          </a:p>
          <a:p>
            <a:pPr indent="0" marL="0">
              <a:lnSpc>
                <a:spcPct val="108000"/>
              </a:lnSpc>
              <a:buNone/>
            </a:pPr>
            <a:r>
              <a:rPr lang="en-US" sz="1050" dirty="0">
                <a:solidFill>
                  <a:srgbClr val="D3DCE9"/>
                </a:solidFill>
                <a:latin typeface="Courier New" pitchFamily="34" charset="0"/>
                <a:ea typeface="Courier New" pitchFamily="34" charset="-122"/>
                <a:cs typeface="Courier New" pitchFamily="34" charset="-120"/>
              </a:rPr>
              <a:t>  impact_class: degradation</a:t>
            </a:r>
            <a:endParaRPr lang="en-US" sz="1050" dirty="0"/>
          </a:p>
          <a:p>
            <a:pPr indent="0" marL="0">
              <a:lnSpc>
                <a:spcPct val="108000"/>
              </a:lnSpc>
              <a:buNone/>
            </a:pPr>
            <a:r>
              <a:rPr lang="en-US" sz="1050" dirty="0">
                <a:solidFill>
                  <a:srgbClr val="D3DCE9"/>
                </a:solidFill>
                <a:latin typeface="Courier New" pitchFamily="34" charset="0"/>
                <a:ea typeface="Courier New" pitchFamily="34" charset="-122"/>
                <a:cs typeface="Courier New" pitchFamily="34" charset="-120"/>
              </a:rPr>
              <a:t>  detection: threshold</a:t>
            </a:r>
            <a:endParaRPr lang="en-US" sz="1050" dirty="0"/>
          </a:p>
          <a:p>
            <a:pPr indent="0" marL="0">
              <a:lnSpc>
                <a:spcPct val="108000"/>
              </a:lnSpc>
              <a:buNone/>
            </a:pPr>
            <a:r>
              <a:rPr lang="en-US" sz="1050" dirty="0">
                <a:solidFill>
                  <a:srgbClr val="D3DCE9"/>
                </a:solidFill>
                <a:latin typeface="Courier New" pitchFamily="34" charset="0"/>
                <a:ea typeface="Courier New" pitchFamily="34" charset="-122"/>
                <a:cs typeface="Courier New" pitchFamily="34" charset="-120"/>
              </a:rPr>
              <a:t>  query: '...{__SCOPE__,</a:t>
            </a:r>
            <a:endParaRPr lang="en-US" sz="1050" dirty="0"/>
          </a:p>
          <a:p>
            <a:pPr indent="0" marL="0">
              <a:lnSpc>
                <a:spcPct val="108000"/>
              </a:lnSpc>
              <a:buNone/>
            </a:pPr>
            <a:r>
              <a:rPr lang="en-US" sz="1050" dirty="0">
                <a:solidFill>
                  <a:srgbClr val="D3DCE9"/>
                </a:solidFill>
                <a:latin typeface="Courier New" pitchFamily="34" charset="0"/>
                <a:ea typeface="Courier New" pitchFamily="34" charset="-122"/>
                <a:cs typeface="Courier New" pitchFamily="34" charset="-120"/>
              </a:rPr>
              <a:t>     reason:crashloopbackoff}</a:t>
            </a:r>
            <a:endParaRPr lang="en-US" sz="1050" dirty="0"/>
          </a:p>
          <a:p>
            <a:pPr indent="0" marL="0">
              <a:lnSpc>
                <a:spcPct val="108000"/>
              </a:lnSpc>
              <a:buNone/>
            </a:pPr>
            <a:r>
              <a:rPr lang="en-US" sz="1050" dirty="0">
                <a:solidFill>
                  <a:srgbClr val="D3DCE9"/>
                </a:solidFill>
                <a:latin typeface="Courier New" pitchFamily="34" charset="0"/>
                <a:ea typeface="Courier New" pitchFamily="34" charset="-122"/>
                <a:cs typeface="Courier New" pitchFamily="34" charset="-120"/>
              </a:rPr>
              <a:t>     by {cluster,namespace,</a:t>
            </a:r>
            <a:endParaRPr lang="en-US" sz="1050" dirty="0"/>
          </a:p>
          <a:p>
            <a:pPr indent="0" marL="0">
              <a:lnSpc>
                <a:spcPct val="108000"/>
              </a:lnSpc>
              <a:buNone/>
            </a:pPr>
            <a:r>
              <a:rPr lang="en-US" sz="1050" dirty="0">
                <a:solidFill>
                  <a:srgbClr val="D3DCE9"/>
                </a:solidFill>
                <a:latin typeface="Courier New" pitchFamily="34" charset="0"/>
                <a:ea typeface="Courier New" pitchFamily="34" charset="-122"/>
                <a:cs typeface="Courier New" pitchFamily="34" charset="-120"/>
              </a:rPr>
              <a:t>     deployment} &gt;= 1'</a:t>
            </a:r>
            <a:endParaRPr lang="en-US" sz="1050" dirty="0"/>
          </a:p>
          <a:p>
            <a:pPr indent="0" marL="0">
              <a:lnSpc>
                <a:spcPct val="108000"/>
              </a:lnSpc>
              <a:buNone/>
            </a:pPr>
            <a:r>
              <a:rPr lang="en-US" sz="1050" dirty="0">
                <a:solidFill>
                  <a:srgbClr val="D3DCE9"/>
                </a:solidFill>
                <a:latin typeface="Courier New" pitchFamily="34" charset="0"/>
                <a:ea typeface="Courier New" pitchFamily="34" charset="-122"/>
                <a:cs typeface="Courier New" pitchFamily="34" charset="-120"/>
              </a:rPr>
              <a:t>  group_by: [cluster, ns, deploy]</a:t>
            </a:r>
            <a:endParaRPr lang="en-US" sz="1050" dirty="0"/>
          </a:p>
          <a:p>
            <a:pPr indent="0" marL="0">
              <a:lnSpc>
                <a:spcPct val="108000"/>
              </a:lnSpc>
              <a:buNone/>
            </a:pPr>
            <a:r>
              <a:rPr lang="en-US" sz="1050" dirty="0">
                <a:solidFill>
                  <a:srgbClr val="D3DCE9"/>
                </a:solidFill>
                <a:latin typeface="Courier New" pitchFamily="34" charset="0"/>
                <a:ea typeface="Courier New" pitchFamily="34" charset="-122"/>
                <a:cs typeface="Courier New" pitchFamily="34" charset="-120"/>
              </a:rPr>
              <a:t>  notify_by: [cluster]</a:t>
            </a:r>
            <a:endParaRPr lang="en-US" sz="1050" dirty="0"/>
          </a:p>
          <a:p>
            <a:pPr indent="0" marL="0">
              <a:lnSpc>
                <a:spcPct val="108000"/>
              </a:lnSpc>
              <a:buNone/>
            </a:pPr>
            <a:r>
              <a:rPr lang="en-US" sz="1050" dirty="0">
                <a:solidFill>
                  <a:srgbClr val="D3DCE9"/>
                </a:solidFill>
                <a:latin typeface="Courier New" pitchFamily="34" charset="0"/>
                <a:ea typeface="Courier New" pitchFamily="34" charset="-122"/>
                <a:cs typeface="Courier New" pitchFamily="34" charset="-120"/>
              </a:rPr>
              <a:t>  envs: [prod, stage, qa]</a:t>
            </a:r>
            <a:endParaRPr lang="en-US" sz="1050" dirty="0"/>
          </a:p>
          <a:p>
            <a:pPr indent="0" marL="0">
              <a:lnSpc>
                <a:spcPct val="108000"/>
              </a:lnSpc>
              <a:buNone/>
            </a:pPr>
            <a:r>
              <a:rPr lang="en-US" sz="1050" dirty="0">
                <a:solidFill>
                  <a:srgbClr val="D3DCE9"/>
                </a:solidFill>
                <a:latin typeface="Courier New" pitchFamily="34" charset="0"/>
                <a:ea typeface="Courier New" pitchFamily="34" charset="-122"/>
                <a:cs typeface="Courier New" pitchFamily="34" charset="-120"/>
              </a:rPr>
              <a:t>  bands: [critical, standard]</a:t>
            </a:r>
            <a:endParaRPr lang="en-US" sz="1050" dirty="0"/>
          </a:p>
          <a:p>
            <a:pPr indent="0" marL="0">
              <a:lnSpc>
                <a:spcPct val="108000"/>
              </a:lnSpc>
              <a:buNone/>
            </a:pPr>
            <a:r>
              <a:rPr lang="en-US" sz="1050" dirty="0">
                <a:solidFill>
                  <a:srgbClr val="D3DCE9"/>
                </a:solidFill>
                <a:latin typeface="Courier New" pitchFamily="34" charset="0"/>
                <a:ea typeface="Courier New" pitchFamily="34" charset="-122"/>
                <a:cs typeface="Courier New" pitchFamily="34" charset="-120"/>
              </a:rPr>
              <a:t>  slo_id: slo-k8s-availability</a:t>
            </a:r>
            <a:endParaRPr lang="en-US" sz="1050" dirty="0"/>
          </a:p>
          <a:p>
            <a:pPr indent="0" marL="0">
              <a:lnSpc>
                <a:spcPct val="108000"/>
              </a:lnSpc>
              <a:buNone/>
            </a:pPr>
            <a:r>
              <a:rPr lang="en-US" sz="1050" dirty="0">
                <a:solidFill>
                  <a:srgbClr val="D3DCE9"/>
                </a:solidFill>
                <a:latin typeface="Courier New" pitchFamily="34" charset="0"/>
                <a:ea typeface="Courier New" pitchFamily="34" charset="-122"/>
                <a:cs typeface="Courier New" pitchFamily="34" charset="-120"/>
              </a:rPr>
              <a:t>  runbook: k8s-pod-crashloop</a:t>
            </a:r>
            <a:endParaRPr lang="en-US" sz="1050" dirty="0"/>
          </a:p>
        </p:txBody>
      </p:sp>
      <p:sp>
        <p:nvSpPr>
          <p:cNvPr id="13" name="Shape 10"/>
          <p:cNvSpPr/>
          <p:nvPr/>
        </p:nvSpPr>
        <p:spPr>
          <a:xfrm>
            <a:off x="4882896" y="3794760"/>
            <a:ext cx="384048" cy="219456"/>
          </a:xfrm>
          <a:prstGeom prst="rightArrow">
            <a:avLst/>
          </a:prstGeom>
          <a:solidFill>
            <a:srgbClr val="E09A2E"/>
          </a:solidFill>
          <a:ln w="12700">
            <a:solidFill>
              <a:srgbClr val="E09A2E"/>
            </a:solidFill>
            <a:prstDash val="solid"/>
          </a:ln>
        </p:spPr>
      </p:sp>
      <p:sp>
        <p:nvSpPr>
          <p:cNvPr id="14" name="Text 11"/>
          <p:cNvSpPr/>
          <p:nvPr/>
        </p:nvSpPr>
        <p:spPr>
          <a:xfrm>
            <a:off x="5458968" y="2286000"/>
            <a:ext cx="6126480" cy="310896"/>
          </a:xfrm>
          <a:prstGeom prst="rect">
            <a:avLst/>
          </a:prstGeom>
          <a:noFill/>
          <a:ln/>
        </p:spPr>
        <p:txBody>
          <a:bodyPr wrap="square" lIns="0" tIns="0" rIns="0" bIns="0" rtlCol="0" anchor="ctr"/>
          <a:lstStyle/>
          <a:p>
            <a:pPr indent="0" marL="0">
              <a:buNone/>
            </a:pPr>
            <a:r>
              <a:rPr lang="en-US" sz="1400" b="1" dirty="0">
                <a:solidFill>
                  <a:srgbClr val="161C28"/>
                </a:solidFill>
                <a:latin typeface="Calibri" pitchFamily="34" charset="0"/>
                <a:ea typeface="Calibri" pitchFamily="34" charset="-122"/>
                <a:cs typeface="Calibri" pitchFamily="34" charset="-120"/>
              </a:rPr>
              <a:t>The framework derives, and CI enforces</a:t>
            </a:r>
            <a:endParaRPr lang="en-US" sz="1400" dirty="0"/>
          </a:p>
        </p:txBody>
      </p:sp>
      <p:sp>
        <p:nvSpPr>
          <p:cNvPr id="15" name="Shape 12"/>
          <p:cNvSpPr/>
          <p:nvPr/>
        </p:nvSpPr>
        <p:spPr>
          <a:xfrm>
            <a:off x="5458968" y="2670048"/>
            <a:ext cx="2926080" cy="384048"/>
          </a:xfrm>
          <a:prstGeom prst="roundRect">
            <a:avLst>
              <a:gd name="adj" fmla="val 11905"/>
            </a:avLst>
          </a:prstGeom>
          <a:solidFill>
            <a:srgbClr val="EFF2F6"/>
          </a:solidFill>
          <a:ln w="12700">
            <a:solidFill>
              <a:srgbClr val="EFF2F6"/>
            </a:solidFill>
            <a:prstDash val="solid"/>
          </a:ln>
        </p:spPr>
      </p:sp>
      <p:sp>
        <p:nvSpPr>
          <p:cNvPr id="16" name="Text 13"/>
          <p:cNvSpPr/>
          <p:nvPr/>
        </p:nvSpPr>
        <p:spPr>
          <a:xfrm>
            <a:off x="5596128" y="2670048"/>
            <a:ext cx="2697480" cy="384048"/>
          </a:xfrm>
          <a:prstGeom prst="rect">
            <a:avLst/>
          </a:prstGeom>
          <a:noFill/>
          <a:ln/>
        </p:spPr>
        <p:txBody>
          <a:bodyPr wrap="square" lIns="0" tIns="0" rIns="0" bIns="0" rtlCol="0" anchor="ctr"/>
          <a:lstStyle/>
          <a:p>
            <a:pPr indent="0" marL="0">
              <a:buNone/>
            </a:pPr>
            <a:r>
              <a:rPr lang="en-US" sz="1100" dirty="0">
                <a:solidFill>
                  <a:srgbClr val="3A4557"/>
                </a:solidFill>
                <a:latin typeface="Calibri" pitchFamily="34" charset="0"/>
                <a:ea typeface="Calibri" pitchFamily="34" charset="-122"/>
                <a:cs typeface="Calibri" pitchFamily="34" charset="-120"/>
              </a:rPr>
              <a:t>Monitor name + full tag set</a:t>
            </a:r>
            <a:endParaRPr lang="en-US" sz="1100" dirty="0"/>
          </a:p>
        </p:txBody>
      </p:sp>
      <p:sp>
        <p:nvSpPr>
          <p:cNvPr id="17" name="Shape 14"/>
          <p:cNvSpPr/>
          <p:nvPr/>
        </p:nvSpPr>
        <p:spPr>
          <a:xfrm>
            <a:off x="8567928" y="2670048"/>
            <a:ext cx="2926080" cy="384048"/>
          </a:xfrm>
          <a:prstGeom prst="roundRect">
            <a:avLst>
              <a:gd name="adj" fmla="val 11905"/>
            </a:avLst>
          </a:prstGeom>
          <a:solidFill>
            <a:srgbClr val="EFF2F6"/>
          </a:solidFill>
          <a:ln w="12700">
            <a:solidFill>
              <a:srgbClr val="EFF2F6"/>
            </a:solidFill>
            <a:prstDash val="solid"/>
          </a:ln>
        </p:spPr>
      </p:sp>
      <p:sp>
        <p:nvSpPr>
          <p:cNvPr id="18" name="Text 15"/>
          <p:cNvSpPr/>
          <p:nvPr/>
        </p:nvSpPr>
        <p:spPr>
          <a:xfrm>
            <a:off x="8705088" y="2670048"/>
            <a:ext cx="2697480" cy="384048"/>
          </a:xfrm>
          <a:prstGeom prst="rect">
            <a:avLst/>
          </a:prstGeom>
          <a:noFill/>
          <a:ln/>
        </p:spPr>
        <p:txBody>
          <a:bodyPr wrap="square" lIns="0" tIns="0" rIns="0" bIns="0" rtlCol="0" anchor="ctr"/>
          <a:lstStyle/>
          <a:p>
            <a:pPr indent="0" marL="0">
              <a:buNone/>
            </a:pPr>
            <a:r>
              <a:rPr lang="en-US" sz="1100" dirty="0">
                <a:solidFill>
                  <a:srgbClr val="3A4557"/>
                </a:solidFill>
                <a:latin typeface="Calibri" pitchFamily="34" charset="0"/>
                <a:ea typeface="Calibri" pitchFamily="34" charset="-122"/>
                <a:cs typeface="Calibri" pitchFamily="34" charset="-120"/>
              </a:rPr>
              <a:t>Priority = impact × band, capped by env</a:t>
            </a:r>
            <a:endParaRPr lang="en-US" sz="1100" dirty="0"/>
          </a:p>
        </p:txBody>
      </p:sp>
      <p:sp>
        <p:nvSpPr>
          <p:cNvPr id="19" name="Shape 16"/>
          <p:cNvSpPr/>
          <p:nvPr/>
        </p:nvSpPr>
        <p:spPr>
          <a:xfrm>
            <a:off x="5458968" y="3127248"/>
            <a:ext cx="2926080" cy="384048"/>
          </a:xfrm>
          <a:prstGeom prst="roundRect">
            <a:avLst>
              <a:gd name="adj" fmla="val 11905"/>
            </a:avLst>
          </a:prstGeom>
          <a:solidFill>
            <a:srgbClr val="EFF2F6"/>
          </a:solidFill>
          <a:ln w="12700">
            <a:solidFill>
              <a:srgbClr val="EFF2F6"/>
            </a:solidFill>
            <a:prstDash val="solid"/>
          </a:ln>
        </p:spPr>
      </p:sp>
      <p:sp>
        <p:nvSpPr>
          <p:cNvPr id="20" name="Text 17"/>
          <p:cNvSpPr/>
          <p:nvPr/>
        </p:nvSpPr>
        <p:spPr>
          <a:xfrm>
            <a:off x="5596128" y="3127248"/>
            <a:ext cx="2697480" cy="384048"/>
          </a:xfrm>
          <a:prstGeom prst="rect">
            <a:avLst/>
          </a:prstGeom>
          <a:noFill/>
          <a:ln/>
        </p:spPr>
        <p:txBody>
          <a:bodyPr wrap="square" lIns="0" tIns="0" rIns="0" bIns="0" rtlCol="0" anchor="ctr"/>
          <a:lstStyle/>
          <a:p>
            <a:pPr indent="0" marL="0">
              <a:buNone/>
            </a:pPr>
            <a:r>
              <a:rPr lang="en-US" sz="1100" dirty="0">
                <a:solidFill>
                  <a:srgbClr val="3A4557"/>
                </a:solidFill>
                <a:latin typeface="Calibri" pitchFamily="34" charset="0"/>
                <a:ea typeface="Calibri" pitchFamily="34" charset="-122"/>
                <a:cs typeface="Calibri" pitchFamily="34" charset="-120"/>
              </a:rPr>
              <a:t>Whether it may page a human</a:t>
            </a:r>
            <a:endParaRPr lang="en-US" sz="1100" dirty="0"/>
          </a:p>
        </p:txBody>
      </p:sp>
      <p:sp>
        <p:nvSpPr>
          <p:cNvPr id="21" name="Shape 18"/>
          <p:cNvSpPr/>
          <p:nvPr/>
        </p:nvSpPr>
        <p:spPr>
          <a:xfrm>
            <a:off x="8567928" y="3127248"/>
            <a:ext cx="2926080" cy="384048"/>
          </a:xfrm>
          <a:prstGeom prst="roundRect">
            <a:avLst>
              <a:gd name="adj" fmla="val 11905"/>
            </a:avLst>
          </a:prstGeom>
          <a:solidFill>
            <a:srgbClr val="EFF2F6"/>
          </a:solidFill>
          <a:ln w="12700">
            <a:solidFill>
              <a:srgbClr val="EFF2F6"/>
            </a:solidFill>
            <a:prstDash val="solid"/>
          </a:ln>
        </p:spPr>
      </p:sp>
      <p:sp>
        <p:nvSpPr>
          <p:cNvPr id="22" name="Text 19"/>
          <p:cNvSpPr/>
          <p:nvPr/>
        </p:nvSpPr>
        <p:spPr>
          <a:xfrm>
            <a:off x="8705088" y="3127248"/>
            <a:ext cx="2697480" cy="384048"/>
          </a:xfrm>
          <a:prstGeom prst="rect">
            <a:avLst/>
          </a:prstGeom>
          <a:noFill/>
          <a:ln/>
        </p:spPr>
        <p:txBody>
          <a:bodyPr wrap="square" lIns="0" tIns="0" rIns="0" bIns="0" rtlCol="0" anchor="ctr"/>
          <a:lstStyle/>
          <a:p>
            <a:pPr indent="0" marL="0">
              <a:buNone/>
            </a:pPr>
            <a:r>
              <a:rPr lang="en-US" sz="1100" dirty="0">
                <a:solidFill>
                  <a:srgbClr val="3A4557"/>
                </a:solidFill>
                <a:latin typeface="Calibri" pitchFamily="34" charset="0"/>
                <a:ea typeface="Calibri" pitchFamily="34" charset="-122"/>
                <a:cs typeface="Calibri" pitchFamily="34" charset="-120"/>
              </a:rPr>
              <a:t>Notification profile and routing</a:t>
            </a:r>
            <a:endParaRPr lang="en-US" sz="1100" dirty="0"/>
          </a:p>
        </p:txBody>
      </p:sp>
      <p:sp>
        <p:nvSpPr>
          <p:cNvPr id="23" name="Shape 20"/>
          <p:cNvSpPr/>
          <p:nvPr/>
        </p:nvSpPr>
        <p:spPr>
          <a:xfrm>
            <a:off x="5458968" y="3584448"/>
            <a:ext cx="2926080" cy="384048"/>
          </a:xfrm>
          <a:prstGeom prst="roundRect">
            <a:avLst>
              <a:gd name="adj" fmla="val 11905"/>
            </a:avLst>
          </a:prstGeom>
          <a:solidFill>
            <a:srgbClr val="EFF2F6"/>
          </a:solidFill>
          <a:ln w="12700">
            <a:solidFill>
              <a:srgbClr val="EFF2F6"/>
            </a:solidFill>
            <a:prstDash val="solid"/>
          </a:ln>
        </p:spPr>
      </p:sp>
      <p:sp>
        <p:nvSpPr>
          <p:cNvPr id="24" name="Text 21"/>
          <p:cNvSpPr/>
          <p:nvPr/>
        </p:nvSpPr>
        <p:spPr>
          <a:xfrm>
            <a:off x="5596128" y="3584448"/>
            <a:ext cx="2697480" cy="384048"/>
          </a:xfrm>
          <a:prstGeom prst="rect">
            <a:avLst/>
          </a:prstGeom>
          <a:noFill/>
          <a:ln/>
        </p:spPr>
        <p:txBody>
          <a:bodyPr wrap="square" lIns="0" tIns="0" rIns="0" bIns="0" rtlCol="0" anchor="ctr"/>
          <a:lstStyle/>
          <a:p>
            <a:pPr indent="0" marL="0">
              <a:buNone/>
            </a:pPr>
            <a:r>
              <a:rPr lang="en-US" sz="1100" dirty="0">
                <a:solidFill>
                  <a:srgbClr val="3A4557"/>
                </a:solidFill>
                <a:latin typeface="Calibri" pitchFamily="34" charset="0"/>
                <a:ea typeface="Calibri" pitchFamily="34" charset="-122"/>
                <a:cs typeface="Calibri" pitchFamily="34" charset="-120"/>
              </a:rPr>
              <a:t>correlation_key and dedup_key</a:t>
            </a:r>
            <a:endParaRPr lang="en-US" sz="1100" dirty="0"/>
          </a:p>
        </p:txBody>
      </p:sp>
      <p:sp>
        <p:nvSpPr>
          <p:cNvPr id="25" name="Shape 22"/>
          <p:cNvSpPr/>
          <p:nvPr/>
        </p:nvSpPr>
        <p:spPr>
          <a:xfrm>
            <a:off x="8567928" y="3584448"/>
            <a:ext cx="2926080" cy="384048"/>
          </a:xfrm>
          <a:prstGeom prst="roundRect">
            <a:avLst>
              <a:gd name="adj" fmla="val 11905"/>
            </a:avLst>
          </a:prstGeom>
          <a:solidFill>
            <a:srgbClr val="EFF2F6"/>
          </a:solidFill>
          <a:ln w="12700">
            <a:solidFill>
              <a:srgbClr val="EFF2F6"/>
            </a:solidFill>
            <a:prstDash val="solid"/>
          </a:ln>
        </p:spPr>
      </p:sp>
      <p:sp>
        <p:nvSpPr>
          <p:cNvPr id="26" name="Text 23"/>
          <p:cNvSpPr/>
          <p:nvPr/>
        </p:nvSpPr>
        <p:spPr>
          <a:xfrm>
            <a:off x="8705088" y="3584448"/>
            <a:ext cx="2697480" cy="384048"/>
          </a:xfrm>
          <a:prstGeom prst="rect">
            <a:avLst/>
          </a:prstGeom>
          <a:noFill/>
          <a:ln/>
        </p:spPr>
        <p:txBody>
          <a:bodyPr wrap="square" lIns="0" tIns="0" rIns="0" bIns="0" rtlCol="0" anchor="ctr"/>
          <a:lstStyle/>
          <a:p>
            <a:pPr indent="0" marL="0">
              <a:buNone/>
            </a:pPr>
            <a:r>
              <a:rPr lang="en-US" sz="1100" dirty="0">
                <a:solidFill>
                  <a:srgbClr val="3A4557"/>
                </a:solidFill>
                <a:latin typeface="Calibri" pitchFamily="34" charset="0"/>
                <a:ea typeface="Calibri" pitchFamily="34" charset="-122"/>
                <a:cs typeface="Calibri" pitchFamily="34" charset="-120"/>
              </a:rPr>
              <a:t>Runbook notebook attachment</a:t>
            </a:r>
            <a:endParaRPr lang="en-US" sz="1100" dirty="0"/>
          </a:p>
        </p:txBody>
      </p:sp>
      <p:sp>
        <p:nvSpPr>
          <p:cNvPr id="27" name="Shape 24"/>
          <p:cNvSpPr/>
          <p:nvPr/>
        </p:nvSpPr>
        <p:spPr>
          <a:xfrm>
            <a:off x="5458968" y="4041648"/>
            <a:ext cx="2926080" cy="384048"/>
          </a:xfrm>
          <a:prstGeom prst="roundRect">
            <a:avLst>
              <a:gd name="adj" fmla="val 11905"/>
            </a:avLst>
          </a:prstGeom>
          <a:solidFill>
            <a:srgbClr val="EFF2F6"/>
          </a:solidFill>
          <a:ln w="12700">
            <a:solidFill>
              <a:srgbClr val="EFF2F6"/>
            </a:solidFill>
            <a:prstDash val="solid"/>
          </a:ln>
        </p:spPr>
      </p:sp>
      <p:sp>
        <p:nvSpPr>
          <p:cNvPr id="28" name="Text 25"/>
          <p:cNvSpPr/>
          <p:nvPr/>
        </p:nvSpPr>
        <p:spPr>
          <a:xfrm>
            <a:off x="5596128" y="4041648"/>
            <a:ext cx="2697480" cy="384048"/>
          </a:xfrm>
          <a:prstGeom prst="rect">
            <a:avLst/>
          </a:prstGeom>
          <a:noFill/>
          <a:ln/>
        </p:spPr>
        <p:txBody>
          <a:bodyPr wrap="square" lIns="0" tIns="0" rIns="0" bIns="0" rtlCol="0" anchor="ctr"/>
          <a:lstStyle/>
          <a:p>
            <a:pPr indent="0" marL="0">
              <a:buNone/>
            </a:pPr>
            <a:r>
              <a:rPr lang="en-US" sz="1100" dirty="0">
                <a:solidFill>
                  <a:srgbClr val="3A4557"/>
                </a:solidFill>
                <a:latin typeface="Calibri" pitchFamily="34" charset="0"/>
                <a:ea typeface="Calibri" pitchFamily="34" charset="-122"/>
                <a:cs typeface="Calibri" pitchFamily="34" charset="-120"/>
              </a:rPr>
              <a:t>Diagnostic workflow on every alert</a:t>
            </a:r>
            <a:endParaRPr lang="en-US" sz="1100" dirty="0"/>
          </a:p>
        </p:txBody>
      </p:sp>
      <p:sp>
        <p:nvSpPr>
          <p:cNvPr id="29" name="Shape 26"/>
          <p:cNvSpPr/>
          <p:nvPr/>
        </p:nvSpPr>
        <p:spPr>
          <a:xfrm>
            <a:off x="8567928" y="4041648"/>
            <a:ext cx="2926080" cy="384048"/>
          </a:xfrm>
          <a:prstGeom prst="roundRect">
            <a:avLst>
              <a:gd name="adj" fmla="val 11905"/>
            </a:avLst>
          </a:prstGeom>
          <a:solidFill>
            <a:srgbClr val="EFF2F6"/>
          </a:solidFill>
          <a:ln w="12700">
            <a:solidFill>
              <a:srgbClr val="EFF2F6"/>
            </a:solidFill>
            <a:prstDash val="solid"/>
          </a:ln>
        </p:spPr>
      </p:sp>
      <p:sp>
        <p:nvSpPr>
          <p:cNvPr id="30" name="Text 27"/>
          <p:cNvSpPr/>
          <p:nvPr/>
        </p:nvSpPr>
        <p:spPr>
          <a:xfrm>
            <a:off x="8705088" y="4041648"/>
            <a:ext cx="2697480" cy="384048"/>
          </a:xfrm>
          <a:prstGeom prst="rect">
            <a:avLst/>
          </a:prstGeom>
          <a:noFill/>
          <a:ln/>
        </p:spPr>
        <p:txBody>
          <a:bodyPr wrap="square" lIns="0" tIns="0" rIns="0" bIns="0" rtlCol="0" anchor="ctr"/>
          <a:lstStyle/>
          <a:p>
            <a:pPr indent="0" marL="0">
              <a:buNone/>
            </a:pPr>
            <a:r>
              <a:rPr lang="en-US" sz="1100" dirty="0">
                <a:solidFill>
                  <a:srgbClr val="3A4557"/>
                </a:solidFill>
                <a:latin typeface="Calibri" pitchFamily="34" charset="0"/>
                <a:ea typeface="Calibri" pitchFamily="34" charset="-122"/>
                <a:cs typeface="Calibri" pitchFamily="34" charset="-120"/>
              </a:rPr>
              <a:t>Auto-resolve window (timeout_h)</a:t>
            </a:r>
            <a:endParaRPr lang="en-US" sz="1100" dirty="0"/>
          </a:p>
        </p:txBody>
      </p:sp>
      <p:sp>
        <p:nvSpPr>
          <p:cNvPr id="31" name="Shape 28"/>
          <p:cNvSpPr/>
          <p:nvPr/>
        </p:nvSpPr>
        <p:spPr>
          <a:xfrm>
            <a:off x="5458968" y="4498848"/>
            <a:ext cx="2926080" cy="384048"/>
          </a:xfrm>
          <a:prstGeom prst="roundRect">
            <a:avLst>
              <a:gd name="adj" fmla="val 11905"/>
            </a:avLst>
          </a:prstGeom>
          <a:solidFill>
            <a:srgbClr val="EFF2F6"/>
          </a:solidFill>
          <a:ln w="12700">
            <a:solidFill>
              <a:srgbClr val="EFF2F6"/>
            </a:solidFill>
            <a:prstDash val="solid"/>
          </a:ln>
        </p:spPr>
      </p:sp>
      <p:sp>
        <p:nvSpPr>
          <p:cNvPr id="32" name="Text 29"/>
          <p:cNvSpPr/>
          <p:nvPr/>
        </p:nvSpPr>
        <p:spPr>
          <a:xfrm>
            <a:off x="5596128" y="4498848"/>
            <a:ext cx="2697480" cy="384048"/>
          </a:xfrm>
          <a:prstGeom prst="rect">
            <a:avLst/>
          </a:prstGeom>
          <a:noFill/>
          <a:ln/>
        </p:spPr>
        <p:txBody>
          <a:bodyPr wrap="square" lIns="0" tIns="0" rIns="0" bIns="0" rtlCol="0" anchor="ctr"/>
          <a:lstStyle/>
          <a:p>
            <a:pPr indent="0" marL="0">
              <a:buNone/>
            </a:pPr>
            <a:r>
              <a:rPr lang="en-US" sz="1100" dirty="0">
                <a:solidFill>
                  <a:srgbClr val="3A4557"/>
                </a:solidFill>
                <a:latin typeface="Calibri" pitchFamily="34" charset="0"/>
                <a:ea typeface="Calibri" pitchFamily="34" charset="-122"/>
                <a:cs typeface="Calibri" pitchFamily="34" charset="-120"/>
              </a:rPr>
              <a:t>SLO association</a:t>
            </a:r>
            <a:endParaRPr lang="en-US" sz="1100" dirty="0"/>
          </a:p>
        </p:txBody>
      </p:sp>
      <p:sp>
        <p:nvSpPr>
          <p:cNvPr id="33" name="Shape 30"/>
          <p:cNvSpPr/>
          <p:nvPr/>
        </p:nvSpPr>
        <p:spPr>
          <a:xfrm>
            <a:off x="8567928" y="4498848"/>
            <a:ext cx="2926080" cy="384048"/>
          </a:xfrm>
          <a:prstGeom prst="roundRect">
            <a:avLst>
              <a:gd name="adj" fmla="val 11905"/>
            </a:avLst>
          </a:prstGeom>
          <a:solidFill>
            <a:srgbClr val="EFF2F6"/>
          </a:solidFill>
          <a:ln w="12700">
            <a:solidFill>
              <a:srgbClr val="EFF2F6"/>
            </a:solidFill>
            <a:prstDash val="solid"/>
          </a:ln>
        </p:spPr>
      </p:sp>
      <p:sp>
        <p:nvSpPr>
          <p:cNvPr id="34" name="Text 31"/>
          <p:cNvSpPr/>
          <p:nvPr/>
        </p:nvSpPr>
        <p:spPr>
          <a:xfrm>
            <a:off x="8705088" y="4498848"/>
            <a:ext cx="2697480" cy="384048"/>
          </a:xfrm>
          <a:prstGeom prst="rect">
            <a:avLst/>
          </a:prstGeom>
          <a:noFill/>
          <a:ln/>
        </p:spPr>
        <p:txBody>
          <a:bodyPr wrap="square" lIns="0" tIns="0" rIns="0" bIns="0" rtlCol="0" anchor="ctr"/>
          <a:lstStyle/>
          <a:p>
            <a:pPr indent="0" marL="0">
              <a:buNone/>
            </a:pPr>
            <a:r>
              <a:rPr lang="en-US" sz="1100" dirty="0">
                <a:solidFill>
                  <a:srgbClr val="3A4557"/>
                </a:solidFill>
                <a:latin typeface="Calibri" pitchFamily="34" charset="0"/>
                <a:ea typeface="Calibri" pitchFamily="34" charset="-122"/>
                <a:cs typeface="Calibri" pitchFamily="34" charset="-120"/>
              </a:rPr>
              <a:t>Recovery notification</a:t>
            </a:r>
            <a:endParaRPr lang="en-US" sz="1100" dirty="0"/>
          </a:p>
        </p:txBody>
      </p:sp>
      <p:sp>
        <p:nvSpPr>
          <p:cNvPr id="35" name="Shape 32"/>
          <p:cNvSpPr/>
          <p:nvPr/>
        </p:nvSpPr>
        <p:spPr>
          <a:xfrm>
            <a:off x="5458968" y="5029200"/>
            <a:ext cx="6126480" cy="777240"/>
          </a:xfrm>
          <a:prstGeom prst="roundRect">
            <a:avLst>
              <a:gd name="adj" fmla="val 8235"/>
            </a:avLst>
          </a:prstGeom>
          <a:solidFill>
            <a:srgbClr val="FBF1E2"/>
          </a:solidFill>
          <a:ln w="12700">
            <a:solidFill>
              <a:srgbClr val="FBF1E2"/>
            </a:solidFill>
            <a:prstDash val="solid"/>
          </a:ln>
        </p:spPr>
      </p:sp>
      <p:sp>
        <p:nvSpPr>
          <p:cNvPr id="36" name="Text 33"/>
          <p:cNvSpPr/>
          <p:nvPr/>
        </p:nvSpPr>
        <p:spPr>
          <a:xfrm>
            <a:off x="5687568" y="5138928"/>
            <a:ext cx="5669280" cy="566928"/>
          </a:xfrm>
          <a:prstGeom prst="rect">
            <a:avLst/>
          </a:prstGeom>
          <a:noFill/>
          <a:ln/>
        </p:spPr>
        <p:txBody>
          <a:bodyPr wrap="square" lIns="0" tIns="0" rIns="0" bIns="0" rtlCol="0" anchor="ctr"/>
          <a:lstStyle/>
          <a:p>
            <a:pPr indent="0" marL="0">
              <a:buNone/>
            </a:pPr>
            <a:r>
              <a:rPr lang="en-US" sz="1150" b="1" dirty="0">
                <a:solidFill>
                  <a:srgbClr val="5C4514"/>
                </a:solidFill>
                <a:latin typeface="Calibri" pitchFamily="34" charset="0"/>
                <a:ea typeface="Calibri" pitchFamily="34" charset="-122"/>
                <a:cs typeface="Calibri" pitchFamily="34" charset="-120"/>
              </a:rPr>
              <a:t>264 archetypes  →  651 monitors  →  an estate of any size.  </a:t>
            </a:r>
            <a:pPr indent="0" marL="0">
              <a:buNone/>
            </a:pPr>
            <a:r>
              <a:rPr lang="en-US" sz="1150" dirty="0">
                <a:solidFill>
                  <a:srgbClr val="5C4514"/>
                </a:solidFill>
                <a:latin typeface="Calibri" pitchFamily="34" charset="0"/>
                <a:ea typeface="Calibri" pitchFamily="34" charset="-122"/>
                <a:cs typeface="Calibri" pitchFamily="34" charset="-120"/>
              </a:rPr>
              <a:t>__SCOPE__ is replaced at plan time with the environment and the alert band; every matching resource is a group inside a monitor that already exists.</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8778240" cy="256032"/>
          </a:xfrm>
          <a:prstGeom prst="rect">
            <a:avLst/>
          </a:prstGeom>
          <a:noFill/>
          <a:ln/>
        </p:spPr>
        <p:txBody>
          <a:bodyPr wrap="square" lIns="0" tIns="0" rIns="0" bIns="0" rtlCol="0" anchor="ctr"/>
          <a:lstStyle/>
          <a:p>
            <a:pPr indent="0" marL="0">
              <a:buNone/>
            </a:pPr>
            <a:r>
              <a:rPr lang="en-US" sz="1050" b="1" spc="160" kern="0" dirty="0">
                <a:solidFill>
                  <a:srgbClr val="B87914"/>
                </a:solidFill>
                <a:latin typeface="Calibri" pitchFamily="34" charset="0"/>
                <a:ea typeface="Calibri" pitchFamily="34" charset="-122"/>
                <a:cs typeface="Calibri" pitchFamily="34" charset="-120"/>
              </a:rPr>
              <a:t>TOPIC 8</a:t>
            </a:r>
            <a:endParaRPr lang="en-US" sz="1050" dirty="0"/>
          </a:p>
        </p:txBody>
      </p:sp>
      <p:sp>
        <p:nvSpPr>
          <p:cNvPr id="3" name="Text 1"/>
          <p:cNvSpPr/>
          <p:nvPr/>
        </p:nvSpPr>
        <p:spPr>
          <a:xfrm>
            <a:off x="566928" y="694944"/>
            <a:ext cx="10424160" cy="786384"/>
          </a:xfrm>
          <a:prstGeom prst="rect">
            <a:avLst/>
          </a:prstGeom>
          <a:noFill/>
          <a:ln/>
        </p:spPr>
        <p:txBody>
          <a:bodyPr wrap="square" lIns="0" tIns="0" rIns="0" bIns="0" rtlCol="0" anchor="ctr"/>
          <a:lstStyle/>
          <a:p>
            <a:pPr indent="0" marL="0">
              <a:buNone/>
            </a:pPr>
            <a:r>
              <a:rPr lang="en-US" sz="3100" b="1" dirty="0">
                <a:solidFill>
                  <a:srgbClr val="161C28"/>
                </a:solidFill>
                <a:latin typeface="Cambria" pitchFamily="34" charset="0"/>
                <a:ea typeface="Cambria" pitchFamily="34" charset="-122"/>
                <a:cs typeface="Cambria" pitchFamily="34" charset="-120"/>
              </a:rPr>
              <a:t>Monitoring profiles</a:t>
            </a:r>
            <a:endParaRPr lang="en-US" sz="3100" dirty="0"/>
          </a:p>
        </p:txBody>
      </p:sp>
      <p:sp>
        <p:nvSpPr>
          <p:cNvPr id="4" name="Text 2"/>
          <p:cNvSpPr/>
          <p:nvPr/>
        </p:nvSpPr>
        <p:spPr>
          <a:xfrm>
            <a:off x="566928" y="1481328"/>
            <a:ext cx="10698480" cy="457200"/>
          </a:xfrm>
          <a:prstGeom prst="rect">
            <a:avLst/>
          </a:prstGeom>
          <a:noFill/>
          <a:ln/>
        </p:spPr>
        <p:txBody>
          <a:bodyPr wrap="square" lIns="0" tIns="0" rIns="0" bIns="0" rtlCol="0" anchor="t"/>
          <a:lstStyle/>
          <a:p>
            <a:pPr indent="0" marL="0">
              <a:buNone/>
            </a:pPr>
            <a:r>
              <a:rPr lang="en-US" sz="1450" dirty="0">
                <a:solidFill>
                  <a:srgbClr val="3A4557"/>
                </a:solidFill>
                <a:latin typeface="Calibri" pitchFamily="34" charset="0"/>
                <a:ea typeface="Calibri" pitchFamily="34" charset="-122"/>
                <a:cs typeface="Calibri" pitchFamily="34" charset="-120"/>
              </a:rPr>
              <a:t>A profile is how strictly a thing is watched. Five profiles and two overlays cover the entire enterprise, and every one of them is resolved, never chosen.</a:t>
            </a:r>
            <a:endParaRPr lang="en-US" sz="1450" dirty="0"/>
          </a:p>
        </p:txBody>
      </p:sp>
      <p:sp>
        <p:nvSpPr>
          <p:cNvPr id="5" name="Shape 3"/>
          <p:cNvSpPr/>
          <p:nvPr/>
        </p:nvSpPr>
        <p:spPr>
          <a:xfrm>
            <a:off x="8840419" y="420624"/>
            <a:ext cx="2784348" cy="310896"/>
          </a:xfrm>
          <a:prstGeom prst="roundRect">
            <a:avLst>
              <a:gd name="adj" fmla="val 50000"/>
            </a:avLst>
          </a:prstGeom>
          <a:solidFill>
            <a:srgbClr val="E09A2E"/>
          </a:solidFill>
          <a:ln w="12700">
            <a:solidFill>
              <a:srgbClr val="E09A2E"/>
            </a:solidFill>
            <a:prstDash val="solid"/>
          </a:ln>
        </p:spPr>
      </p:sp>
      <p:sp>
        <p:nvSpPr>
          <p:cNvPr id="6" name="Text 4"/>
          <p:cNvSpPr/>
          <p:nvPr/>
        </p:nvSpPr>
        <p:spPr>
          <a:xfrm>
            <a:off x="8840419" y="420624"/>
            <a:ext cx="2784348" cy="310896"/>
          </a:xfrm>
          <a:prstGeom prst="rect">
            <a:avLst/>
          </a:prstGeom>
          <a:noFill/>
          <a:ln/>
        </p:spPr>
        <p:txBody>
          <a:bodyPr wrap="square" lIns="0" tIns="0" rIns="0" bIns="0" rtlCol="0" anchor="ctr"/>
          <a:lstStyle/>
          <a:p>
            <a:pPr algn="ctr" indent="0" marL="0">
              <a:buNone/>
            </a:pPr>
            <a:r>
              <a:rPr lang="en-US" sz="950" b="1" spc="100" kern="0" dirty="0">
                <a:solidFill>
                  <a:srgbClr val="2A1D06"/>
                </a:solidFill>
                <a:latin typeface="Calibri" pitchFamily="34" charset="0"/>
                <a:ea typeface="Calibri" pitchFamily="34" charset="-122"/>
                <a:cs typeface="Calibri" pitchFamily="34" charset="-120"/>
              </a:rPr>
              <a:t>PARTIAL — TELEMETRY INPUT</a:t>
            </a:r>
            <a:endParaRPr lang="en-US" sz="950" dirty="0"/>
          </a:p>
        </p:txBody>
      </p:sp>
      <p:sp>
        <p:nvSpPr>
          <p:cNvPr id="7" name="Text 5"/>
          <p:cNvSpPr/>
          <p:nvPr/>
        </p:nvSpPr>
        <p:spPr>
          <a:xfrm>
            <a:off x="566928" y="6345936"/>
            <a:ext cx="7315200" cy="274320"/>
          </a:xfrm>
          <a:prstGeom prst="rect">
            <a:avLst/>
          </a:prstGeom>
          <a:noFill/>
          <a:ln/>
        </p:spPr>
        <p:txBody>
          <a:bodyPr wrap="square" lIns="0" tIns="0" rIns="0" bIns="0" rtlCol="0" anchor="ctr"/>
          <a:lstStyle/>
          <a:p>
            <a:pPr indent="0" marL="0">
              <a:buNone/>
            </a:pPr>
            <a:r>
              <a:rPr lang="en-US" sz="900" dirty="0">
                <a:solidFill>
                  <a:srgbClr val="6B7891"/>
                </a:solidFill>
                <a:latin typeface="Calibri" pitchFamily="34" charset="0"/>
                <a:ea typeface="Calibri" pitchFamily="34" charset="-122"/>
                <a:cs typeface="Calibri" pitchFamily="34" charset="-120"/>
              </a:rPr>
              <a:t>Enterprise Observability  ·  policy-as-data on Datadog</a:t>
            </a:r>
            <a:endParaRPr lang="en-US" sz="900" dirty="0"/>
          </a:p>
        </p:txBody>
      </p:sp>
      <p:sp>
        <p:nvSpPr>
          <p:cNvPr id="8" name="Text 6"/>
          <p:cNvSpPr/>
          <p:nvPr/>
        </p:nvSpPr>
        <p:spPr>
          <a:xfrm>
            <a:off x="10710367" y="6345936"/>
            <a:ext cx="914400" cy="274320"/>
          </a:xfrm>
          <a:prstGeom prst="rect">
            <a:avLst/>
          </a:prstGeom>
          <a:noFill/>
          <a:ln/>
        </p:spPr>
        <p:txBody>
          <a:bodyPr wrap="square" lIns="0" tIns="0" rIns="0" bIns="0" rtlCol="0" anchor="ctr"/>
          <a:lstStyle/>
          <a:p>
            <a:pPr algn="r" indent="0" marL="0">
              <a:buNone/>
            </a:pPr>
            <a:r>
              <a:rPr lang="en-US" sz="900" dirty="0">
                <a:solidFill>
                  <a:srgbClr val="6B7891"/>
                </a:solidFill>
                <a:latin typeface="Calibri" pitchFamily="34" charset="0"/>
                <a:ea typeface="Calibri" pitchFamily="34" charset="-122"/>
                <a:cs typeface="Calibri" pitchFamily="34" charset="-120"/>
              </a:rPr>
              <a:t>13</a:t>
            </a:r>
            <a:endParaRPr lang="en-US" sz="900" dirty="0"/>
          </a:p>
        </p:txBody>
      </p:sp>
      <p:sp>
        <p:nvSpPr>
          <p:cNvPr id="10" name="Shape 7"/>
          <p:cNvSpPr/>
          <p:nvPr/>
        </p:nvSpPr>
        <p:spPr>
          <a:xfrm>
            <a:off x="566928" y="2240280"/>
            <a:ext cx="2065264" cy="1325880"/>
          </a:xfrm>
          <a:prstGeom prst="roundRect">
            <a:avLst>
              <a:gd name="adj" fmla="val 4138"/>
            </a:avLst>
          </a:prstGeom>
          <a:solidFill>
            <a:srgbClr val="EFF2F6"/>
          </a:solidFill>
          <a:ln w="12700">
            <a:solidFill>
              <a:srgbClr val="EFF2F6"/>
            </a:solidFill>
            <a:prstDash val="solid"/>
          </a:ln>
        </p:spPr>
      </p:sp>
      <p:sp>
        <p:nvSpPr>
          <p:cNvPr id="11" name="Text 8"/>
          <p:cNvSpPr/>
          <p:nvPr/>
        </p:nvSpPr>
        <p:spPr>
          <a:xfrm>
            <a:off x="768096" y="2386584"/>
            <a:ext cx="1662928" cy="347472"/>
          </a:xfrm>
          <a:prstGeom prst="rect">
            <a:avLst/>
          </a:prstGeom>
          <a:noFill/>
          <a:ln/>
        </p:spPr>
        <p:txBody>
          <a:bodyPr wrap="square" lIns="0" tIns="0" rIns="0" bIns="0" rtlCol="0" anchor="t"/>
          <a:lstStyle/>
          <a:p>
            <a:pPr indent="0" marL="0">
              <a:buNone/>
            </a:pPr>
            <a:r>
              <a:rPr lang="en-US" sz="1350" b="1" dirty="0">
                <a:solidFill>
                  <a:srgbClr val="161C28"/>
                </a:solidFill>
                <a:latin typeface="Calibri" pitchFamily="34" charset="0"/>
                <a:ea typeface="Calibri" pitchFamily="34" charset="-122"/>
                <a:cs typeface="Calibri" pitchFamily="34" charset="-120"/>
              </a:rPr>
              <a:t>observe_only</a:t>
            </a:r>
            <a:endParaRPr lang="en-US" sz="1350" dirty="0"/>
          </a:p>
        </p:txBody>
      </p:sp>
      <p:sp>
        <p:nvSpPr>
          <p:cNvPr id="12" name="Text 9"/>
          <p:cNvSpPr/>
          <p:nvPr/>
        </p:nvSpPr>
        <p:spPr>
          <a:xfrm>
            <a:off x="768096" y="2770632"/>
            <a:ext cx="1662928" cy="649224"/>
          </a:xfrm>
          <a:prstGeom prst="rect">
            <a:avLst/>
          </a:prstGeom>
          <a:noFill/>
          <a:ln/>
        </p:spPr>
        <p:txBody>
          <a:bodyPr wrap="square" lIns="0" tIns="0" rIns="0" bIns="0" rtlCol="0" anchor="t"/>
          <a:lstStyle/>
          <a:p>
            <a:pPr indent="0" marL="0">
              <a:lnSpc>
                <a:spcPct val="102000"/>
              </a:lnSpc>
              <a:buNone/>
            </a:pPr>
            <a:r>
              <a:rPr lang="en-US" sz="1050" dirty="0">
                <a:solidFill>
                  <a:srgbClr val="3A4557"/>
                </a:solidFill>
                <a:latin typeface="Calibri" pitchFamily="34" charset="0"/>
                <a:ea typeface="Calibri" pitchFamily="34" charset="-122"/>
                <a:cs typeface="Calibri" pitchFamily="34" charset="-120"/>
              </a:rPr>
              <a:t>Telemetry and dashboards, no alerting. Needs a recorded reason — check C10 fails without one.</a:t>
            </a:r>
            <a:endParaRPr lang="en-US" sz="1050" dirty="0"/>
          </a:p>
        </p:txBody>
      </p:sp>
      <p:sp>
        <p:nvSpPr>
          <p:cNvPr id="13" name="Shape 10"/>
          <p:cNvSpPr/>
          <p:nvPr/>
        </p:nvSpPr>
        <p:spPr>
          <a:xfrm>
            <a:off x="2815072" y="2240280"/>
            <a:ext cx="2065264" cy="1325880"/>
          </a:xfrm>
          <a:prstGeom prst="roundRect">
            <a:avLst>
              <a:gd name="adj" fmla="val 4138"/>
            </a:avLst>
          </a:prstGeom>
          <a:solidFill>
            <a:srgbClr val="EFF2F6"/>
          </a:solidFill>
          <a:ln w="12700">
            <a:solidFill>
              <a:srgbClr val="EFF2F6"/>
            </a:solidFill>
            <a:prstDash val="solid"/>
          </a:ln>
        </p:spPr>
      </p:sp>
      <p:sp>
        <p:nvSpPr>
          <p:cNvPr id="14" name="Text 11"/>
          <p:cNvSpPr/>
          <p:nvPr/>
        </p:nvSpPr>
        <p:spPr>
          <a:xfrm>
            <a:off x="3016240" y="2386584"/>
            <a:ext cx="1662928" cy="347472"/>
          </a:xfrm>
          <a:prstGeom prst="rect">
            <a:avLst/>
          </a:prstGeom>
          <a:noFill/>
          <a:ln/>
        </p:spPr>
        <p:txBody>
          <a:bodyPr wrap="square" lIns="0" tIns="0" rIns="0" bIns="0" rtlCol="0" anchor="t"/>
          <a:lstStyle/>
          <a:p>
            <a:pPr indent="0" marL="0">
              <a:buNone/>
            </a:pPr>
            <a:r>
              <a:rPr lang="en-US" sz="1350" b="1" dirty="0">
                <a:solidFill>
                  <a:srgbClr val="161C28"/>
                </a:solidFill>
                <a:latin typeface="Calibri" pitchFamily="34" charset="0"/>
                <a:ea typeface="Calibri" pitchFamily="34" charset="-122"/>
                <a:cs typeface="Calibri" pitchFamily="34" charset="-120"/>
              </a:rPr>
              <a:t>baseline</a:t>
            </a:r>
            <a:endParaRPr lang="en-US" sz="1350" dirty="0"/>
          </a:p>
        </p:txBody>
      </p:sp>
      <p:sp>
        <p:nvSpPr>
          <p:cNvPr id="15" name="Text 12"/>
          <p:cNvSpPr/>
          <p:nvPr/>
        </p:nvSpPr>
        <p:spPr>
          <a:xfrm>
            <a:off x="3016240" y="2770632"/>
            <a:ext cx="1662928" cy="649224"/>
          </a:xfrm>
          <a:prstGeom prst="rect">
            <a:avLst/>
          </a:prstGeom>
          <a:noFill/>
          <a:ln/>
        </p:spPr>
        <p:txBody>
          <a:bodyPr wrap="square" lIns="0" tIns="0" rIns="0" bIns="0" rtlCol="0" anchor="t"/>
          <a:lstStyle/>
          <a:p>
            <a:pPr indent="0" marL="0">
              <a:lnSpc>
                <a:spcPct val="102000"/>
              </a:lnSpc>
              <a:buNone/>
            </a:pPr>
            <a:r>
              <a:rPr lang="en-US" sz="1050" dirty="0">
                <a:solidFill>
                  <a:srgbClr val="3A4557"/>
                </a:solidFill>
                <a:latin typeface="Calibri" pitchFamily="34" charset="0"/>
                <a:ea typeface="Calibri" pitchFamily="34" charset="-122"/>
                <a:cs typeface="Calibri" pitchFamily="34" charset="-120"/>
              </a:rPr>
              <a:t>Availability and telemetry-health only. QA, and low-value production.</a:t>
            </a:r>
            <a:endParaRPr lang="en-US" sz="1050" dirty="0"/>
          </a:p>
        </p:txBody>
      </p:sp>
      <p:sp>
        <p:nvSpPr>
          <p:cNvPr id="16" name="Shape 13"/>
          <p:cNvSpPr/>
          <p:nvPr/>
        </p:nvSpPr>
        <p:spPr>
          <a:xfrm>
            <a:off x="5063216" y="2240280"/>
            <a:ext cx="2065264" cy="1325880"/>
          </a:xfrm>
          <a:prstGeom prst="roundRect">
            <a:avLst>
              <a:gd name="adj" fmla="val 4138"/>
            </a:avLst>
          </a:prstGeom>
          <a:solidFill>
            <a:srgbClr val="EFF2F6"/>
          </a:solidFill>
          <a:ln w="12700">
            <a:solidFill>
              <a:srgbClr val="EFF2F6"/>
            </a:solidFill>
            <a:prstDash val="solid"/>
          </a:ln>
        </p:spPr>
      </p:sp>
      <p:sp>
        <p:nvSpPr>
          <p:cNvPr id="17" name="Text 14"/>
          <p:cNvSpPr/>
          <p:nvPr/>
        </p:nvSpPr>
        <p:spPr>
          <a:xfrm>
            <a:off x="5264384" y="2386584"/>
            <a:ext cx="1662928" cy="347472"/>
          </a:xfrm>
          <a:prstGeom prst="rect">
            <a:avLst/>
          </a:prstGeom>
          <a:noFill/>
          <a:ln/>
        </p:spPr>
        <p:txBody>
          <a:bodyPr wrap="square" lIns="0" tIns="0" rIns="0" bIns="0" rtlCol="0" anchor="t"/>
          <a:lstStyle/>
          <a:p>
            <a:pPr indent="0" marL="0">
              <a:buNone/>
            </a:pPr>
            <a:r>
              <a:rPr lang="en-US" sz="1350" b="1" dirty="0">
                <a:solidFill>
                  <a:srgbClr val="161C28"/>
                </a:solidFill>
                <a:latin typeface="Calibri" pitchFamily="34" charset="0"/>
                <a:ea typeface="Calibri" pitchFamily="34" charset="-122"/>
                <a:cs typeface="Calibri" pitchFamily="34" charset="-120"/>
              </a:rPr>
              <a:t>standard</a:t>
            </a:r>
            <a:endParaRPr lang="en-US" sz="1350" dirty="0"/>
          </a:p>
        </p:txBody>
      </p:sp>
      <p:sp>
        <p:nvSpPr>
          <p:cNvPr id="18" name="Text 15"/>
          <p:cNvSpPr/>
          <p:nvPr/>
        </p:nvSpPr>
        <p:spPr>
          <a:xfrm>
            <a:off x="5264384" y="2770632"/>
            <a:ext cx="1662928" cy="649224"/>
          </a:xfrm>
          <a:prstGeom prst="rect">
            <a:avLst/>
          </a:prstGeom>
          <a:noFill/>
          <a:ln/>
        </p:spPr>
        <p:txBody>
          <a:bodyPr wrap="square" lIns="0" tIns="0" rIns="0" bIns="0" rtlCol="0" anchor="t"/>
          <a:lstStyle/>
          <a:p>
            <a:pPr indent="0" marL="0">
              <a:lnSpc>
                <a:spcPct val="102000"/>
              </a:lnSpc>
              <a:buNone/>
            </a:pPr>
            <a:r>
              <a:rPr lang="en-US" sz="1050" dirty="0">
                <a:solidFill>
                  <a:srgbClr val="3A4557"/>
                </a:solidFill>
                <a:latin typeface="Calibri" pitchFamily="34" charset="0"/>
                <a:ea typeface="Calibri" pitchFamily="34" charset="-122"/>
                <a:cs typeface="Calibri" pitchFamily="34" charset="-120"/>
              </a:rPr>
              <a:t>Golden signals plus saturation. The tier2 default.</a:t>
            </a:r>
            <a:endParaRPr lang="en-US" sz="1050" dirty="0"/>
          </a:p>
        </p:txBody>
      </p:sp>
      <p:sp>
        <p:nvSpPr>
          <p:cNvPr id="19" name="Shape 16"/>
          <p:cNvSpPr/>
          <p:nvPr/>
        </p:nvSpPr>
        <p:spPr>
          <a:xfrm>
            <a:off x="7311360" y="2240280"/>
            <a:ext cx="2065264" cy="1325880"/>
          </a:xfrm>
          <a:prstGeom prst="roundRect">
            <a:avLst>
              <a:gd name="adj" fmla="val 4138"/>
            </a:avLst>
          </a:prstGeom>
          <a:solidFill>
            <a:srgbClr val="EFF2F6"/>
          </a:solidFill>
          <a:ln w="12700">
            <a:solidFill>
              <a:srgbClr val="EFF2F6"/>
            </a:solidFill>
            <a:prstDash val="solid"/>
          </a:ln>
        </p:spPr>
      </p:sp>
      <p:sp>
        <p:nvSpPr>
          <p:cNvPr id="20" name="Text 17"/>
          <p:cNvSpPr/>
          <p:nvPr/>
        </p:nvSpPr>
        <p:spPr>
          <a:xfrm>
            <a:off x="7512528" y="2386584"/>
            <a:ext cx="1662928" cy="347472"/>
          </a:xfrm>
          <a:prstGeom prst="rect">
            <a:avLst/>
          </a:prstGeom>
          <a:noFill/>
          <a:ln/>
        </p:spPr>
        <p:txBody>
          <a:bodyPr wrap="square" lIns="0" tIns="0" rIns="0" bIns="0" rtlCol="0" anchor="t"/>
          <a:lstStyle/>
          <a:p>
            <a:pPr indent="0" marL="0">
              <a:buNone/>
            </a:pPr>
            <a:r>
              <a:rPr lang="en-US" sz="1350" b="1" dirty="0">
                <a:solidFill>
                  <a:srgbClr val="161C28"/>
                </a:solidFill>
                <a:latin typeface="Calibri" pitchFamily="34" charset="0"/>
                <a:ea typeface="Calibri" pitchFamily="34" charset="-122"/>
                <a:cs typeface="Calibri" pitchFamily="34" charset="-120"/>
              </a:rPr>
              <a:t>critical</a:t>
            </a:r>
            <a:endParaRPr lang="en-US" sz="1350" dirty="0"/>
          </a:p>
        </p:txBody>
      </p:sp>
      <p:sp>
        <p:nvSpPr>
          <p:cNvPr id="21" name="Text 18"/>
          <p:cNvSpPr/>
          <p:nvPr/>
        </p:nvSpPr>
        <p:spPr>
          <a:xfrm>
            <a:off x="7512528" y="2770632"/>
            <a:ext cx="1662928" cy="649224"/>
          </a:xfrm>
          <a:prstGeom prst="rect">
            <a:avLst/>
          </a:prstGeom>
          <a:noFill/>
          <a:ln/>
        </p:spPr>
        <p:txBody>
          <a:bodyPr wrap="square" lIns="0" tIns="0" rIns="0" bIns="0" rtlCol="0" anchor="t"/>
          <a:lstStyle/>
          <a:p>
            <a:pPr indent="0" marL="0">
              <a:lnSpc>
                <a:spcPct val="102000"/>
              </a:lnSpc>
              <a:buNone/>
            </a:pPr>
            <a:r>
              <a:rPr lang="en-US" sz="1050" dirty="0">
                <a:solidFill>
                  <a:srgbClr val="3A4557"/>
                </a:solidFill>
                <a:latin typeface="Calibri" pitchFamily="34" charset="0"/>
                <a:ea typeface="Calibri" pitchFamily="34" charset="-122"/>
                <a:cs typeface="Calibri" pitchFamily="34" charset="-120"/>
              </a:rPr>
              <a:t>Full signal set, SLO, burn-rate paging, escalation. tier0 and tier1.</a:t>
            </a:r>
            <a:endParaRPr lang="en-US" sz="1050" dirty="0"/>
          </a:p>
        </p:txBody>
      </p:sp>
      <p:sp>
        <p:nvSpPr>
          <p:cNvPr id="22" name="Shape 19"/>
          <p:cNvSpPr/>
          <p:nvPr/>
        </p:nvSpPr>
        <p:spPr>
          <a:xfrm>
            <a:off x="9559503" y="2240280"/>
            <a:ext cx="2065264" cy="1325880"/>
          </a:xfrm>
          <a:prstGeom prst="roundRect">
            <a:avLst>
              <a:gd name="adj" fmla="val 4138"/>
            </a:avLst>
          </a:prstGeom>
          <a:solidFill>
            <a:srgbClr val="EFF2F6"/>
          </a:solidFill>
          <a:ln w="12700">
            <a:solidFill>
              <a:srgbClr val="EFF2F6"/>
            </a:solidFill>
            <a:prstDash val="solid"/>
          </a:ln>
        </p:spPr>
      </p:sp>
      <p:sp>
        <p:nvSpPr>
          <p:cNvPr id="23" name="Text 20"/>
          <p:cNvSpPr/>
          <p:nvPr/>
        </p:nvSpPr>
        <p:spPr>
          <a:xfrm>
            <a:off x="9760671" y="2386584"/>
            <a:ext cx="1662928" cy="347472"/>
          </a:xfrm>
          <a:prstGeom prst="rect">
            <a:avLst/>
          </a:prstGeom>
          <a:noFill/>
          <a:ln/>
        </p:spPr>
        <p:txBody>
          <a:bodyPr wrap="square" lIns="0" tIns="0" rIns="0" bIns="0" rtlCol="0" anchor="t"/>
          <a:lstStyle/>
          <a:p>
            <a:pPr indent="0" marL="0">
              <a:buNone/>
            </a:pPr>
            <a:r>
              <a:rPr lang="en-US" sz="1350" b="1" dirty="0">
                <a:solidFill>
                  <a:srgbClr val="161C28"/>
                </a:solidFill>
                <a:latin typeface="Calibri" pitchFamily="34" charset="0"/>
                <a:ea typeface="Calibri" pitchFamily="34" charset="-122"/>
                <a:cs typeface="Calibri" pitchFamily="34" charset="-120"/>
              </a:rPr>
              <a:t>regulated</a:t>
            </a:r>
            <a:endParaRPr lang="en-US" sz="1350" dirty="0"/>
          </a:p>
        </p:txBody>
      </p:sp>
      <p:sp>
        <p:nvSpPr>
          <p:cNvPr id="24" name="Text 21"/>
          <p:cNvSpPr/>
          <p:nvPr/>
        </p:nvSpPr>
        <p:spPr>
          <a:xfrm>
            <a:off x="9760671" y="2770632"/>
            <a:ext cx="1662928" cy="649224"/>
          </a:xfrm>
          <a:prstGeom prst="rect">
            <a:avLst/>
          </a:prstGeom>
          <a:noFill/>
          <a:ln/>
        </p:spPr>
        <p:txBody>
          <a:bodyPr wrap="square" lIns="0" tIns="0" rIns="0" bIns="0" rtlCol="0" anchor="t"/>
          <a:lstStyle/>
          <a:p>
            <a:pPr indent="0" marL="0">
              <a:lnSpc>
                <a:spcPct val="102000"/>
              </a:lnSpc>
              <a:buNone/>
            </a:pPr>
            <a:r>
              <a:rPr lang="en-US" sz="1050" dirty="0">
                <a:solidFill>
                  <a:srgbClr val="3A4557"/>
                </a:solidFill>
                <a:latin typeface="Calibri" pitchFamily="34" charset="0"/>
                <a:ea typeface="Calibri" pitchFamily="34" charset="-122"/>
                <a:cs typeface="Calibri" pitchFamily="34" charset="-120"/>
              </a:rPr>
              <a:t>Critical plus evidence and retention duties. Promoted by the compliance_scope tag.</a:t>
            </a:r>
            <a:endParaRPr lang="en-US" sz="1050" dirty="0"/>
          </a:p>
        </p:txBody>
      </p:sp>
      <p:sp>
        <p:nvSpPr>
          <p:cNvPr id="25" name="Text 22"/>
          <p:cNvSpPr/>
          <p:nvPr/>
        </p:nvSpPr>
        <p:spPr>
          <a:xfrm>
            <a:off x="566928" y="3657600"/>
            <a:ext cx="1828800" cy="274320"/>
          </a:xfrm>
          <a:prstGeom prst="rect">
            <a:avLst/>
          </a:prstGeom>
          <a:noFill/>
          <a:ln/>
        </p:spPr>
        <p:txBody>
          <a:bodyPr wrap="square" lIns="0" tIns="0" rIns="0" bIns="0" rtlCol="0" anchor="ctr"/>
          <a:lstStyle/>
          <a:p>
            <a:pPr indent="0" marL="0">
              <a:buNone/>
            </a:pPr>
            <a:r>
              <a:rPr lang="en-US" sz="1150" b="1" dirty="0">
                <a:solidFill>
                  <a:srgbClr val="6B7891"/>
                </a:solidFill>
                <a:latin typeface="Calibri" pitchFamily="34" charset="0"/>
                <a:ea typeface="Calibri" pitchFamily="34" charset="-122"/>
                <a:cs typeface="Calibri" pitchFamily="34" charset="-120"/>
              </a:rPr>
              <a:t>+ two overlays</a:t>
            </a:r>
            <a:endParaRPr lang="en-US" sz="1150" dirty="0"/>
          </a:p>
        </p:txBody>
      </p:sp>
      <p:sp>
        <p:nvSpPr>
          <p:cNvPr id="26" name="Text 23"/>
          <p:cNvSpPr/>
          <p:nvPr/>
        </p:nvSpPr>
        <p:spPr>
          <a:xfrm>
            <a:off x="1938528" y="3657600"/>
            <a:ext cx="9692640" cy="274320"/>
          </a:xfrm>
          <a:prstGeom prst="rect">
            <a:avLst/>
          </a:prstGeom>
          <a:noFill/>
          <a:ln/>
        </p:spPr>
        <p:txBody>
          <a:bodyPr wrap="square" lIns="0" tIns="0" rIns="0" bIns="0" rtlCol="0" anchor="ctr"/>
          <a:lstStyle/>
          <a:p>
            <a:pPr indent="0" marL="0">
              <a:buNone/>
            </a:pPr>
            <a:r>
              <a:rPr lang="en-US" sz="1150" dirty="0">
                <a:solidFill>
                  <a:srgbClr val="3A4557"/>
                </a:solidFill>
                <a:latin typeface="Calibri" pitchFamily="34" charset="0"/>
                <a:ea typeface="Calibri" pitchFamily="34" charset="-122"/>
                <a:cs typeface="Calibri" pitchFamily="34" charset="-120"/>
              </a:rPr>
              <a:t>security_sensitive — routes to the security team regardless of who owns the resource   ·   release_gate — stage + tier0 during an active release window</a:t>
            </a:r>
            <a:endParaRPr lang="en-US" sz="1150" dirty="0"/>
          </a:p>
        </p:txBody>
      </p:sp>
      <p:sp>
        <p:nvSpPr>
          <p:cNvPr id="27" name="Text 24"/>
          <p:cNvSpPr/>
          <p:nvPr/>
        </p:nvSpPr>
        <p:spPr>
          <a:xfrm>
            <a:off x="566928" y="4114800"/>
            <a:ext cx="10607040" cy="292608"/>
          </a:xfrm>
          <a:prstGeom prst="rect">
            <a:avLst/>
          </a:prstGeom>
          <a:noFill/>
          <a:ln/>
        </p:spPr>
        <p:txBody>
          <a:bodyPr wrap="square" lIns="0" tIns="0" rIns="0" bIns="0" rtlCol="0" anchor="ctr"/>
          <a:lstStyle/>
          <a:p>
            <a:pPr indent="0" marL="0">
              <a:buNone/>
            </a:pPr>
            <a:r>
              <a:rPr lang="en-US" sz="1400" b="1" dirty="0">
                <a:solidFill>
                  <a:srgbClr val="161C28"/>
                </a:solidFill>
                <a:latin typeface="Calibri" pitchFamily="34" charset="0"/>
                <a:ea typeface="Calibri" pitchFamily="34" charset="-122"/>
                <a:cs typeface="Calibri" pitchFamily="34" charset="-120"/>
              </a:rPr>
              <a:t>Resolved through eight layers — a team supplies two of them</a:t>
            </a:r>
            <a:endParaRPr lang="en-US" sz="1400" dirty="0"/>
          </a:p>
        </p:txBody>
      </p:sp>
      <p:sp>
        <p:nvSpPr>
          <p:cNvPr id="28" name="Shape 25"/>
          <p:cNvSpPr/>
          <p:nvPr/>
        </p:nvSpPr>
        <p:spPr>
          <a:xfrm>
            <a:off x="566928" y="4498848"/>
            <a:ext cx="1225296" cy="658368"/>
          </a:xfrm>
          <a:prstGeom prst="roundRect">
            <a:avLst>
              <a:gd name="adj" fmla="val 6944"/>
            </a:avLst>
          </a:prstGeom>
          <a:solidFill>
            <a:srgbClr val="EFF2F6"/>
          </a:solidFill>
          <a:ln w="12700">
            <a:solidFill>
              <a:srgbClr val="EFF2F6"/>
            </a:solidFill>
            <a:prstDash val="solid"/>
          </a:ln>
        </p:spPr>
      </p:sp>
      <p:sp>
        <p:nvSpPr>
          <p:cNvPr id="29" name="Text 26"/>
          <p:cNvSpPr/>
          <p:nvPr/>
        </p:nvSpPr>
        <p:spPr>
          <a:xfrm>
            <a:off x="640080" y="4498848"/>
            <a:ext cx="1078992" cy="658368"/>
          </a:xfrm>
          <a:prstGeom prst="rect">
            <a:avLst/>
          </a:prstGeom>
          <a:noFill/>
          <a:ln/>
        </p:spPr>
        <p:txBody>
          <a:bodyPr wrap="square" lIns="0" tIns="0" rIns="0" bIns="0" rtlCol="0" anchor="ctr"/>
          <a:lstStyle/>
          <a:p>
            <a:pPr algn="ctr" indent="0" marL="0">
              <a:buNone/>
            </a:pPr>
            <a:r>
              <a:rPr lang="en-US" sz="1050" dirty="0">
                <a:solidFill>
                  <a:srgbClr val="3A4557"/>
                </a:solidFill>
                <a:latin typeface="Calibri" pitchFamily="34" charset="0"/>
                <a:ea typeface="Calibri" pitchFamily="34" charset="-122"/>
                <a:cs typeface="Calibri" pitchFamily="34" charset="-120"/>
              </a:rPr>
              <a:t>Global</a:t>
            </a:r>
            <a:endParaRPr lang="en-US" sz="1050" dirty="0"/>
          </a:p>
        </p:txBody>
      </p:sp>
      <p:sp>
        <p:nvSpPr>
          <p:cNvPr id="30" name="Shape 27"/>
          <p:cNvSpPr/>
          <p:nvPr/>
        </p:nvSpPr>
        <p:spPr>
          <a:xfrm>
            <a:off x="1810512" y="4754880"/>
            <a:ext cx="128016" cy="128016"/>
          </a:xfrm>
          <a:prstGeom prst="rightArrow">
            <a:avLst/>
          </a:prstGeom>
          <a:solidFill>
            <a:srgbClr val="5F7189"/>
          </a:solidFill>
          <a:ln w="12700">
            <a:solidFill>
              <a:srgbClr val="5F7189"/>
            </a:solidFill>
            <a:prstDash val="solid"/>
          </a:ln>
        </p:spPr>
      </p:sp>
      <p:sp>
        <p:nvSpPr>
          <p:cNvPr id="31" name="Shape 28"/>
          <p:cNvSpPr/>
          <p:nvPr/>
        </p:nvSpPr>
        <p:spPr>
          <a:xfrm>
            <a:off x="1956816" y="4498848"/>
            <a:ext cx="1225296" cy="658368"/>
          </a:xfrm>
          <a:prstGeom prst="roundRect">
            <a:avLst>
              <a:gd name="adj" fmla="val 6944"/>
            </a:avLst>
          </a:prstGeom>
          <a:solidFill>
            <a:srgbClr val="EFF2F6"/>
          </a:solidFill>
          <a:ln w="12700">
            <a:solidFill>
              <a:srgbClr val="EFF2F6"/>
            </a:solidFill>
            <a:prstDash val="solid"/>
          </a:ln>
        </p:spPr>
      </p:sp>
      <p:sp>
        <p:nvSpPr>
          <p:cNvPr id="32" name="Text 29"/>
          <p:cNvSpPr/>
          <p:nvPr/>
        </p:nvSpPr>
        <p:spPr>
          <a:xfrm>
            <a:off x="2029968" y="4498848"/>
            <a:ext cx="1078992" cy="658368"/>
          </a:xfrm>
          <a:prstGeom prst="rect">
            <a:avLst/>
          </a:prstGeom>
          <a:noFill/>
          <a:ln/>
        </p:spPr>
        <p:txBody>
          <a:bodyPr wrap="square" lIns="0" tIns="0" rIns="0" bIns="0" rtlCol="0" anchor="ctr"/>
          <a:lstStyle/>
          <a:p>
            <a:pPr algn="ctr" indent="0" marL="0">
              <a:buNone/>
            </a:pPr>
            <a:r>
              <a:rPr lang="en-US" sz="1050" dirty="0">
                <a:solidFill>
                  <a:srgbClr val="3A4557"/>
                </a:solidFill>
                <a:latin typeface="Calibri" pitchFamily="34" charset="0"/>
                <a:ea typeface="Calibri" pitchFamily="34" charset="-122"/>
                <a:cs typeface="Calibri" pitchFamily="34" charset="-120"/>
              </a:rPr>
              <a:t>Domain</a:t>
            </a:r>
            <a:endParaRPr lang="en-US" sz="1050" dirty="0"/>
          </a:p>
        </p:txBody>
      </p:sp>
      <p:sp>
        <p:nvSpPr>
          <p:cNvPr id="33" name="Shape 30"/>
          <p:cNvSpPr/>
          <p:nvPr/>
        </p:nvSpPr>
        <p:spPr>
          <a:xfrm>
            <a:off x="3200400" y="4754880"/>
            <a:ext cx="128016" cy="128016"/>
          </a:xfrm>
          <a:prstGeom prst="rightArrow">
            <a:avLst/>
          </a:prstGeom>
          <a:solidFill>
            <a:srgbClr val="5F7189"/>
          </a:solidFill>
          <a:ln w="12700">
            <a:solidFill>
              <a:srgbClr val="5F7189"/>
            </a:solidFill>
            <a:prstDash val="solid"/>
          </a:ln>
        </p:spPr>
      </p:sp>
      <p:sp>
        <p:nvSpPr>
          <p:cNvPr id="34" name="Shape 31"/>
          <p:cNvSpPr/>
          <p:nvPr/>
        </p:nvSpPr>
        <p:spPr>
          <a:xfrm>
            <a:off x="3346704" y="4498848"/>
            <a:ext cx="1225296" cy="658368"/>
          </a:xfrm>
          <a:prstGeom prst="roundRect">
            <a:avLst>
              <a:gd name="adj" fmla="val 6944"/>
            </a:avLst>
          </a:prstGeom>
          <a:solidFill>
            <a:srgbClr val="12161F"/>
          </a:solidFill>
          <a:ln w="12700">
            <a:solidFill>
              <a:srgbClr val="12161F"/>
            </a:solidFill>
            <a:prstDash val="solid"/>
          </a:ln>
        </p:spPr>
      </p:sp>
      <p:sp>
        <p:nvSpPr>
          <p:cNvPr id="35" name="Text 32"/>
          <p:cNvSpPr/>
          <p:nvPr/>
        </p:nvSpPr>
        <p:spPr>
          <a:xfrm>
            <a:off x="3419856" y="4498848"/>
            <a:ext cx="1078992" cy="658368"/>
          </a:xfrm>
          <a:prstGeom prst="rect">
            <a:avLst/>
          </a:prstGeom>
          <a:noFill/>
          <a:ln/>
        </p:spPr>
        <p:txBody>
          <a:bodyPr wrap="square" lIns="0" tIns="0" rIns="0" bIns="0" rtlCol="0" anchor="ctr"/>
          <a:lstStyle/>
          <a:p>
            <a:pPr algn="ctr" indent="0" marL="0">
              <a:buNone/>
            </a:pPr>
            <a:r>
              <a:rPr lang="en-US" sz="1050" b="1" dirty="0">
                <a:solidFill>
                  <a:srgbClr val="E09A2E"/>
                </a:solidFill>
                <a:latin typeface="Calibri" pitchFamily="34" charset="0"/>
                <a:ea typeface="Calibri" pitchFamily="34" charset="-122"/>
                <a:cs typeface="Calibri" pitchFamily="34" charset="-120"/>
              </a:rPr>
              <a:t>Service archetype</a:t>
            </a:r>
            <a:endParaRPr lang="en-US" sz="1050" dirty="0"/>
          </a:p>
        </p:txBody>
      </p:sp>
      <p:sp>
        <p:nvSpPr>
          <p:cNvPr id="36" name="Shape 33"/>
          <p:cNvSpPr/>
          <p:nvPr/>
        </p:nvSpPr>
        <p:spPr>
          <a:xfrm>
            <a:off x="4590288" y="4754880"/>
            <a:ext cx="128016" cy="128016"/>
          </a:xfrm>
          <a:prstGeom prst="rightArrow">
            <a:avLst/>
          </a:prstGeom>
          <a:solidFill>
            <a:srgbClr val="5F7189"/>
          </a:solidFill>
          <a:ln w="12700">
            <a:solidFill>
              <a:srgbClr val="5F7189"/>
            </a:solidFill>
            <a:prstDash val="solid"/>
          </a:ln>
        </p:spPr>
      </p:sp>
      <p:sp>
        <p:nvSpPr>
          <p:cNvPr id="37" name="Shape 34"/>
          <p:cNvSpPr/>
          <p:nvPr/>
        </p:nvSpPr>
        <p:spPr>
          <a:xfrm>
            <a:off x="4736592" y="4498848"/>
            <a:ext cx="1225296" cy="658368"/>
          </a:xfrm>
          <a:prstGeom prst="roundRect">
            <a:avLst>
              <a:gd name="adj" fmla="val 6944"/>
            </a:avLst>
          </a:prstGeom>
          <a:solidFill>
            <a:srgbClr val="EFF2F6"/>
          </a:solidFill>
          <a:ln w="12700">
            <a:solidFill>
              <a:srgbClr val="EFF2F6"/>
            </a:solidFill>
            <a:prstDash val="solid"/>
          </a:ln>
        </p:spPr>
      </p:sp>
      <p:sp>
        <p:nvSpPr>
          <p:cNvPr id="38" name="Text 35"/>
          <p:cNvSpPr/>
          <p:nvPr/>
        </p:nvSpPr>
        <p:spPr>
          <a:xfrm>
            <a:off x="4809744" y="4498848"/>
            <a:ext cx="1078992" cy="658368"/>
          </a:xfrm>
          <a:prstGeom prst="rect">
            <a:avLst/>
          </a:prstGeom>
          <a:noFill/>
          <a:ln/>
        </p:spPr>
        <p:txBody>
          <a:bodyPr wrap="square" lIns="0" tIns="0" rIns="0" bIns="0" rtlCol="0" anchor="ctr"/>
          <a:lstStyle/>
          <a:p>
            <a:pPr algn="ctr" indent="0" marL="0">
              <a:buNone/>
            </a:pPr>
            <a:r>
              <a:rPr lang="en-US" sz="1050" dirty="0">
                <a:solidFill>
                  <a:srgbClr val="3A4557"/>
                </a:solidFill>
                <a:latin typeface="Calibri" pitchFamily="34" charset="0"/>
                <a:ea typeface="Calibri" pitchFamily="34" charset="-122"/>
                <a:cs typeface="Calibri" pitchFamily="34" charset="-120"/>
              </a:rPr>
              <a:t>Profile</a:t>
            </a:r>
            <a:endParaRPr lang="en-US" sz="1050" dirty="0"/>
          </a:p>
        </p:txBody>
      </p:sp>
      <p:sp>
        <p:nvSpPr>
          <p:cNvPr id="39" name="Shape 36"/>
          <p:cNvSpPr/>
          <p:nvPr/>
        </p:nvSpPr>
        <p:spPr>
          <a:xfrm>
            <a:off x="5980176" y="4754880"/>
            <a:ext cx="128016" cy="128016"/>
          </a:xfrm>
          <a:prstGeom prst="rightArrow">
            <a:avLst/>
          </a:prstGeom>
          <a:solidFill>
            <a:srgbClr val="5F7189"/>
          </a:solidFill>
          <a:ln w="12700">
            <a:solidFill>
              <a:srgbClr val="5F7189"/>
            </a:solidFill>
            <a:prstDash val="solid"/>
          </a:ln>
        </p:spPr>
      </p:sp>
      <p:sp>
        <p:nvSpPr>
          <p:cNvPr id="40" name="Shape 37"/>
          <p:cNvSpPr/>
          <p:nvPr/>
        </p:nvSpPr>
        <p:spPr>
          <a:xfrm>
            <a:off x="6126480" y="4498848"/>
            <a:ext cx="1225296" cy="658368"/>
          </a:xfrm>
          <a:prstGeom prst="roundRect">
            <a:avLst>
              <a:gd name="adj" fmla="val 6944"/>
            </a:avLst>
          </a:prstGeom>
          <a:solidFill>
            <a:srgbClr val="EFF2F6"/>
          </a:solidFill>
          <a:ln w="12700">
            <a:solidFill>
              <a:srgbClr val="EFF2F6"/>
            </a:solidFill>
            <a:prstDash val="solid"/>
          </a:ln>
        </p:spPr>
      </p:sp>
      <p:sp>
        <p:nvSpPr>
          <p:cNvPr id="41" name="Text 38"/>
          <p:cNvSpPr/>
          <p:nvPr/>
        </p:nvSpPr>
        <p:spPr>
          <a:xfrm>
            <a:off x="6199632" y="4498848"/>
            <a:ext cx="1078992" cy="658368"/>
          </a:xfrm>
          <a:prstGeom prst="rect">
            <a:avLst/>
          </a:prstGeom>
          <a:noFill/>
          <a:ln/>
        </p:spPr>
        <p:txBody>
          <a:bodyPr wrap="square" lIns="0" tIns="0" rIns="0" bIns="0" rtlCol="0" anchor="ctr"/>
          <a:lstStyle/>
          <a:p>
            <a:pPr algn="ctr" indent="0" marL="0">
              <a:buNone/>
            </a:pPr>
            <a:r>
              <a:rPr lang="en-US" sz="1050" dirty="0">
                <a:solidFill>
                  <a:srgbClr val="3A4557"/>
                </a:solidFill>
                <a:latin typeface="Calibri" pitchFamily="34" charset="0"/>
                <a:ea typeface="Calibri" pitchFamily="34" charset="-122"/>
                <a:cs typeface="Calibri" pitchFamily="34" charset="-120"/>
              </a:rPr>
              <a:t>Environment</a:t>
            </a:r>
            <a:endParaRPr lang="en-US" sz="1050" dirty="0"/>
          </a:p>
        </p:txBody>
      </p:sp>
      <p:sp>
        <p:nvSpPr>
          <p:cNvPr id="42" name="Shape 39"/>
          <p:cNvSpPr/>
          <p:nvPr/>
        </p:nvSpPr>
        <p:spPr>
          <a:xfrm>
            <a:off x="7370064" y="4754880"/>
            <a:ext cx="128016" cy="128016"/>
          </a:xfrm>
          <a:prstGeom prst="rightArrow">
            <a:avLst/>
          </a:prstGeom>
          <a:solidFill>
            <a:srgbClr val="5F7189"/>
          </a:solidFill>
          <a:ln w="12700">
            <a:solidFill>
              <a:srgbClr val="5F7189"/>
            </a:solidFill>
            <a:prstDash val="solid"/>
          </a:ln>
        </p:spPr>
      </p:sp>
      <p:sp>
        <p:nvSpPr>
          <p:cNvPr id="43" name="Shape 40"/>
          <p:cNvSpPr/>
          <p:nvPr/>
        </p:nvSpPr>
        <p:spPr>
          <a:xfrm>
            <a:off x="7516368" y="4498848"/>
            <a:ext cx="1225296" cy="658368"/>
          </a:xfrm>
          <a:prstGeom prst="roundRect">
            <a:avLst>
              <a:gd name="adj" fmla="val 6944"/>
            </a:avLst>
          </a:prstGeom>
          <a:solidFill>
            <a:srgbClr val="12161F"/>
          </a:solidFill>
          <a:ln w="12700">
            <a:solidFill>
              <a:srgbClr val="12161F"/>
            </a:solidFill>
            <a:prstDash val="solid"/>
          </a:ln>
        </p:spPr>
      </p:sp>
      <p:sp>
        <p:nvSpPr>
          <p:cNvPr id="44" name="Text 41"/>
          <p:cNvSpPr/>
          <p:nvPr/>
        </p:nvSpPr>
        <p:spPr>
          <a:xfrm>
            <a:off x="7589520" y="4498848"/>
            <a:ext cx="1078992" cy="658368"/>
          </a:xfrm>
          <a:prstGeom prst="rect">
            <a:avLst/>
          </a:prstGeom>
          <a:noFill/>
          <a:ln/>
        </p:spPr>
        <p:txBody>
          <a:bodyPr wrap="square" lIns="0" tIns="0" rIns="0" bIns="0" rtlCol="0" anchor="ctr"/>
          <a:lstStyle/>
          <a:p>
            <a:pPr algn="ctr" indent="0" marL="0">
              <a:buNone/>
            </a:pPr>
            <a:r>
              <a:rPr lang="en-US" sz="1050" b="1" dirty="0">
                <a:solidFill>
                  <a:srgbClr val="E09A2E"/>
                </a:solidFill>
                <a:latin typeface="Calibri" pitchFamily="34" charset="0"/>
                <a:ea typeface="Calibri" pitchFamily="34" charset="-122"/>
                <a:cs typeface="Calibri" pitchFamily="34" charset="-120"/>
              </a:rPr>
              <a:t>Tier</a:t>
            </a:r>
            <a:endParaRPr lang="en-US" sz="1050" dirty="0"/>
          </a:p>
        </p:txBody>
      </p:sp>
      <p:sp>
        <p:nvSpPr>
          <p:cNvPr id="45" name="Shape 42"/>
          <p:cNvSpPr/>
          <p:nvPr/>
        </p:nvSpPr>
        <p:spPr>
          <a:xfrm>
            <a:off x="8759952" y="4754880"/>
            <a:ext cx="128016" cy="128016"/>
          </a:xfrm>
          <a:prstGeom prst="rightArrow">
            <a:avLst/>
          </a:prstGeom>
          <a:solidFill>
            <a:srgbClr val="5F7189"/>
          </a:solidFill>
          <a:ln w="12700">
            <a:solidFill>
              <a:srgbClr val="5F7189"/>
            </a:solidFill>
            <a:prstDash val="solid"/>
          </a:ln>
        </p:spPr>
      </p:sp>
      <p:sp>
        <p:nvSpPr>
          <p:cNvPr id="46" name="Shape 43"/>
          <p:cNvSpPr/>
          <p:nvPr/>
        </p:nvSpPr>
        <p:spPr>
          <a:xfrm>
            <a:off x="8906256" y="4498848"/>
            <a:ext cx="1225296" cy="658368"/>
          </a:xfrm>
          <a:prstGeom prst="roundRect">
            <a:avLst>
              <a:gd name="adj" fmla="val 6944"/>
            </a:avLst>
          </a:prstGeom>
          <a:solidFill>
            <a:srgbClr val="EFF2F6"/>
          </a:solidFill>
          <a:ln w="12700">
            <a:solidFill>
              <a:srgbClr val="EFF2F6"/>
            </a:solidFill>
            <a:prstDash val="solid"/>
          </a:ln>
        </p:spPr>
      </p:sp>
      <p:sp>
        <p:nvSpPr>
          <p:cNvPr id="47" name="Text 44"/>
          <p:cNvSpPr/>
          <p:nvPr/>
        </p:nvSpPr>
        <p:spPr>
          <a:xfrm>
            <a:off x="8979408" y="4498848"/>
            <a:ext cx="1078992" cy="658368"/>
          </a:xfrm>
          <a:prstGeom prst="rect">
            <a:avLst/>
          </a:prstGeom>
          <a:noFill/>
          <a:ln/>
        </p:spPr>
        <p:txBody>
          <a:bodyPr wrap="square" lIns="0" tIns="0" rIns="0" bIns="0" rtlCol="0" anchor="ctr"/>
          <a:lstStyle/>
          <a:p>
            <a:pPr algn="ctr" indent="0" marL="0">
              <a:buNone/>
            </a:pPr>
            <a:r>
              <a:rPr lang="en-US" sz="1050" dirty="0">
                <a:solidFill>
                  <a:srgbClr val="3A4557"/>
                </a:solidFill>
                <a:latin typeface="Calibri" pitchFamily="34" charset="0"/>
                <a:ea typeface="Calibri" pitchFamily="34" charset="-122"/>
                <a:cs typeface="Calibri" pitchFamily="34" charset="-120"/>
              </a:rPr>
              <a:t>Team</a:t>
            </a:r>
            <a:endParaRPr lang="en-US" sz="1050" dirty="0"/>
          </a:p>
        </p:txBody>
      </p:sp>
      <p:sp>
        <p:nvSpPr>
          <p:cNvPr id="48" name="Shape 45"/>
          <p:cNvSpPr/>
          <p:nvPr/>
        </p:nvSpPr>
        <p:spPr>
          <a:xfrm>
            <a:off x="10149840" y="4754880"/>
            <a:ext cx="128016" cy="128016"/>
          </a:xfrm>
          <a:prstGeom prst="rightArrow">
            <a:avLst/>
          </a:prstGeom>
          <a:solidFill>
            <a:srgbClr val="5F7189"/>
          </a:solidFill>
          <a:ln w="12700">
            <a:solidFill>
              <a:srgbClr val="5F7189"/>
            </a:solidFill>
            <a:prstDash val="solid"/>
          </a:ln>
        </p:spPr>
      </p:sp>
      <p:sp>
        <p:nvSpPr>
          <p:cNvPr id="49" name="Shape 46"/>
          <p:cNvSpPr/>
          <p:nvPr/>
        </p:nvSpPr>
        <p:spPr>
          <a:xfrm>
            <a:off x="10296144" y="4498848"/>
            <a:ext cx="1225296" cy="658368"/>
          </a:xfrm>
          <a:prstGeom prst="roundRect">
            <a:avLst>
              <a:gd name="adj" fmla="val 6944"/>
            </a:avLst>
          </a:prstGeom>
          <a:solidFill>
            <a:srgbClr val="EFF2F6"/>
          </a:solidFill>
          <a:ln w="12700">
            <a:solidFill>
              <a:srgbClr val="EFF2F6"/>
            </a:solidFill>
            <a:prstDash val="solid"/>
          </a:ln>
        </p:spPr>
      </p:sp>
      <p:sp>
        <p:nvSpPr>
          <p:cNvPr id="50" name="Text 47"/>
          <p:cNvSpPr/>
          <p:nvPr/>
        </p:nvSpPr>
        <p:spPr>
          <a:xfrm>
            <a:off x="10369296" y="4498848"/>
            <a:ext cx="1078992" cy="658368"/>
          </a:xfrm>
          <a:prstGeom prst="rect">
            <a:avLst/>
          </a:prstGeom>
          <a:noFill/>
          <a:ln/>
        </p:spPr>
        <p:txBody>
          <a:bodyPr wrap="square" lIns="0" tIns="0" rIns="0" bIns="0" rtlCol="0" anchor="ctr"/>
          <a:lstStyle/>
          <a:p>
            <a:pPr algn="ctr" indent="0" marL="0">
              <a:buNone/>
            </a:pPr>
            <a:r>
              <a:rPr lang="en-US" sz="1050" dirty="0">
                <a:solidFill>
                  <a:srgbClr val="3A4557"/>
                </a:solidFill>
                <a:latin typeface="Calibri" pitchFamily="34" charset="0"/>
                <a:ea typeface="Calibri" pitchFamily="34" charset="-122"/>
                <a:cs typeface="Calibri" pitchFamily="34" charset="-120"/>
              </a:rPr>
              <a:t>Exception</a:t>
            </a:r>
            <a:endParaRPr lang="en-US" sz="1050" dirty="0"/>
          </a:p>
        </p:txBody>
      </p:sp>
      <p:sp>
        <p:nvSpPr>
          <p:cNvPr id="51" name="Shape 48"/>
          <p:cNvSpPr/>
          <p:nvPr/>
        </p:nvSpPr>
        <p:spPr>
          <a:xfrm>
            <a:off x="566928" y="5349240"/>
            <a:ext cx="11057839" cy="658368"/>
          </a:xfrm>
          <a:prstGeom prst="roundRect">
            <a:avLst>
              <a:gd name="adj" fmla="val 8333"/>
            </a:avLst>
          </a:prstGeom>
          <a:solidFill>
            <a:srgbClr val="FBEEEB"/>
          </a:solidFill>
          <a:ln w="12700">
            <a:solidFill>
              <a:srgbClr val="FBEEEB"/>
            </a:solidFill>
            <a:prstDash val="solid"/>
          </a:ln>
        </p:spPr>
      </p:sp>
      <p:sp>
        <p:nvSpPr>
          <p:cNvPr id="52" name="Text 49"/>
          <p:cNvSpPr/>
          <p:nvPr/>
        </p:nvSpPr>
        <p:spPr>
          <a:xfrm>
            <a:off x="795528" y="5349240"/>
            <a:ext cx="10600639" cy="658368"/>
          </a:xfrm>
          <a:prstGeom prst="rect">
            <a:avLst/>
          </a:prstGeom>
          <a:noFill/>
          <a:ln/>
        </p:spPr>
        <p:txBody>
          <a:bodyPr wrap="square" lIns="0" tIns="0" rIns="0" bIns="0" rtlCol="0" anchor="ctr"/>
          <a:lstStyle/>
          <a:p>
            <a:pPr indent="0" marL="0">
              <a:buNone/>
            </a:pPr>
            <a:r>
              <a:rPr lang="en-US" sz="1150" b="1" dirty="0">
                <a:solidFill>
                  <a:srgbClr val="7A2E24"/>
                </a:solidFill>
                <a:latin typeface="Calibri" pitchFamily="34" charset="0"/>
                <a:ea typeface="Calibri" pitchFamily="34" charset="-122"/>
                <a:cs typeface="Calibri" pitchFamily="34" charset="-120"/>
              </a:rPr>
              <a:t>Open gap — phase 2:  </a:t>
            </a:r>
            <a:pPr indent="0" marL="0">
              <a:buNone/>
            </a:pPr>
            <a:r>
              <a:rPr lang="en-US" sz="1150" dirty="0">
                <a:solidFill>
                  <a:srgbClr val="7A2E24"/>
                </a:solidFill>
                <a:latin typeface="Calibri" pitchFamily="34" charset="0"/>
                <a:ea typeface="Calibri" pitchFamily="34" charset="-122"/>
                <a:cs typeface="Calibri" pitchFamily="34" charset="-120"/>
              </a:rPr>
              <a:t>telemetry availability is not yet an input to profile resolution. The platform will resolve a profile that expects metrics nobody emits, and the resulting monitor sits green and empty. Declaring required telemetry per archetype closes it.</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2161F"/>
        </a:solidFill>
      </p:bgPr>
    </p:bg>
    <p:spTree>
      <p:nvGrpSpPr>
        <p:cNvPr id="1" name=""/>
        <p:cNvGrpSpPr/>
        <p:nvPr/>
      </p:nvGrpSpPr>
      <p:grpSpPr>
        <a:xfrm>
          <a:off x="0" y="0"/>
          <a:ext cx="0" cy="0"/>
          <a:chOff x="0" y="0"/>
          <a:chExt cx="0" cy="0"/>
        </a:xfrm>
      </p:grpSpPr>
      <p:sp>
        <p:nvSpPr>
          <p:cNvPr id="2" name="Text 0"/>
          <p:cNvSpPr/>
          <p:nvPr/>
        </p:nvSpPr>
        <p:spPr>
          <a:xfrm>
            <a:off x="566928" y="6345936"/>
            <a:ext cx="7315200" cy="274320"/>
          </a:xfrm>
          <a:prstGeom prst="rect">
            <a:avLst/>
          </a:prstGeom>
          <a:noFill/>
          <a:ln/>
        </p:spPr>
        <p:txBody>
          <a:bodyPr wrap="square" lIns="0" tIns="0" rIns="0" bIns="0" rtlCol="0" anchor="ctr"/>
          <a:lstStyle/>
          <a:p>
            <a:pPr indent="0" marL="0">
              <a:buNone/>
            </a:pPr>
            <a:r>
              <a:rPr lang="en-US" sz="900" dirty="0">
                <a:solidFill>
                  <a:srgbClr val="6E7B92"/>
                </a:solidFill>
                <a:latin typeface="Calibri" pitchFamily="34" charset="0"/>
                <a:ea typeface="Calibri" pitchFamily="34" charset="-122"/>
                <a:cs typeface="Calibri" pitchFamily="34" charset="-120"/>
              </a:rPr>
              <a:t>Enterprise Observability  ·  policy-as-data on Datadog</a:t>
            </a:r>
            <a:endParaRPr lang="en-US" sz="900" dirty="0"/>
          </a:p>
        </p:txBody>
      </p:sp>
      <p:sp>
        <p:nvSpPr>
          <p:cNvPr id="3" name="Text 1"/>
          <p:cNvSpPr/>
          <p:nvPr/>
        </p:nvSpPr>
        <p:spPr>
          <a:xfrm>
            <a:off x="10710367" y="6345936"/>
            <a:ext cx="914400" cy="274320"/>
          </a:xfrm>
          <a:prstGeom prst="rect">
            <a:avLst/>
          </a:prstGeom>
          <a:noFill/>
          <a:ln/>
        </p:spPr>
        <p:txBody>
          <a:bodyPr wrap="square" lIns="0" tIns="0" rIns="0" bIns="0" rtlCol="0" anchor="ctr"/>
          <a:lstStyle/>
          <a:p>
            <a:pPr algn="r" indent="0" marL="0">
              <a:buNone/>
            </a:pPr>
            <a:r>
              <a:rPr lang="en-US" sz="900" dirty="0">
                <a:solidFill>
                  <a:srgbClr val="6E7B92"/>
                </a:solidFill>
                <a:latin typeface="Calibri" pitchFamily="34" charset="0"/>
                <a:ea typeface="Calibri" pitchFamily="34" charset="-122"/>
                <a:cs typeface="Calibri" pitchFamily="34" charset="-120"/>
              </a:rPr>
              <a:t>14</a:t>
            </a:r>
            <a:endParaRPr lang="en-US" sz="900" dirty="0"/>
          </a:p>
        </p:txBody>
      </p:sp>
      <p:sp>
        <p:nvSpPr>
          <p:cNvPr id="5" name="Text 2"/>
          <p:cNvSpPr/>
          <p:nvPr/>
        </p:nvSpPr>
        <p:spPr>
          <a:xfrm>
            <a:off x="566928" y="1417320"/>
            <a:ext cx="5486400" cy="457200"/>
          </a:xfrm>
          <a:prstGeom prst="rect">
            <a:avLst/>
          </a:prstGeom>
          <a:noFill/>
          <a:ln/>
        </p:spPr>
        <p:txBody>
          <a:bodyPr wrap="square" lIns="0" tIns="0" rIns="0" bIns="0" rtlCol="0" anchor="ctr"/>
          <a:lstStyle/>
          <a:p>
            <a:pPr indent="0" marL="0">
              <a:buNone/>
            </a:pPr>
            <a:r>
              <a:rPr lang="en-US" sz="1200" b="1" spc="240" kern="0" dirty="0">
                <a:solidFill>
                  <a:srgbClr val="E09A2E"/>
                </a:solidFill>
                <a:latin typeface="Calibri" pitchFamily="34" charset="0"/>
                <a:ea typeface="Calibri" pitchFamily="34" charset="-122"/>
                <a:cs typeface="Calibri" pitchFamily="34" charset="-120"/>
              </a:rPr>
              <a:t>PART THREE</a:t>
            </a:r>
            <a:endParaRPr lang="en-US" sz="1200" dirty="0"/>
          </a:p>
        </p:txBody>
      </p:sp>
      <p:sp>
        <p:nvSpPr>
          <p:cNvPr id="6" name="Text 3"/>
          <p:cNvSpPr/>
          <p:nvPr/>
        </p:nvSpPr>
        <p:spPr>
          <a:xfrm>
            <a:off x="566928" y="1874520"/>
            <a:ext cx="6766560" cy="173736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Signals and</a:t>
            </a:r>
            <a:endParaRPr lang="en-US" sz="4000" dirty="0"/>
          </a:p>
          <a:p>
            <a:pPr indent="0" marL="0">
              <a:buNone/>
            </a:pPr>
            <a:r>
              <a:rPr lang="en-US" sz="4000" b="1" dirty="0">
                <a:solidFill>
                  <a:srgbClr val="FFFFFF"/>
                </a:solidFill>
                <a:latin typeface="Cambria" pitchFamily="34" charset="0"/>
                <a:ea typeface="Cambria" pitchFamily="34" charset="-122"/>
                <a:cs typeface="Cambria" pitchFamily="34" charset="-120"/>
              </a:rPr>
              <a:t>objectives</a:t>
            </a:r>
            <a:endParaRPr lang="en-US" sz="4000" dirty="0"/>
          </a:p>
        </p:txBody>
      </p:sp>
      <p:sp>
        <p:nvSpPr>
          <p:cNvPr id="7" name="Text 4"/>
          <p:cNvSpPr/>
          <p:nvPr/>
        </p:nvSpPr>
        <p:spPr>
          <a:xfrm>
            <a:off x="566928" y="3749040"/>
            <a:ext cx="6035040" cy="822960"/>
          </a:xfrm>
          <a:prstGeom prst="rect">
            <a:avLst/>
          </a:prstGeom>
          <a:noFill/>
          <a:ln/>
        </p:spPr>
        <p:txBody>
          <a:bodyPr wrap="square" lIns="0" tIns="0" rIns="0" bIns="0" rtlCol="0" anchor="t"/>
          <a:lstStyle/>
          <a:p>
            <a:pPr indent="0" marL="0">
              <a:buNone/>
            </a:pPr>
            <a:r>
              <a:rPr lang="en-US" sz="1400" dirty="0">
                <a:solidFill>
                  <a:srgbClr val="9FADC4"/>
                </a:solidFill>
                <a:latin typeface="Calibri" pitchFamily="34" charset="0"/>
                <a:ea typeface="Calibri" pitchFamily="34" charset="-122"/>
                <a:cs typeface="Calibri" pitchFamily="34" charset="-120"/>
              </a:rPr>
              <a:t>What we collect, what we run it on, and how customer harm becomes the thing that pages.</a:t>
            </a:r>
            <a:endParaRPr lang="en-US" sz="1400" dirty="0"/>
          </a:p>
        </p:txBody>
      </p:sp>
      <p:sp>
        <p:nvSpPr>
          <p:cNvPr id="8" name="Shape 5"/>
          <p:cNvSpPr/>
          <p:nvPr/>
        </p:nvSpPr>
        <p:spPr>
          <a:xfrm>
            <a:off x="7360920" y="1371600"/>
            <a:ext cx="4263847" cy="4434840"/>
          </a:xfrm>
          <a:prstGeom prst="roundRect">
            <a:avLst>
              <a:gd name="adj" fmla="val 1501"/>
            </a:avLst>
          </a:prstGeom>
          <a:solidFill>
            <a:srgbClr val="1E2531"/>
          </a:solidFill>
          <a:ln w="12700">
            <a:solidFill>
              <a:srgbClr val="323C4D"/>
            </a:solidFill>
            <a:prstDash val="solid"/>
          </a:ln>
        </p:spPr>
      </p:sp>
      <p:sp>
        <p:nvSpPr>
          <p:cNvPr id="9" name="Text 6"/>
          <p:cNvSpPr/>
          <p:nvPr/>
        </p:nvSpPr>
        <p:spPr>
          <a:xfrm>
            <a:off x="7680960" y="1627632"/>
            <a:ext cx="3840480" cy="274320"/>
          </a:xfrm>
          <a:prstGeom prst="rect">
            <a:avLst/>
          </a:prstGeom>
          <a:noFill/>
          <a:ln/>
        </p:spPr>
        <p:txBody>
          <a:bodyPr wrap="square" lIns="0" tIns="0" rIns="0" bIns="0" rtlCol="0" anchor="ctr"/>
          <a:lstStyle/>
          <a:p>
            <a:pPr indent="0" marL="0">
              <a:buNone/>
            </a:pPr>
            <a:r>
              <a:rPr lang="en-US" sz="950" b="1" spc="160" kern="0" dirty="0">
                <a:solidFill>
                  <a:srgbClr val="E09A2E"/>
                </a:solidFill>
                <a:latin typeface="Calibri" pitchFamily="34" charset="0"/>
                <a:ea typeface="Calibri" pitchFamily="34" charset="-122"/>
                <a:cs typeface="Calibri" pitchFamily="34" charset="-120"/>
              </a:rPr>
              <a:t>TOPICS IN THIS PART</a:t>
            </a:r>
            <a:endParaRPr lang="en-US" sz="950" dirty="0"/>
          </a:p>
        </p:txBody>
      </p:sp>
      <p:sp>
        <p:nvSpPr>
          <p:cNvPr id="10" name="Text 7"/>
          <p:cNvSpPr/>
          <p:nvPr/>
        </p:nvSpPr>
        <p:spPr>
          <a:xfrm>
            <a:off x="7680960" y="1993392"/>
            <a:ext cx="3977640" cy="3566160"/>
          </a:xfrm>
          <a:prstGeom prst="rect">
            <a:avLst/>
          </a:prstGeom>
          <a:noFill/>
          <a:ln/>
        </p:spPr>
        <p:txBody>
          <a:bodyPr wrap="square" lIns="0" tIns="0" rIns="0" bIns="0" rtlCol="0" anchor="t"/>
          <a:lstStyle/>
          <a:p>
            <a:pPr indent="0" marL="0">
              <a:spcAft>
                <a:spcPts val="700"/>
              </a:spcAft>
              <a:buNone/>
            </a:pPr>
            <a:r>
              <a:rPr lang="en-US" sz="1300" dirty="0">
                <a:solidFill>
                  <a:srgbClr val="D3DCE9"/>
                </a:solidFill>
                <a:latin typeface="Calibri" pitchFamily="34" charset="0"/>
                <a:ea typeface="Calibri" pitchFamily="34" charset="-122"/>
                <a:cs typeface="Calibri" pitchFamily="34" charset="-120"/>
              </a:rPr>
              <a:t>9.  Telemetry collection</a:t>
            </a:r>
            <a:endParaRPr lang="en-US" sz="1300" dirty="0"/>
          </a:p>
          <a:p>
            <a:pPr indent="0" marL="0">
              <a:spcAft>
                <a:spcPts val="700"/>
              </a:spcAft>
              <a:buNone/>
            </a:pPr>
            <a:r>
              <a:rPr lang="en-US" sz="1300" dirty="0">
                <a:solidFill>
                  <a:srgbClr val="D3DCE9"/>
                </a:solidFill>
                <a:latin typeface="Calibri" pitchFamily="34" charset="0"/>
                <a:ea typeface="Calibri" pitchFamily="34" charset="-122"/>
                <a:cs typeface="Calibri" pitchFamily="34" charset="-120"/>
              </a:rPr>
              <a:t>10.  Fleet and agent management</a:t>
            </a:r>
            <a:endParaRPr lang="en-US" sz="1300" dirty="0"/>
          </a:p>
          <a:p>
            <a:pPr indent="0" marL="0">
              <a:spcAft>
                <a:spcPts val="700"/>
              </a:spcAft>
              <a:buNone/>
            </a:pPr>
            <a:r>
              <a:rPr lang="en-US" sz="1300" dirty="0">
                <a:solidFill>
                  <a:srgbClr val="D3DCE9"/>
                </a:solidFill>
                <a:latin typeface="Calibri" pitchFamily="34" charset="0"/>
                <a:ea typeface="Calibri" pitchFamily="34" charset="-122"/>
                <a:cs typeface="Calibri" pitchFamily="34" charset="-120"/>
              </a:rPr>
              <a:t>11.  How SLOs work</a:t>
            </a:r>
            <a:endParaRPr lang="en-US" sz="1300" dirty="0"/>
          </a:p>
          <a:p>
            <a:pPr indent="0" marL="0">
              <a:spcAft>
                <a:spcPts val="700"/>
              </a:spcAft>
              <a:buNone/>
            </a:pPr>
            <a:r>
              <a:rPr lang="en-US" sz="1300" dirty="0">
                <a:solidFill>
                  <a:srgbClr val="D3DCE9"/>
                </a:solidFill>
                <a:latin typeface="Calibri" pitchFamily="34" charset="0"/>
                <a:ea typeface="Calibri" pitchFamily="34" charset="-122"/>
                <a:cs typeface="Calibri" pitchFamily="34" charset="-120"/>
              </a:rPr>
              <a:t>12.  How a service gets its own correct SLO</a:t>
            </a:r>
            <a:endParaRPr lang="en-US" sz="1300" dirty="0"/>
          </a:p>
          <a:p>
            <a:pPr indent="0" marL="0">
              <a:spcAft>
                <a:spcPts val="700"/>
              </a:spcAft>
              <a:buNone/>
            </a:pPr>
            <a:r>
              <a:rPr lang="en-US" sz="1300" dirty="0">
                <a:solidFill>
                  <a:srgbClr val="D3DCE9"/>
                </a:solidFill>
                <a:latin typeface="Calibri" pitchFamily="34" charset="0"/>
                <a:ea typeface="Calibri" pitchFamily="34" charset="-122"/>
                <a:cs typeface="Calibri" pitchFamily="34" charset="-120"/>
              </a:rPr>
              <a:t>13.  Error budgets</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8778240" cy="256032"/>
          </a:xfrm>
          <a:prstGeom prst="rect">
            <a:avLst/>
          </a:prstGeom>
          <a:noFill/>
          <a:ln/>
        </p:spPr>
        <p:txBody>
          <a:bodyPr wrap="square" lIns="0" tIns="0" rIns="0" bIns="0" rtlCol="0" anchor="ctr"/>
          <a:lstStyle/>
          <a:p>
            <a:pPr indent="0" marL="0">
              <a:buNone/>
            </a:pPr>
            <a:r>
              <a:rPr lang="en-US" sz="1050" b="1" spc="160" kern="0" dirty="0">
                <a:solidFill>
                  <a:srgbClr val="B87914"/>
                </a:solidFill>
                <a:latin typeface="Calibri" pitchFamily="34" charset="0"/>
                <a:ea typeface="Calibri" pitchFamily="34" charset="-122"/>
                <a:cs typeface="Calibri" pitchFamily="34" charset="-120"/>
              </a:rPr>
              <a:t>TOPIC 9</a:t>
            </a:r>
            <a:endParaRPr lang="en-US" sz="1050" dirty="0"/>
          </a:p>
        </p:txBody>
      </p:sp>
      <p:sp>
        <p:nvSpPr>
          <p:cNvPr id="3" name="Text 1"/>
          <p:cNvSpPr/>
          <p:nvPr/>
        </p:nvSpPr>
        <p:spPr>
          <a:xfrm>
            <a:off x="566928" y="694944"/>
            <a:ext cx="10424160" cy="786384"/>
          </a:xfrm>
          <a:prstGeom prst="rect">
            <a:avLst/>
          </a:prstGeom>
          <a:noFill/>
          <a:ln/>
        </p:spPr>
        <p:txBody>
          <a:bodyPr wrap="square" lIns="0" tIns="0" rIns="0" bIns="0" rtlCol="0" anchor="ctr"/>
          <a:lstStyle/>
          <a:p>
            <a:pPr indent="0" marL="0">
              <a:buNone/>
            </a:pPr>
            <a:r>
              <a:rPr lang="en-US" sz="3100" b="1" dirty="0">
                <a:solidFill>
                  <a:srgbClr val="161C28"/>
                </a:solidFill>
                <a:latin typeface="Cambria" pitchFamily="34" charset="0"/>
                <a:ea typeface="Cambria" pitchFamily="34" charset="-122"/>
                <a:cs typeface="Cambria" pitchFamily="34" charset="-120"/>
              </a:rPr>
              <a:t>Telemetry collection</a:t>
            </a:r>
            <a:endParaRPr lang="en-US" sz="3100" dirty="0"/>
          </a:p>
        </p:txBody>
      </p:sp>
      <p:sp>
        <p:nvSpPr>
          <p:cNvPr id="4" name="Text 2"/>
          <p:cNvSpPr/>
          <p:nvPr/>
        </p:nvSpPr>
        <p:spPr>
          <a:xfrm>
            <a:off x="566928" y="1481328"/>
            <a:ext cx="10698480" cy="457200"/>
          </a:xfrm>
          <a:prstGeom prst="rect">
            <a:avLst/>
          </a:prstGeom>
          <a:noFill/>
          <a:ln/>
        </p:spPr>
        <p:txBody>
          <a:bodyPr wrap="square" lIns="0" tIns="0" rIns="0" bIns="0" rtlCol="0" anchor="t"/>
          <a:lstStyle/>
          <a:p>
            <a:pPr indent="0" marL="0">
              <a:buNone/>
            </a:pPr>
            <a:r>
              <a:rPr lang="en-US" sz="1450" dirty="0">
                <a:solidFill>
                  <a:srgbClr val="3A4557"/>
                </a:solidFill>
                <a:latin typeface="Calibri" pitchFamily="34" charset="0"/>
                <a:ea typeface="Calibri" pitchFamily="34" charset="-122"/>
                <a:cs typeface="Calibri" pitchFamily="34" charset="-120"/>
              </a:rPr>
              <a:t>Five sources feed the platform. Where no product publishes the signal the business asked for, the gap is named and given an emission contract rather than a plausible-looking proxy.</a:t>
            </a:r>
            <a:endParaRPr lang="en-US" sz="1450" dirty="0"/>
          </a:p>
        </p:txBody>
      </p:sp>
      <p:sp>
        <p:nvSpPr>
          <p:cNvPr id="5" name="Shape 3"/>
          <p:cNvSpPr/>
          <p:nvPr/>
        </p:nvSpPr>
        <p:spPr>
          <a:xfrm>
            <a:off x="9224467" y="420624"/>
            <a:ext cx="2400300" cy="310896"/>
          </a:xfrm>
          <a:prstGeom prst="roundRect">
            <a:avLst>
              <a:gd name="adj" fmla="val 50000"/>
            </a:avLst>
          </a:prstGeom>
          <a:solidFill>
            <a:srgbClr val="E09A2E"/>
          </a:solidFill>
          <a:ln w="12700">
            <a:solidFill>
              <a:srgbClr val="E09A2E"/>
            </a:solidFill>
            <a:prstDash val="solid"/>
          </a:ln>
        </p:spPr>
      </p:sp>
      <p:sp>
        <p:nvSpPr>
          <p:cNvPr id="6" name="Text 4"/>
          <p:cNvSpPr/>
          <p:nvPr/>
        </p:nvSpPr>
        <p:spPr>
          <a:xfrm>
            <a:off x="9224467" y="420624"/>
            <a:ext cx="2400300" cy="310896"/>
          </a:xfrm>
          <a:prstGeom prst="rect">
            <a:avLst/>
          </a:prstGeom>
          <a:noFill/>
          <a:ln/>
        </p:spPr>
        <p:txBody>
          <a:bodyPr wrap="square" lIns="0" tIns="0" rIns="0" bIns="0" rtlCol="0" anchor="ctr"/>
          <a:lstStyle/>
          <a:p>
            <a:pPr algn="ctr" indent="0" marL="0">
              <a:buNone/>
            </a:pPr>
            <a:r>
              <a:rPr lang="en-US" sz="950" b="1" spc="100" kern="0" dirty="0">
                <a:solidFill>
                  <a:srgbClr val="2A1D06"/>
                </a:solidFill>
                <a:latin typeface="Calibri" pitchFamily="34" charset="0"/>
                <a:ea typeface="Calibri" pitchFamily="34" charset="-122"/>
                <a:cs typeface="Calibri" pitchFamily="34" charset="-120"/>
              </a:rPr>
              <a:t>PARTIAL — SEE SLIDE 3</a:t>
            </a:r>
            <a:endParaRPr lang="en-US" sz="950" dirty="0"/>
          </a:p>
        </p:txBody>
      </p:sp>
      <p:sp>
        <p:nvSpPr>
          <p:cNvPr id="7" name="Text 5"/>
          <p:cNvSpPr/>
          <p:nvPr/>
        </p:nvSpPr>
        <p:spPr>
          <a:xfrm>
            <a:off x="566928" y="6345936"/>
            <a:ext cx="7315200" cy="274320"/>
          </a:xfrm>
          <a:prstGeom prst="rect">
            <a:avLst/>
          </a:prstGeom>
          <a:noFill/>
          <a:ln/>
        </p:spPr>
        <p:txBody>
          <a:bodyPr wrap="square" lIns="0" tIns="0" rIns="0" bIns="0" rtlCol="0" anchor="ctr"/>
          <a:lstStyle/>
          <a:p>
            <a:pPr indent="0" marL="0">
              <a:buNone/>
            </a:pPr>
            <a:r>
              <a:rPr lang="en-US" sz="900" dirty="0">
                <a:solidFill>
                  <a:srgbClr val="6B7891"/>
                </a:solidFill>
                <a:latin typeface="Calibri" pitchFamily="34" charset="0"/>
                <a:ea typeface="Calibri" pitchFamily="34" charset="-122"/>
                <a:cs typeface="Calibri" pitchFamily="34" charset="-120"/>
              </a:rPr>
              <a:t>Enterprise Observability  ·  policy-as-data on Datadog</a:t>
            </a:r>
            <a:endParaRPr lang="en-US" sz="900" dirty="0"/>
          </a:p>
        </p:txBody>
      </p:sp>
      <p:sp>
        <p:nvSpPr>
          <p:cNvPr id="8" name="Text 6"/>
          <p:cNvSpPr/>
          <p:nvPr/>
        </p:nvSpPr>
        <p:spPr>
          <a:xfrm>
            <a:off x="10710367" y="6345936"/>
            <a:ext cx="914400" cy="274320"/>
          </a:xfrm>
          <a:prstGeom prst="rect">
            <a:avLst/>
          </a:prstGeom>
          <a:noFill/>
          <a:ln/>
        </p:spPr>
        <p:txBody>
          <a:bodyPr wrap="square" lIns="0" tIns="0" rIns="0" bIns="0" rtlCol="0" anchor="ctr"/>
          <a:lstStyle/>
          <a:p>
            <a:pPr algn="r" indent="0" marL="0">
              <a:buNone/>
            </a:pPr>
            <a:r>
              <a:rPr lang="en-US" sz="900" dirty="0">
                <a:solidFill>
                  <a:srgbClr val="6B7891"/>
                </a:solidFill>
                <a:latin typeface="Calibri" pitchFamily="34" charset="0"/>
                <a:ea typeface="Calibri" pitchFamily="34" charset="-122"/>
                <a:cs typeface="Calibri" pitchFamily="34" charset="-120"/>
              </a:rPr>
              <a:t>15</a:t>
            </a:r>
            <a:endParaRPr lang="en-US" sz="900" dirty="0"/>
          </a:p>
        </p:txBody>
      </p:sp>
      <p:sp>
        <p:nvSpPr>
          <p:cNvPr id="10" name="Shape 7"/>
          <p:cNvSpPr/>
          <p:nvPr/>
        </p:nvSpPr>
        <p:spPr>
          <a:xfrm>
            <a:off x="566928" y="2194560"/>
            <a:ext cx="2065264" cy="1325880"/>
          </a:xfrm>
          <a:prstGeom prst="roundRect">
            <a:avLst>
              <a:gd name="adj" fmla="val 4138"/>
            </a:avLst>
          </a:prstGeom>
          <a:solidFill>
            <a:srgbClr val="EFF2F6"/>
          </a:solidFill>
          <a:ln w="12700">
            <a:solidFill>
              <a:srgbClr val="EFF2F6"/>
            </a:solidFill>
            <a:prstDash val="solid"/>
          </a:ln>
        </p:spPr>
      </p:sp>
      <p:sp>
        <p:nvSpPr>
          <p:cNvPr id="11" name="Text 8"/>
          <p:cNvSpPr/>
          <p:nvPr/>
        </p:nvSpPr>
        <p:spPr>
          <a:xfrm>
            <a:off x="768096" y="2340864"/>
            <a:ext cx="1662928" cy="347472"/>
          </a:xfrm>
          <a:prstGeom prst="rect">
            <a:avLst/>
          </a:prstGeom>
          <a:noFill/>
          <a:ln/>
        </p:spPr>
        <p:txBody>
          <a:bodyPr wrap="square" lIns="0" tIns="0" rIns="0" bIns="0" rtlCol="0" anchor="t"/>
          <a:lstStyle/>
          <a:p>
            <a:pPr indent="0" marL="0">
              <a:buNone/>
            </a:pPr>
            <a:r>
              <a:rPr lang="en-US" sz="1300" b="1" dirty="0">
                <a:solidFill>
                  <a:srgbClr val="161C28"/>
                </a:solidFill>
                <a:latin typeface="Calibri" pitchFamily="34" charset="0"/>
                <a:ea typeface="Calibri" pitchFamily="34" charset="-122"/>
                <a:cs typeface="Calibri" pitchFamily="34" charset="-120"/>
              </a:rPr>
              <a:t>Datadog Agent</a:t>
            </a:r>
            <a:endParaRPr lang="en-US" sz="1300" dirty="0"/>
          </a:p>
        </p:txBody>
      </p:sp>
      <p:sp>
        <p:nvSpPr>
          <p:cNvPr id="12" name="Text 9"/>
          <p:cNvSpPr/>
          <p:nvPr/>
        </p:nvSpPr>
        <p:spPr>
          <a:xfrm>
            <a:off x="768096" y="2724912"/>
            <a:ext cx="1662928" cy="649224"/>
          </a:xfrm>
          <a:prstGeom prst="rect">
            <a:avLst/>
          </a:prstGeom>
          <a:noFill/>
          <a:ln/>
        </p:spPr>
        <p:txBody>
          <a:bodyPr wrap="square" lIns="0" tIns="0" rIns="0" bIns="0" rtlCol="0" anchor="t"/>
          <a:lstStyle/>
          <a:p>
            <a:pPr indent="0" marL="0">
              <a:lnSpc>
                <a:spcPct val="102000"/>
              </a:lnSpc>
              <a:buNone/>
            </a:pPr>
            <a:r>
              <a:rPr lang="en-US" sz="1050" dirty="0">
                <a:solidFill>
                  <a:srgbClr val="3A4557"/>
                </a:solidFill>
                <a:latin typeface="Calibri" pitchFamily="34" charset="0"/>
                <a:ea typeface="Calibri" pitchFamily="34" charset="-122"/>
                <a:cs typeface="Calibri" pitchFamily="34" charset="-120"/>
              </a:rPr>
              <a:t>Hosts, VMs, VMware, SQL Server. Tags applied in datadog.yaml.</a:t>
            </a:r>
            <a:endParaRPr lang="en-US" sz="1050" dirty="0"/>
          </a:p>
        </p:txBody>
      </p:sp>
      <p:sp>
        <p:nvSpPr>
          <p:cNvPr id="13" name="Shape 10"/>
          <p:cNvSpPr/>
          <p:nvPr/>
        </p:nvSpPr>
        <p:spPr>
          <a:xfrm>
            <a:off x="2815072" y="2194560"/>
            <a:ext cx="2065264" cy="1325880"/>
          </a:xfrm>
          <a:prstGeom prst="roundRect">
            <a:avLst>
              <a:gd name="adj" fmla="val 4138"/>
            </a:avLst>
          </a:prstGeom>
          <a:solidFill>
            <a:srgbClr val="EFF2F6"/>
          </a:solidFill>
          <a:ln w="12700">
            <a:solidFill>
              <a:srgbClr val="EFF2F6"/>
            </a:solidFill>
            <a:prstDash val="solid"/>
          </a:ln>
        </p:spPr>
      </p:sp>
      <p:sp>
        <p:nvSpPr>
          <p:cNvPr id="14" name="Text 11"/>
          <p:cNvSpPr/>
          <p:nvPr/>
        </p:nvSpPr>
        <p:spPr>
          <a:xfrm>
            <a:off x="3016240" y="2340864"/>
            <a:ext cx="1662928" cy="347472"/>
          </a:xfrm>
          <a:prstGeom prst="rect">
            <a:avLst/>
          </a:prstGeom>
          <a:noFill/>
          <a:ln/>
        </p:spPr>
        <p:txBody>
          <a:bodyPr wrap="square" lIns="0" tIns="0" rIns="0" bIns="0" rtlCol="0" anchor="t"/>
          <a:lstStyle/>
          <a:p>
            <a:pPr indent="0" marL="0">
              <a:buNone/>
            </a:pPr>
            <a:r>
              <a:rPr lang="en-US" sz="1300" b="1" dirty="0">
                <a:solidFill>
                  <a:srgbClr val="161C28"/>
                </a:solidFill>
                <a:latin typeface="Calibri" pitchFamily="34" charset="0"/>
                <a:ea typeface="Calibri" pitchFamily="34" charset="-122"/>
                <a:cs typeface="Calibri" pitchFamily="34" charset="-120"/>
              </a:rPr>
              <a:t>Azure integration</a:t>
            </a:r>
            <a:endParaRPr lang="en-US" sz="1300" dirty="0"/>
          </a:p>
        </p:txBody>
      </p:sp>
      <p:sp>
        <p:nvSpPr>
          <p:cNvPr id="15" name="Text 12"/>
          <p:cNvSpPr/>
          <p:nvPr/>
        </p:nvSpPr>
        <p:spPr>
          <a:xfrm>
            <a:off x="3016240" y="2724912"/>
            <a:ext cx="1662928" cy="649224"/>
          </a:xfrm>
          <a:prstGeom prst="rect">
            <a:avLst/>
          </a:prstGeom>
          <a:noFill/>
          <a:ln/>
        </p:spPr>
        <p:txBody>
          <a:bodyPr wrap="square" lIns="0" tIns="0" rIns="0" bIns="0" rtlCol="0" anchor="t"/>
          <a:lstStyle/>
          <a:p>
            <a:pPr indent="0" marL="0">
              <a:lnSpc>
                <a:spcPct val="102000"/>
              </a:lnSpc>
              <a:buNone/>
            </a:pPr>
            <a:r>
              <a:rPr lang="en-US" sz="1050" dirty="0">
                <a:solidFill>
                  <a:srgbClr val="3A4557"/>
                </a:solidFill>
                <a:latin typeface="Calibri" pitchFamily="34" charset="0"/>
                <a:ea typeface="Calibri" pitchFamily="34" charset="-122"/>
                <a:cs typeface="Calibri" pitchFamily="34" charset="-120"/>
              </a:rPr>
              <a:t>Every azure.* metric. Enabled per subscription; resource tags carry identity.</a:t>
            </a:r>
            <a:endParaRPr lang="en-US" sz="1050" dirty="0"/>
          </a:p>
        </p:txBody>
      </p:sp>
      <p:sp>
        <p:nvSpPr>
          <p:cNvPr id="16" name="Shape 13"/>
          <p:cNvSpPr/>
          <p:nvPr/>
        </p:nvSpPr>
        <p:spPr>
          <a:xfrm>
            <a:off x="5063216" y="2194560"/>
            <a:ext cx="2065264" cy="1325880"/>
          </a:xfrm>
          <a:prstGeom prst="roundRect">
            <a:avLst>
              <a:gd name="adj" fmla="val 4138"/>
            </a:avLst>
          </a:prstGeom>
          <a:solidFill>
            <a:srgbClr val="EFF2F6"/>
          </a:solidFill>
          <a:ln w="12700">
            <a:solidFill>
              <a:srgbClr val="EFF2F6"/>
            </a:solidFill>
            <a:prstDash val="solid"/>
          </a:ln>
        </p:spPr>
      </p:sp>
      <p:sp>
        <p:nvSpPr>
          <p:cNvPr id="17" name="Text 14"/>
          <p:cNvSpPr/>
          <p:nvPr/>
        </p:nvSpPr>
        <p:spPr>
          <a:xfrm>
            <a:off x="5264384" y="2340864"/>
            <a:ext cx="1662928" cy="347472"/>
          </a:xfrm>
          <a:prstGeom prst="rect">
            <a:avLst/>
          </a:prstGeom>
          <a:noFill/>
          <a:ln/>
        </p:spPr>
        <p:txBody>
          <a:bodyPr wrap="square" lIns="0" tIns="0" rIns="0" bIns="0" rtlCol="0" anchor="t"/>
          <a:lstStyle/>
          <a:p>
            <a:pPr indent="0" marL="0">
              <a:buNone/>
            </a:pPr>
            <a:r>
              <a:rPr lang="en-US" sz="1300" b="1" dirty="0">
                <a:solidFill>
                  <a:srgbClr val="161C28"/>
                </a:solidFill>
                <a:latin typeface="Calibri" pitchFamily="34" charset="0"/>
                <a:ea typeface="Calibri" pitchFamily="34" charset="-122"/>
                <a:cs typeface="Calibri" pitchFamily="34" charset="-120"/>
              </a:rPr>
              <a:t>APM · RUM</a:t>
            </a:r>
            <a:endParaRPr lang="en-US" sz="1300" dirty="0"/>
          </a:p>
        </p:txBody>
      </p:sp>
      <p:sp>
        <p:nvSpPr>
          <p:cNvPr id="18" name="Text 15"/>
          <p:cNvSpPr/>
          <p:nvPr/>
        </p:nvSpPr>
        <p:spPr>
          <a:xfrm>
            <a:off x="5264384" y="2724912"/>
            <a:ext cx="1662928" cy="649224"/>
          </a:xfrm>
          <a:prstGeom prst="rect">
            <a:avLst/>
          </a:prstGeom>
          <a:noFill/>
          <a:ln/>
        </p:spPr>
        <p:txBody>
          <a:bodyPr wrap="square" lIns="0" tIns="0" rIns="0" bIns="0" rtlCol="0" anchor="t"/>
          <a:lstStyle/>
          <a:p>
            <a:pPr indent="0" marL="0">
              <a:lnSpc>
                <a:spcPct val="102000"/>
              </a:lnSpc>
              <a:buNone/>
            </a:pPr>
            <a:r>
              <a:rPr lang="en-US" sz="1050" dirty="0">
                <a:solidFill>
                  <a:srgbClr val="3A4557"/>
                </a:solidFill>
                <a:latin typeface="Calibri" pitchFamily="34" charset="0"/>
                <a:ea typeface="Calibri" pitchFamily="34" charset="-122"/>
                <a:cs typeface="Calibri" pitchFamily="34" charset="-120"/>
              </a:rPr>
              <a:t>Traces, runtime metrics, Core Web Vitals. DD_ENV, DD_SERVICE, DD_VERSION.</a:t>
            </a:r>
            <a:endParaRPr lang="en-US" sz="1050" dirty="0"/>
          </a:p>
        </p:txBody>
      </p:sp>
      <p:sp>
        <p:nvSpPr>
          <p:cNvPr id="19" name="Shape 16"/>
          <p:cNvSpPr/>
          <p:nvPr/>
        </p:nvSpPr>
        <p:spPr>
          <a:xfrm>
            <a:off x="7311360" y="2194560"/>
            <a:ext cx="2065264" cy="1325880"/>
          </a:xfrm>
          <a:prstGeom prst="roundRect">
            <a:avLst>
              <a:gd name="adj" fmla="val 4138"/>
            </a:avLst>
          </a:prstGeom>
          <a:solidFill>
            <a:srgbClr val="EFF2F6"/>
          </a:solidFill>
          <a:ln w="12700">
            <a:solidFill>
              <a:srgbClr val="EFF2F6"/>
            </a:solidFill>
            <a:prstDash val="solid"/>
          </a:ln>
        </p:spPr>
      </p:sp>
      <p:sp>
        <p:nvSpPr>
          <p:cNvPr id="20" name="Text 17"/>
          <p:cNvSpPr/>
          <p:nvPr/>
        </p:nvSpPr>
        <p:spPr>
          <a:xfrm>
            <a:off x="7512528" y="2340864"/>
            <a:ext cx="1662928" cy="347472"/>
          </a:xfrm>
          <a:prstGeom prst="rect">
            <a:avLst/>
          </a:prstGeom>
          <a:noFill/>
          <a:ln/>
        </p:spPr>
        <p:txBody>
          <a:bodyPr wrap="square" lIns="0" tIns="0" rIns="0" bIns="0" rtlCol="0" anchor="t"/>
          <a:lstStyle/>
          <a:p>
            <a:pPr indent="0" marL="0">
              <a:buNone/>
            </a:pPr>
            <a:r>
              <a:rPr lang="en-US" sz="1300" b="1" dirty="0">
                <a:solidFill>
                  <a:srgbClr val="161C28"/>
                </a:solidFill>
                <a:latin typeface="Calibri" pitchFamily="34" charset="0"/>
                <a:ea typeface="Calibri" pitchFamily="34" charset="-122"/>
                <a:cs typeface="Calibri" pitchFamily="34" charset="-120"/>
              </a:rPr>
              <a:t>Logs</a:t>
            </a:r>
            <a:endParaRPr lang="en-US" sz="1300" dirty="0"/>
          </a:p>
        </p:txBody>
      </p:sp>
      <p:sp>
        <p:nvSpPr>
          <p:cNvPr id="21" name="Text 18"/>
          <p:cNvSpPr/>
          <p:nvPr/>
        </p:nvSpPr>
        <p:spPr>
          <a:xfrm>
            <a:off x="7512528" y="2724912"/>
            <a:ext cx="1662928" cy="649224"/>
          </a:xfrm>
          <a:prstGeom prst="rect">
            <a:avLst/>
          </a:prstGeom>
          <a:noFill/>
          <a:ln/>
        </p:spPr>
        <p:txBody>
          <a:bodyPr wrap="square" lIns="0" tIns="0" rIns="0" bIns="0" rtlCol="0" anchor="t"/>
          <a:lstStyle/>
          <a:p>
            <a:pPr indent="0" marL="0">
              <a:lnSpc>
                <a:spcPct val="102000"/>
              </a:lnSpc>
              <a:buNone/>
            </a:pPr>
            <a:r>
              <a:rPr lang="en-US" sz="1050" dirty="0">
                <a:solidFill>
                  <a:srgbClr val="3A4557"/>
                </a:solidFill>
                <a:latin typeface="Calibri" pitchFamily="34" charset="0"/>
                <a:ea typeface="Calibri" pitchFamily="34" charset="-122"/>
                <a:cs typeface="Calibri" pitchFamily="34" charset="-120"/>
              </a:rPr>
              <a:t>Log-derived metrics where the signal exists only in logs — NSG flows, for one.</a:t>
            </a:r>
            <a:endParaRPr lang="en-US" sz="1050" dirty="0"/>
          </a:p>
        </p:txBody>
      </p:sp>
      <p:sp>
        <p:nvSpPr>
          <p:cNvPr id="22" name="Shape 19"/>
          <p:cNvSpPr/>
          <p:nvPr/>
        </p:nvSpPr>
        <p:spPr>
          <a:xfrm>
            <a:off x="9559503" y="2194560"/>
            <a:ext cx="2065264" cy="1325880"/>
          </a:xfrm>
          <a:prstGeom prst="roundRect">
            <a:avLst>
              <a:gd name="adj" fmla="val 4138"/>
            </a:avLst>
          </a:prstGeom>
          <a:solidFill>
            <a:srgbClr val="EFF2F6"/>
          </a:solidFill>
          <a:ln w="12700">
            <a:solidFill>
              <a:srgbClr val="EFF2F6"/>
            </a:solidFill>
            <a:prstDash val="solid"/>
          </a:ln>
        </p:spPr>
      </p:sp>
      <p:sp>
        <p:nvSpPr>
          <p:cNvPr id="23" name="Text 20"/>
          <p:cNvSpPr/>
          <p:nvPr/>
        </p:nvSpPr>
        <p:spPr>
          <a:xfrm>
            <a:off x="9760671" y="2340864"/>
            <a:ext cx="1662928" cy="347472"/>
          </a:xfrm>
          <a:prstGeom prst="rect">
            <a:avLst/>
          </a:prstGeom>
          <a:noFill/>
          <a:ln/>
        </p:spPr>
        <p:txBody>
          <a:bodyPr wrap="square" lIns="0" tIns="0" rIns="0" bIns="0" rtlCol="0" anchor="t"/>
          <a:lstStyle/>
          <a:p>
            <a:pPr indent="0" marL="0">
              <a:buNone/>
            </a:pPr>
            <a:r>
              <a:rPr lang="en-US" sz="1300" b="1" dirty="0">
                <a:solidFill>
                  <a:srgbClr val="161C28"/>
                </a:solidFill>
                <a:latin typeface="Calibri" pitchFamily="34" charset="0"/>
                <a:ea typeface="Calibri" pitchFamily="34" charset="-122"/>
                <a:cs typeface="Calibri" pitchFamily="34" charset="-120"/>
              </a:rPr>
              <a:t>Custom emitters</a:t>
            </a:r>
            <a:endParaRPr lang="en-US" sz="1300" dirty="0"/>
          </a:p>
        </p:txBody>
      </p:sp>
      <p:sp>
        <p:nvSpPr>
          <p:cNvPr id="24" name="Text 21"/>
          <p:cNvSpPr/>
          <p:nvPr/>
        </p:nvSpPr>
        <p:spPr>
          <a:xfrm>
            <a:off x="9760671" y="2724912"/>
            <a:ext cx="1662928" cy="649224"/>
          </a:xfrm>
          <a:prstGeom prst="rect">
            <a:avLst/>
          </a:prstGeom>
          <a:noFill/>
          <a:ln/>
        </p:spPr>
        <p:txBody>
          <a:bodyPr wrap="square" lIns="0" tIns="0" rIns="0" bIns="0" rtlCol="0" anchor="t"/>
          <a:lstStyle/>
          <a:p>
            <a:pPr indent="0" marL="0">
              <a:lnSpc>
                <a:spcPct val="102000"/>
              </a:lnSpc>
              <a:buNone/>
            </a:pPr>
            <a:r>
              <a:rPr lang="en-US" sz="1050" dirty="0">
                <a:solidFill>
                  <a:srgbClr val="3A4557"/>
                </a:solidFill>
                <a:latin typeface="Calibri" pitchFamily="34" charset="0"/>
                <a:ea typeface="Calibri" pitchFamily="34" charset="-122"/>
                <a:cs typeface="Calibri" pitchFamily="34" charset="-120"/>
              </a:rPr>
              <a:t>The acme.* families: the signals no product publishes.</a:t>
            </a:r>
            <a:endParaRPr lang="en-US" sz="1050" dirty="0"/>
          </a:p>
        </p:txBody>
      </p:sp>
      <p:sp>
        <p:nvSpPr>
          <p:cNvPr id="25" name="Text 22"/>
          <p:cNvSpPr/>
          <p:nvPr/>
        </p:nvSpPr>
        <p:spPr>
          <a:xfrm>
            <a:off x="566928" y="3611880"/>
            <a:ext cx="10607040" cy="292608"/>
          </a:xfrm>
          <a:prstGeom prst="rect">
            <a:avLst/>
          </a:prstGeom>
          <a:noFill/>
          <a:ln/>
        </p:spPr>
        <p:txBody>
          <a:bodyPr wrap="square" lIns="0" tIns="0" rIns="0" bIns="0" rtlCol="0" anchor="ctr"/>
          <a:lstStyle/>
          <a:p>
            <a:pPr indent="0" marL="0">
              <a:buNone/>
            </a:pPr>
            <a:r>
              <a:rPr lang="en-US" sz="1400" b="1" dirty="0">
                <a:solidFill>
                  <a:srgbClr val="161C28"/>
                </a:solidFill>
                <a:latin typeface="Calibri" pitchFamily="34" charset="0"/>
                <a:ea typeface="Calibri" pitchFamily="34" charset="-122"/>
                <a:cs typeface="Calibri" pitchFamily="34" charset="-120"/>
              </a:rPr>
              <a:t>Named gaps with written emission contracts — specified, mostly not yet deployed</a:t>
            </a:r>
            <a:endParaRPr lang="en-US" sz="1400" dirty="0"/>
          </a:p>
        </p:txBody>
      </p:sp>
      <p:sp>
        <p:nvSpPr>
          <p:cNvPr id="26" name="Shape 23"/>
          <p:cNvSpPr/>
          <p:nvPr/>
        </p:nvSpPr>
        <p:spPr>
          <a:xfrm>
            <a:off x="566928" y="3977640"/>
            <a:ext cx="5349240" cy="502920"/>
          </a:xfrm>
          <a:prstGeom prst="roundRect">
            <a:avLst>
              <a:gd name="adj" fmla="val 9091"/>
            </a:avLst>
          </a:prstGeom>
          <a:solidFill>
            <a:srgbClr val="F7F8FA"/>
          </a:solidFill>
          <a:ln w="12700">
            <a:solidFill>
              <a:srgbClr val="F7F8FA"/>
            </a:solidFill>
            <a:prstDash val="solid"/>
          </a:ln>
        </p:spPr>
      </p:sp>
      <p:sp>
        <p:nvSpPr>
          <p:cNvPr id="27" name="Text 24"/>
          <p:cNvSpPr/>
          <p:nvPr/>
        </p:nvSpPr>
        <p:spPr>
          <a:xfrm>
            <a:off x="713232" y="3995928"/>
            <a:ext cx="5029200" cy="237744"/>
          </a:xfrm>
          <a:prstGeom prst="rect">
            <a:avLst/>
          </a:prstGeom>
          <a:noFill/>
          <a:ln/>
        </p:spPr>
        <p:txBody>
          <a:bodyPr wrap="square" lIns="0" tIns="0" rIns="0" bIns="0" rtlCol="0" anchor="ctr"/>
          <a:lstStyle/>
          <a:p>
            <a:pPr indent="0" marL="0">
              <a:buNone/>
            </a:pPr>
            <a:r>
              <a:rPr lang="en-US" sz="1050" b="1" dirty="0">
                <a:solidFill>
                  <a:srgbClr val="B87914"/>
                </a:solidFill>
                <a:latin typeface="Courier New" pitchFamily="34" charset="0"/>
                <a:ea typeface="Courier New" pitchFamily="34" charset="-122"/>
                <a:cs typeface="Courier New" pitchFamily="34" charset="-120"/>
              </a:rPr>
              <a:t>acme.database.restore_verification_*</a:t>
            </a:r>
            <a:endParaRPr lang="en-US" sz="1050" dirty="0"/>
          </a:p>
        </p:txBody>
      </p:sp>
      <p:sp>
        <p:nvSpPr>
          <p:cNvPr id="28" name="Text 25"/>
          <p:cNvSpPr/>
          <p:nvPr/>
        </p:nvSpPr>
        <p:spPr>
          <a:xfrm>
            <a:off x="713232" y="4215384"/>
            <a:ext cx="5029200" cy="237744"/>
          </a:xfrm>
          <a:prstGeom prst="rect">
            <a:avLst/>
          </a:prstGeom>
          <a:noFill/>
          <a:ln/>
        </p:spPr>
        <p:txBody>
          <a:bodyPr wrap="square" lIns="0" tIns="0" rIns="0" bIns="0" rtlCol="0" anchor="ctr"/>
          <a:lstStyle/>
          <a:p>
            <a:pPr indent="0" marL="0">
              <a:buNone/>
            </a:pPr>
            <a:r>
              <a:rPr lang="en-US" sz="1000" dirty="0">
                <a:solidFill>
                  <a:srgbClr val="6B7891"/>
                </a:solidFill>
                <a:latin typeface="Calibri" pitchFamily="34" charset="0"/>
                <a:ea typeface="Calibri" pitchFamily="34" charset="-122"/>
                <a:cs typeface="Calibri" pitchFamily="34" charset="-120"/>
              </a:rPr>
              <a:t>Backup age proves a file was written, not that it can be restored</a:t>
            </a:r>
            <a:endParaRPr lang="en-US" sz="1000" dirty="0"/>
          </a:p>
        </p:txBody>
      </p:sp>
      <p:sp>
        <p:nvSpPr>
          <p:cNvPr id="29" name="Shape 26"/>
          <p:cNvSpPr/>
          <p:nvPr/>
        </p:nvSpPr>
        <p:spPr>
          <a:xfrm>
            <a:off x="6144768" y="3977640"/>
            <a:ext cx="5349240" cy="502920"/>
          </a:xfrm>
          <a:prstGeom prst="roundRect">
            <a:avLst>
              <a:gd name="adj" fmla="val 9091"/>
            </a:avLst>
          </a:prstGeom>
          <a:solidFill>
            <a:srgbClr val="F7F8FA"/>
          </a:solidFill>
          <a:ln w="12700">
            <a:solidFill>
              <a:srgbClr val="F7F8FA"/>
            </a:solidFill>
            <a:prstDash val="solid"/>
          </a:ln>
        </p:spPr>
      </p:sp>
      <p:sp>
        <p:nvSpPr>
          <p:cNvPr id="30" name="Text 27"/>
          <p:cNvSpPr/>
          <p:nvPr/>
        </p:nvSpPr>
        <p:spPr>
          <a:xfrm>
            <a:off x="6291072" y="3995928"/>
            <a:ext cx="5029200" cy="237744"/>
          </a:xfrm>
          <a:prstGeom prst="rect">
            <a:avLst/>
          </a:prstGeom>
          <a:noFill/>
          <a:ln/>
        </p:spPr>
        <p:txBody>
          <a:bodyPr wrap="square" lIns="0" tIns="0" rIns="0" bIns="0" rtlCol="0" anchor="ctr"/>
          <a:lstStyle/>
          <a:p>
            <a:pPr indent="0" marL="0">
              <a:buNone/>
            </a:pPr>
            <a:r>
              <a:rPr lang="en-US" sz="1050" b="1" dirty="0">
                <a:solidFill>
                  <a:srgbClr val="B87914"/>
                </a:solidFill>
                <a:latin typeface="Courier New" pitchFamily="34" charset="0"/>
                <a:ea typeface="Courier New" pitchFamily="34" charset="-122"/>
                <a:cs typeface="Courier New" pitchFamily="34" charset="-120"/>
              </a:rPr>
              <a:t>acme.snowflake.task_failures</a:t>
            </a:r>
            <a:endParaRPr lang="en-US" sz="1050" dirty="0"/>
          </a:p>
        </p:txBody>
      </p:sp>
      <p:sp>
        <p:nvSpPr>
          <p:cNvPr id="31" name="Text 28"/>
          <p:cNvSpPr/>
          <p:nvPr/>
        </p:nvSpPr>
        <p:spPr>
          <a:xfrm>
            <a:off x="6291072" y="4215384"/>
            <a:ext cx="5029200" cy="237744"/>
          </a:xfrm>
          <a:prstGeom prst="rect">
            <a:avLst/>
          </a:prstGeom>
          <a:noFill/>
          <a:ln/>
        </p:spPr>
        <p:txBody>
          <a:bodyPr wrap="square" lIns="0" tIns="0" rIns="0" bIns="0" rtlCol="0" anchor="ctr"/>
          <a:lstStyle/>
          <a:p>
            <a:pPr indent="0" marL="0">
              <a:buNone/>
            </a:pPr>
            <a:r>
              <a:rPr lang="en-US" sz="1000" dirty="0">
                <a:solidFill>
                  <a:srgbClr val="6B7891"/>
                </a:solidFill>
                <a:latin typeface="Calibri" pitchFamily="34" charset="0"/>
                <a:ea typeface="Calibri" pitchFamily="34" charset="-122"/>
                <a:cs typeface="Calibri" pitchFamily="34" charset="-120"/>
              </a:rPr>
              <a:t>The integration publishes account aggregates, never per-task outcomes</a:t>
            </a:r>
            <a:endParaRPr lang="en-US" sz="1000" dirty="0"/>
          </a:p>
        </p:txBody>
      </p:sp>
      <p:sp>
        <p:nvSpPr>
          <p:cNvPr id="32" name="Shape 29"/>
          <p:cNvSpPr/>
          <p:nvPr/>
        </p:nvSpPr>
        <p:spPr>
          <a:xfrm>
            <a:off x="566928" y="4544568"/>
            <a:ext cx="5349240" cy="502920"/>
          </a:xfrm>
          <a:prstGeom prst="roundRect">
            <a:avLst>
              <a:gd name="adj" fmla="val 9091"/>
            </a:avLst>
          </a:prstGeom>
          <a:solidFill>
            <a:srgbClr val="F7F8FA"/>
          </a:solidFill>
          <a:ln w="12700">
            <a:solidFill>
              <a:srgbClr val="F7F8FA"/>
            </a:solidFill>
            <a:prstDash val="solid"/>
          </a:ln>
        </p:spPr>
      </p:sp>
      <p:sp>
        <p:nvSpPr>
          <p:cNvPr id="33" name="Text 30"/>
          <p:cNvSpPr/>
          <p:nvPr/>
        </p:nvSpPr>
        <p:spPr>
          <a:xfrm>
            <a:off x="713232" y="4562856"/>
            <a:ext cx="5029200" cy="237744"/>
          </a:xfrm>
          <a:prstGeom prst="rect">
            <a:avLst/>
          </a:prstGeom>
          <a:noFill/>
          <a:ln/>
        </p:spPr>
        <p:txBody>
          <a:bodyPr wrap="square" lIns="0" tIns="0" rIns="0" bIns="0" rtlCol="0" anchor="ctr"/>
          <a:lstStyle/>
          <a:p>
            <a:pPr indent="0" marL="0">
              <a:buNone/>
            </a:pPr>
            <a:r>
              <a:rPr lang="en-US" sz="1050" b="1" dirty="0">
                <a:solidFill>
                  <a:srgbClr val="B87914"/>
                </a:solidFill>
                <a:latin typeface="Courier New" pitchFamily="34" charset="0"/>
                <a:ea typeface="Courier New" pitchFamily="34" charset="-122"/>
                <a:cs typeface="Courier New" pitchFamily="34" charset="-120"/>
              </a:rPr>
              <a:t>acme.messaging.oldest_message_age_seconds</a:t>
            </a:r>
            <a:endParaRPr lang="en-US" sz="1050" dirty="0"/>
          </a:p>
        </p:txBody>
      </p:sp>
      <p:sp>
        <p:nvSpPr>
          <p:cNvPr id="34" name="Text 31"/>
          <p:cNvSpPr/>
          <p:nvPr/>
        </p:nvSpPr>
        <p:spPr>
          <a:xfrm>
            <a:off x="713232" y="4782312"/>
            <a:ext cx="5029200" cy="237744"/>
          </a:xfrm>
          <a:prstGeom prst="rect">
            <a:avLst/>
          </a:prstGeom>
          <a:noFill/>
          <a:ln/>
        </p:spPr>
        <p:txBody>
          <a:bodyPr wrap="square" lIns="0" tIns="0" rIns="0" bIns="0" rtlCol="0" anchor="ctr"/>
          <a:lstStyle/>
          <a:p>
            <a:pPr indent="0" marL="0">
              <a:buNone/>
            </a:pPr>
            <a:r>
              <a:rPr lang="en-US" sz="1000" dirty="0">
                <a:solidFill>
                  <a:srgbClr val="6B7891"/>
                </a:solidFill>
                <a:latin typeface="Calibri" pitchFamily="34" charset="0"/>
                <a:ea typeface="Calibri" pitchFamily="34" charset="-122"/>
                <a:cs typeface="Calibri" pitchFamily="34" charset="-120"/>
              </a:rPr>
              <a:t>Service Bus publishes depth; depth cannot see an hour-old backlog</a:t>
            </a:r>
            <a:endParaRPr lang="en-US" sz="1000" dirty="0"/>
          </a:p>
        </p:txBody>
      </p:sp>
      <p:sp>
        <p:nvSpPr>
          <p:cNvPr id="35" name="Shape 32"/>
          <p:cNvSpPr/>
          <p:nvPr/>
        </p:nvSpPr>
        <p:spPr>
          <a:xfrm>
            <a:off x="6144768" y="4544568"/>
            <a:ext cx="5349240" cy="502920"/>
          </a:xfrm>
          <a:prstGeom prst="roundRect">
            <a:avLst>
              <a:gd name="adj" fmla="val 9091"/>
            </a:avLst>
          </a:prstGeom>
          <a:solidFill>
            <a:srgbClr val="F7F8FA"/>
          </a:solidFill>
          <a:ln w="12700">
            <a:solidFill>
              <a:srgbClr val="F7F8FA"/>
            </a:solidFill>
            <a:prstDash val="solid"/>
          </a:ln>
        </p:spPr>
      </p:sp>
      <p:sp>
        <p:nvSpPr>
          <p:cNvPr id="36" name="Text 33"/>
          <p:cNvSpPr/>
          <p:nvPr/>
        </p:nvSpPr>
        <p:spPr>
          <a:xfrm>
            <a:off x="6291072" y="4562856"/>
            <a:ext cx="5029200" cy="237744"/>
          </a:xfrm>
          <a:prstGeom prst="rect">
            <a:avLst/>
          </a:prstGeom>
          <a:noFill/>
          <a:ln/>
        </p:spPr>
        <p:txBody>
          <a:bodyPr wrap="square" lIns="0" tIns="0" rIns="0" bIns="0" rtlCol="0" anchor="ctr"/>
          <a:lstStyle/>
          <a:p>
            <a:pPr indent="0" marL="0">
              <a:buNone/>
            </a:pPr>
            <a:r>
              <a:rPr lang="en-US" sz="1050" b="1" dirty="0">
                <a:solidFill>
                  <a:srgbClr val="B87914"/>
                </a:solidFill>
                <a:latin typeface="Courier New" pitchFamily="34" charset="0"/>
                <a:ea typeface="Courier New" pitchFamily="34" charset="-122"/>
                <a:cs typeface="Courier New" pitchFamily="34" charset="-120"/>
              </a:rPr>
              <a:t>acme.network.nsg_denied_flows</a:t>
            </a:r>
            <a:endParaRPr lang="en-US" sz="1050" dirty="0"/>
          </a:p>
        </p:txBody>
      </p:sp>
      <p:sp>
        <p:nvSpPr>
          <p:cNvPr id="37" name="Text 34"/>
          <p:cNvSpPr/>
          <p:nvPr/>
        </p:nvSpPr>
        <p:spPr>
          <a:xfrm>
            <a:off x="6291072" y="4782312"/>
            <a:ext cx="5029200" cy="237744"/>
          </a:xfrm>
          <a:prstGeom prst="rect">
            <a:avLst/>
          </a:prstGeom>
          <a:noFill/>
          <a:ln/>
        </p:spPr>
        <p:txBody>
          <a:bodyPr wrap="square" lIns="0" tIns="0" rIns="0" bIns="0" rtlCol="0" anchor="ctr"/>
          <a:lstStyle/>
          <a:p>
            <a:pPr indent="0" marL="0">
              <a:buNone/>
            </a:pPr>
            <a:r>
              <a:rPr lang="en-US" sz="1000" dirty="0">
                <a:solidFill>
                  <a:srgbClr val="6B7891"/>
                </a:solidFill>
                <a:latin typeface="Calibri" pitchFamily="34" charset="0"/>
                <a:ea typeface="Calibri" pitchFamily="34" charset="-122"/>
                <a:cs typeface="Calibri" pitchFamily="34" charset="-120"/>
              </a:rPr>
              <a:t>NSGs publish no Azure Monitor metrics at all — it is flow logs or nothing</a:t>
            </a:r>
            <a:endParaRPr lang="en-US" sz="1000" dirty="0"/>
          </a:p>
        </p:txBody>
      </p:sp>
      <p:sp>
        <p:nvSpPr>
          <p:cNvPr id="38" name="Shape 35"/>
          <p:cNvSpPr/>
          <p:nvPr/>
        </p:nvSpPr>
        <p:spPr>
          <a:xfrm>
            <a:off x="566928" y="5111496"/>
            <a:ext cx="5349240" cy="502920"/>
          </a:xfrm>
          <a:prstGeom prst="roundRect">
            <a:avLst>
              <a:gd name="adj" fmla="val 9091"/>
            </a:avLst>
          </a:prstGeom>
          <a:solidFill>
            <a:srgbClr val="F7F8FA"/>
          </a:solidFill>
          <a:ln w="12700">
            <a:solidFill>
              <a:srgbClr val="F7F8FA"/>
            </a:solidFill>
            <a:prstDash val="solid"/>
          </a:ln>
        </p:spPr>
      </p:sp>
      <p:sp>
        <p:nvSpPr>
          <p:cNvPr id="39" name="Text 36"/>
          <p:cNvSpPr/>
          <p:nvPr/>
        </p:nvSpPr>
        <p:spPr>
          <a:xfrm>
            <a:off x="713232" y="5129784"/>
            <a:ext cx="5029200" cy="237744"/>
          </a:xfrm>
          <a:prstGeom prst="rect">
            <a:avLst/>
          </a:prstGeom>
          <a:noFill/>
          <a:ln/>
        </p:spPr>
        <p:txBody>
          <a:bodyPr wrap="square" lIns="0" tIns="0" rIns="0" bIns="0" rtlCol="0" anchor="ctr"/>
          <a:lstStyle/>
          <a:p>
            <a:pPr indent="0" marL="0">
              <a:buNone/>
            </a:pPr>
            <a:r>
              <a:rPr lang="en-US" sz="1050" b="1" dirty="0">
                <a:solidFill>
                  <a:srgbClr val="B87914"/>
                </a:solidFill>
                <a:latin typeface="Courier New" pitchFamily="34" charset="0"/>
                <a:ea typeface="Courier New" pitchFamily="34" charset="-122"/>
                <a:cs typeface="Courier New" pitchFamily="34" charset="-120"/>
              </a:rPr>
              <a:t>acme.finops.budget_utilization_pct</a:t>
            </a:r>
            <a:endParaRPr lang="en-US" sz="1050" dirty="0"/>
          </a:p>
        </p:txBody>
      </p:sp>
      <p:sp>
        <p:nvSpPr>
          <p:cNvPr id="40" name="Text 37"/>
          <p:cNvSpPr/>
          <p:nvPr/>
        </p:nvSpPr>
        <p:spPr>
          <a:xfrm>
            <a:off x="713232" y="5349240"/>
            <a:ext cx="5029200" cy="237744"/>
          </a:xfrm>
          <a:prstGeom prst="rect">
            <a:avLst/>
          </a:prstGeom>
          <a:noFill/>
          <a:ln/>
        </p:spPr>
        <p:txBody>
          <a:bodyPr wrap="square" lIns="0" tIns="0" rIns="0" bIns="0" rtlCol="0" anchor="ctr"/>
          <a:lstStyle/>
          <a:p>
            <a:pPr indent="0" marL="0">
              <a:buNone/>
            </a:pPr>
            <a:r>
              <a:rPr lang="en-US" sz="1000" dirty="0">
                <a:solidFill>
                  <a:srgbClr val="6B7891"/>
                </a:solidFill>
                <a:latin typeface="Calibri" pitchFamily="34" charset="0"/>
                <a:ea typeface="Calibri" pitchFamily="34" charset="-122"/>
                <a:cs typeface="Calibri" pitchFamily="34" charset="-120"/>
              </a:rPr>
              <a:t>Datadog publishes spend; the budget lives in the Azure Consumption API</a:t>
            </a:r>
            <a:endParaRPr lang="en-US" sz="1000" dirty="0"/>
          </a:p>
        </p:txBody>
      </p:sp>
      <p:sp>
        <p:nvSpPr>
          <p:cNvPr id="41" name="Shape 38"/>
          <p:cNvSpPr/>
          <p:nvPr/>
        </p:nvSpPr>
        <p:spPr>
          <a:xfrm>
            <a:off x="6144768" y="5111496"/>
            <a:ext cx="5349240" cy="502920"/>
          </a:xfrm>
          <a:prstGeom prst="roundRect">
            <a:avLst>
              <a:gd name="adj" fmla="val 9091"/>
            </a:avLst>
          </a:prstGeom>
          <a:solidFill>
            <a:srgbClr val="F7F8FA"/>
          </a:solidFill>
          <a:ln w="12700">
            <a:solidFill>
              <a:srgbClr val="F7F8FA"/>
            </a:solidFill>
            <a:prstDash val="solid"/>
          </a:ln>
        </p:spPr>
      </p:sp>
      <p:sp>
        <p:nvSpPr>
          <p:cNvPr id="42" name="Text 39"/>
          <p:cNvSpPr/>
          <p:nvPr/>
        </p:nvSpPr>
        <p:spPr>
          <a:xfrm>
            <a:off x="6291072" y="5129784"/>
            <a:ext cx="5029200" cy="237744"/>
          </a:xfrm>
          <a:prstGeom prst="rect">
            <a:avLst/>
          </a:prstGeom>
          <a:noFill/>
          <a:ln/>
        </p:spPr>
        <p:txBody>
          <a:bodyPr wrap="square" lIns="0" tIns="0" rIns="0" bIns="0" rtlCol="0" anchor="ctr"/>
          <a:lstStyle/>
          <a:p>
            <a:pPr indent="0" marL="0">
              <a:buNone/>
            </a:pPr>
            <a:r>
              <a:rPr lang="en-US" sz="1050" b="1" dirty="0">
                <a:solidFill>
                  <a:srgbClr val="B87914"/>
                </a:solidFill>
                <a:latin typeface="Courier New" pitchFamily="34" charset="0"/>
                <a:ea typeface="Courier New" pitchFamily="34" charset="-122"/>
                <a:cs typeface="Courier New" pitchFamily="34" charset="-120"/>
              </a:rPr>
              <a:t>acme.app.db_pool.*</a:t>
            </a:r>
            <a:endParaRPr lang="en-US" sz="1050" dirty="0"/>
          </a:p>
        </p:txBody>
      </p:sp>
      <p:sp>
        <p:nvSpPr>
          <p:cNvPr id="43" name="Text 40"/>
          <p:cNvSpPr/>
          <p:nvPr/>
        </p:nvSpPr>
        <p:spPr>
          <a:xfrm>
            <a:off x="6291072" y="5349240"/>
            <a:ext cx="5029200" cy="237744"/>
          </a:xfrm>
          <a:prstGeom prst="rect">
            <a:avLst/>
          </a:prstGeom>
          <a:noFill/>
          <a:ln/>
        </p:spPr>
        <p:txBody>
          <a:bodyPr wrap="square" lIns="0" tIns="0" rIns="0" bIns="0" rtlCol="0" anchor="ctr"/>
          <a:lstStyle/>
          <a:p>
            <a:pPr indent="0" marL="0">
              <a:buNone/>
            </a:pPr>
            <a:r>
              <a:rPr lang="en-US" sz="1000" dirty="0">
                <a:solidFill>
                  <a:srgbClr val="6B7891"/>
                </a:solidFill>
                <a:latin typeface="Calibri" pitchFamily="34" charset="0"/>
                <a:ea typeface="Calibri" pitchFamily="34" charset="-122"/>
                <a:cs typeface="Calibri" pitchFamily="34" charset="-120"/>
              </a:rPr>
              <a:t>The pool is inside the process — the database and the runtime both miss it</a:t>
            </a:r>
            <a:endParaRPr lang="en-US" sz="1000" dirty="0"/>
          </a:p>
        </p:txBody>
      </p:sp>
      <p:sp>
        <p:nvSpPr>
          <p:cNvPr id="44" name="Shape 41"/>
          <p:cNvSpPr/>
          <p:nvPr/>
        </p:nvSpPr>
        <p:spPr>
          <a:xfrm>
            <a:off x="566928" y="5678424"/>
            <a:ext cx="5349240" cy="502920"/>
          </a:xfrm>
          <a:prstGeom prst="roundRect">
            <a:avLst>
              <a:gd name="adj" fmla="val 9091"/>
            </a:avLst>
          </a:prstGeom>
          <a:solidFill>
            <a:srgbClr val="F7F8FA"/>
          </a:solidFill>
          <a:ln w="12700">
            <a:solidFill>
              <a:srgbClr val="F7F8FA"/>
            </a:solidFill>
            <a:prstDash val="solid"/>
          </a:ln>
        </p:spPr>
      </p:sp>
      <p:sp>
        <p:nvSpPr>
          <p:cNvPr id="45" name="Text 42"/>
          <p:cNvSpPr/>
          <p:nvPr/>
        </p:nvSpPr>
        <p:spPr>
          <a:xfrm>
            <a:off x="713232" y="5696712"/>
            <a:ext cx="5029200" cy="237744"/>
          </a:xfrm>
          <a:prstGeom prst="rect">
            <a:avLst/>
          </a:prstGeom>
          <a:noFill/>
          <a:ln/>
        </p:spPr>
        <p:txBody>
          <a:bodyPr wrap="square" lIns="0" tIns="0" rIns="0" bIns="0" rtlCol="0" anchor="ctr"/>
          <a:lstStyle/>
          <a:p>
            <a:pPr indent="0" marL="0">
              <a:buNone/>
            </a:pPr>
            <a:r>
              <a:rPr lang="en-US" sz="1050" b="1" dirty="0">
                <a:solidFill>
                  <a:srgbClr val="B87914"/>
                </a:solidFill>
                <a:latin typeface="Courier New" pitchFamily="34" charset="0"/>
                <a:ea typeface="Courier New" pitchFamily="34" charset="-122"/>
                <a:cs typeface="Courier New" pitchFamily="34" charset="-120"/>
              </a:rPr>
              <a:t>acme.hardware.*</a:t>
            </a:r>
            <a:endParaRPr lang="en-US" sz="1050" dirty="0"/>
          </a:p>
        </p:txBody>
      </p:sp>
      <p:sp>
        <p:nvSpPr>
          <p:cNvPr id="46" name="Text 43"/>
          <p:cNvSpPr/>
          <p:nvPr/>
        </p:nvSpPr>
        <p:spPr>
          <a:xfrm>
            <a:off x="713232" y="5916168"/>
            <a:ext cx="5029200" cy="237744"/>
          </a:xfrm>
          <a:prstGeom prst="rect">
            <a:avLst/>
          </a:prstGeom>
          <a:noFill/>
          <a:ln/>
        </p:spPr>
        <p:txBody>
          <a:bodyPr wrap="square" lIns="0" tIns="0" rIns="0" bIns="0" rtlCol="0" anchor="ctr"/>
          <a:lstStyle/>
          <a:p>
            <a:pPr indent="0" marL="0">
              <a:buNone/>
            </a:pPr>
            <a:r>
              <a:rPr lang="en-US" sz="1000" dirty="0">
                <a:solidFill>
                  <a:srgbClr val="6B7891"/>
                </a:solidFill>
                <a:latin typeface="Calibri" pitchFamily="34" charset="0"/>
                <a:ea typeface="Calibri" pitchFamily="34" charset="-122"/>
                <a:cs typeface="Calibri" pitchFamily="34" charset="-120"/>
              </a:rPr>
              <a:t>IPMI sensor names differ per vendor — a raw name silently misses the next fleet</a:t>
            </a:r>
            <a:endParaRPr lang="en-US" sz="1000" dirty="0"/>
          </a:p>
        </p:txBody>
      </p:sp>
      <p:sp>
        <p:nvSpPr>
          <p:cNvPr id="47" name="Shape 44"/>
          <p:cNvSpPr/>
          <p:nvPr/>
        </p:nvSpPr>
        <p:spPr>
          <a:xfrm>
            <a:off x="6144768" y="5678424"/>
            <a:ext cx="5349240" cy="502920"/>
          </a:xfrm>
          <a:prstGeom prst="roundRect">
            <a:avLst>
              <a:gd name="adj" fmla="val 9091"/>
            </a:avLst>
          </a:prstGeom>
          <a:solidFill>
            <a:srgbClr val="F7F8FA"/>
          </a:solidFill>
          <a:ln w="12700">
            <a:solidFill>
              <a:srgbClr val="F7F8FA"/>
            </a:solidFill>
            <a:prstDash val="solid"/>
          </a:ln>
        </p:spPr>
      </p:sp>
      <p:sp>
        <p:nvSpPr>
          <p:cNvPr id="48" name="Text 45"/>
          <p:cNvSpPr/>
          <p:nvPr/>
        </p:nvSpPr>
        <p:spPr>
          <a:xfrm>
            <a:off x="6291072" y="5696712"/>
            <a:ext cx="5029200" cy="237744"/>
          </a:xfrm>
          <a:prstGeom prst="rect">
            <a:avLst/>
          </a:prstGeom>
          <a:noFill/>
          <a:ln/>
        </p:spPr>
        <p:txBody>
          <a:bodyPr wrap="square" lIns="0" tIns="0" rIns="0" bIns="0" rtlCol="0" anchor="ctr"/>
          <a:lstStyle/>
          <a:p>
            <a:pPr indent="0" marL="0">
              <a:buNone/>
            </a:pPr>
            <a:r>
              <a:rPr lang="en-US" sz="1050" b="1" dirty="0">
                <a:solidFill>
                  <a:srgbClr val="B87914"/>
                </a:solidFill>
                <a:latin typeface="Courier New" pitchFamily="34" charset="0"/>
                <a:ea typeface="Courier New" pitchFamily="34" charset="-122"/>
                <a:cs typeface="Courier New" pitchFamily="34" charset="-120"/>
              </a:rPr>
              <a:t>acme.compliance.*</a:t>
            </a:r>
            <a:endParaRPr lang="en-US" sz="1050" dirty="0"/>
          </a:p>
        </p:txBody>
      </p:sp>
      <p:sp>
        <p:nvSpPr>
          <p:cNvPr id="49" name="Text 46"/>
          <p:cNvSpPr/>
          <p:nvPr/>
        </p:nvSpPr>
        <p:spPr>
          <a:xfrm>
            <a:off x="6291072" y="5916168"/>
            <a:ext cx="5029200" cy="237744"/>
          </a:xfrm>
          <a:prstGeom prst="rect">
            <a:avLst/>
          </a:prstGeom>
          <a:noFill/>
          <a:ln/>
        </p:spPr>
        <p:txBody>
          <a:bodyPr wrap="square" lIns="0" tIns="0" rIns="0" bIns="0" rtlCol="0" anchor="ctr"/>
          <a:lstStyle/>
          <a:p>
            <a:pPr indent="0" marL="0">
              <a:buNone/>
            </a:pPr>
            <a:r>
              <a:rPr lang="en-US" sz="1000" dirty="0">
                <a:solidFill>
                  <a:srgbClr val="6B7891"/>
                </a:solidFill>
                <a:latin typeface="Calibri" pitchFamily="34" charset="0"/>
                <a:ea typeface="Calibri" pitchFamily="34" charset="-122"/>
                <a:cs typeface="Calibri" pitchFamily="34" charset="-120"/>
              </a:rPr>
              <a:t>Patch level and OS support dates are inventory facts, not telemetry</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8778240" cy="256032"/>
          </a:xfrm>
          <a:prstGeom prst="rect">
            <a:avLst/>
          </a:prstGeom>
          <a:noFill/>
          <a:ln/>
        </p:spPr>
        <p:txBody>
          <a:bodyPr wrap="square" lIns="0" tIns="0" rIns="0" bIns="0" rtlCol="0" anchor="ctr"/>
          <a:lstStyle/>
          <a:p>
            <a:pPr indent="0" marL="0">
              <a:buNone/>
            </a:pPr>
            <a:r>
              <a:rPr lang="en-US" sz="1050" b="1" spc="160" kern="0" dirty="0">
                <a:solidFill>
                  <a:srgbClr val="B87914"/>
                </a:solidFill>
                <a:latin typeface="Calibri" pitchFamily="34" charset="0"/>
                <a:ea typeface="Calibri" pitchFamily="34" charset="-122"/>
                <a:cs typeface="Calibri" pitchFamily="34" charset="-120"/>
              </a:rPr>
              <a:t>TOPIC 10</a:t>
            </a:r>
            <a:endParaRPr lang="en-US" sz="1050" dirty="0"/>
          </a:p>
        </p:txBody>
      </p:sp>
      <p:sp>
        <p:nvSpPr>
          <p:cNvPr id="3" name="Text 1"/>
          <p:cNvSpPr/>
          <p:nvPr/>
        </p:nvSpPr>
        <p:spPr>
          <a:xfrm>
            <a:off x="566928" y="694944"/>
            <a:ext cx="10424160" cy="786384"/>
          </a:xfrm>
          <a:prstGeom prst="rect">
            <a:avLst/>
          </a:prstGeom>
          <a:noFill/>
          <a:ln/>
        </p:spPr>
        <p:txBody>
          <a:bodyPr wrap="square" lIns="0" tIns="0" rIns="0" bIns="0" rtlCol="0" anchor="ctr"/>
          <a:lstStyle/>
          <a:p>
            <a:pPr indent="0" marL="0">
              <a:buNone/>
            </a:pPr>
            <a:r>
              <a:rPr lang="en-US" sz="3100" b="1" dirty="0">
                <a:solidFill>
                  <a:srgbClr val="161C28"/>
                </a:solidFill>
                <a:latin typeface="Cambria" pitchFamily="34" charset="0"/>
                <a:ea typeface="Cambria" pitchFamily="34" charset="-122"/>
                <a:cs typeface="Cambria" pitchFamily="34" charset="-120"/>
              </a:rPr>
              <a:t>Fleet and agent management</a:t>
            </a:r>
            <a:endParaRPr lang="en-US" sz="3100" dirty="0"/>
          </a:p>
        </p:txBody>
      </p:sp>
      <p:sp>
        <p:nvSpPr>
          <p:cNvPr id="4" name="Text 2"/>
          <p:cNvSpPr/>
          <p:nvPr/>
        </p:nvSpPr>
        <p:spPr>
          <a:xfrm>
            <a:off x="566928" y="1481328"/>
            <a:ext cx="10698480" cy="457200"/>
          </a:xfrm>
          <a:prstGeom prst="rect">
            <a:avLst/>
          </a:prstGeom>
          <a:noFill/>
          <a:ln/>
        </p:spPr>
        <p:txBody>
          <a:bodyPr wrap="square" lIns="0" tIns="0" rIns="0" bIns="0" rtlCol="0" anchor="t"/>
          <a:lstStyle/>
          <a:p>
            <a:pPr indent="0" marL="0">
              <a:buNone/>
            </a:pPr>
            <a:r>
              <a:rPr lang="en-US" sz="1450" dirty="0">
                <a:solidFill>
                  <a:srgbClr val="3A4557"/>
                </a:solidFill>
                <a:latin typeface="Calibri" pitchFamily="34" charset="0"/>
                <a:ea typeface="Calibri" pitchFamily="34" charset="-122"/>
                <a:cs typeface="Calibri" pitchFamily="34" charset="-120"/>
              </a:rPr>
              <a:t>The platform detects agent problems today. It does not yet deploy, configure or standardise agents — and it cannot yet tell you what percentage of the fleet is compliant.</a:t>
            </a:r>
            <a:endParaRPr lang="en-US" sz="1450" dirty="0"/>
          </a:p>
        </p:txBody>
      </p:sp>
      <p:sp>
        <p:nvSpPr>
          <p:cNvPr id="5" name="Shape 3"/>
          <p:cNvSpPr/>
          <p:nvPr/>
        </p:nvSpPr>
        <p:spPr>
          <a:xfrm>
            <a:off x="9608515" y="420624"/>
            <a:ext cx="2016252" cy="310896"/>
          </a:xfrm>
          <a:prstGeom prst="roundRect">
            <a:avLst>
              <a:gd name="adj" fmla="val 50000"/>
            </a:avLst>
          </a:prstGeom>
          <a:solidFill>
            <a:srgbClr val="DFE5EE"/>
          </a:solidFill>
          <a:ln w="12700">
            <a:solidFill>
              <a:srgbClr val="DFE5EE"/>
            </a:solidFill>
            <a:prstDash val="solid"/>
          </a:ln>
        </p:spPr>
      </p:sp>
      <p:sp>
        <p:nvSpPr>
          <p:cNvPr id="6" name="Text 4"/>
          <p:cNvSpPr/>
          <p:nvPr/>
        </p:nvSpPr>
        <p:spPr>
          <a:xfrm>
            <a:off x="9608515" y="420624"/>
            <a:ext cx="2016252" cy="310896"/>
          </a:xfrm>
          <a:prstGeom prst="rect">
            <a:avLst/>
          </a:prstGeom>
          <a:noFill/>
          <a:ln/>
        </p:spPr>
        <p:txBody>
          <a:bodyPr wrap="square" lIns="0" tIns="0" rIns="0" bIns="0" rtlCol="0" anchor="ctr"/>
          <a:lstStyle/>
          <a:p>
            <a:pPr algn="ctr" indent="0" marL="0">
              <a:buNone/>
            </a:pPr>
            <a:r>
              <a:rPr lang="en-US" sz="950" b="1" spc="100" kern="0" dirty="0">
                <a:solidFill>
                  <a:srgbClr val="5F7189"/>
                </a:solidFill>
                <a:latin typeface="Calibri" pitchFamily="34" charset="0"/>
                <a:ea typeface="Calibri" pitchFamily="34" charset="-122"/>
                <a:cs typeface="Calibri" pitchFamily="34" charset="-120"/>
              </a:rPr>
              <a:t>ROADMAP · PHASE 3</a:t>
            </a:r>
            <a:endParaRPr lang="en-US" sz="950" dirty="0"/>
          </a:p>
        </p:txBody>
      </p:sp>
      <p:sp>
        <p:nvSpPr>
          <p:cNvPr id="7" name="Text 5"/>
          <p:cNvSpPr/>
          <p:nvPr/>
        </p:nvSpPr>
        <p:spPr>
          <a:xfrm>
            <a:off x="566928" y="6345936"/>
            <a:ext cx="7315200" cy="274320"/>
          </a:xfrm>
          <a:prstGeom prst="rect">
            <a:avLst/>
          </a:prstGeom>
          <a:noFill/>
          <a:ln/>
        </p:spPr>
        <p:txBody>
          <a:bodyPr wrap="square" lIns="0" tIns="0" rIns="0" bIns="0" rtlCol="0" anchor="ctr"/>
          <a:lstStyle/>
          <a:p>
            <a:pPr indent="0" marL="0">
              <a:buNone/>
            </a:pPr>
            <a:r>
              <a:rPr lang="en-US" sz="900" dirty="0">
                <a:solidFill>
                  <a:srgbClr val="6B7891"/>
                </a:solidFill>
                <a:latin typeface="Calibri" pitchFamily="34" charset="0"/>
                <a:ea typeface="Calibri" pitchFamily="34" charset="-122"/>
                <a:cs typeface="Calibri" pitchFamily="34" charset="-120"/>
              </a:rPr>
              <a:t>Enterprise Observability  ·  policy-as-data on Datadog</a:t>
            </a:r>
            <a:endParaRPr lang="en-US" sz="900" dirty="0"/>
          </a:p>
        </p:txBody>
      </p:sp>
      <p:sp>
        <p:nvSpPr>
          <p:cNvPr id="8" name="Text 6"/>
          <p:cNvSpPr/>
          <p:nvPr/>
        </p:nvSpPr>
        <p:spPr>
          <a:xfrm>
            <a:off x="10710367" y="6345936"/>
            <a:ext cx="914400" cy="274320"/>
          </a:xfrm>
          <a:prstGeom prst="rect">
            <a:avLst/>
          </a:prstGeom>
          <a:noFill/>
          <a:ln/>
        </p:spPr>
        <p:txBody>
          <a:bodyPr wrap="square" lIns="0" tIns="0" rIns="0" bIns="0" rtlCol="0" anchor="ctr"/>
          <a:lstStyle/>
          <a:p>
            <a:pPr algn="r" indent="0" marL="0">
              <a:buNone/>
            </a:pPr>
            <a:r>
              <a:rPr lang="en-US" sz="900" dirty="0">
                <a:solidFill>
                  <a:srgbClr val="6B7891"/>
                </a:solidFill>
                <a:latin typeface="Calibri" pitchFamily="34" charset="0"/>
                <a:ea typeface="Calibri" pitchFamily="34" charset="-122"/>
                <a:cs typeface="Calibri" pitchFamily="34" charset="-120"/>
              </a:rPr>
              <a:t>16</a:t>
            </a:r>
            <a:endParaRPr lang="en-US" sz="900" dirty="0"/>
          </a:p>
        </p:txBody>
      </p:sp>
      <p:sp>
        <p:nvSpPr>
          <p:cNvPr id="10" name="Shape 7"/>
          <p:cNvSpPr/>
          <p:nvPr/>
        </p:nvSpPr>
        <p:spPr>
          <a:xfrm>
            <a:off x="566928" y="2331720"/>
            <a:ext cx="5349240" cy="2148840"/>
          </a:xfrm>
          <a:prstGeom prst="roundRect">
            <a:avLst>
              <a:gd name="adj" fmla="val 2979"/>
            </a:avLst>
          </a:prstGeom>
          <a:solidFill>
            <a:srgbClr val="EAF3F1"/>
          </a:solidFill>
          <a:ln w="12700">
            <a:solidFill>
              <a:srgbClr val="EAF3F1"/>
            </a:solidFill>
            <a:prstDash val="solid"/>
          </a:ln>
        </p:spPr>
      </p:sp>
      <p:sp>
        <p:nvSpPr>
          <p:cNvPr id="11" name="Text 8"/>
          <p:cNvSpPr/>
          <p:nvPr/>
        </p:nvSpPr>
        <p:spPr>
          <a:xfrm>
            <a:off x="822960" y="2487168"/>
            <a:ext cx="4846320" cy="274320"/>
          </a:xfrm>
          <a:prstGeom prst="rect">
            <a:avLst/>
          </a:prstGeom>
          <a:noFill/>
          <a:ln/>
        </p:spPr>
        <p:txBody>
          <a:bodyPr wrap="square" lIns="0" tIns="0" rIns="0" bIns="0" rtlCol="0" anchor="ctr"/>
          <a:lstStyle/>
          <a:p>
            <a:pPr indent="0" marL="0">
              <a:buNone/>
            </a:pPr>
            <a:r>
              <a:rPr lang="en-US" sz="1050" b="1" spc="160" kern="0" dirty="0">
                <a:solidFill>
                  <a:srgbClr val="1D5C59"/>
                </a:solidFill>
                <a:latin typeface="Calibri" pitchFamily="34" charset="0"/>
                <a:ea typeface="Calibri" pitchFamily="34" charset="-122"/>
                <a:cs typeface="Calibri" pitchFamily="34" charset="-120"/>
              </a:rPr>
              <a:t>SHIPPED — DETECTION</a:t>
            </a:r>
            <a:endParaRPr lang="en-US" sz="1050" dirty="0"/>
          </a:p>
        </p:txBody>
      </p:sp>
      <p:sp>
        <p:nvSpPr>
          <p:cNvPr id="12" name="Text 9"/>
          <p:cNvSpPr/>
          <p:nvPr/>
        </p:nvSpPr>
        <p:spPr>
          <a:xfrm>
            <a:off x="822960" y="2798064"/>
            <a:ext cx="4846320" cy="1554480"/>
          </a:xfrm>
          <a:prstGeom prst="rect">
            <a:avLst/>
          </a:prstGeom>
          <a:noFill/>
          <a:ln/>
        </p:spPr>
        <p:txBody>
          <a:bodyPr wrap="square" lIns="0" tIns="0" rIns="0" bIns="0" rtlCol="0" anchor="t"/>
          <a:lstStyle/>
          <a:p>
            <a:pPr marL="342900" indent="-342900">
              <a:spcAft>
                <a:spcPts val="500"/>
              </a:spcAft>
              <a:buSzPct val="100000"/>
              <a:buChar char="•"/>
            </a:pPr>
            <a:r>
              <a:rPr lang="en-US" sz="1150" dirty="0">
                <a:solidFill>
                  <a:srgbClr val="1D5C59"/>
                </a:solidFill>
                <a:latin typeface="Calibri" pitchFamily="34" charset="0"/>
                <a:ea typeface="Calibri" pitchFamily="34" charset="-122"/>
                <a:cs typeface="Calibri" pitchFamily="34" charset="-120"/>
              </a:rPr>
              <a:t>agent-version-drift — agents falling behind the fleet</a:t>
            </a:r>
            <a:endParaRPr lang="en-US" sz="1150" dirty="0"/>
          </a:p>
          <a:p>
            <a:pPr marL="342900" indent="-342900">
              <a:spcAft>
                <a:spcPts val="500"/>
              </a:spcAft>
              <a:buSzPct val="100000"/>
              <a:buChar char="•"/>
            </a:pPr>
            <a:r>
              <a:rPr lang="en-US" sz="1150" dirty="0">
                <a:solidFill>
                  <a:srgbClr val="1D5C59"/>
                </a:solidFill>
                <a:latin typeface="Calibri" pitchFamily="34" charset="0"/>
                <a:ea typeface="Calibri" pitchFamily="34" charset="-122"/>
                <a:cs typeface="Calibri" pitchFamily="34" charset="-120"/>
              </a:rPr>
              <a:t>host-agent-unhealthy — the agent itself is failing</a:t>
            </a:r>
            <a:endParaRPr lang="en-US" sz="1150" dirty="0"/>
          </a:p>
          <a:p>
            <a:pPr marL="342900" indent="-342900">
              <a:spcAft>
                <a:spcPts val="500"/>
              </a:spcAft>
              <a:buSzPct val="100000"/>
              <a:buChar char="•"/>
            </a:pPr>
            <a:r>
              <a:rPr lang="en-US" sz="1150" dirty="0">
                <a:solidFill>
                  <a:srgbClr val="1D5C59"/>
                </a:solidFill>
                <a:latin typeface="Calibri" pitchFamily="34" charset="0"/>
                <a:ea typeface="Calibri" pitchFamily="34" charset="-122"/>
                <a:cs typeface="Calibri" pitchFamily="34" charset="-120"/>
              </a:rPr>
              <a:t>os-critical-patch-missing, os-patch-age-excessive</a:t>
            </a:r>
            <a:endParaRPr lang="en-US" sz="1150" dirty="0"/>
          </a:p>
          <a:p>
            <a:pPr marL="342900" indent="-342900">
              <a:spcAft>
                <a:spcPts val="500"/>
              </a:spcAft>
              <a:buSzPct val="100000"/>
              <a:buChar char="•"/>
            </a:pPr>
            <a:r>
              <a:rPr lang="en-US" sz="1150" dirty="0">
                <a:solidFill>
                  <a:srgbClr val="1D5C59"/>
                </a:solidFill>
                <a:latin typeface="Calibri" pitchFamily="34" charset="0"/>
                <a:ea typeface="Calibri" pitchFamily="34" charset="-122"/>
                <a:cs typeface="Calibri" pitchFamily="34" charset="-120"/>
              </a:rPr>
              <a:t>os-end-of-life — support runway per host</a:t>
            </a:r>
            <a:endParaRPr lang="en-US" sz="1150" dirty="0"/>
          </a:p>
          <a:p>
            <a:pPr marL="342900" indent="-342900">
              <a:spcAft>
                <a:spcPts val="500"/>
              </a:spcAft>
              <a:buSzPct val="100000"/>
              <a:buChar char="•"/>
            </a:pPr>
            <a:r>
              <a:rPr lang="en-US" sz="1150" dirty="0">
                <a:solidFill>
                  <a:srgbClr val="1D5C59"/>
                </a:solidFill>
                <a:latin typeface="Calibri" pitchFamily="34" charset="0"/>
                <a:ea typeface="Calibri" pitchFamily="34" charset="-122"/>
                <a:cs typeface="Calibri" pitchFamily="34" charset="-120"/>
              </a:rPr>
              <a:t>ingest-pipeline-degraded — a 40% collapse in custom-metric ingest means part of the estate has gone dark</a:t>
            </a:r>
            <a:endParaRPr lang="en-US" sz="1150" dirty="0"/>
          </a:p>
        </p:txBody>
      </p:sp>
      <p:sp>
        <p:nvSpPr>
          <p:cNvPr id="13" name="Shape 10"/>
          <p:cNvSpPr/>
          <p:nvPr/>
        </p:nvSpPr>
        <p:spPr>
          <a:xfrm>
            <a:off x="6281928" y="2331720"/>
            <a:ext cx="5349240" cy="2148840"/>
          </a:xfrm>
          <a:prstGeom prst="roundRect">
            <a:avLst>
              <a:gd name="adj" fmla="val 2979"/>
            </a:avLst>
          </a:prstGeom>
          <a:solidFill>
            <a:srgbClr val="F3F4F6"/>
          </a:solidFill>
          <a:ln w="12700">
            <a:solidFill>
              <a:srgbClr val="D6DDE6"/>
            </a:solidFill>
            <a:prstDash val="solid"/>
          </a:ln>
        </p:spPr>
      </p:sp>
      <p:sp>
        <p:nvSpPr>
          <p:cNvPr id="14" name="Text 11"/>
          <p:cNvSpPr/>
          <p:nvPr/>
        </p:nvSpPr>
        <p:spPr>
          <a:xfrm>
            <a:off x="6537960" y="2487168"/>
            <a:ext cx="4846320" cy="274320"/>
          </a:xfrm>
          <a:prstGeom prst="rect">
            <a:avLst/>
          </a:prstGeom>
          <a:noFill/>
          <a:ln/>
        </p:spPr>
        <p:txBody>
          <a:bodyPr wrap="square" lIns="0" tIns="0" rIns="0" bIns="0" rtlCol="0" anchor="ctr"/>
          <a:lstStyle/>
          <a:p>
            <a:pPr indent="0" marL="0">
              <a:buNone/>
            </a:pPr>
            <a:r>
              <a:rPr lang="en-US" sz="1050" b="1" spc="160" kern="0" dirty="0">
                <a:solidFill>
                  <a:srgbClr val="5F7189"/>
                </a:solidFill>
                <a:latin typeface="Calibri" pitchFamily="34" charset="0"/>
                <a:ea typeface="Calibri" pitchFamily="34" charset="-122"/>
                <a:cs typeface="Calibri" pitchFamily="34" charset="-120"/>
              </a:rPr>
              <a:t>NOT BUILT — MANAGEMENT</a:t>
            </a:r>
            <a:endParaRPr lang="en-US" sz="1050" dirty="0"/>
          </a:p>
        </p:txBody>
      </p:sp>
      <p:sp>
        <p:nvSpPr>
          <p:cNvPr id="15" name="Text 12"/>
          <p:cNvSpPr/>
          <p:nvPr/>
        </p:nvSpPr>
        <p:spPr>
          <a:xfrm>
            <a:off x="6537960" y="2798064"/>
            <a:ext cx="4846320" cy="155448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3A4557"/>
                </a:solidFill>
                <a:latin typeface="Calibri" pitchFamily="34" charset="0"/>
                <a:ea typeface="Calibri" pitchFamily="34" charset="-122"/>
                <a:cs typeface="Calibri" pitchFamily="34" charset="-120"/>
              </a:rPr>
              <a:t>No agent deployment automation — no Azure Policy, VM extension or golden-image path</a:t>
            </a:r>
            <a:endParaRPr lang="en-US" sz="1150" dirty="0"/>
          </a:p>
          <a:p>
            <a:pPr marL="342900" indent="-342900">
              <a:spcAft>
                <a:spcPts val="600"/>
              </a:spcAft>
              <a:buSzPct val="100000"/>
              <a:buChar char="•"/>
            </a:pPr>
            <a:r>
              <a:rPr lang="en-US" sz="1150" dirty="0">
                <a:solidFill>
                  <a:srgbClr val="3A4557"/>
                </a:solidFill>
                <a:latin typeface="Calibri" pitchFamily="34" charset="0"/>
                <a:ea typeface="Calibri" pitchFamily="34" charset="-122"/>
                <a:cs typeface="Calibri" pitchFamily="34" charset="-120"/>
              </a:rPr>
              <a:t>No standard agent profiles (base · Windows · Linux · application · SQL Server), so collection differs per installer</a:t>
            </a:r>
            <a:endParaRPr lang="en-US" sz="1150" dirty="0"/>
          </a:p>
          <a:p>
            <a:pPr marL="342900" indent="-342900">
              <a:spcAft>
                <a:spcPts val="600"/>
              </a:spcAft>
              <a:buSzPct val="100000"/>
              <a:buChar char="•"/>
            </a:pPr>
            <a:r>
              <a:rPr lang="en-US" sz="1150" dirty="0">
                <a:solidFill>
                  <a:srgbClr val="3A4557"/>
                </a:solidFill>
                <a:latin typeface="Calibri" pitchFamily="34" charset="0"/>
                <a:ea typeface="Calibri" pitchFamily="34" charset="-122"/>
                <a:cs typeface="Calibri" pitchFamily="34" charset="-120"/>
              </a:rPr>
              <a:t>No compliance percentage — we can name unhealthy agents, not the hosts that should have one and do not</a:t>
            </a:r>
            <a:endParaRPr lang="en-US" sz="1150" dirty="0"/>
          </a:p>
        </p:txBody>
      </p:sp>
      <p:sp>
        <p:nvSpPr>
          <p:cNvPr id="16" name="Shape 13"/>
          <p:cNvSpPr/>
          <p:nvPr/>
        </p:nvSpPr>
        <p:spPr>
          <a:xfrm>
            <a:off x="566928" y="4709160"/>
            <a:ext cx="11057839" cy="1051560"/>
          </a:xfrm>
          <a:prstGeom prst="roundRect">
            <a:avLst>
              <a:gd name="adj" fmla="val 6087"/>
            </a:avLst>
          </a:prstGeom>
          <a:solidFill>
            <a:srgbClr val="12161F"/>
          </a:solidFill>
          <a:ln w="12700">
            <a:solidFill>
              <a:srgbClr val="12161F"/>
            </a:solidFill>
            <a:prstDash val="solid"/>
          </a:ln>
        </p:spPr>
      </p:sp>
      <p:sp>
        <p:nvSpPr>
          <p:cNvPr id="17" name="Text 14"/>
          <p:cNvSpPr/>
          <p:nvPr/>
        </p:nvSpPr>
        <p:spPr>
          <a:xfrm>
            <a:off x="841248" y="4828032"/>
            <a:ext cx="10424160" cy="292608"/>
          </a:xfrm>
          <a:prstGeom prst="rect">
            <a:avLst/>
          </a:prstGeom>
          <a:noFill/>
          <a:ln/>
        </p:spPr>
        <p:txBody>
          <a:bodyPr wrap="square" lIns="0" tIns="0" rIns="0" bIns="0" rtlCol="0" anchor="ctr"/>
          <a:lstStyle/>
          <a:p>
            <a:pPr indent="0" marL="0">
              <a:buNone/>
            </a:pPr>
            <a:r>
              <a:rPr lang="en-US" sz="1300" b="1" dirty="0">
                <a:solidFill>
                  <a:srgbClr val="E09A2E"/>
                </a:solidFill>
                <a:latin typeface="Calibri" pitchFamily="34" charset="0"/>
                <a:ea typeface="Calibri" pitchFamily="34" charset="-122"/>
                <a:cs typeface="Calibri" pitchFamily="34" charset="-120"/>
              </a:rPr>
              <a:t>Why fleet and tagging are one phase, not two</a:t>
            </a:r>
            <a:endParaRPr lang="en-US" sz="1300" dirty="0"/>
          </a:p>
        </p:txBody>
      </p:sp>
      <p:sp>
        <p:nvSpPr>
          <p:cNvPr id="18" name="Text 15"/>
          <p:cNvSpPr/>
          <p:nvPr/>
        </p:nvSpPr>
        <p:spPr>
          <a:xfrm>
            <a:off x="841248" y="5120640"/>
            <a:ext cx="10424160" cy="548640"/>
          </a:xfrm>
          <a:prstGeom prst="rect">
            <a:avLst/>
          </a:prstGeom>
          <a:noFill/>
          <a:ln/>
        </p:spPr>
        <p:txBody>
          <a:bodyPr wrap="square" lIns="0" tIns="0" rIns="0" bIns="0" rtlCol="0" anchor="t"/>
          <a:lstStyle/>
          <a:p>
            <a:pPr indent="0" marL="0">
              <a:buNone/>
            </a:pPr>
            <a:r>
              <a:rPr lang="en-US" sz="1200" dirty="0">
                <a:solidFill>
                  <a:srgbClr val="AEBACD"/>
                </a:solidFill>
                <a:latin typeface="Calibri" pitchFamily="34" charset="0"/>
                <a:ea typeface="Calibri" pitchFamily="34" charset="-122"/>
                <a:cs typeface="Calibri" pitchFamily="34" charset="-120"/>
              </a:rPr>
              <a:t>Azure Policy with a modify effect is the only mechanism that keeps resource tags true over time — and it is the same mechanism that installs and configures the agent. Phase 3 delivers both, plus DD_VERSION from the deployment pipeline, which is what makes deployment-to-incident correlation work.</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8778240" cy="256032"/>
          </a:xfrm>
          <a:prstGeom prst="rect">
            <a:avLst/>
          </a:prstGeom>
          <a:noFill/>
          <a:ln/>
        </p:spPr>
        <p:txBody>
          <a:bodyPr wrap="square" lIns="0" tIns="0" rIns="0" bIns="0" rtlCol="0" anchor="ctr"/>
          <a:lstStyle/>
          <a:p>
            <a:pPr indent="0" marL="0">
              <a:buNone/>
            </a:pPr>
            <a:r>
              <a:rPr lang="en-US" sz="1050" b="1" spc="160" kern="0" dirty="0">
                <a:solidFill>
                  <a:srgbClr val="B87914"/>
                </a:solidFill>
                <a:latin typeface="Calibri" pitchFamily="34" charset="0"/>
                <a:ea typeface="Calibri" pitchFamily="34" charset="-122"/>
                <a:cs typeface="Calibri" pitchFamily="34" charset="-120"/>
              </a:rPr>
              <a:t>TOPIC 11</a:t>
            </a:r>
            <a:endParaRPr lang="en-US" sz="1050" dirty="0"/>
          </a:p>
        </p:txBody>
      </p:sp>
      <p:sp>
        <p:nvSpPr>
          <p:cNvPr id="3" name="Text 1"/>
          <p:cNvSpPr/>
          <p:nvPr/>
        </p:nvSpPr>
        <p:spPr>
          <a:xfrm>
            <a:off x="566928" y="694944"/>
            <a:ext cx="10424160" cy="786384"/>
          </a:xfrm>
          <a:prstGeom prst="rect">
            <a:avLst/>
          </a:prstGeom>
          <a:noFill/>
          <a:ln/>
        </p:spPr>
        <p:txBody>
          <a:bodyPr wrap="square" lIns="0" tIns="0" rIns="0" bIns="0" rtlCol="0" anchor="ctr"/>
          <a:lstStyle/>
          <a:p>
            <a:pPr indent="0" marL="0">
              <a:buNone/>
            </a:pPr>
            <a:r>
              <a:rPr lang="en-US" sz="3100" b="1" dirty="0">
                <a:solidFill>
                  <a:srgbClr val="161C28"/>
                </a:solidFill>
                <a:latin typeface="Cambria" pitchFamily="34" charset="0"/>
                <a:ea typeface="Cambria" pitchFamily="34" charset="-122"/>
                <a:cs typeface="Cambria" pitchFamily="34" charset="-120"/>
              </a:rPr>
              <a:t>How SLOs work</a:t>
            </a:r>
            <a:endParaRPr lang="en-US" sz="3100" dirty="0"/>
          </a:p>
        </p:txBody>
      </p:sp>
      <p:sp>
        <p:nvSpPr>
          <p:cNvPr id="4" name="Text 2"/>
          <p:cNvSpPr/>
          <p:nvPr/>
        </p:nvSpPr>
        <p:spPr>
          <a:xfrm>
            <a:off x="566928" y="1481328"/>
            <a:ext cx="10698480" cy="457200"/>
          </a:xfrm>
          <a:prstGeom prst="rect">
            <a:avLst/>
          </a:prstGeom>
          <a:noFill/>
          <a:ln/>
        </p:spPr>
        <p:txBody>
          <a:bodyPr wrap="square" lIns="0" tIns="0" rIns="0" bIns="0" rtlCol="0" anchor="t"/>
          <a:lstStyle/>
          <a:p>
            <a:pPr indent="0" marL="0">
              <a:buNone/>
            </a:pPr>
            <a:r>
              <a:rPr lang="en-US" sz="1450" dirty="0">
                <a:solidFill>
                  <a:srgbClr val="3A4557"/>
                </a:solidFill>
                <a:latin typeface="Calibri" pitchFamily="34" charset="0"/>
                <a:ea typeface="Calibri" pitchFamily="34" charset="-122"/>
                <a:cs typeface="Calibri" pitchFamily="34" charset="-120"/>
              </a:rPr>
              <a:t>Paging concentrates at the top of the stack. An SLO burn-rate alert is a measurement of customer harm — which is why it is allowed to wake someone and a lone symptom is not.</a:t>
            </a:r>
            <a:endParaRPr lang="en-US" sz="1450" dirty="0"/>
          </a:p>
        </p:txBody>
      </p:sp>
      <p:sp>
        <p:nvSpPr>
          <p:cNvPr id="5" name="Shape 3"/>
          <p:cNvSpPr/>
          <p:nvPr/>
        </p:nvSpPr>
        <p:spPr>
          <a:xfrm>
            <a:off x="10568635" y="420624"/>
            <a:ext cx="1056132" cy="310896"/>
          </a:xfrm>
          <a:prstGeom prst="roundRect">
            <a:avLst>
              <a:gd name="adj" fmla="val 50000"/>
            </a:avLst>
          </a:prstGeom>
          <a:solidFill>
            <a:srgbClr val="27807C"/>
          </a:solidFill>
          <a:ln w="12700">
            <a:solidFill>
              <a:srgbClr val="27807C"/>
            </a:solidFill>
            <a:prstDash val="solid"/>
          </a:ln>
        </p:spPr>
      </p:sp>
      <p:sp>
        <p:nvSpPr>
          <p:cNvPr id="6" name="Text 4"/>
          <p:cNvSpPr/>
          <p:nvPr/>
        </p:nvSpPr>
        <p:spPr>
          <a:xfrm>
            <a:off x="10568635" y="420624"/>
            <a:ext cx="1056132" cy="310896"/>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SHIPPED</a:t>
            </a:r>
            <a:endParaRPr lang="en-US" sz="950" dirty="0"/>
          </a:p>
        </p:txBody>
      </p:sp>
      <p:sp>
        <p:nvSpPr>
          <p:cNvPr id="7" name="Text 5"/>
          <p:cNvSpPr/>
          <p:nvPr/>
        </p:nvSpPr>
        <p:spPr>
          <a:xfrm>
            <a:off x="566928" y="6345936"/>
            <a:ext cx="7315200" cy="274320"/>
          </a:xfrm>
          <a:prstGeom prst="rect">
            <a:avLst/>
          </a:prstGeom>
          <a:noFill/>
          <a:ln/>
        </p:spPr>
        <p:txBody>
          <a:bodyPr wrap="square" lIns="0" tIns="0" rIns="0" bIns="0" rtlCol="0" anchor="ctr"/>
          <a:lstStyle/>
          <a:p>
            <a:pPr indent="0" marL="0">
              <a:buNone/>
            </a:pPr>
            <a:r>
              <a:rPr lang="en-US" sz="900" dirty="0">
                <a:solidFill>
                  <a:srgbClr val="6B7891"/>
                </a:solidFill>
                <a:latin typeface="Calibri" pitchFamily="34" charset="0"/>
                <a:ea typeface="Calibri" pitchFamily="34" charset="-122"/>
                <a:cs typeface="Calibri" pitchFamily="34" charset="-120"/>
              </a:rPr>
              <a:t>Enterprise Observability  ·  policy-as-data on Datadog</a:t>
            </a:r>
            <a:endParaRPr lang="en-US" sz="900" dirty="0"/>
          </a:p>
        </p:txBody>
      </p:sp>
      <p:sp>
        <p:nvSpPr>
          <p:cNvPr id="8" name="Text 6"/>
          <p:cNvSpPr/>
          <p:nvPr/>
        </p:nvSpPr>
        <p:spPr>
          <a:xfrm>
            <a:off x="10710367" y="6345936"/>
            <a:ext cx="914400" cy="274320"/>
          </a:xfrm>
          <a:prstGeom prst="rect">
            <a:avLst/>
          </a:prstGeom>
          <a:noFill/>
          <a:ln/>
        </p:spPr>
        <p:txBody>
          <a:bodyPr wrap="square" lIns="0" tIns="0" rIns="0" bIns="0" rtlCol="0" anchor="ctr"/>
          <a:lstStyle/>
          <a:p>
            <a:pPr algn="r" indent="0" marL="0">
              <a:buNone/>
            </a:pPr>
            <a:r>
              <a:rPr lang="en-US" sz="900" dirty="0">
                <a:solidFill>
                  <a:srgbClr val="6B7891"/>
                </a:solidFill>
                <a:latin typeface="Calibri" pitchFamily="34" charset="0"/>
                <a:ea typeface="Calibri" pitchFamily="34" charset="-122"/>
                <a:cs typeface="Calibri" pitchFamily="34" charset="-120"/>
              </a:rPr>
              <a:t>17</a:t>
            </a:r>
            <a:endParaRPr lang="en-US" sz="900" dirty="0"/>
          </a:p>
        </p:txBody>
      </p:sp>
      <p:sp>
        <p:nvSpPr>
          <p:cNvPr id="10" name="Shape 7"/>
          <p:cNvSpPr/>
          <p:nvPr/>
        </p:nvSpPr>
        <p:spPr>
          <a:xfrm>
            <a:off x="566928" y="2240280"/>
            <a:ext cx="5120640" cy="493776"/>
          </a:xfrm>
          <a:prstGeom prst="roundRect">
            <a:avLst>
              <a:gd name="adj" fmla="val 9259"/>
            </a:avLst>
          </a:prstGeom>
          <a:solidFill>
            <a:srgbClr val="12161F"/>
          </a:solidFill>
          <a:ln w="12700">
            <a:solidFill>
              <a:srgbClr val="12161F"/>
            </a:solidFill>
            <a:prstDash val="solid"/>
          </a:ln>
        </p:spPr>
      </p:sp>
      <p:sp>
        <p:nvSpPr>
          <p:cNvPr id="11" name="Text 8"/>
          <p:cNvSpPr/>
          <p:nvPr/>
        </p:nvSpPr>
        <p:spPr>
          <a:xfrm>
            <a:off x="731520" y="2240280"/>
            <a:ext cx="2834640" cy="493776"/>
          </a:xfrm>
          <a:prstGeom prst="rect">
            <a:avLst/>
          </a:prstGeom>
          <a:noFill/>
          <a:ln/>
        </p:spPr>
        <p:txBody>
          <a:bodyPr wrap="square" lIns="0" tIns="0" rIns="0" bIns="0" rtlCol="0" anchor="ctr"/>
          <a:lstStyle/>
          <a:p>
            <a:pPr indent="0" marL="0">
              <a:buNone/>
            </a:pPr>
            <a:r>
              <a:rPr lang="en-US" sz="1200" b="1" dirty="0">
                <a:solidFill>
                  <a:srgbClr val="E09A2E"/>
                </a:solidFill>
                <a:latin typeface="Calibri" pitchFamily="34" charset="0"/>
                <a:ea typeface="Calibri" pitchFamily="34" charset="-122"/>
                <a:cs typeface="Calibri" pitchFamily="34" charset="-120"/>
              </a:rPr>
              <a:t>Business / service SLO</a:t>
            </a:r>
            <a:endParaRPr lang="en-US" sz="1200" dirty="0"/>
          </a:p>
        </p:txBody>
      </p:sp>
      <p:sp>
        <p:nvSpPr>
          <p:cNvPr id="12" name="Text 9"/>
          <p:cNvSpPr/>
          <p:nvPr/>
        </p:nvSpPr>
        <p:spPr>
          <a:xfrm>
            <a:off x="3584448" y="2240280"/>
            <a:ext cx="1920240" cy="493776"/>
          </a:xfrm>
          <a:prstGeom prst="rect">
            <a:avLst/>
          </a:prstGeom>
          <a:noFill/>
          <a:ln/>
        </p:spPr>
        <p:txBody>
          <a:bodyPr wrap="square" lIns="0" tIns="0" rIns="0" bIns="0" rtlCol="0" anchor="ctr"/>
          <a:lstStyle/>
          <a:p>
            <a:pPr algn="r" indent="0" marL="0">
              <a:buNone/>
            </a:pPr>
            <a:r>
              <a:rPr lang="en-US" sz="1050" dirty="0">
                <a:solidFill>
                  <a:srgbClr val="D3DCE9"/>
                </a:solidFill>
                <a:latin typeface="Calibri" pitchFamily="34" charset="0"/>
                <a:ea typeface="Calibri" pitchFamily="34" charset="-122"/>
                <a:cs typeface="Calibri" pitchFamily="34" charset="-120"/>
              </a:rPr>
              <a:t>burn rate — PAGES</a:t>
            </a:r>
            <a:endParaRPr lang="en-US" sz="1050" dirty="0"/>
          </a:p>
        </p:txBody>
      </p:sp>
      <p:sp>
        <p:nvSpPr>
          <p:cNvPr id="13" name="Shape 10"/>
          <p:cNvSpPr/>
          <p:nvPr/>
        </p:nvSpPr>
        <p:spPr>
          <a:xfrm>
            <a:off x="950976" y="2807208"/>
            <a:ext cx="4352544" cy="493776"/>
          </a:xfrm>
          <a:prstGeom prst="roundRect">
            <a:avLst>
              <a:gd name="adj" fmla="val 9259"/>
            </a:avLst>
          </a:prstGeom>
          <a:solidFill>
            <a:srgbClr val="EFF2F6"/>
          </a:solidFill>
          <a:ln w="12700">
            <a:solidFill>
              <a:srgbClr val="EFF2F6"/>
            </a:solidFill>
            <a:prstDash val="solid"/>
          </a:ln>
        </p:spPr>
      </p:sp>
      <p:sp>
        <p:nvSpPr>
          <p:cNvPr id="14" name="Text 11"/>
          <p:cNvSpPr/>
          <p:nvPr/>
        </p:nvSpPr>
        <p:spPr>
          <a:xfrm>
            <a:off x="1115568" y="2807208"/>
            <a:ext cx="2450592" cy="493776"/>
          </a:xfrm>
          <a:prstGeom prst="rect">
            <a:avLst/>
          </a:prstGeom>
          <a:noFill/>
          <a:ln/>
        </p:spPr>
        <p:txBody>
          <a:bodyPr wrap="square" lIns="0" tIns="0" rIns="0" bIns="0" rtlCol="0" anchor="ctr"/>
          <a:lstStyle/>
          <a:p>
            <a:pPr indent="0" marL="0">
              <a:buNone/>
            </a:pPr>
            <a:r>
              <a:rPr lang="en-US" sz="1200" b="1" dirty="0">
                <a:solidFill>
                  <a:srgbClr val="161C28"/>
                </a:solidFill>
                <a:latin typeface="Calibri" pitchFamily="34" charset="0"/>
                <a:ea typeface="Calibri" pitchFamily="34" charset="-122"/>
                <a:cs typeface="Calibri" pitchFamily="34" charset="-120"/>
              </a:rPr>
              <a:t>Golden signals</a:t>
            </a:r>
            <a:endParaRPr lang="en-US" sz="1200" dirty="0"/>
          </a:p>
        </p:txBody>
      </p:sp>
      <p:sp>
        <p:nvSpPr>
          <p:cNvPr id="15" name="Text 12"/>
          <p:cNvSpPr/>
          <p:nvPr/>
        </p:nvSpPr>
        <p:spPr>
          <a:xfrm>
            <a:off x="3584448" y="2807208"/>
            <a:ext cx="1920240" cy="493776"/>
          </a:xfrm>
          <a:prstGeom prst="rect">
            <a:avLst/>
          </a:prstGeom>
          <a:noFill/>
          <a:ln/>
        </p:spPr>
        <p:txBody>
          <a:bodyPr wrap="square" lIns="0" tIns="0" rIns="0" bIns="0" rtlCol="0" anchor="ctr"/>
          <a:lstStyle/>
          <a:p>
            <a:pPr algn="r" indent="0" marL="0">
              <a:buNone/>
            </a:pPr>
            <a:r>
              <a:rPr lang="en-US" sz="1050" dirty="0">
                <a:solidFill>
                  <a:srgbClr val="6B7891"/>
                </a:solidFill>
                <a:latin typeface="Calibri" pitchFamily="34" charset="0"/>
                <a:ea typeface="Calibri" pitchFamily="34" charset="-122"/>
                <a:cs typeface="Calibri" pitchFamily="34" charset="-120"/>
              </a:rPr>
              <a:t>incidents + tickets</a:t>
            </a:r>
            <a:endParaRPr lang="en-US" sz="1050" dirty="0"/>
          </a:p>
        </p:txBody>
      </p:sp>
      <p:sp>
        <p:nvSpPr>
          <p:cNvPr id="16" name="Shape 13"/>
          <p:cNvSpPr/>
          <p:nvPr/>
        </p:nvSpPr>
        <p:spPr>
          <a:xfrm>
            <a:off x="1335024" y="3374136"/>
            <a:ext cx="3584448" cy="493776"/>
          </a:xfrm>
          <a:prstGeom prst="roundRect">
            <a:avLst>
              <a:gd name="adj" fmla="val 9259"/>
            </a:avLst>
          </a:prstGeom>
          <a:solidFill>
            <a:srgbClr val="EFF2F6"/>
          </a:solidFill>
          <a:ln w="12700">
            <a:solidFill>
              <a:srgbClr val="EFF2F6"/>
            </a:solidFill>
            <a:prstDash val="solid"/>
          </a:ln>
        </p:spPr>
      </p:sp>
      <p:sp>
        <p:nvSpPr>
          <p:cNvPr id="17" name="Text 14"/>
          <p:cNvSpPr/>
          <p:nvPr/>
        </p:nvSpPr>
        <p:spPr>
          <a:xfrm>
            <a:off x="1499616" y="3374136"/>
            <a:ext cx="2066544" cy="493776"/>
          </a:xfrm>
          <a:prstGeom prst="rect">
            <a:avLst/>
          </a:prstGeom>
          <a:noFill/>
          <a:ln/>
        </p:spPr>
        <p:txBody>
          <a:bodyPr wrap="square" lIns="0" tIns="0" rIns="0" bIns="0" rtlCol="0" anchor="ctr"/>
          <a:lstStyle/>
          <a:p>
            <a:pPr indent="0" marL="0">
              <a:buNone/>
            </a:pPr>
            <a:r>
              <a:rPr lang="en-US" sz="1200" b="1" dirty="0">
                <a:solidFill>
                  <a:srgbClr val="161C28"/>
                </a:solidFill>
                <a:latin typeface="Calibri" pitchFamily="34" charset="0"/>
                <a:ea typeface="Calibri" pitchFamily="34" charset="-122"/>
                <a:cs typeface="Calibri" pitchFamily="34" charset="-120"/>
              </a:rPr>
              <a:t>Dependencies</a:t>
            </a:r>
            <a:endParaRPr lang="en-US" sz="1200" dirty="0"/>
          </a:p>
        </p:txBody>
      </p:sp>
      <p:sp>
        <p:nvSpPr>
          <p:cNvPr id="18" name="Text 15"/>
          <p:cNvSpPr/>
          <p:nvPr/>
        </p:nvSpPr>
        <p:spPr>
          <a:xfrm>
            <a:off x="3584448" y="3374136"/>
            <a:ext cx="1920240" cy="493776"/>
          </a:xfrm>
          <a:prstGeom prst="rect">
            <a:avLst/>
          </a:prstGeom>
          <a:noFill/>
          <a:ln/>
        </p:spPr>
        <p:txBody>
          <a:bodyPr wrap="square" lIns="0" tIns="0" rIns="0" bIns="0" rtlCol="0" anchor="ctr"/>
          <a:lstStyle/>
          <a:p>
            <a:pPr algn="r" indent="0" marL="0">
              <a:buNone/>
            </a:pPr>
            <a:r>
              <a:rPr lang="en-US" sz="1050" dirty="0">
                <a:solidFill>
                  <a:srgbClr val="6B7891"/>
                </a:solidFill>
                <a:latin typeface="Calibri" pitchFamily="34" charset="0"/>
                <a:ea typeface="Calibri" pitchFamily="34" charset="-122"/>
                <a:cs typeface="Calibri" pitchFamily="34" charset="-120"/>
              </a:rPr>
              <a:t>incidents + context</a:t>
            </a:r>
            <a:endParaRPr lang="en-US" sz="1050" dirty="0"/>
          </a:p>
        </p:txBody>
      </p:sp>
      <p:sp>
        <p:nvSpPr>
          <p:cNvPr id="19" name="Shape 16"/>
          <p:cNvSpPr/>
          <p:nvPr/>
        </p:nvSpPr>
        <p:spPr>
          <a:xfrm>
            <a:off x="1719072" y="3941064"/>
            <a:ext cx="2816352" cy="493776"/>
          </a:xfrm>
          <a:prstGeom prst="roundRect">
            <a:avLst>
              <a:gd name="adj" fmla="val 9259"/>
            </a:avLst>
          </a:prstGeom>
          <a:solidFill>
            <a:srgbClr val="EFF2F6"/>
          </a:solidFill>
          <a:ln w="12700">
            <a:solidFill>
              <a:srgbClr val="EFF2F6"/>
            </a:solidFill>
            <a:prstDash val="solid"/>
          </a:ln>
        </p:spPr>
      </p:sp>
      <p:sp>
        <p:nvSpPr>
          <p:cNvPr id="20" name="Text 17"/>
          <p:cNvSpPr/>
          <p:nvPr/>
        </p:nvSpPr>
        <p:spPr>
          <a:xfrm>
            <a:off x="1883664" y="3941064"/>
            <a:ext cx="1682496" cy="493776"/>
          </a:xfrm>
          <a:prstGeom prst="rect">
            <a:avLst/>
          </a:prstGeom>
          <a:noFill/>
          <a:ln/>
        </p:spPr>
        <p:txBody>
          <a:bodyPr wrap="square" lIns="0" tIns="0" rIns="0" bIns="0" rtlCol="0" anchor="ctr"/>
          <a:lstStyle/>
          <a:p>
            <a:pPr indent="0" marL="0">
              <a:buNone/>
            </a:pPr>
            <a:r>
              <a:rPr lang="en-US" sz="1200" b="1" dirty="0">
                <a:solidFill>
                  <a:srgbClr val="161C28"/>
                </a:solidFill>
                <a:latin typeface="Calibri" pitchFamily="34" charset="0"/>
                <a:ea typeface="Calibri" pitchFamily="34" charset="-122"/>
                <a:cs typeface="Calibri" pitchFamily="34" charset="-120"/>
              </a:rPr>
              <a:t>Infrastructure</a:t>
            </a:r>
            <a:endParaRPr lang="en-US" sz="1200" dirty="0"/>
          </a:p>
        </p:txBody>
      </p:sp>
      <p:sp>
        <p:nvSpPr>
          <p:cNvPr id="21" name="Text 18"/>
          <p:cNvSpPr/>
          <p:nvPr/>
        </p:nvSpPr>
        <p:spPr>
          <a:xfrm>
            <a:off x="3584448" y="3941064"/>
            <a:ext cx="1920240" cy="493776"/>
          </a:xfrm>
          <a:prstGeom prst="rect">
            <a:avLst/>
          </a:prstGeom>
          <a:noFill/>
          <a:ln/>
        </p:spPr>
        <p:txBody>
          <a:bodyPr wrap="square" lIns="0" tIns="0" rIns="0" bIns="0" rtlCol="0" anchor="ctr"/>
          <a:lstStyle/>
          <a:p>
            <a:pPr algn="r" indent="0" marL="0">
              <a:buNone/>
            </a:pPr>
            <a:r>
              <a:rPr lang="en-US" sz="1050" dirty="0">
                <a:solidFill>
                  <a:srgbClr val="6B7891"/>
                </a:solidFill>
                <a:latin typeface="Calibri" pitchFamily="34" charset="0"/>
                <a:ea typeface="Calibri" pitchFamily="34" charset="-122"/>
                <a:cs typeface="Calibri" pitchFamily="34" charset="-120"/>
              </a:rPr>
              <a:t>diagnosis only, rarely pages</a:t>
            </a:r>
            <a:endParaRPr lang="en-US" sz="1050" dirty="0"/>
          </a:p>
        </p:txBody>
      </p:sp>
      <p:sp>
        <p:nvSpPr>
          <p:cNvPr id="22" name="Text 19"/>
          <p:cNvSpPr/>
          <p:nvPr/>
        </p:nvSpPr>
        <p:spPr>
          <a:xfrm>
            <a:off x="566928" y="4572000"/>
            <a:ext cx="5120640" cy="548640"/>
          </a:xfrm>
          <a:prstGeom prst="rect">
            <a:avLst/>
          </a:prstGeom>
          <a:noFill/>
          <a:ln/>
        </p:spPr>
        <p:txBody>
          <a:bodyPr wrap="square" lIns="0" tIns="0" rIns="0" bIns="0" rtlCol="0" anchor="t"/>
          <a:lstStyle/>
          <a:p>
            <a:pPr indent="0" marL="0">
              <a:buNone/>
            </a:pPr>
            <a:r>
              <a:rPr lang="en-US" sz="1150" dirty="0">
                <a:solidFill>
                  <a:srgbClr val="6B7891"/>
                </a:solidFill>
                <a:latin typeface="Calibri" pitchFamily="34" charset="0"/>
                <a:ea typeface="Calibri" pitchFamily="34" charset="-122"/>
                <a:cs typeface="Calibri" pitchFamily="34" charset="-120"/>
              </a:rPr>
              <a:t>Paging concentrates at the top. Infrastructure alerts support diagnosis; they almost never page alone.</a:t>
            </a:r>
            <a:endParaRPr lang="en-US" sz="1150" dirty="0"/>
          </a:p>
        </p:txBody>
      </p:sp>
      <p:sp>
        <p:nvSpPr>
          <p:cNvPr id="23" name="Text 20"/>
          <p:cNvSpPr/>
          <p:nvPr/>
        </p:nvSpPr>
        <p:spPr>
          <a:xfrm>
            <a:off x="6281928" y="2194560"/>
            <a:ext cx="5349240" cy="292608"/>
          </a:xfrm>
          <a:prstGeom prst="rect">
            <a:avLst/>
          </a:prstGeom>
          <a:noFill/>
          <a:ln/>
        </p:spPr>
        <p:txBody>
          <a:bodyPr wrap="square" lIns="0" tIns="0" rIns="0" bIns="0" rtlCol="0" anchor="ctr"/>
          <a:lstStyle/>
          <a:p>
            <a:pPr indent="0" marL="0">
              <a:buNone/>
            </a:pPr>
            <a:r>
              <a:rPr lang="en-US" sz="1400" b="1" dirty="0">
                <a:solidFill>
                  <a:srgbClr val="161C28"/>
                </a:solidFill>
                <a:latin typeface="Calibri" pitchFamily="34" charset="0"/>
                <a:ea typeface="Calibri" pitchFamily="34" charset="-122"/>
                <a:cs typeface="Calibri" pitchFamily="34" charset="-120"/>
              </a:rPr>
              <a:t>Multi-window burn rate</a:t>
            </a:r>
            <a:endParaRPr lang="en-US" sz="1400" dirty="0"/>
          </a:p>
        </p:txBody>
      </p:sp>
      <p:sp>
        <p:nvSpPr>
          <p:cNvPr id="24" name="Shape 21"/>
          <p:cNvSpPr/>
          <p:nvPr/>
        </p:nvSpPr>
        <p:spPr>
          <a:xfrm>
            <a:off x="6281928" y="2578608"/>
            <a:ext cx="5349240" cy="457200"/>
          </a:xfrm>
          <a:prstGeom prst="roundRect">
            <a:avLst>
              <a:gd name="adj" fmla="val 10000"/>
            </a:avLst>
          </a:prstGeom>
          <a:solidFill>
            <a:srgbClr val="FBF1E2"/>
          </a:solidFill>
          <a:ln w="12700">
            <a:solidFill>
              <a:srgbClr val="FBF1E2"/>
            </a:solidFill>
            <a:prstDash val="solid"/>
          </a:ln>
        </p:spPr>
      </p:sp>
      <p:sp>
        <p:nvSpPr>
          <p:cNvPr id="25" name="Text 22"/>
          <p:cNvSpPr/>
          <p:nvPr/>
        </p:nvSpPr>
        <p:spPr>
          <a:xfrm>
            <a:off x="6464808" y="2578608"/>
            <a:ext cx="914400" cy="457200"/>
          </a:xfrm>
          <a:prstGeom prst="rect">
            <a:avLst/>
          </a:prstGeom>
          <a:noFill/>
          <a:ln/>
        </p:spPr>
        <p:txBody>
          <a:bodyPr wrap="square" lIns="0" tIns="0" rIns="0" bIns="0" rtlCol="0" anchor="ctr"/>
          <a:lstStyle/>
          <a:p>
            <a:pPr indent="0" marL="0">
              <a:buNone/>
            </a:pPr>
            <a:r>
              <a:rPr lang="en-US" sz="1200" b="1" dirty="0">
                <a:solidFill>
                  <a:srgbClr val="161C28"/>
                </a:solidFill>
                <a:latin typeface="Calibri" pitchFamily="34" charset="0"/>
                <a:ea typeface="Calibri" pitchFamily="34" charset="-122"/>
                <a:cs typeface="Calibri" pitchFamily="34" charset="-120"/>
              </a:rPr>
              <a:t>fast</a:t>
            </a:r>
            <a:endParaRPr lang="en-US" sz="1200" dirty="0"/>
          </a:p>
        </p:txBody>
      </p:sp>
      <p:sp>
        <p:nvSpPr>
          <p:cNvPr id="26" name="Text 23"/>
          <p:cNvSpPr/>
          <p:nvPr/>
        </p:nvSpPr>
        <p:spPr>
          <a:xfrm>
            <a:off x="7333488" y="2578608"/>
            <a:ext cx="1005840" cy="457200"/>
          </a:xfrm>
          <a:prstGeom prst="rect">
            <a:avLst/>
          </a:prstGeom>
          <a:noFill/>
          <a:ln/>
        </p:spPr>
        <p:txBody>
          <a:bodyPr wrap="square" lIns="0" tIns="0" rIns="0" bIns="0" rtlCol="0" anchor="ctr"/>
          <a:lstStyle/>
          <a:p>
            <a:pPr indent="0" marL="0">
              <a:buNone/>
            </a:pPr>
            <a:r>
              <a:rPr lang="en-US" sz="1100" dirty="0">
                <a:solidFill>
                  <a:srgbClr val="3A4557"/>
                </a:solidFill>
                <a:latin typeface="Courier New" pitchFamily="34" charset="0"/>
                <a:ea typeface="Courier New" pitchFamily="34" charset="-122"/>
                <a:cs typeface="Courier New" pitchFamily="34" charset="-120"/>
              </a:rPr>
              <a:t>1h / 5m</a:t>
            </a:r>
            <a:endParaRPr lang="en-US" sz="1100" dirty="0"/>
          </a:p>
        </p:txBody>
      </p:sp>
      <p:sp>
        <p:nvSpPr>
          <p:cNvPr id="27" name="Text 24"/>
          <p:cNvSpPr/>
          <p:nvPr/>
        </p:nvSpPr>
        <p:spPr>
          <a:xfrm>
            <a:off x="8339328" y="2578608"/>
            <a:ext cx="640080" cy="457200"/>
          </a:xfrm>
          <a:prstGeom prst="rect">
            <a:avLst/>
          </a:prstGeom>
          <a:noFill/>
          <a:ln/>
        </p:spPr>
        <p:txBody>
          <a:bodyPr wrap="square" lIns="0" tIns="0" rIns="0" bIns="0" rtlCol="0" anchor="ctr"/>
          <a:lstStyle/>
          <a:p>
            <a:pPr indent="0" marL="0">
              <a:buNone/>
            </a:pPr>
            <a:r>
              <a:rPr lang="en-US" sz="1100" dirty="0">
                <a:solidFill>
                  <a:srgbClr val="3A4557"/>
                </a:solidFill>
                <a:latin typeface="Calibri" pitchFamily="34" charset="0"/>
                <a:ea typeface="Calibri" pitchFamily="34" charset="-122"/>
                <a:cs typeface="Calibri" pitchFamily="34" charset="-120"/>
              </a:rPr>
              <a:t>14.4×</a:t>
            </a:r>
            <a:endParaRPr lang="en-US" sz="1100" dirty="0"/>
          </a:p>
        </p:txBody>
      </p:sp>
      <p:sp>
        <p:nvSpPr>
          <p:cNvPr id="28" name="Text 25"/>
          <p:cNvSpPr/>
          <p:nvPr/>
        </p:nvSpPr>
        <p:spPr>
          <a:xfrm>
            <a:off x="8979408" y="2578608"/>
            <a:ext cx="1828800" cy="457200"/>
          </a:xfrm>
          <a:prstGeom prst="rect">
            <a:avLst/>
          </a:prstGeom>
          <a:noFill/>
          <a:ln/>
        </p:spPr>
        <p:txBody>
          <a:bodyPr wrap="square" lIns="0" tIns="0" rIns="0" bIns="0" rtlCol="0" anchor="ctr"/>
          <a:lstStyle/>
          <a:p>
            <a:pPr indent="0" marL="0">
              <a:buNone/>
            </a:pPr>
            <a:r>
              <a:rPr lang="en-US" sz="1050" dirty="0">
                <a:solidFill>
                  <a:srgbClr val="6B7891"/>
                </a:solidFill>
                <a:latin typeface="Calibri" pitchFamily="34" charset="0"/>
                <a:ea typeface="Calibri" pitchFamily="34" charset="-122"/>
                <a:cs typeface="Calibri" pitchFamily="34" charset="-120"/>
              </a:rPr>
              <a:t>2% of budget in an hour</a:t>
            </a:r>
            <a:endParaRPr lang="en-US" sz="1050" dirty="0"/>
          </a:p>
        </p:txBody>
      </p:sp>
      <p:sp>
        <p:nvSpPr>
          <p:cNvPr id="29" name="Text 26"/>
          <p:cNvSpPr/>
          <p:nvPr/>
        </p:nvSpPr>
        <p:spPr>
          <a:xfrm>
            <a:off x="10808208" y="2578608"/>
            <a:ext cx="685800" cy="457200"/>
          </a:xfrm>
          <a:prstGeom prst="rect">
            <a:avLst/>
          </a:prstGeom>
          <a:noFill/>
          <a:ln/>
        </p:spPr>
        <p:txBody>
          <a:bodyPr wrap="square" lIns="0" tIns="0" rIns="0" bIns="0" rtlCol="0" anchor="ctr"/>
          <a:lstStyle/>
          <a:p>
            <a:pPr algn="r" indent="0" marL="0">
              <a:buNone/>
            </a:pPr>
            <a:r>
              <a:rPr lang="en-US" sz="1000" b="1" dirty="0">
                <a:solidFill>
                  <a:srgbClr val="BE4A3F"/>
                </a:solidFill>
                <a:latin typeface="Calibri" pitchFamily="34" charset="0"/>
                <a:ea typeface="Calibri" pitchFamily="34" charset="-122"/>
                <a:cs typeface="Calibri" pitchFamily="34" charset="-120"/>
              </a:rPr>
              <a:t>PAGE</a:t>
            </a:r>
            <a:endParaRPr lang="en-US" sz="1000" dirty="0"/>
          </a:p>
        </p:txBody>
      </p:sp>
      <p:sp>
        <p:nvSpPr>
          <p:cNvPr id="30" name="Shape 27"/>
          <p:cNvSpPr/>
          <p:nvPr/>
        </p:nvSpPr>
        <p:spPr>
          <a:xfrm>
            <a:off x="6281928" y="3090672"/>
            <a:ext cx="5349240" cy="457200"/>
          </a:xfrm>
          <a:prstGeom prst="roundRect">
            <a:avLst>
              <a:gd name="adj" fmla="val 10000"/>
            </a:avLst>
          </a:prstGeom>
          <a:solidFill>
            <a:srgbClr val="FBF1E2"/>
          </a:solidFill>
          <a:ln w="12700">
            <a:solidFill>
              <a:srgbClr val="FBF1E2"/>
            </a:solidFill>
            <a:prstDash val="solid"/>
          </a:ln>
        </p:spPr>
      </p:sp>
      <p:sp>
        <p:nvSpPr>
          <p:cNvPr id="31" name="Text 28"/>
          <p:cNvSpPr/>
          <p:nvPr/>
        </p:nvSpPr>
        <p:spPr>
          <a:xfrm>
            <a:off x="6464808" y="3090672"/>
            <a:ext cx="914400" cy="457200"/>
          </a:xfrm>
          <a:prstGeom prst="rect">
            <a:avLst/>
          </a:prstGeom>
          <a:noFill/>
          <a:ln/>
        </p:spPr>
        <p:txBody>
          <a:bodyPr wrap="square" lIns="0" tIns="0" rIns="0" bIns="0" rtlCol="0" anchor="ctr"/>
          <a:lstStyle/>
          <a:p>
            <a:pPr indent="0" marL="0">
              <a:buNone/>
            </a:pPr>
            <a:r>
              <a:rPr lang="en-US" sz="1200" b="1" dirty="0">
                <a:solidFill>
                  <a:srgbClr val="161C28"/>
                </a:solidFill>
                <a:latin typeface="Calibri" pitchFamily="34" charset="0"/>
                <a:ea typeface="Calibri" pitchFamily="34" charset="-122"/>
                <a:cs typeface="Calibri" pitchFamily="34" charset="-120"/>
              </a:rPr>
              <a:t>medium</a:t>
            </a:r>
            <a:endParaRPr lang="en-US" sz="1200" dirty="0"/>
          </a:p>
        </p:txBody>
      </p:sp>
      <p:sp>
        <p:nvSpPr>
          <p:cNvPr id="32" name="Text 29"/>
          <p:cNvSpPr/>
          <p:nvPr/>
        </p:nvSpPr>
        <p:spPr>
          <a:xfrm>
            <a:off x="7333488" y="3090672"/>
            <a:ext cx="1005840" cy="457200"/>
          </a:xfrm>
          <a:prstGeom prst="rect">
            <a:avLst/>
          </a:prstGeom>
          <a:noFill/>
          <a:ln/>
        </p:spPr>
        <p:txBody>
          <a:bodyPr wrap="square" lIns="0" tIns="0" rIns="0" bIns="0" rtlCol="0" anchor="ctr"/>
          <a:lstStyle/>
          <a:p>
            <a:pPr indent="0" marL="0">
              <a:buNone/>
            </a:pPr>
            <a:r>
              <a:rPr lang="en-US" sz="1100" dirty="0">
                <a:solidFill>
                  <a:srgbClr val="3A4557"/>
                </a:solidFill>
                <a:latin typeface="Courier New" pitchFamily="34" charset="0"/>
                <a:ea typeface="Courier New" pitchFamily="34" charset="-122"/>
                <a:cs typeface="Courier New" pitchFamily="34" charset="-120"/>
              </a:rPr>
              <a:t>6h / 30m</a:t>
            </a:r>
            <a:endParaRPr lang="en-US" sz="1100" dirty="0"/>
          </a:p>
        </p:txBody>
      </p:sp>
      <p:sp>
        <p:nvSpPr>
          <p:cNvPr id="33" name="Text 30"/>
          <p:cNvSpPr/>
          <p:nvPr/>
        </p:nvSpPr>
        <p:spPr>
          <a:xfrm>
            <a:off x="8339328" y="3090672"/>
            <a:ext cx="640080" cy="457200"/>
          </a:xfrm>
          <a:prstGeom prst="rect">
            <a:avLst/>
          </a:prstGeom>
          <a:noFill/>
          <a:ln/>
        </p:spPr>
        <p:txBody>
          <a:bodyPr wrap="square" lIns="0" tIns="0" rIns="0" bIns="0" rtlCol="0" anchor="ctr"/>
          <a:lstStyle/>
          <a:p>
            <a:pPr indent="0" marL="0">
              <a:buNone/>
            </a:pPr>
            <a:r>
              <a:rPr lang="en-US" sz="1100" dirty="0">
                <a:solidFill>
                  <a:srgbClr val="3A4557"/>
                </a:solidFill>
                <a:latin typeface="Calibri" pitchFamily="34" charset="0"/>
                <a:ea typeface="Calibri" pitchFamily="34" charset="-122"/>
                <a:cs typeface="Calibri" pitchFamily="34" charset="-120"/>
              </a:rPr>
              <a:t>6×</a:t>
            </a:r>
            <a:endParaRPr lang="en-US" sz="1100" dirty="0"/>
          </a:p>
        </p:txBody>
      </p:sp>
      <p:sp>
        <p:nvSpPr>
          <p:cNvPr id="34" name="Text 31"/>
          <p:cNvSpPr/>
          <p:nvPr/>
        </p:nvSpPr>
        <p:spPr>
          <a:xfrm>
            <a:off x="8979408" y="3090672"/>
            <a:ext cx="1828800" cy="457200"/>
          </a:xfrm>
          <a:prstGeom prst="rect">
            <a:avLst/>
          </a:prstGeom>
          <a:noFill/>
          <a:ln/>
        </p:spPr>
        <p:txBody>
          <a:bodyPr wrap="square" lIns="0" tIns="0" rIns="0" bIns="0" rtlCol="0" anchor="ctr"/>
          <a:lstStyle/>
          <a:p>
            <a:pPr indent="0" marL="0">
              <a:buNone/>
            </a:pPr>
            <a:r>
              <a:rPr lang="en-US" sz="1050" dirty="0">
                <a:solidFill>
                  <a:srgbClr val="6B7891"/>
                </a:solidFill>
                <a:latin typeface="Calibri" pitchFamily="34" charset="0"/>
                <a:ea typeface="Calibri" pitchFamily="34" charset="-122"/>
                <a:cs typeface="Calibri" pitchFamily="34" charset="-120"/>
              </a:rPr>
              <a:t>5% in six hours</a:t>
            </a:r>
            <a:endParaRPr lang="en-US" sz="1050" dirty="0"/>
          </a:p>
        </p:txBody>
      </p:sp>
      <p:sp>
        <p:nvSpPr>
          <p:cNvPr id="35" name="Text 32"/>
          <p:cNvSpPr/>
          <p:nvPr/>
        </p:nvSpPr>
        <p:spPr>
          <a:xfrm>
            <a:off x="10808208" y="3090672"/>
            <a:ext cx="685800" cy="457200"/>
          </a:xfrm>
          <a:prstGeom prst="rect">
            <a:avLst/>
          </a:prstGeom>
          <a:noFill/>
          <a:ln/>
        </p:spPr>
        <p:txBody>
          <a:bodyPr wrap="square" lIns="0" tIns="0" rIns="0" bIns="0" rtlCol="0" anchor="ctr"/>
          <a:lstStyle/>
          <a:p>
            <a:pPr algn="r" indent="0" marL="0">
              <a:buNone/>
            </a:pPr>
            <a:r>
              <a:rPr lang="en-US" sz="1000" b="1" dirty="0">
                <a:solidFill>
                  <a:srgbClr val="BE4A3F"/>
                </a:solidFill>
                <a:latin typeface="Calibri" pitchFamily="34" charset="0"/>
                <a:ea typeface="Calibri" pitchFamily="34" charset="-122"/>
                <a:cs typeface="Calibri" pitchFamily="34" charset="-120"/>
              </a:rPr>
              <a:t>PAGE</a:t>
            </a:r>
            <a:endParaRPr lang="en-US" sz="1000" dirty="0"/>
          </a:p>
        </p:txBody>
      </p:sp>
      <p:sp>
        <p:nvSpPr>
          <p:cNvPr id="36" name="Shape 33"/>
          <p:cNvSpPr/>
          <p:nvPr/>
        </p:nvSpPr>
        <p:spPr>
          <a:xfrm>
            <a:off x="6281928" y="3602736"/>
            <a:ext cx="5349240" cy="457200"/>
          </a:xfrm>
          <a:prstGeom prst="roundRect">
            <a:avLst>
              <a:gd name="adj" fmla="val 10000"/>
            </a:avLst>
          </a:prstGeom>
          <a:solidFill>
            <a:srgbClr val="F5F7FA"/>
          </a:solidFill>
          <a:ln w="12700">
            <a:solidFill>
              <a:srgbClr val="F5F7FA"/>
            </a:solidFill>
            <a:prstDash val="solid"/>
          </a:ln>
        </p:spPr>
      </p:sp>
      <p:sp>
        <p:nvSpPr>
          <p:cNvPr id="37" name="Text 34"/>
          <p:cNvSpPr/>
          <p:nvPr/>
        </p:nvSpPr>
        <p:spPr>
          <a:xfrm>
            <a:off x="6464808" y="3602736"/>
            <a:ext cx="914400" cy="457200"/>
          </a:xfrm>
          <a:prstGeom prst="rect">
            <a:avLst/>
          </a:prstGeom>
          <a:noFill/>
          <a:ln/>
        </p:spPr>
        <p:txBody>
          <a:bodyPr wrap="square" lIns="0" tIns="0" rIns="0" bIns="0" rtlCol="0" anchor="ctr"/>
          <a:lstStyle/>
          <a:p>
            <a:pPr indent="0" marL="0">
              <a:buNone/>
            </a:pPr>
            <a:r>
              <a:rPr lang="en-US" sz="1200" b="1" dirty="0">
                <a:solidFill>
                  <a:srgbClr val="161C28"/>
                </a:solidFill>
                <a:latin typeface="Calibri" pitchFamily="34" charset="0"/>
                <a:ea typeface="Calibri" pitchFamily="34" charset="-122"/>
                <a:cs typeface="Calibri" pitchFamily="34" charset="-120"/>
              </a:rPr>
              <a:t>slow</a:t>
            </a:r>
            <a:endParaRPr lang="en-US" sz="1200" dirty="0"/>
          </a:p>
        </p:txBody>
      </p:sp>
      <p:sp>
        <p:nvSpPr>
          <p:cNvPr id="38" name="Text 35"/>
          <p:cNvSpPr/>
          <p:nvPr/>
        </p:nvSpPr>
        <p:spPr>
          <a:xfrm>
            <a:off x="7333488" y="3602736"/>
            <a:ext cx="1005840" cy="457200"/>
          </a:xfrm>
          <a:prstGeom prst="rect">
            <a:avLst/>
          </a:prstGeom>
          <a:noFill/>
          <a:ln/>
        </p:spPr>
        <p:txBody>
          <a:bodyPr wrap="square" lIns="0" tIns="0" rIns="0" bIns="0" rtlCol="0" anchor="ctr"/>
          <a:lstStyle/>
          <a:p>
            <a:pPr indent="0" marL="0">
              <a:buNone/>
            </a:pPr>
            <a:r>
              <a:rPr lang="en-US" sz="1100" dirty="0">
                <a:solidFill>
                  <a:srgbClr val="3A4557"/>
                </a:solidFill>
                <a:latin typeface="Courier New" pitchFamily="34" charset="0"/>
                <a:ea typeface="Courier New" pitchFamily="34" charset="-122"/>
                <a:cs typeface="Courier New" pitchFamily="34" charset="-120"/>
              </a:rPr>
              <a:t>24h / 2h</a:t>
            </a:r>
            <a:endParaRPr lang="en-US" sz="1100" dirty="0"/>
          </a:p>
        </p:txBody>
      </p:sp>
      <p:sp>
        <p:nvSpPr>
          <p:cNvPr id="39" name="Text 36"/>
          <p:cNvSpPr/>
          <p:nvPr/>
        </p:nvSpPr>
        <p:spPr>
          <a:xfrm>
            <a:off x="8339328" y="3602736"/>
            <a:ext cx="640080" cy="457200"/>
          </a:xfrm>
          <a:prstGeom prst="rect">
            <a:avLst/>
          </a:prstGeom>
          <a:noFill/>
          <a:ln/>
        </p:spPr>
        <p:txBody>
          <a:bodyPr wrap="square" lIns="0" tIns="0" rIns="0" bIns="0" rtlCol="0" anchor="ctr"/>
          <a:lstStyle/>
          <a:p>
            <a:pPr indent="0" marL="0">
              <a:buNone/>
            </a:pPr>
            <a:r>
              <a:rPr lang="en-US" sz="1100" dirty="0">
                <a:solidFill>
                  <a:srgbClr val="3A4557"/>
                </a:solidFill>
                <a:latin typeface="Calibri" pitchFamily="34" charset="0"/>
                <a:ea typeface="Calibri" pitchFamily="34" charset="-122"/>
                <a:cs typeface="Calibri" pitchFamily="34" charset="-120"/>
              </a:rPr>
              <a:t>3×</a:t>
            </a:r>
            <a:endParaRPr lang="en-US" sz="1100" dirty="0"/>
          </a:p>
        </p:txBody>
      </p:sp>
      <p:sp>
        <p:nvSpPr>
          <p:cNvPr id="40" name="Text 37"/>
          <p:cNvSpPr/>
          <p:nvPr/>
        </p:nvSpPr>
        <p:spPr>
          <a:xfrm>
            <a:off x="8979408" y="3602736"/>
            <a:ext cx="1828800" cy="457200"/>
          </a:xfrm>
          <a:prstGeom prst="rect">
            <a:avLst/>
          </a:prstGeom>
          <a:noFill/>
          <a:ln/>
        </p:spPr>
        <p:txBody>
          <a:bodyPr wrap="square" lIns="0" tIns="0" rIns="0" bIns="0" rtlCol="0" anchor="ctr"/>
          <a:lstStyle/>
          <a:p>
            <a:pPr indent="0" marL="0">
              <a:buNone/>
            </a:pPr>
            <a:r>
              <a:rPr lang="en-US" sz="1050" dirty="0">
                <a:solidFill>
                  <a:srgbClr val="6B7891"/>
                </a:solidFill>
                <a:latin typeface="Calibri" pitchFamily="34" charset="0"/>
                <a:ea typeface="Calibri" pitchFamily="34" charset="-122"/>
                <a:cs typeface="Calibri" pitchFamily="34" charset="-120"/>
              </a:rPr>
              <a:t>10% in a day</a:t>
            </a:r>
            <a:endParaRPr lang="en-US" sz="1050" dirty="0"/>
          </a:p>
        </p:txBody>
      </p:sp>
      <p:sp>
        <p:nvSpPr>
          <p:cNvPr id="41" name="Text 38"/>
          <p:cNvSpPr/>
          <p:nvPr/>
        </p:nvSpPr>
        <p:spPr>
          <a:xfrm>
            <a:off x="10808208" y="3602736"/>
            <a:ext cx="685800" cy="457200"/>
          </a:xfrm>
          <a:prstGeom prst="rect">
            <a:avLst/>
          </a:prstGeom>
          <a:noFill/>
          <a:ln/>
        </p:spPr>
        <p:txBody>
          <a:bodyPr wrap="square" lIns="0" tIns="0" rIns="0" bIns="0" rtlCol="0" anchor="ctr"/>
          <a:lstStyle/>
          <a:p>
            <a:pPr algn="r" indent="0" marL="0">
              <a:buNone/>
            </a:pPr>
            <a:r>
              <a:rPr lang="en-US" sz="1000" dirty="0">
                <a:solidFill>
                  <a:srgbClr val="6B7891"/>
                </a:solidFill>
                <a:latin typeface="Calibri" pitchFamily="34" charset="0"/>
                <a:ea typeface="Calibri" pitchFamily="34" charset="-122"/>
                <a:cs typeface="Calibri" pitchFamily="34" charset="-120"/>
              </a:rPr>
              <a:t>ticket</a:t>
            </a:r>
            <a:endParaRPr lang="en-US" sz="1000" dirty="0"/>
          </a:p>
        </p:txBody>
      </p:sp>
      <p:sp>
        <p:nvSpPr>
          <p:cNvPr id="42" name="Shape 39"/>
          <p:cNvSpPr/>
          <p:nvPr/>
        </p:nvSpPr>
        <p:spPr>
          <a:xfrm>
            <a:off x="6281928" y="4114800"/>
            <a:ext cx="5349240" cy="457200"/>
          </a:xfrm>
          <a:prstGeom prst="roundRect">
            <a:avLst>
              <a:gd name="adj" fmla="val 10000"/>
            </a:avLst>
          </a:prstGeom>
          <a:solidFill>
            <a:srgbClr val="F5F7FA"/>
          </a:solidFill>
          <a:ln w="12700">
            <a:solidFill>
              <a:srgbClr val="F5F7FA"/>
            </a:solidFill>
            <a:prstDash val="solid"/>
          </a:ln>
        </p:spPr>
      </p:sp>
      <p:sp>
        <p:nvSpPr>
          <p:cNvPr id="43" name="Text 40"/>
          <p:cNvSpPr/>
          <p:nvPr/>
        </p:nvSpPr>
        <p:spPr>
          <a:xfrm>
            <a:off x="6464808" y="4114800"/>
            <a:ext cx="914400" cy="457200"/>
          </a:xfrm>
          <a:prstGeom prst="rect">
            <a:avLst/>
          </a:prstGeom>
          <a:noFill/>
          <a:ln/>
        </p:spPr>
        <p:txBody>
          <a:bodyPr wrap="square" lIns="0" tIns="0" rIns="0" bIns="0" rtlCol="0" anchor="ctr"/>
          <a:lstStyle/>
          <a:p>
            <a:pPr indent="0" marL="0">
              <a:buNone/>
            </a:pPr>
            <a:r>
              <a:rPr lang="en-US" sz="1200" b="1" dirty="0">
                <a:solidFill>
                  <a:srgbClr val="161C28"/>
                </a:solidFill>
                <a:latin typeface="Calibri" pitchFamily="34" charset="0"/>
                <a:ea typeface="Calibri" pitchFamily="34" charset="-122"/>
                <a:cs typeface="Calibri" pitchFamily="34" charset="-120"/>
              </a:rPr>
              <a:t>trend</a:t>
            </a:r>
            <a:endParaRPr lang="en-US" sz="1200" dirty="0"/>
          </a:p>
        </p:txBody>
      </p:sp>
      <p:sp>
        <p:nvSpPr>
          <p:cNvPr id="44" name="Text 41"/>
          <p:cNvSpPr/>
          <p:nvPr/>
        </p:nvSpPr>
        <p:spPr>
          <a:xfrm>
            <a:off x="7333488" y="4114800"/>
            <a:ext cx="1005840" cy="457200"/>
          </a:xfrm>
          <a:prstGeom prst="rect">
            <a:avLst/>
          </a:prstGeom>
          <a:noFill/>
          <a:ln/>
        </p:spPr>
        <p:txBody>
          <a:bodyPr wrap="square" lIns="0" tIns="0" rIns="0" bIns="0" rtlCol="0" anchor="ctr"/>
          <a:lstStyle/>
          <a:p>
            <a:pPr indent="0" marL="0">
              <a:buNone/>
            </a:pPr>
            <a:r>
              <a:rPr lang="en-US" sz="1100" dirty="0">
                <a:solidFill>
                  <a:srgbClr val="3A4557"/>
                </a:solidFill>
                <a:latin typeface="Courier New" pitchFamily="34" charset="0"/>
                <a:ea typeface="Courier New" pitchFamily="34" charset="-122"/>
                <a:cs typeface="Courier New" pitchFamily="34" charset="-120"/>
              </a:rPr>
              <a:t>72h / 6h</a:t>
            </a:r>
            <a:endParaRPr lang="en-US" sz="1100" dirty="0"/>
          </a:p>
        </p:txBody>
      </p:sp>
      <p:sp>
        <p:nvSpPr>
          <p:cNvPr id="45" name="Text 42"/>
          <p:cNvSpPr/>
          <p:nvPr/>
        </p:nvSpPr>
        <p:spPr>
          <a:xfrm>
            <a:off x="8339328" y="4114800"/>
            <a:ext cx="640080" cy="457200"/>
          </a:xfrm>
          <a:prstGeom prst="rect">
            <a:avLst/>
          </a:prstGeom>
          <a:noFill/>
          <a:ln/>
        </p:spPr>
        <p:txBody>
          <a:bodyPr wrap="square" lIns="0" tIns="0" rIns="0" bIns="0" rtlCol="0" anchor="ctr"/>
          <a:lstStyle/>
          <a:p>
            <a:pPr indent="0" marL="0">
              <a:buNone/>
            </a:pPr>
            <a:r>
              <a:rPr lang="en-US" sz="1100" dirty="0">
                <a:solidFill>
                  <a:srgbClr val="3A4557"/>
                </a:solidFill>
                <a:latin typeface="Calibri" pitchFamily="34" charset="0"/>
                <a:ea typeface="Calibri" pitchFamily="34" charset="-122"/>
                <a:cs typeface="Calibri" pitchFamily="34" charset="-120"/>
              </a:rPr>
              <a:t>1×</a:t>
            </a:r>
            <a:endParaRPr lang="en-US" sz="1100" dirty="0"/>
          </a:p>
        </p:txBody>
      </p:sp>
      <p:sp>
        <p:nvSpPr>
          <p:cNvPr id="46" name="Text 43"/>
          <p:cNvSpPr/>
          <p:nvPr/>
        </p:nvSpPr>
        <p:spPr>
          <a:xfrm>
            <a:off x="8979408" y="4114800"/>
            <a:ext cx="1828800" cy="457200"/>
          </a:xfrm>
          <a:prstGeom prst="rect">
            <a:avLst/>
          </a:prstGeom>
          <a:noFill/>
          <a:ln/>
        </p:spPr>
        <p:txBody>
          <a:bodyPr wrap="square" lIns="0" tIns="0" rIns="0" bIns="0" rtlCol="0" anchor="ctr"/>
          <a:lstStyle/>
          <a:p>
            <a:pPr indent="0" marL="0">
              <a:buNone/>
            </a:pPr>
            <a:r>
              <a:rPr lang="en-US" sz="1050" dirty="0">
                <a:solidFill>
                  <a:srgbClr val="6B7891"/>
                </a:solidFill>
                <a:latin typeface="Calibri" pitchFamily="34" charset="0"/>
                <a:ea typeface="Calibri" pitchFamily="34" charset="-122"/>
                <a:cs typeface="Calibri" pitchFamily="34" charset="-120"/>
              </a:rPr>
              <a:t>informational</a:t>
            </a:r>
            <a:endParaRPr lang="en-US" sz="1050" dirty="0"/>
          </a:p>
        </p:txBody>
      </p:sp>
      <p:sp>
        <p:nvSpPr>
          <p:cNvPr id="47" name="Text 44"/>
          <p:cNvSpPr/>
          <p:nvPr/>
        </p:nvSpPr>
        <p:spPr>
          <a:xfrm>
            <a:off x="10808208" y="4114800"/>
            <a:ext cx="685800" cy="457200"/>
          </a:xfrm>
          <a:prstGeom prst="rect">
            <a:avLst/>
          </a:prstGeom>
          <a:noFill/>
          <a:ln/>
        </p:spPr>
        <p:txBody>
          <a:bodyPr wrap="square" lIns="0" tIns="0" rIns="0" bIns="0" rtlCol="0" anchor="ctr"/>
          <a:lstStyle/>
          <a:p>
            <a:pPr algn="r" indent="0" marL="0">
              <a:buNone/>
            </a:pPr>
            <a:r>
              <a:rPr lang="en-US" sz="1000" dirty="0">
                <a:solidFill>
                  <a:srgbClr val="6B7891"/>
                </a:solidFill>
                <a:latin typeface="Calibri" pitchFamily="34" charset="0"/>
                <a:ea typeface="Calibri" pitchFamily="34" charset="-122"/>
                <a:cs typeface="Calibri" pitchFamily="34" charset="-120"/>
              </a:rPr>
              <a:t>—</a:t>
            </a:r>
            <a:endParaRPr lang="en-US" sz="1000" dirty="0"/>
          </a:p>
        </p:txBody>
      </p:sp>
      <p:sp>
        <p:nvSpPr>
          <p:cNvPr id="48" name="Text 45"/>
          <p:cNvSpPr/>
          <p:nvPr/>
        </p:nvSpPr>
        <p:spPr>
          <a:xfrm>
            <a:off x="6281928" y="4663440"/>
            <a:ext cx="5349240" cy="548640"/>
          </a:xfrm>
          <a:prstGeom prst="rect">
            <a:avLst/>
          </a:prstGeom>
          <a:noFill/>
          <a:ln/>
        </p:spPr>
        <p:txBody>
          <a:bodyPr wrap="square" lIns="0" tIns="0" rIns="0" bIns="0" rtlCol="0" anchor="t"/>
          <a:lstStyle/>
          <a:p>
            <a:pPr indent="0" marL="0">
              <a:buNone/>
            </a:pPr>
            <a:r>
              <a:rPr lang="en-US" sz="1150" dirty="0">
                <a:solidFill>
                  <a:srgbClr val="6B7891"/>
                </a:solidFill>
                <a:latin typeface="Calibri" pitchFamily="34" charset="0"/>
                <a:ea typeface="Calibri" pitchFamily="34" charset="-122"/>
                <a:cs typeface="Calibri" pitchFamily="34" charset="-120"/>
              </a:rPr>
              <a:t>The long window proves the burn is sustained; the short window proves it is still happening, and lets the alert recover quickly. The slow window deliberately does not page.</a:t>
            </a:r>
            <a:endParaRPr lang="en-US" sz="1150" dirty="0"/>
          </a:p>
        </p:txBody>
      </p:sp>
      <p:sp>
        <p:nvSpPr>
          <p:cNvPr id="49" name="Text 46"/>
          <p:cNvSpPr/>
          <p:nvPr/>
        </p:nvSpPr>
        <p:spPr>
          <a:xfrm>
            <a:off x="566928" y="5257800"/>
            <a:ext cx="3566160" cy="457200"/>
          </a:xfrm>
          <a:prstGeom prst="rect">
            <a:avLst/>
          </a:prstGeom>
          <a:noFill/>
          <a:ln/>
        </p:spPr>
        <p:txBody>
          <a:bodyPr wrap="square" lIns="0" tIns="0" rIns="0" bIns="0" rtlCol="0" anchor="ctr"/>
          <a:lstStyle/>
          <a:p>
            <a:pPr algn="l" indent="0" marL="0">
              <a:buNone/>
            </a:pPr>
            <a:r>
              <a:rPr lang="en-US" sz="2800" b="1" dirty="0">
                <a:solidFill>
                  <a:srgbClr val="161C28"/>
                </a:solidFill>
                <a:latin typeface="Cambria" pitchFamily="34" charset="0"/>
                <a:ea typeface="Cambria" pitchFamily="34" charset="-122"/>
                <a:cs typeface="Cambria" pitchFamily="34" charset="-120"/>
              </a:rPr>
              <a:t>22</a:t>
            </a:r>
            <a:endParaRPr lang="en-US" sz="2800" dirty="0"/>
          </a:p>
        </p:txBody>
      </p:sp>
      <p:sp>
        <p:nvSpPr>
          <p:cNvPr id="50" name="Text 47"/>
          <p:cNvSpPr/>
          <p:nvPr/>
        </p:nvSpPr>
        <p:spPr>
          <a:xfrm>
            <a:off x="566928" y="5678424"/>
            <a:ext cx="3566160" cy="548640"/>
          </a:xfrm>
          <a:prstGeom prst="rect">
            <a:avLst/>
          </a:prstGeom>
          <a:noFill/>
          <a:ln/>
        </p:spPr>
        <p:txBody>
          <a:bodyPr wrap="square" lIns="0" tIns="0" rIns="0" bIns="0" rtlCol="0" anchor="t"/>
          <a:lstStyle/>
          <a:p>
            <a:pPr algn="l" indent="0" marL="0">
              <a:buNone/>
            </a:pPr>
            <a:r>
              <a:rPr lang="en-US" sz="1100" dirty="0">
                <a:solidFill>
                  <a:srgbClr val="6B7891"/>
                </a:solidFill>
                <a:latin typeface="Calibri" pitchFamily="34" charset="0"/>
                <a:ea typeface="Calibri" pitchFamily="34" charset="-122"/>
                <a:cs typeface="Calibri" pitchFamily="34" charset="-120"/>
              </a:rPr>
              <a:t>SLOs — 21 domain + 1 per tier0 service</a:t>
            </a:r>
            <a:endParaRPr lang="en-US" sz="1100" dirty="0"/>
          </a:p>
        </p:txBody>
      </p:sp>
      <p:sp>
        <p:nvSpPr>
          <p:cNvPr id="51" name="Text 48"/>
          <p:cNvSpPr/>
          <p:nvPr/>
        </p:nvSpPr>
        <p:spPr>
          <a:xfrm>
            <a:off x="4315968" y="5257800"/>
            <a:ext cx="3566160" cy="457200"/>
          </a:xfrm>
          <a:prstGeom prst="rect">
            <a:avLst/>
          </a:prstGeom>
          <a:noFill/>
          <a:ln/>
        </p:spPr>
        <p:txBody>
          <a:bodyPr wrap="square" lIns="0" tIns="0" rIns="0" bIns="0" rtlCol="0" anchor="ctr"/>
          <a:lstStyle/>
          <a:p>
            <a:pPr algn="l" indent="0" marL="0">
              <a:buNone/>
            </a:pPr>
            <a:r>
              <a:rPr lang="en-US" sz="2800" b="1" dirty="0">
                <a:solidFill>
                  <a:srgbClr val="161C28"/>
                </a:solidFill>
                <a:latin typeface="Cambria" pitchFamily="34" charset="0"/>
                <a:ea typeface="Cambria" pitchFamily="34" charset="-122"/>
                <a:cs typeface="Cambria" pitchFamily="34" charset="-120"/>
              </a:rPr>
              <a:t>41</a:t>
            </a:r>
            <a:endParaRPr lang="en-US" sz="2800" dirty="0"/>
          </a:p>
        </p:txBody>
      </p:sp>
      <p:sp>
        <p:nvSpPr>
          <p:cNvPr id="52" name="Text 49"/>
          <p:cNvSpPr/>
          <p:nvPr/>
        </p:nvSpPr>
        <p:spPr>
          <a:xfrm>
            <a:off x="4315968" y="5678424"/>
            <a:ext cx="3566160" cy="548640"/>
          </a:xfrm>
          <a:prstGeom prst="rect">
            <a:avLst/>
          </a:prstGeom>
          <a:noFill/>
          <a:ln/>
        </p:spPr>
        <p:txBody>
          <a:bodyPr wrap="square" lIns="0" tIns="0" rIns="0" bIns="0" rtlCol="0" anchor="t"/>
          <a:lstStyle/>
          <a:p>
            <a:pPr algn="l" indent="0" marL="0">
              <a:buNone/>
            </a:pPr>
            <a:r>
              <a:rPr lang="en-US" sz="1100" dirty="0">
                <a:solidFill>
                  <a:srgbClr val="6B7891"/>
                </a:solidFill>
                <a:latin typeface="Calibri" pitchFamily="34" charset="0"/>
                <a:ea typeface="Calibri" pitchFamily="34" charset="-122"/>
                <a:cs typeface="Calibri" pitchFamily="34" charset="-120"/>
              </a:rPr>
              <a:t>burn-rate monitors</a:t>
            </a:r>
            <a:endParaRPr lang="en-US" sz="1100" dirty="0"/>
          </a:p>
        </p:txBody>
      </p:sp>
      <p:sp>
        <p:nvSpPr>
          <p:cNvPr id="53" name="Text 50"/>
          <p:cNvSpPr/>
          <p:nvPr/>
        </p:nvSpPr>
        <p:spPr>
          <a:xfrm>
            <a:off x="8065008" y="5257800"/>
            <a:ext cx="3566160" cy="457200"/>
          </a:xfrm>
          <a:prstGeom prst="rect">
            <a:avLst/>
          </a:prstGeom>
          <a:noFill/>
          <a:ln/>
        </p:spPr>
        <p:txBody>
          <a:bodyPr wrap="square" lIns="0" tIns="0" rIns="0" bIns="0" rtlCol="0" anchor="ctr"/>
          <a:lstStyle/>
          <a:p>
            <a:pPr algn="l" indent="0" marL="0">
              <a:buNone/>
            </a:pPr>
            <a:r>
              <a:rPr lang="en-US" sz="2800" b="1" dirty="0">
                <a:solidFill>
                  <a:srgbClr val="161C28"/>
                </a:solidFill>
                <a:latin typeface="Cambria" pitchFamily="34" charset="0"/>
                <a:ea typeface="Cambria" pitchFamily="34" charset="-122"/>
                <a:cs typeface="Cambria" pitchFamily="34" charset="-120"/>
              </a:rPr>
              <a:t>3</a:t>
            </a:r>
            <a:endParaRPr lang="en-US" sz="2800" dirty="0"/>
          </a:p>
        </p:txBody>
      </p:sp>
      <p:sp>
        <p:nvSpPr>
          <p:cNvPr id="54" name="Text 51"/>
          <p:cNvSpPr/>
          <p:nvPr/>
        </p:nvSpPr>
        <p:spPr>
          <a:xfrm>
            <a:off x="8065008" y="5678424"/>
            <a:ext cx="3566160" cy="548640"/>
          </a:xfrm>
          <a:prstGeom prst="rect">
            <a:avLst/>
          </a:prstGeom>
          <a:noFill/>
          <a:ln/>
        </p:spPr>
        <p:txBody>
          <a:bodyPr wrap="square" lIns="0" tIns="0" rIns="0" bIns="0" rtlCol="0" anchor="t"/>
          <a:lstStyle/>
          <a:p>
            <a:pPr algn="l" indent="0" marL="0">
              <a:buNone/>
            </a:pPr>
            <a:r>
              <a:rPr lang="en-US" sz="1100" dirty="0">
                <a:solidFill>
                  <a:srgbClr val="6B7891"/>
                </a:solidFill>
                <a:latin typeface="Calibri" pitchFamily="34" charset="0"/>
                <a:ea typeface="Calibri" pitchFamily="34" charset="-122"/>
                <a:cs typeface="Calibri" pitchFamily="34" charset="-120"/>
              </a:rPr>
              <a:t>windows for tier0; tier1 gets 2, tier2 gets 1</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8778240" cy="256032"/>
          </a:xfrm>
          <a:prstGeom prst="rect">
            <a:avLst/>
          </a:prstGeom>
          <a:noFill/>
          <a:ln/>
        </p:spPr>
        <p:txBody>
          <a:bodyPr wrap="square" lIns="0" tIns="0" rIns="0" bIns="0" rtlCol="0" anchor="ctr"/>
          <a:lstStyle/>
          <a:p>
            <a:pPr indent="0" marL="0">
              <a:buNone/>
            </a:pPr>
            <a:r>
              <a:rPr lang="en-US" sz="1050" b="1" spc="160" kern="0" dirty="0">
                <a:solidFill>
                  <a:srgbClr val="B87914"/>
                </a:solidFill>
                <a:latin typeface="Calibri" pitchFamily="34" charset="0"/>
                <a:ea typeface="Calibri" pitchFamily="34" charset="-122"/>
                <a:cs typeface="Calibri" pitchFamily="34" charset="-120"/>
              </a:rPr>
              <a:t>TOPIC 12</a:t>
            </a:r>
            <a:endParaRPr lang="en-US" sz="1050" dirty="0"/>
          </a:p>
        </p:txBody>
      </p:sp>
      <p:sp>
        <p:nvSpPr>
          <p:cNvPr id="3" name="Text 1"/>
          <p:cNvSpPr/>
          <p:nvPr/>
        </p:nvSpPr>
        <p:spPr>
          <a:xfrm>
            <a:off x="566928" y="694944"/>
            <a:ext cx="10424160" cy="786384"/>
          </a:xfrm>
          <a:prstGeom prst="rect">
            <a:avLst/>
          </a:prstGeom>
          <a:noFill/>
          <a:ln/>
        </p:spPr>
        <p:txBody>
          <a:bodyPr wrap="square" lIns="0" tIns="0" rIns="0" bIns="0" rtlCol="0" anchor="ctr"/>
          <a:lstStyle/>
          <a:p>
            <a:pPr indent="0" marL="0">
              <a:buNone/>
            </a:pPr>
            <a:r>
              <a:rPr lang="en-US" sz="3100" b="1" dirty="0">
                <a:solidFill>
                  <a:srgbClr val="161C28"/>
                </a:solidFill>
                <a:latin typeface="Cambria" pitchFamily="34" charset="0"/>
                <a:ea typeface="Cambria" pitchFamily="34" charset="-122"/>
                <a:cs typeface="Cambria" pitchFamily="34" charset="-120"/>
              </a:rPr>
              <a:t>How a service gets its own correct SLO</a:t>
            </a:r>
            <a:endParaRPr lang="en-US" sz="3100" dirty="0"/>
          </a:p>
        </p:txBody>
      </p:sp>
      <p:sp>
        <p:nvSpPr>
          <p:cNvPr id="4" name="Text 2"/>
          <p:cNvSpPr/>
          <p:nvPr/>
        </p:nvSpPr>
        <p:spPr>
          <a:xfrm>
            <a:off x="566928" y="1481328"/>
            <a:ext cx="10698480" cy="457200"/>
          </a:xfrm>
          <a:prstGeom prst="rect">
            <a:avLst/>
          </a:prstGeom>
          <a:noFill/>
          <a:ln/>
        </p:spPr>
        <p:txBody>
          <a:bodyPr wrap="square" lIns="0" tIns="0" rIns="0" bIns="0" rtlCol="0" anchor="t"/>
          <a:lstStyle/>
          <a:p>
            <a:pPr indent="0" marL="0">
              <a:buNone/>
            </a:pPr>
            <a:r>
              <a:rPr lang="en-US" sz="1450" dirty="0">
                <a:solidFill>
                  <a:srgbClr val="3A4557"/>
                </a:solidFill>
                <a:latin typeface="Calibri" pitchFamily="34" charset="0"/>
                <a:ea typeface="Calibri" pitchFamily="34" charset="-122"/>
                <a:cs typeface="Calibri" pitchFamily="34" charset="-120"/>
              </a:rPr>
              <a:t>Not every entity needs an SLO, and that is a design position rather than a gap. Tier is the decision that grants one.</a:t>
            </a:r>
            <a:endParaRPr lang="en-US" sz="1450" dirty="0"/>
          </a:p>
        </p:txBody>
      </p:sp>
      <p:sp>
        <p:nvSpPr>
          <p:cNvPr id="5" name="Shape 3"/>
          <p:cNvSpPr/>
          <p:nvPr/>
        </p:nvSpPr>
        <p:spPr>
          <a:xfrm>
            <a:off x="9608515" y="420624"/>
            <a:ext cx="2016252" cy="310896"/>
          </a:xfrm>
          <a:prstGeom prst="roundRect">
            <a:avLst>
              <a:gd name="adj" fmla="val 50000"/>
            </a:avLst>
          </a:prstGeom>
          <a:solidFill>
            <a:srgbClr val="E09A2E"/>
          </a:solidFill>
          <a:ln w="12700">
            <a:solidFill>
              <a:srgbClr val="E09A2E"/>
            </a:solidFill>
            <a:prstDash val="solid"/>
          </a:ln>
        </p:spPr>
      </p:sp>
      <p:sp>
        <p:nvSpPr>
          <p:cNvPr id="6" name="Text 4"/>
          <p:cNvSpPr/>
          <p:nvPr/>
        </p:nvSpPr>
        <p:spPr>
          <a:xfrm>
            <a:off x="9608515" y="420624"/>
            <a:ext cx="2016252" cy="310896"/>
          </a:xfrm>
          <a:prstGeom prst="rect">
            <a:avLst/>
          </a:prstGeom>
          <a:noFill/>
          <a:ln/>
        </p:spPr>
        <p:txBody>
          <a:bodyPr wrap="square" lIns="0" tIns="0" rIns="0" bIns="0" rtlCol="0" anchor="ctr"/>
          <a:lstStyle/>
          <a:p>
            <a:pPr algn="ctr" indent="0" marL="0">
              <a:buNone/>
            </a:pPr>
            <a:r>
              <a:rPr lang="en-US" sz="950" b="1" spc="100" kern="0" dirty="0">
                <a:solidFill>
                  <a:srgbClr val="2A1D06"/>
                </a:solidFill>
                <a:latin typeface="Calibri" pitchFamily="34" charset="0"/>
                <a:ea typeface="Calibri" pitchFamily="34" charset="-122"/>
                <a:cs typeface="Calibri" pitchFamily="34" charset="-120"/>
              </a:rPr>
              <a:t>PARTIAL · PHASE 4</a:t>
            </a:r>
            <a:endParaRPr lang="en-US" sz="950" dirty="0"/>
          </a:p>
        </p:txBody>
      </p:sp>
      <p:sp>
        <p:nvSpPr>
          <p:cNvPr id="7" name="Text 5"/>
          <p:cNvSpPr/>
          <p:nvPr/>
        </p:nvSpPr>
        <p:spPr>
          <a:xfrm>
            <a:off x="566928" y="6345936"/>
            <a:ext cx="7315200" cy="274320"/>
          </a:xfrm>
          <a:prstGeom prst="rect">
            <a:avLst/>
          </a:prstGeom>
          <a:noFill/>
          <a:ln/>
        </p:spPr>
        <p:txBody>
          <a:bodyPr wrap="square" lIns="0" tIns="0" rIns="0" bIns="0" rtlCol="0" anchor="ctr"/>
          <a:lstStyle/>
          <a:p>
            <a:pPr indent="0" marL="0">
              <a:buNone/>
            </a:pPr>
            <a:r>
              <a:rPr lang="en-US" sz="900" dirty="0">
                <a:solidFill>
                  <a:srgbClr val="6B7891"/>
                </a:solidFill>
                <a:latin typeface="Calibri" pitchFamily="34" charset="0"/>
                <a:ea typeface="Calibri" pitchFamily="34" charset="-122"/>
                <a:cs typeface="Calibri" pitchFamily="34" charset="-120"/>
              </a:rPr>
              <a:t>Enterprise Observability  ·  policy-as-data on Datadog</a:t>
            </a:r>
            <a:endParaRPr lang="en-US" sz="900" dirty="0"/>
          </a:p>
        </p:txBody>
      </p:sp>
      <p:sp>
        <p:nvSpPr>
          <p:cNvPr id="8" name="Text 6"/>
          <p:cNvSpPr/>
          <p:nvPr/>
        </p:nvSpPr>
        <p:spPr>
          <a:xfrm>
            <a:off x="10710367" y="6345936"/>
            <a:ext cx="914400" cy="274320"/>
          </a:xfrm>
          <a:prstGeom prst="rect">
            <a:avLst/>
          </a:prstGeom>
          <a:noFill/>
          <a:ln/>
        </p:spPr>
        <p:txBody>
          <a:bodyPr wrap="square" lIns="0" tIns="0" rIns="0" bIns="0" rtlCol="0" anchor="ctr"/>
          <a:lstStyle/>
          <a:p>
            <a:pPr algn="r" indent="0" marL="0">
              <a:buNone/>
            </a:pPr>
            <a:r>
              <a:rPr lang="en-US" sz="900" dirty="0">
                <a:solidFill>
                  <a:srgbClr val="6B7891"/>
                </a:solidFill>
                <a:latin typeface="Calibri" pitchFamily="34" charset="0"/>
                <a:ea typeface="Calibri" pitchFamily="34" charset="-122"/>
                <a:cs typeface="Calibri" pitchFamily="34" charset="-120"/>
              </a:rPr>
              <a:t>18</a:t>
            </a:r>
            <a:endParaRPr lang="en-US" sz="900" dirty="0"/>
          </a:p>
        </p:txBody>
      </p:sp>
      <p:sp>
        <p:nvSpPr>
          <p:cNvPr id="10" name="Shape 7"/>
          <p:cNvSpPr/>
          <p:nvPr/>
        </p:nvSpPr>
        <p:spPr>
          <a:xfrm>
            <a:off x="566928" y="2194560"/>
            <a:ext cx="1992112" cy="868680"/>
          </a:xfrm>
          <a:prstGeom prst="roundRect">
            <a:avLst>
              <a:gd name="adj" fmla="val 6316"/>
            </a:avLst>
          </a:prstGeom>
          <a:solidFill>
            <a:srgbClr val="EFF2F6"/>
          </a:solidFill>
          <a:ln w="12700">
            <a:solidFill>
              <a:srgbClr val="EFF2F6"/>
            </a:solidFill>
            <a:prstDash val="solid"/>
          </a:ln>
        </p:spPr>
      </p:sp>
      <p:sp>
        <p:nvSpPr>
          <p:cNvPr id="11" name="Text 8"/>
          <p:cNvSpPr/>
          <p:nvPr/>
        </p:nvSpPr>
        <p:spPr>
          <a:xfrm>
            <a:off x="676656" y="2304288"/>
            <a:ext cx="1772656" cy="649224"/>
          </a:xfrm>
          <a:prstGeom prst="rect">
            <a:avLst/>
          </a:prstGeom>
          <a:noFill/>
          <a:ln/>
        </p:spPr>
        <p:txBody>
          <a:bodyPr wrap="square" lIns="0" tIns="0" rIns="0" bIns="0" rtlCol="0" anchor="ctr"/>
          <a:lstStyle/>
          <a:p>
            <a:pPr algn="ctr" indent="0" marL="0">
              <a:lnSpc>
                <a:spcPct val="100000"/>
              </a:lnSpc>
              <a:buNone/>
            </a:pPr>
            <a:r>
              <a:rPr lang="en-US" sz="1200" b="1" dirty="0">
                <a:solidFill>
                  <a:srgbClr val="161C28"/>
                </a:solidFill>
                <a:latin typeface="Calibri" pitchFamily="34" charset="0"/>
                <a:ea typeface="Calibri" pitchFamily="34" charset="-122"/>
                <a:cs typeface="Calibri" pitchFamily="34" charset="-120"/>
              </a:rPr>
              <a:t>Enterprise</a:t>
            </a:r>
            <a:endParaRPr lang="en-US" sz="1200" dirty="0"/>
          </a:p>
          <a:p>
            <a:pPr algn="ctr" indent="0" marL="0">
              <a:lnSpc>
                <a:spcPct val="100000"/>
              </a:lnSpc>
              <a:buNone/>
            </a:pPr>
            <a:r>
              <a:rPr lang="en-US" sz="1200" b="1" dirty="0">
                <a:solidFill>
                  <a:srgbClr val="161C28"/>
                </a:solidFill>
                <a:latin typeface="Calibri" pitchFamily="34" charset="0"/>
                <a:ea typeface="Calibri" pitchFamily="34" charset="-122"/>
                <a:cs typeface="Calibri" pitchFamily="34" charset="-120"/>
              </a:rPr>
              <a:t>defaults</a:t>
            </a:r>
            <a:endParaRPr lang="en-US" sz="1200" dirty="0"/>
          </a:p>
        </p:txBody>
      </p:sp>
      <p:sp>
        <p:nvSpPr>
          <p:cNvPr id="12" name="Shape 9"/>
          <p:cNvSpPr/>
          <p:nvPr/>
        </p:nvSpPr>
        <p:spPr>
          <a:xfrm>
            <a:off x="2613904" y="2546604"/>
            <a:ext cx="164592" cy="164592"/>
          </a:xfrm>
          <a:prstGeom prst="rightArrow">
            <a:avLst/>
          </a:prstGeom>
          <a:solidFill>
            <a:srgbClr val="5F7189"/>
          </a:solidFill>
          <a:ln w="12700">
            <a:solidFill>
              <a:srgbClr val="5F7189"/>
            </a:solidFill>
            <a:prstDash val="solid"/>
          </a:ln>
        </p:spPr>
      </p:sp>
      <p:sp>
        <p:nvSpPr>
          <p:cNvPr id="13" name="Shape 10"/>
          <p:cNvSpPr/>
          <p:nvPr/>
        </p:nvSpPr>
        <p:spPr>
          <a:xfrm>
            <a:off x="2833360" y="2194560"/>
            <a:ext cx="1992112" cy="868680"/>
          </a:xfrm>
          <a:prstGeom prst="roundRect">
            <a:avLst>
              <a:gd name="adj" fmla="val 6316"/>
            </a:avLst>
          </a:prstGeom>
          <a:solidFill>
            <a:srgbClr val="EFF2F6"/>
          </a:solidFill>
          <a:ln w="12700">
            <a:solidFill>
              <a:srgbClr val="EFF2F6"/>
            </a:solidFill>
            <a:prstDash val="solid"/>
          </a:ln>
        </p:spPr>
      </p:sp>
      <p:sp>
        <p:nvSpPr>
          <p:cNvPr id="14" name="Text 11"/>
          <p:cNvSpPr/>
          <p:nvPr/>
        </p:nvSpPr>
        <p:spPr>
          <a:xfrm>
            <a:off x="2943088" y="2304288"/>
            <a:ext cx="1772656" cy="649224"/>
          </a:xfrm>
          <a:prstGeom prst="rect">
            <a:avLst/>
          </a:prstGeom>
          <a:noFill/>
          <a:ln/>
        </p:spPr>
        <p:txBody>
          <a:bodyPr wrap="square" lIns="0" tIns="0" rIns="0" bIns="0" rtlCol="0" anchor="ctr"/>
          <a:lstStyle/>
          <a:p>
            <a:pPr algn="ctr" indent="0" marL="0">
              <a:lnSpc>
                <a:spcPct val="100000"/>
              </a:lnSpc>
              <a:buNone/>
            </a:pPr>
            <a:r>
              <a:rPr lang="en-US" sz="1200" b="1" dirty="0">
                <a:solidFill>
                  <a:srgbClr val="161C28"/>
                </a:solidFill>
                <a:latin typeface="Calibri" pitchFamily="34" charset="0"/>
                <a:ea typeface="Calibri" pitchFamily="34" charset="-122"/>
                <a:cs typeface="Calibri" pitchFamily="34" charset="-120"/>
              </a:rPr>
              <a:t>Domain SLO</a:t>
            </a:r>
            <a:endParaRPr lang="en-US" sz="1200" dirty="0"/>
          </a:p>
          <a:p>
            <a:pPr algn="ctr" indent="0" marL="0">
              <a:lnSpc>
                <a:spcPct val="100000"/>
              </a:lnSpc>
              <a:buNone/>
            </a:pPr>
            <a:r>
              <a:rPr lang="en-US" sz="1200" b="1" dirty="0">
                <a:solidFill>
                  <a:srgbClr val="161C28"/>
                </a:solidFill>
                <a:latin typeface="Calibri" pitchFamily="34" charset="0"/>
                <a:ea typeface="Calibri" pitchFamily="34" charset="-122"/>
                <a:cs typeface="Calibri" pitchFamily="34" charset="-120"/>
              </a:rPr>
              <a:t>21 objectives</a:t>
            </a:r>
            <a:endParaRPr lang="en-US" sz="1200" dirty="0"/>
          </a:p>
        </p:txBody>
      </p:sp>
      <p:sp>
        <p:nvSpPr>
          <p:cNvPr id="15" name="Shape 12"/>
          <p:cNvSpPr/>
          <p:nvPr/>
        </p:nvSpPr>
        <p:spPr>
          <a:xfrm>
            <a:off x="4880336" y="2546604"/>
            <a:ext cx="164592" cy="164592"/>
          </a:xfrm>
          <a:prstGeom prst="rightArrow">
            <a:avLst/>
          </a:prstGeom>
          <a:solidFill>
            <a:srgbClr val="5F7189"/>
          </a:solidFill>
          <a:ln w="12700">
            <a:solidFill>
              <a:srgbClr val="5F7189"/>
            </a:solidFill>
            <a:prstDash val="solid"/>
          </a:ln>
        </p:spPr>
      </p:sp>
      <p:sp>
        <p:nvSpPr>
          <p:cNvPr id="16" name="Shape 13"/>
          <p:cNvSpPr/>
          <p:nvPr/>
        </p:nvSpPr>
        <p:spPr>
          <a:xfrm>
            <a:off x="5099792" y="2194560"/>
            <a:ext cx="1992112" cy="868680"/>
          </a:xfrm>
          <a:prstGeom prst="roundRect">
            <a:avLst>
              <a:gd name="adj" fmla="val 6316"/>
            </a:avLst>
          </a:prstGeom>
          <a:solidFill>
            <a:srgbClr val="12161F"/>
          </a:solidFill>
          <a:ln w="12700">
            <a:solidFill>
              <a:srgbClr val="12161F"/>
            </a:solidFill>
            <a:prstDash val="solid"/>
          </a:ln>
        </p:spPr>
      </p:sp>
      <p:sp>
        <p:nvSpPr>
          <p:cNvPr id="17" name="Text 14"/>
          <p:cNvSpPr/>
          <p:nvPr/>
        </p:nvSpPr>
        <p:spPr>
          <a:xfrm>
            <a:off x="5209520" y="2304288"/>
            <a:ext cx="1772656" cy="649224"/>
          </a:xfrm>
          <a:prstGeom prst="rect">
            <a:avLst/>
          </a:prstGeom>
          <a:noFill/>
          <a:ln/>
        </p:spPr>
        <p:txBody>
          <a:bodyPr wrap="square" lIns="0" tIns="0" rIns="0" bIns="0" rtlCol="0" anchor="ctr"/>
          <a:lstStyle/>
          <a:p>
            <a:pPr algn="ctr" indent="0" marL="0">
              <a:lnSpc>
                <a:spcPct val="100000"/>
              </a:lnSpc>
              <a:buNone/>
            </a:pPr>
            <a:r>
              <a:rPr lang="en-US" sz="1200" b="1" dirty="0">
                <a:solidFill>
                  <a:srgbClr val="E09A2E"/>
                </a:solidFill>
                <a:latin typeface="Calibri" pitchFamily="34" charset="0"/>
                <a:ea typeface="Calibri" pitchFamily="34" charset="-122"/>
                <a:cs typeface="Calibri" pitchFamily="34" charset="-120"/>
              </a:rPr>
              <a:t>Tier 0?</a:t>
            </a:r>
            <a:endParaRPr lang="en-US" sz="1200" dirty="0"/>
          </a:p>
          <a:p>
            <a:pPr algn="ctr" indent="0" marL="0">
              <a:lnSpc>
                <a:spcPct val="100000"/>
              </a:lnSpc>
              <a:buNone/>
            </a:pPr>
            <a:r>
              <a:rPr lang="en-US" sz="1200" b="1" dirty="0">
                <a:solidFill>
                  <a:srgbClr val="E09A2E"/>
                </a:solidFill>
                <a:latin typeface="Calibri" pitchFamily="34" charset="0"/>
                <a:ea typeface="Calibri" pitchFamily="34" charset="-122"/>
                <a:cs typeface="Calibri" pitchFamily="34" charset="-120"/>
              </a:rPr>
              <a:t>per-service SLO</a:t>
            </a:r>
            <a:endParaRPr lang="en-US" sz="1200" dirty="0"/>
          </a:p>
        </p:txBody>
      </p:sp>
      <p:sp>
        <p:nvSpPr>
          <p:cNvPr id="18" name="Shape 15"/>
          <p:cNvSpPr/>
          <p:nvPr/>
        </p:nvSpPr>
        <p:spPr>
          <a:xfrm>
            <a:off x="7146768" y="2546604"/>
            <a:ext cx="164592" cy="164592"/>
          </a:xfrm>
          <a:prstGeom prst="rightArrow">
            <a:avLst/>
          </a:prstGeom>
          <a:solidFill>
            <a:srgbClr val="5F7189"/>
          </a:solidFill>
          <a:ln w="12700">
            <a:solidFill>
              <a:srgbClr val="5F7189"/>
            </a:solidFill>
            <a:prstDash val="solid"/>
          </a:ln>
        </p:spPr>
      </p:sp>
      <p:sp>
        <p:nvSpPr>
          <p:cNvPr id="19" name="Shape 16"/>
          <p:cNvSpPr/>
          <p:nvPr/>
        </p:nvSpPr>
        <p:spPr>
          <a:xfrm>
            <a:off x="7366224" y="2194560"/>
            <a:ext cx="1992112" cy="868680"/>
          </a:xfrm>
          <a:prstGeom prst="roundRect">
            <a:avLst>
              <a:gd name="adj" fmla="val 6316"/>
            </a:avLst>
          </a:prstGeom>
          <a:solidFill>
            <a:srgbClr val="FBF1E2"/>
          </a:solidFill>
          <a:ln w="12700">
            <a:solidFill>
              <a:srgbClr val="FBF1E2"/>
            </a:solidFill>
            <a:prstDash val="solid"/>
          </a:ln>
        </p:spPr>
      </p:sp>
      <p:sp>
        <p:nvSpPr>
          <p:cNvPr id="20" name="Text 17"/>
          <p:cNvSpPr/>
          <p:nvPr/>
        </p:nvSpPr>
        <p:spPr>
          <a:xfrm>
            <a:off x="7475952" y="2304288"/>
            <a:ext cx="1772656" cy="649224"/>
          </a:xfrm>
          <a:prstGeom prst="rect">
            <a:avLst/>
          </a:prstGeom>
          <a:noFill/>
          <a:ln/>
        </p:spPr>
        <p:txBody>
          <a:bodyPr wrap="square" lIns="0" tIns="0" rIns="0" bIns="0" rtlCol="0" anchor="ctr"/>
          <a:lstStyle/>
          <a:p>
            <a:pPr algn="ctr" indent="0" marL="0">
              <a:lnSpc>
                <a:spcPct val="100000"/>
              </a:lnSpc>
              <a:buNone/>
            </a:pPr>
            <a:r>
              <a:rPr lang="en-US" sz="1200" b="1" dirty="0">
                <a:solidFill>
                  <a:srgbClr val="161C28"/>
                </a:solidFill>
                <a:latin typeface="Calibri" pitchFamily="34" charset="0"/>
                <a:ea typeface="Calibri" pitchFamily="34" charset="-122"/>
                <a:cs typeface="Calibri" pitchFamily="34" charset="-120"/>
              </a:rPr>
              <a:t>Burn-rate</a:t>
            </a:r>
            <a:endParaRPr lang="en-US" sz="1200" dirty="0"/>
          </a:p>
          <a:p>
            <a:pPr algn="ctr" indent="0" marL="0">
              <a:lnSpc>
                <a:spcPct val="100000"/>
              </a:lnSpc>
              <a:buNone/>
            </a:pPr>
            <a:r>
              <a:rPr lang="en-US" sz="1200" b="1" dirty="0">
                <a:solidFill>
                  <a:srgbClr val="161C28"/>
                </a:solidFill>
                <a:latin typeface="Calibri" pitchFamily="34" charset="0"/>
                <a:ea typeface="Calibri" pitchFamily="34" charset="-122"/>
                <a:cs typeface="Calibri" pitchFamily="34" charset="-120"/>
              </a:rPr>
              <a:t>monitors</a:t>
            </a:r>
            <a:endParaRPr lang="en-US" sz="1200" dirty="0"/>
          </a:p>
        </p:txBody>
      </p:sp>
      <p:sp>
        <p:nvSpPr>
          <p:cNvPr id="21" name="Shape 18"/>
          <p:cNvSpPr/>
          <p:nvPr/>
        </p:nvSpPr>
        <p:spPr>
          <a:xfrm>
            <a:off x="9413199" y="2546604"/>
            <a:ext cx="164592" cy="164592"/>
          </a:xfrm>
          <a:prstGeom prst="rightArrow">
            <a:avLst/>
          </a:prstGeom>
          <a:solidFill>
            <a:srgbClr val="5F7189"/>
          </a:solidFill>
          <a:ln w="12700">
            <a:solidFill>
              <a:srgbClr val="5F7189"/>
            </a:solidFill>
            <a:prstDash val="solid"/>
          </a:ln>
        </p:spPr>
      </p:sp>
      <p:sp>
        <p:nvSpPr>
          <p:cNvPr id="22" name="Shape 19"/>
          <p:cNvSpPr/>
          <p:nvPr/>
        </p:nvSpPr>
        <p:spPr>
          <a:xfrm>
            <a:off x="9632655" y="2194560"/>
            <a:ext cx="1992112" cy="868680"/>
          </a:xfrm>
          <a:prstGeom prst="roundRect">
            <a:avLst>
              <a:gd name="adj" fmla="val 6316"/>
            </a:avLst>
          </a:prstGeom>
          <a:solidFill>
            <a:srgbClr val="FBF1E2"/>
          </a:solidFill>
          <a:ln w="12700">
            <a:solidFill>
              <a:srgbClr val="FBF1E2"/>
            </a:solidFill>
            <a:prstDash val="solid"/>
          </a:ln>
        </p:spPr>
      </p:sp>
      <p:sp>
        <p:nvSpPr>
          <p:cNvPr id="23" name="Text 20"/>
          <p:cNvSpPr/>
          <p:nvPr/>
        </p:nvSpPr>
        <p:spPr>
          <a:xfrm>
            <a:off x="9742383" y="2304288"/>
            <a:ext cx="1772656" cy="649224"/>
          </a:xfrm>
          <a:prstGeom prst="rect">
            <a:avLst/>
          </a:prstGeom>
          <a:noFill/>
          <a:ln/>
        </p:spPr>
        <p:txBody>
          <a:bodyPr wrap="square" lIns="0" tIns="0" rIns="0" bIns="0" rtlCol="0" anchor="ctr"/>
          <a:lstStyle/>
          <a:p>
            <a:pPr algn="ctr" indent="0" marL="0">
              <a:lnSpc>
                <a:spcPct val="100000"/>
              </a:lnSpc>
              <a:buNone/>
            </a:pPr>
            <a:r>
              <a:rPr lang="en-US" sz="1200" b="1" dirty="0">
                <a:solidFill>
                  <a:srgbClr val="161C28"/>
                </a:solidFill>
                <a:latin typeface="Calibri" pitchFamily="34" charset="0"/>
                <a:ea typeface="Calibri" pitchFamily="34" charset="-122"/>
                <a:cs typeface="Calibri" pitchFamily="34" charset="-120"/>
              </a:rPr>
              <a:t>Error-budget</a:t>
            </a:r>
            <a:endParaRPr lang="en-US" sz="1200" dirty="0"/>
          </a:p>
          <a:p>
            <a:pPr algn="ctr" indent="0" marL="0">
              <a:lnSpc>
                <a:spcPct val="100000"/>
              </a:lnSpc>
              <a:buNone/>
            </a:pPr>
            <a:r>
              <a:rPr lang="en-US" sz="1200" b="1" dirty="0">
                <a:solidFill>
                  <a:srgbClr val="161C28"/>
                </a:solidFill>
                <a:latin typeface="Calibri" pitchFamily="34" charset="0"/>
                <a:ea typeface="Calibri" pitchFamily="34" charset="-122"/>
                <a:cs typeface="Calibri" pitchFamily="34" charset="-120"/>
              </a:rPr>
              <a:t>policy</a:t>
            </a:r>
            <a:endParaRPr lang="en-US" sz="1200" dirty="0"/>
          </a:p>
        </p:txBody>
      </p:sp>
      <p:sp>
        <p:nvSpPr>
          <p:cNvPr id="24" name="Text 21"/>
          <p:cNvSpPr/>
          <p:nvPr/>
        </p:nvSpPr>
        <p:spPr>
          <a:xfrm>
            <a:off x="566928" y="3310128"/>
            <a:ext cx="10607040" cy="292608"/>
          </a:xfrm>
          <a:prstGeom prst="rect">
            <a:avLst/>
          </a:prstGeom>
          <a:noFill/>
          <a:ln/>
        </p:spPr>
        <p:txBody>
          <a:bodyPr wrap="square" lIns="0" tIns="0" rIns="0" bIns="0" rtlCol="0" anchor="ctr"/>
          <a:lstStyle/>
          <a:p>
            <a:pPr indent="0" marL="0">
              <a:buNone/>
            </a:pPr>
            <a:r>
              <a:rPr lang="en-US" sz="1400" b="1" dirty="0">
                <a:solidFill>
                  <a:srgbClr val="161C28"/>
                </a:solidFill>
                <a:latin typeface="Calibri" pitchFamily="34" charset="0"/>
                <a:ea typeface="Calibri" pitchFamily="34" charset="-122"/>
                <a:cs typeface="Calibri" pitchFamily="34" charset="-120"/>
              </a:rPr>
              <a:t>Tier decides the objective, the windows and the consequence</a:t>
            </a:r>
            <a:endParaRPr lang="en-US" sz="1400" dirty="0"/>
          </a:p>
        </p:txBody>
      </p:sp>
      <p:sp>
        <p:nvSpPr>
          <p:cNvPr id="25" name="Shape 22"/>
          <p:cNvSpPr/>
          <p:nvPr/>
        </p:nvSpPr>
        <p:spPr>
          <a:xfrm>
            <a:off x="566928" y="3694176"/>
            <a:ext cx="11057839" cy="457200"/>
          </a:xfrm>
          <a:prstGeom prst="roundRect">
            <a:avLst>
              <a:gd name="adj" fmla="val 10000"/>
            </a:avLst>
          </a:prstGeom>
          <a:solidFill>
            <a:srgbClr val="FBF1E2"/>
          </a:solidFill>
          <a:ln w="12700">
            <a:solidFill>
              <a:srgbClr val="FBF1E2"/>
            </a:solidFill>
            <a:prstDash val="solid"/>
          </a:ln>
        </p:spPr>
      </p:sp>
      <p:sp>
        <p:nvSpPr>
          <p:cNvPr id="26" name="Text 23"/>
          <p:cNvSpPr/>
          <p:nvPr/>
        </p:nvSpPr>
        <p:spPr>
          <a:xfrm>
            <a:off x="749808" y="3694176"/>
            <a:ext cx="822960" cy="457200"/>
          </a:xfrm>
          <a:prstGeom prst="rect">
            <a:avLst/>
          </a:prstGeom>
          <a:noFill/>
          <a:ln/>
        </p:spPr>
        <p:txBody>
          <a:bodyPr wrap="square" lIns="0" tIns="0" rIns="0" bIns="0" rtlCol="0" anchor="ctr"/>
          <a:lstStyle/>
          <a:p>
            <a:pPr indent="0" marL="0">
              <a:buNone/>
            </a:pPr>
            <a:r>
              <a:rPr lang="en-US" sz="1200" b="1" dirty="0">
                <a:solidFill>
                  <a:srgbClr val="161C28"/>
                </a:solidFill>
                <a:latin typeface="Calibri" pitchFamily="34" charset="0"/>
                <a:ea typeface="Calibri" pitchFamily="34" charset="-122"/>
                <a:cs typeface="Calibri" pitchFamily="34" charset="-120"/>
              </a:rPr>
              <a:t>tier0</a:t>
            </a:r>
            <a:endParaRPr lang="en-US" sz="1200" dirty="0"/>
          </a:p>
        </p:txBody>
      </p:sp>
      <p:sp>
        <p:nvSpPr>
          <p:cNvPr id="27" name="Text 24"/>
          <p:cNvSpPr/>
          <p:nvPr/>
        </p:nvSpPr>
        <p:spPr>
          <a:xfrm>
            <a:off x="1618488" y="3694176"/>
            <a:ext cx="4572000" cy="457200"/>
          </a:xfrm>
          <a:prstGeom prst="rect">
            <a:avLst/>
          </a:prstGeom>
          <a:noFill/>
          <a:ln/>
        </p:spPr>
        <p:txBody>
          <a:bodyPr wrap="square" lIns="0" tIns="0" rIns="0" bIns="0" rtlCol="0" anchor="ctr"/>
          <a:lstStyle/>
          <a:p>
            <a:pPr indent="0" marL="0">
              <a:buNone/>
            </a:pPr>
            <a:r>
              <a:rPr lang="en-US" sz="1150" dirty="0">
                <a:solidFill>
                  <a:srgbClr val="3A4557"/>
                </a:solidFill>
                <a:latin typeface="Calibri" pitchFamily="34" charset="0"/>
                <a:ea typeface="Calibri" pitchFamily="34" charset="-122"/>
                <a:cs typeface="Calibri" pitchFamily="34" charset="-120"/>
              </a:rPr>
              <a:t>Own SLO · 99.95% availability · 99.5% latency</a:t>
            </a:r>
            <a:endParaRPr lang="en-US" sz="1150" dirty="0"/>
          </a:p>
        </p:txBody>
      </p:sp>
      <p:sp>
        <p:nvSpPr>
          <p:cNvPr id="28" name="Text 25"/>
          <p:cNvSpPr/>
          <p:nvPr/>
        </p:nvSpPr>
        <p:spPr>
          <a:xfrm>
            <a:off x="6236208" y="3694176"/>
            <a:ext cx="2377440" cy="457200"/>
          </a:xfrm>
          <a:prstGeom prst="rect">
            <a:avLst/>
          </a:prstGeom>
          <a:noFill/>
          <a:ln/>
        </p:spPr>
        <p:txBody>
          <a:bodyPr wrap="square" lIns="0" tIns="0" rIns="0" bIns="0" rtlCol="0" anchor="ctr"/>
          <a:lstStyle/>
          <a:p>
            <a:pPr indent="0" marL="0">
              <a:buNone/>
            </a:pPr>
            <a:r>
              <a:rPr lang="en-US" sz="1150" dirty="0">
                <a:solidFill>
                  <a:srgbClr val="3A4557"/>
                </a:solidFill>
                <a:latin typeface="Calibri" pitchFamily="34" charset="0"/>
                <a:ea typeface="Calibri" pitchFamily="34" charset="-122"/>
                <a:cs typeface="Calibri" pitchFamily="34" charset="-120"/>
              </a:rPr>
              <a:t>fast + medium + slow</a:t>
            </a:r>
            <a:endParaRPr lang="en-US" sz="1150" dirty="0"/>
          </a:p>
        </p:txBody>
      </p:sp>
      <p:sp>
        <p:nvSpPr>
          <p:cNvPr id="29" name="Text 26"/>
          <p:cNvSpPr/>
          <p:nvPr/>
        </p:nvSpPr>
        <p:spPr>
          <a:xfrm>
            <a:off x="8659368" y="3694176"/>
            <a:ext cx="2926080" cy="457200"/>
          </a:xfrm>
          <a:prstGeom prst="rect">
            <a:avLst/>
          </a:prstGeom>
          <a:noFill/>
          <a:ln/>
        </p:spPr>
        <p:txBody>
          <a:bodyPr wrap="square" lIns="0" tIns="0" rIns="0" bIns="0" rtlCol="0" anchor="ctr"/>
          <a:lstStyle/>
          <a:p>
            <a:pPr indent="0" marL="0">
              <a:buNone/>
            </a:pPr>
            <a:r>
              <a:rPr lang="en-US" sz="1150" dirty="0">
                <a:solidFill>
                  <a:srgbClr val="6B7891"/>
                </a:solidFill>
                <a:latin typeface="Calibri" pitchFamily="34" charset="0"/>
                <a:ea typeface="Calibri" pitchFamily="34" charset="-122"/>
                <a:cs typeface="Calibri" pitchFamily="34" charset="-120"/>
              </a:rPr>
              <a:t>feature freeze below 25% budget</a:t>
            </a:r>
            <a:endParaRPr lang="en-US" sz="1150" dirty="0"/>
          </a:p>
        </p:txBody>
      </p:sp>
      <p:sp>
        <p:nvSpPr>
          <p:cNvPr id="30" name="Shape 27"/>
          <p:cNvSpPr/>
          <p:nvPr/>
        </p:nvSpPr>
        <p:spPr>
          <a:xfrm>
            <a:off x="566928" y="4206240"/>
            <a:ext cx="11057839" cy="457200"/>
          </a:xfrm>
          <a:prstGeom prst="roundRect">
            <a:avLst>
              <a:gd name="adj" fmla="val 10000"/>
            </a:avLst>
          </a:prstGeom>
          <a:solidFill>
            <a:srgbClr val="F5F7FA"/>
          </a:solidFill>
          <a:ln w="12700">
            <a:solidFill>
              <a:srgbClr val="F5F7FA"/>
            </a:solidFill>
            <a:prstDash val="solid"/>
          </a:ln>
        </p:spPr>
      </p:sp>
      <p:sp>
        <p:nvSpPr>
          <p:cNvPr id="31" name="Text 28"/>
          <p:cNvSpPr/>
          <p:nvPr/>
        </p:nvSpPr>
        <p:spPr>
          <a:xfrm>
            <a:off x="749808" y="4206240"/>
            <a:ext cx="822960" cy="457200"/>
          </a:xfrm>
          <a:prstGeom prst="rect">
            <a:avLst/>
          </a:prstGeom>
          <a:noFill/>
          <a:ln/>
        </p:spPr>
        <p:txBody>
          <a:bodyPr wrap="square" lIns="0" tIns="0" rIns="0" bIns="0" rtlCol="0" anchor="ctr"/>
          <a:lstStyle/>
          <a:p>
            <a:pPr indent="0" marL="0">
              <a:buNone/>
            </a:pPr>
            <a:r>
              <a:rPr lang="en-US" sz="1200" b="1" dirty="0">
                <a:solidFill>
                  <a:srgbClr val="161C28"/>
                </a:solidFill>
                <a:latin typeface="Calibri" pitchFamily="34" charset="0"/>
                <a:ea typeface="Calibri" pitchFamily="34" charset="-122"/>
                <a:cs typeface="Calibri" pitchFamily="34" charset="-120"/>
              </a:rPr>
              <a:t>tier1</a:t>
            </a:r>
            <a:endParaRPr lang="en-US" sz="1200" dirty="0"/>
          </a:p>
        </p:txBody>
      </p:sp>
      <p:sp>
        <p:nvSpPr>
          <p:cNvPr id="32" name="Text 29"/>
          <p:cNvSpPr/>
          <p:nvPr/>
        </p:nvSpPr>
        <p:spPr>
          <a:xfrm>
            <a:off x="1618488" y="4206240"/>
            <a:ext cx="4572000" cy="457200"/>
          </a:xfrm>
          <a:prstGeom prst="rect">
            <a:avLst/>
          </a:prstGeom>
          <a:noFill/>
          <a:ln/>
        </p:spPr>
        <p:txBody>
          <a:bodyPr wrap="square" lIns="0" tIns="0" rIns="0" bIns="0" rtlCol="0" anchor="ctr"/>
          <a:lstStyle/>
          <a:p>
            <a:pPr indent="0" marL="0">
              <a:buNone/>
            </a:pPr>
            <a:r>
              <a:rPr lang="en-US" sz="1150" dirty="0">
                <a:solidFill>
                  <a:srgbClr val="3A4557"/>
                </a:solidFill>
                <a:latin typeface="Calibri" pitchFamily="34" charset="0"/>
                <a:ea typeface="Calibri" pitchFamily="34" charset="-122"/>
                <a:cs typeface="Calibri" pitchFamily="34" charset="-120"/>
              </a:rPr>
              <a:t>Domain SLO · 99.9% · 99.0%</a:t>
            </a:r>
            <a:endParaRPr lang="en-US" sz="1150" dirty="0"/>
          </a:p>
        </p:txBody>
      </p:sp>
      <p:sp>
        <p:nvSpPr>
          <p:cNvPr id="33" name="Text 30"/>
          <p:cNvSpPr/>
          <p:nvPr/>
        </p:nvSpPr>
        <p:spPr>
          <a:xfrm>
            <a:off x="6236208" y="4206240"/>
            <a:ext cx="2377440" cy="457200"/>
          </a:xfrm>
          <a:prstGeom prst="rect">
            <a:avLst/>
          </a:prstGeom>
          <a:noFill/>
          <a:ln/>
        </p:spPr>
        <p:txBody>
          <a:bodyPr wrap="square" lIns="0" tIns="0" rIns="0" bIns="0" rtlCol="0" anchor="ctr"/>
          <a:lstStyle/>
          <a:p>
            <a:pPr indent="0" marL="0">
              <a:buNone/>
            </a:pPr>
            <a:r>
              <a:rPr lang="en-US" sz="1150" dirty="0">
                <a:solidFill>
                  <a:srgbClr val="3A4557"/>
                </a:solidFill>
                <a:latin typeface="Calibri" pitchFamily="34" charset="0"/>
                <a:ea typeface="Calibri" pitchFamily="34" charset="-122"/>
                <a:cs typeface="Calibri" pitchFamily="34" charset="-120"/>
              </a:rPr>
              <a:t>fast + slow</a:t>
            </a:r>
            <a:endParaRPr lang="en-US" sz="1150" dirty="0"/>
          </a:p>
        </p:txBody>
      </p:sp>
      <p:sp>
        <p:nvSpPr>
          <p:cNvPr id="34" name="Text 31"/>
          <p:cNvSpPr/>
          <p:nvPr/>
        </p:nvSpPr>
        <p:spPr>
          <a:xfrm>
            <a:off x="8659368" y="4206240"/>
            <a:ext cx="2926080" cy="457200"/>
          </a:xfrm>
          <a:prstGeom prst="rect">
            <a:avLst/>
          </a:prstGeom>
          <a:noFill/>
          <a:ln/>
        </p:spPr>
        <p:txBody>
          <a:bodyPr wrap="square" lIns="0" tIns="0" rIns="0" bIns="0" rtlCol="0" anchor="ctr"/>
          <a:lstStyle/>
          <a:p>
            <a:pPr indent="0" marL="0">
              <a:buNone/>
            </a:pPr>
            <a:r>
              <a:rPr lang="en-US" sz="1150" dirty="0">
                <a:solidFill>
                  <a:srgbClr val="6B7891"/>
                </a:solidFill>
                <a:latin typeface="Calibri" pitchFamily="34" charset="0"/>
                <a:ea typeface="Calibri" pitchFamily="34" charset="-122"/>
                <a:cs typeface="Calibri" pitchFamily="34" charset="-120"/>
              </a:rPr>
              <a:t>reliability work next sprint</a:t>
            </a:r>
            <a:endParaRPr lang="en-US" sz="1150" dirty="0"/>
          </a:p>
        </p:txBody>
      </p:sp>
      <p:sp>
        <p:nvSpPr>
          <p:cNvPr id="35" name="Shape 32"/>
          <p:cNvSpPr/>
          <p:nvPr/>
        </p:nvSpPr>
        <p:spPr>
          <a:xfrm>
            <a:off x="566928" y="4718304"/>
            <a:ext cx="11057839" cy="457200"/>
          </a:xfrm>
          <a:prstGeom prst="roundRect">
            <a:avLst>
              <a:gd name="adj" fmla="val 10000"/>
            </a:avLst>
          </a:prstGeom>
          <a:solidFill>
            <a:srgbClr val="F5F7FA"/>
          </a:solidFill>
          <a:ln w="12700">
            <a:solidFill>
              <a:srgbClr val="F5F7FA"/>
            </a:solidFill>
            <a:prstDash val="solid"/>
          </a:ln>
        </p:spPr>
      </p:sp>
      <p:sp>
        <p:nvSpPr>
          <p:cNvPr id="36" name="Text 33"/>
          <p:cNvSpPr/>
          <p:nvPr/>
        </p:nvSpPr>
        <p:spPr>
          <a:xfrm>
            <a:off x="749808" y="4718304"/>
            <a:ext cx="822960" cy="457200"/>
          </a:xfrm>
          <a:prstGeom prst="rect">
            <a:avLst/>
          </a:prstGeom>
          <a:noFill/>
          <a:ln/>
        </p:spPr>
        <p:txBody>
          <a:bodyPr wrap="square" lIns="0" tIns="0" rIns="0" bIns="0" rtlCol="0" anchor="ctr"/>
          <a:lstStyle/>
          <a:p>
            <a:pPr indent="0" marL="0">
              <a:buNone/>
            </a:pPr>
            <a:r>
              <a:rPr lang="en-US" sz="1200" b="1" dirty="0">
                <a:solidFill>
                  <a:srgbClr val="161C28"/>
                </a:solidFill>
                <a:latin typeface="Calibri" pitchFamily="34" charset="0"/>
                <a:ea typeface="Calibri" pitchFamily="34" charset="-122"/>
                <a:cs typeface="Calibri" pitchFamily="34" charset="-120"/>
              </a:rPr>
              <a:t>tier2</a:t>
            </a:r>
            <a:endParaRPr lang="en-US" sz="1200" dirty="0"/>
          </a:p>
        </p:txBody>
      </p:sp>
      <p:sp>
        <p:nvSpPr>
          <p:cNvPr id="37" name="Text 34"/>
          <p:cNvSpPr/>
          <p:nvPr/>
        </p:nvSpPr>
        <p:spPr>
          <a:xfrm>
            <a:off x="1618488" y="4718304"/>
            <a:ext cx="4572000" cy="457200"/>
          </a:xfrm>
          <a:prstGeom prst="rect">
            <a:avLst/>
          </a:prstGeom>
          <a:noFill/>
          <a:ln/>
        </p:spPr>
        <p:txBody>
          <a:bodyPr wrap="square" lIns="0" tIns="0" rIns="0" bIns="0" rtlCol="0" anchor="ctr"/>
          <a:lstStyle/>
          <a:p>
            <a:pPr indent="0" marL="0">
              <a:buNone/>
            </a:pPr>
            <a:r>
              <a:rPr lang="en-US" sz="1150" dirty="0">
                <a:solidFill>
                  <a:srgbClr val="3A4557"/>
                </a:solidFill>
                <a:latin typeface="Calibri" pitchFamily="34" charset="0"/>
                <a:ea typeface="Calibri" pitchFamily="34" charset="-122"/>
                <a:cs typeface="Calibri" pitchFamily="34" charset="-120"/>
              </a:rPr>
              <a:t>Domain SLO · 99.5% · 98.0%</a:t>
            </a:r>
            <a:endParaRPr lang="en-US" sz="1150" dirty="0"/>
          </a:p>
        </p:txBody>
      </p:sp>
      <p:sp>
        <p:nvSpPr>
          <p:cNvPr id="38" name="Text 35"/>
          <p:cNvSpPr/>
          <p:nvPr/>
        </p:nvSpPr>
        <p:spPr>
          <a:xfrm>
            <a:off x="6236208" y="4718304"/>
            <a:ext cx="2377440" cy="457200"/>
          </a:xfrm>
          <a:prstGeom prst="rect">
            <a:avLst/>
          </a:prstGeom>
          <a:noFill/>
          <a:ln/>
        </p:spPr>
        <p:txBody>
          <a:bodyPr wrap="square" lIns="0" tIns="0" rIns="0" bIns="0" rtlCol="0" anchor="ctr"/>
          <a:lstStyle/>
          <a:p>
            <a:pPr indent="0" marL="0">
              <a:buNone/>
            </a:pPr>
            <a:r>
              <a:rPr lang="en-US" sz="1150" dirty="0">
                <a:solidFill>
                  <a:srgbClr val="3A4557"/>
                </a:solidFill>
                <a:latin typeface="Calibri" pitchFamily="34" charset="0"/>
                <a:ea typeface="Calibri" pitchFamily="34" charset="-122"/>
                <a:cs typeface="Calibri" pitchFamily="34" charset="-120"/>
              </a:rPr>
              <a:t>slow only</a:t>
            </a:r>
            <a:endParaRPr lang="en-US" sz="1150" dirty="0"/>
          </a:p>
        </p:txBody>
      </p:sp>
      <p:sp>
        <p:nvSpPr>
          <p:cNvPr id="39" name="Text 36"/>
          <p:cNvSpPr/>
          <p:nvPr/>
        </p:nvSpPr>
        <p:spPr>
          <a:xfrm>
            <a:off x="8659368" y="4718304"/>
            <a:ext cx="2926080" cy="457200"/>
          </a:xfrm>
          <a:prstGeom prst="rect">
            <a:avLst/>
          </a:prstGeom>
          <a:noFill/>
          <a:ln/>
        </p:spPr>
        <p:txBody>
          <a:bodyPr wrap="square" lIns="0" tIns="0" rIns="0" bIns="0" rtlCol="0" anchor="ctr"/>
          <a:lstStyle/>
          <a:p>
            <a:pPr indent="0" marL="0">
              <a:buNone/>
            </a:pPr>
            <a:r>
              <a:rPr lang="en-US" sz="1150" dirty="0">
                <a:solidFill>
                  <a:srgbClr val="6B7891"/>
                </a:solidFill>
                <a:latin typeface="Calibri" pitchFamily="34" charset="0"/>
                <a:ea typeface="Calibri" pitchFamily="34" charset="-122"/>
                <a:cs typeface="Calibri" pitchFamily="34" charset="-120"/>
              </a:rPr>
              <a:t>tracked in the ops review</a:t>
            </a:r>
            <a:endParaRPr lang="en-US" sz="1150" dirty="0"/>
          </a:p>
        </p:txBody>
      </p:sp>
      <p:sp>
        <p:nvSpPr>
          <p:cNvPr id="40" name="Shape 37"/>
          <p:cNvSpPr/>
          <p:nvPr/>
        </p:nvSpPr>
        <p:spPr>
          <a:xfrm>
            <a:off x="566928" y="5230368"/>
            <a:ext cx="11057839" cy="457200"/>
          </a:xfrm>
          <a:prstGeom prst="roundRect">
            <a:avLst>
              <a:gd name="adj" fmla="val 10000"/>
            </a:avLst>
          </a:prstGeom>
          <a:solidFill>
            <a:srgbClr val="F5F7FA"/>
          </a:solidFill>
          <a:ln w="12700">
            <a:solidFill>
              <a:srgbClr val="F5F7FA"/>
            </a:solidFill>
            <a:prstDash val="solid"/>
          </a:ln>
        </p:spPr>
      </p:sp>
      <p:sp>
        <p:nvSpPr>
          <p:cNvPr id="41" name="Text 38"/>
          <p:cNvSpPr/>
          <p:nvPr/>
        </p:nvSpPr>
        <p:spPr>
          <a:xfrm>
            <a:off x="749808" y="5230368"/>
            <a:ext cx="822960" cy="457200"/>
          </a:xfrm>
          <a:prstGeom prst="rect">
            <a:avLst/>
          </a:prstGeom>
          <a:noFill/>
          <a:ln/>
        </p:spPr>
        <p:txBody>
          <a:bodyPr wrap="square" lIns="0" tIns="0" rIns="0" bIns="0" rtlCol="0" anchor="ctr"/>
          <a:lstStyle/>
          <a:p>
            <a:pPr indent="0" marL="0">
              <a:buNone/>
            </a:pPr>
            <a:r>
              <a:rPr lang="en-US" sz="1200" b="1" dirty="0">
                <a:solidFill>
                  <a:srgbClr val="161C28"/>
                </a:solidFill>
                <a:latin typeface="Calibri" pitchFamily="34" charset="0"/>
                <a:ea typeface="Calibri" pitchFamily="34" charset="-122"/>
                <a:cs typeface="Calibri" pitchFamily="34" charset="-120"/>
              </a:rPr>
              <a:t>tier3</a:t>
            </a:r>
            <a:endParaRPr lang="en-US" sz="1200" dirty="0"/>
          </a:p>
        </p:txBody>
      </p:sp>
      <p:sp>
        <p:nvSpPr>
          <p:cNvPr id="42" name="Text 39"/>
          <p:cNvSpPr/>
          <p:nvPr/>
        </p:nvSpPr>
        <p:spPr>
          <a:xfrm>
            <a:off x="1618488" y="5230368"/>
            <a:ext cx="4572000" cy="457200"/>
          </a:xfrm>
          <a:prstGeom prst="rect">
            <a:avLst/>
          </a:prstGeom>
          <a:noFill/>
          <a:ln/>
        </p:spPr>
        <p:txBody>
          <a:bodyPr wrap="square" lIns="0" tIns="0" rIns="0" bIns="0" rtlCol="0" anchor="ctr"/>
          <a:lstStyle/>
          <a:p>
            <a:pPr indent="0" marL="0">
              <a:buNone/>
            </a:pPr>
            <a:r>
              <a:rPr lang="en-US" sz="1150" dirty="0">
                <a:solidFill>
                  <a:srgbClr val="3A4557"/>
                </a:solidFill>
                <a:latin typeface="Calibri" pitchFamily="34" charset="0"/>
                <a:ea typeface="Calibri" pitchFamily="34" charset="-122"/>
                <a:cs typeface="Calibri" pitchFamily="34" charset="-120"/>
              </a:rPr>
              <a:t>No SLO — a decision, with a recorded reason</a:t>
            </a:r>
            <a:endParaRPr lang="en-US" sz="1150" dirty="0"/>
          </a:p>
        </p:txBody>
      </p:sp>
      <p:sp>
        <p:nvSpPr>
          <p:cNvPr id="43" name="Text 40"/>
          <p:cNvSpPr/>
          <p:nvPr/>
        </p:nvSpPr>
        <p:spPr>
          <a:xfrm>
            <a:off x="6236208" y="5230368"/>
            <a:ext cx="2377440" cy="457200"/>
          </a:xfrm>
          <a:prstGeom prst="rect">
            <a:avLst/>
          </a:prstGeom>
          <a:noFill/>
          <a:ln/>
        </p:spPr>
        <p:txBody>
          <a:bodyPr wrap="square" lIns="0" tIns="0" rIns="0" bIns="0" rtlCol="0" anchor="ctr"/>
          <a:lstStyle/>
          <a:p>
            <a:pPr indent="0" marL="0">
              <a:buNone/>
            </a:pPr>
            <a:r>
              <a:rPr lang="en-US" sz="1150" dirty="0">
                <a:solidFill>
                  <a:srgbClr val="3A4557"/>
                </a:solidFill>
                <a:latin typeface="Calibri" pitchFamily="34" charset="0"/>
                <a:ea typeface="Calibri" pitchFamily="34" charset="-122"/>
                <a:cs typeface="Calibri" pitchFamily="34" charset="-120"/>
              </a:rPr>
              <a:t>—</a:t>
            </a:r>
            <a:endParaRPr lang="en-US" sz="1150" dirty="0"/>
          </a:p>
        </p:txBody>
      </p:sp>
      <p:sp>
        <p:nvSpPr>
          <p:cNvPr id="44" name="Text 41"/>
          <p:cNvSpPr/>
          <p:nvPr/>
        </p:nvSpPr>
        <p:spPr>
          <a:xfrm>
            <a:off x="8659368" y="5230368"/>
            <a:ext cx="2926080" cy="457200"/>
          </a:xfrm>
          <a:prstGeom prst="rect">
            <a:avLst/>
          </a:prstGeom>
          <a:noFill/>
          <a:ln/>
        </p:spPr>
        <p:txBody>
          <a:bodyPr wrap="square" lIns="0" tIns="0" rIns="0" bIns="0" rtlCol="0" anchor="ctr"/>
          <a:lstStyle/>
          <a:p>
            <a:pPr indent="0" marL="0">
              <a:buNone/>
            </a:pPr>
            <a:r>
              <a:rPr lang="en-US" sz="1150" dirty="0">
                <a:solidFill>
                  <a:srgbClr val="6B7891"/>
                </a:solidFill>
                <a:latin typeface="Calibri" pitchFamily="34" charset="0"/>
                <a:ea typeface="Calibri" pitchFamily="34" charset="-122"/>
                <a:cs typeface="Calibri" pitchFamily="34" charset="-120"/>
              </a:rPr>
              <a:t>n/a</a:t>
            </a:r>
            <a:endParaRPr lang="en-US" sz="1150" dirty="0"/>
          </a:p>
        </p:txBody>
      </p:sp>
      <p:sp>
        <p:nvSpPr>
          <p:cNvPr id="45" name="Shape 42"/>
          <p:cNvSpPr/>
          <p:nvPr/>
        </p:nvSpPr>
        <p:spPr>
          <a:xfrm>
            <a:off x="566928" y="5779008"/>
            <a:ext cx="11057839" cy="457200"/>
          </a:xfrm>
          <a:prstGeom prst="roundRect">
            <a:avLst>
              <a:gd name="adj" fmla="val 10000"/>
            </a:avLst>
          </a:prstGeom>
          <a:solidFill>
            <a:srgbClr val="FBEEEB"/>
          </a:solidFill>
          <a:ln w="12700">
            <a:solidFill>
              <a:srgbClr val="FBEEEB"/>
            </a:solidFill>
            <a:prstDash val="solid"/>
          </a:ln>
        </p:spPr>
      </p:sp>
      <p:sp>
        <p:nvSpPr>
          <p:cNvPr id="46" name="Text 43"/>
          <p:cNvSpPr/>
          <p:nvPr/>
        </p:nvSpPr>
        <p:spPr>
          <a:xfrm>
            <a:off x="795528" y="5779008"/>
            <a:ext cx="10600639" cy="457200"/>
          </a:xfrm>
          <a:prstGeom prst="rect">
            <a:avLst/>
          </a:prstGeom>
          <a:noFill/>
          <a:ln/>
        </p:spPr>
        <p:txBody>
          <a:bodyPr wrap="square" lIns="0" tIns="0" rIns="0" bIns="0" rtlCol="0" anchor="ctr"/>
          <a:lstStyle/>
          <a:p>
            <a:pPr indent="0" marL="0">
              <a:buNone/>
            </a:pPr>
            <a:r>
              <a:rPr lang="en-US" sz="1150" b="1" dirty="0">
                <a:solidFill>
                  <a:srgbClr val="7A2E24"/>
                </a:solidFill>
                <a:latin typeface="Calibri" pitchFamily="34" charset="0"/>
                <a:ea typeface="Calibri" pitchFamily="34" charset="-122"/>
                <a:cs typeface="Calibri" pitchFamily="34" charset="-120"/>
              </a:rPr>
              <a:t>Phase 4:  </a:t>
            </a:r>
            <a:pPr indent="0" marL="0">
              <a:buNone/>
            </a:pPr>
            <a:r>
              <a:rPr lang="en-US" sz="1150" dirty="0">
                <a:solidFill>
                  <a:srgbClr val="7A2E24"/>
                </a:solidFill>
                <a:latin typeface="Calibri" pitchFamily="34" charset="0"/>
                <a:ea typeface="Calibri" pitchFamily="34" charset="-122"/>
                <a:cs typeface="Calibri" pitchFamily="34" charset="-120"/>
              </a:rPr>
              <a:t>a service cannot yet declare multiple named objectives, and two tier0 services on one profile cannot yet hold different targets. Monitors carry an slo_id but no relation (SLI-producing · supporting · impacting · diagnostic).</a:t>
            </a:r>
            <a:endParaRPr lang="en-US" sz="11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8778240" cy="256032"/>
          </a:xfrm>
          <a:prstGeom prst="rect">
            <a:avLst/>
          </a:prstGeom>
          <a:noFill/>
          <a:ln/>
        </p:spPr>
        <p:txBody>
          <a:bodyPr wrap="square" lIns="0" tIns="0" rIns="0" bIns="0" rtlCol="0" anchor="ctr"/>
          <a:lstStyle/>
          <a:p>
            <a:pPr indent="0" marL="0">
              <a:buNone/>
            </a:pPr>
            <a:r>
              <a:rPr lang="en-US" sz="1050" b="1" spc="160" kern="0" dirty="0">
                <a:solidFill>
                  <a:srgbClr val="B87914"/>
                </a:solidFill>
                <a:latin typeface="Calibri" pitchFamily="34" charset="0"/>
                <a:ea typeface="Calibri" pitchFamily="34" charset="-122"/>
                <a:cs typeface="Calibri" pitchFamily="34" charset="-120"/>
              </a:rPr>
              <a:t>TOPIC 13</a:t>
            </a:r>
            <a:endParaRPr lang="en-US" sz="1050" dirty="0"/>
          </a:p>
        </p:txBody>
      </p:sp>
      <p:sp>
        <p:nvSpPr>
          <p:cNvPr id="3" name="Text 1"/>
          <p:cNvSpPr/>
          <p:nvPr/>
        </p:nvSpPr>
        <p:spPr>
          <a:xfrm>
            <a:off x="566928" y="694944"/>
            <a:ext cx="10424160" cy="786384"/>
          </a:xfrm>
          <a:prstGeom prst="rect">
            <a:avLst/>
          </a:prstGeom>
          <a:noFill/>
          <a:ln/>
        </p:spPr>
        <p:txBody>
          <a:bodyPr wrap="square" lIns="0" tIns="0" rIns="0" bIns="0" rtlCol="0" anchor="ctr"/>
          <a:lstStyle/>
          <a:p>
            <a:pPr indent="0" marL="0">
              <a:buNone/>
            </a:pPr>
            <a:r>
              <a:rPr lang="en-US" sz="3100" b="1" dirty="0">
                <a:solidFill>
                  <a:srgbClr val="161C28"/>
                </a:solidFill>
                <a:latin typeface="Cambria" pitchFamily="34" charset="0"/>
                <a:ea typeface="Cambria" pitchFamily="34" charset="-122"/>
                <a:cs typeface="Cambria" pitchFamily="34" charset="-120"/>
              </a:rPr>
              <a:t>Error budgets</a:t>
            </a:r>
            <a:endParaRPr lang="en-US" sz="3100" dirty="0"/>
          </a:p>
        </p:txBody>
      </p:sp>
      <p:sp>
        <p:nvSpPr>
          <p:cNvPr id="4" name="Text 2"/>
          <p:cNvSpPr/>
          <p:nvPr/>
        </p:nvSpPr>
        <p:spPr>
          <a:xfrm>
            <a:off x="566928" y="1481328"/>
            <a:ext cx="10698480" cy="457200"/>
          </a:xfrm>
          <a:prstGeom prst="rect">
            <a:avLst/>
          </a:prstGeom>
          <a:noFill/>
          <a:ln/>
        </p:spPr>
        <p:txBody>
          <a:bodyPr wrap="square" lIns="0" tIns="0" rIns="0" bIns="0" rtlCol="0" anchor="t"/>
          <a:lstStyle/>
          <a:p>
            <a:pPr indent="0" marL="0">
              <a:buNone/>
            </a:pPr>
            <a:r>
              <a:rPr lang="en-US" sz="1450" dirty="0">
                <a:solidFill>
                  <a:srgbClr val="3A4557"/>
                </a:solidFill>
                <a:latin typeface="Calibri" pitchFamily="34" charset="0"/>
                <a:ea typeface="Calibri" pitchFamily="34" charset="-122"/>
                <a:cs typeface="Calibri" pitchFamily="34" charset="-120"/>
              </a:rPr>
              <a:t>An error budget turns reliability from an argument into arithmetic. 99.95% over 30 days is 21 minutes and 36 seconds of permitted failure — that is the number, and it is either spent or it is not.</a:t>
            </a:r>
            <a:endParaRPr lang="en-US" sz="1450" dirty="0"/>
          </a:p>
        </p:txBody>
      </p:sp>
      <p:sp>
        <p:nvSpPr>
          <p:cNvPr id="5" name="Shape 3"/>
          <p:cNvSpPr/>
          <p:nvPr/>
        </p:nvSpPr>
        <p:spPr>
          <a:xfrm>
            <a:off x="9704527" y="420624"/>
            <a:ext cx="1920240" cy="310896"/>
          </a:xfrm>
          <a:prstGeom prst="roundRect">
            <a:avLst>
              <a:gd name="adj" fmla="val 50000"/>
            </a:avLst>
          </a:prstGeom>
          <a:solidFill>
            <a:srgbClr val="27807C"/>
          </a:solidFill>
          <a:ln w="12700">
            <a:solidFill>
              <a:srgbClr val="27807C"/>
            </a:solidFill>
            <a:prstDash val="solid"/>
          </a:ln>
        </p:spPr>
      </p:sp>
      <p:sp>
        <p:nvSpPr>
          <p:cNvPr id="6" name="Text 4"/>
          <p:cNvSpPr/>
          <p:nvPr/>
        </p:nvSpPr>
        <p:spPr>
          <a:xfrm>
            <a:off x="9704527" y="420624"/>
            <a:ext cx="1920240" cy="310896"/>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SHIPPED — POLICY</a:t>
            </a:r>
            <a:endParaRPr lang="en-US" sz="950" dirty="0"/>
          </a:p>
        </p:txBody>
      </p:sp>
      <p:sp>
        <p:nvSpPr>
          <p:cNvPr id="7" name="Text 5"/>
          <p:cNvSpPr/>
          <p:nvPr/>
        </p:nvSpPr>
        <p:spPr>
          <a:xfrm>
            <a:off x="566928" y="6345936"/>
            <a:ext cx="7315200" cy="274320"/>
          </a:xfrm>
          <a:prstGeom prst="rect">
            <a:avLst/>
          </a:prstGeom>
          <a:noFill/>
          <a:ln/>
        </p:spPr>
        <p:txBody>
          <a:bodyPr wrap="square" lIns="0" tIns="0" rIns="0" bIns="0" rtlCol="0" anchor="ctr"/>
          <a:lstStyle/>
          <a:p>
            <a:pPr indent="0" marL="0">
              <a:buNone/>
            </a:pPr>
            <a:r>
              <a:rPr lang="en-US" sz="900" dirty="0">
                <a:solidFill>
                  <a:srgbClr val="6B7891"/>
                </a:solidFill>
                <a:latin typeface="Calibri" pitchFamily="34" charset="0"/>
                <a:ea typeface="Calibri" pitchFamily="34" charset="-122"/>
                <a:cs typeface="Calibri" pitchFamily="34" charset="-120"/>
              </a:rPr>
              <a:t>Enterprise Observability  ·  policy-as-data on Datadog</a:t>
            </a:r>
            <a:endParaRPr lang="en-US" sz="900" dirty="0"/>
          </a:p>
        </p:txBody>
      </p:sp>
      <p:sp>
        <p:nvSpPr>
          <p:cNvPr id="8" name="Text 6"/>
          <p:cNvSpPr/>
          <p:nvPr/>
        </p:nvSpPr>
        <p:spPr>
          <a:xfrm>
            <a:off x="10710367" y="6345936"/>
            <a:ext cx="914400" cy="274320"/>
          </a:xfrm>
          <a:prstGeom prst="rect">
            <a:avLst/>
          </a:prstGeom>
          <a:noFill/>
          <a:ln/>
        </p:spPr>
        <p:txBody>
          <a:bodyPr wrap="square" lIns="0" tIns="0" rIns="0" bIns="0" rtlCol="0" anchor="ctr"/>
          <a:lstStyle/>
          <a:p>
            <a:pPr algn="r" indent="0" marL="0">
              <a:buNone/>
            </a:pPr>
            <a:r>
              <a:rPr lang="en-US" sz="900" dirty="0">
                <a:solidFill>
                  <a:srgbClr val="6B7891"/>
                </a:solidFill>
                <a:latin typeface="Calibri" pitchFamily="34" charset="0"/>
                <a:ea typeface="Calibri" pitchFamily="34" charset="-122"/>
                <a:cs typeface="Calibri" pitchFamily="34" charset="-120"/>
              </a:rPr>
              <a:t>19</a:t>
            </a:r>
            <a:endParaRPr lang="en-US" sz="900" dirty="0"/>
          </a:p>
        </p:txBody>
      </p:sp>
      <p:sp>
        <p:nvSpPr>
          <p:cNvPr id="10" name="Shape 7"/>
          <p:cNvSpPr/>
          <p:nvPr/>
        </p:nvSpPr>
        <p:spPr>
          <a:xfrm>
            <a:off x="566928" y="2286000"/>
            <a:ext cx="3538728" cy="1371600"/>
          </a:xfrm>
          <a:prstGeom prst="roundRect">
            <a:avLst>
              <a:gd name="adj" fmla="val 4667"/>
            </a:avLst>
          </a:prstGeom>
          <a:solidFill>
            <a:srgbClr val="12161F"/>
          </a:solidFill>
          <a:ln w="12700">
            <a:solidFill>
              <a:srgbClr val="12161F"/>
            </a:solidFill>
            <a:prstDash val="solid"/>
          </a:ln>
        </p:spPr>
      </p:sp>
      <p:sp>
        <p:nvSpPr>
          <p:cNvPr id="11" name="Text 8"/>
          <p:cNvSpPr/>
          <p:nvPr/>
        </p:nvSpPr>
        <p:spPr>
          <a:xfrm>
            <a:off x="822960" y="2450592"/>
            <a:ext cx="3017520" cy="548640"/>
          </a:xfrm>
          <a:prstGeom prst="rect">
            <a:avLst/>
          </a:prstGeom>
          <a:noFill/>
          <a:ln/>
        </p:spPr>
        <p:txBody>
          <a:bodyPr wrap="square" lIns="0" tIns="0" rIns="0" bIns="0" rtlCol="0" anchor="ctr"/>
          <a:lstStyle/>
          <a:p>
            <a:pPr algn="l" indent="0" marL="0">
              <a:buNone/>
            </a:pPr>
            <a:r>
              <a:rPr lang="en-US" sz="3000" b="1" dirty="0">
                <a:solidFill>
                  <a:srgbClr val="E09A2E"/>
                </a:solidFill>
                <a:latin typeface="Cambria" pitchFamily="34" charset="0"/>
                <a:ea typeface="Cambria" pitchFamily="34" charset="-122"/>
                <a:cs typeface="Cambria" pitchFamily="34" charset="-120"/>
              </a:rPr>
              <a:t>21m 36s</a:t>
            </a:r>
            <a:endParaRPr lang="en-US" sz="3000" dirty="0"/>
          </a:p>
        </p:txBody>
      </p:sp>
      <p:sp>
        <p:nvSpPr>
          <p:cNvPr id="12" name="Text 9"/>
          <p:cNvSpPr/>
          <p:nvPr/>
        </p:nvSpPr>
        <p:spPr>
          <a:xfrm>
            <a:off x="822960" y="2962656"/>
            <a:ext cx="3017520" cy="548640"/>
          </a:xfrm>
          <a:prstGeom prst="rect">
            <a:avLst/>
          </a:prstGeom>
          <a:noFill/>
          <a:ln/>
        </p:spPr>
        <p:txBody>
          <a:bodyPr wrap="square" lIns="0" tIns="0" rIns="0" bIns="0" rtlCol="0" anchor="t"/>
          <a:lstStyle/>
          <a:p>
            <a:pPr algn="l" indent="0" marL="0">
              <a:buNone/>
            </a:pPr>
            <a:r>
              <a:rPr lang="en-US" sz="1100" dirty="0">
                <a:solidFill>
                  <a:srgbClr val="9FADC4"/>
                </a:solidFill>
                <a:latin typeface="Calibri" pitchFamily="34" charset="0"/>
                <a:ea typeface="Calibri" pitchFamily="34" charset="-122"/>
                <a:cs typeface="Calibri" pitchFamily="34" charset="-120"/>
              </a:rPr>
              <a:t>monthly budget at 99.95% — tier 0</a:t>
            </a:r>
            <a:endParaRPr lang="en-US" sz="1100" dirty="0"/>
          </a:p>
        </p:txBody>
      </p:sp>
      <p:sp>
        <p:nvSpPr>
          <p:cNvPr id="13" name="Shape 10"/>
          <p:cNvSpPr/>
          <p:nvPr/>
        </p:nvSpPr>
        <p:spPr>
          <a:xfrm>
            <a:off x="4315968" y="2286000"/>
            <a:ext cx="3538728" cy="1371600"/>
          </a:xfrm>
          <a:prstGeom prst="roundRect">
            <a:avLst>
              <a:gd name="adj" fmla="val 4667"/>
            </a:avLst>
          </a:prstGeom>
          <a:solidFill>
            <a:srgbClr val="EFF2F6"/>
          </a:solidFill>
          <a:ln w="12700">
            <a:solidFill>
              <a:srgbClr val="EFF2F6"/>
            </a:solidFill>
            <a:prstDash val="solid"/>
          </a:ln>
        </p:spPr>
      </p:sp>
      <p:sp>
        <p:nvSpPr>
          <p:cNvPr id="14" name="Text 11"/>
          <p:cNvSpPr/>
          <p:nvPr/>
        </p:nvSpPr>
        <p:spPr>
          <a:xfrm>
            <a:off x="4572000" y="2450592"/>
            <a:ext cx="3017520" cy="548640"/>
          </a:xfrm>
          <a:prstGeom prst="rect">
            <a:avLst/>
          </a:prstGeom>
          <a:noFill/>
          <a:ln/>
        </p:spPr>
        <p:txBody>
          <a:bodyPr wrap="square" lIns="0" tIns="0" rIns="0" bIns="0" rtlCol="0" anchor="ctr"/>
          <a:lstStyle/>
          <a:p>
            <a:pPr algn="l" indent="0" marL="0">
              <a:buNone/>
            </a:pPr>
            <a:r>
              <a:rPr lang="en-US" sz="3000" b="1" dirty="0">
                <a:solidFill>
                  <a:srgbClr val="161C28"/>
                </a:solidFill>
                <a:latin typeface="Cambria" pitchFamily="34" charset="0"/>
                <a:ea typeface="Cambria" pitchFamily="34" charset="-122"/>
                <a:cs typeface="Cambria" pitchFamily="34" charset="-120"/>
              </a:rPr>
              <a:t>43m 12s</a:t>
            </a:r>
            <a:endParaRPr lang="en-US" sz="3000" dirty="0"/>
          </a:p>
        </p:txBody>
      </p:sp>
      <p:sp>
        <p:nvSpPr>
          <p:cNvPr id="15" name="Text 12"/>
          <p:cNvSpPr/>
          <p:nvPr/>
        </p:nvSpPr>
        <p:spPr>
          <a:xfrm>
            <a:off x="4572000" y="2962656"/>
            <a:ext cx="3017520" cy="548640"/>
          </a:xfrm>
          <a:prstGeom prst="rect">
            <a:avLst/>
          </a:prstGeom>
          <a:noFill/>
          <a:ln/>
        </p:spPr>
        <p:txBody>
          <a:bodyPr wrap="square" lIns="0" tIns="0" rIns="0" bIns="0" rtlCol="0" anchor="t"/>
          <a:lstStyle/>
          <a:p>
            <a:pPr algn="l" indent="0" marL="0">
              <a:buNone/>
            </a:pPr>
            <a:r>
              <a:rPr lang="en-US" sz="1100" dirty="0">
                <a:solidFill>
                  <a:srgbClr val="6B7891"/>
                </a:solidFill>
                <a:latin typeface="Calibri" pitchFamily="34" charset="0"/>
                <a:ea typeface="Calibri" pitchFamily="34" charset="-122"/>
                <a:cs typeface="Calibri" pitchFamily="34" charset="-120"/>
              </a:rPr>
              <a:t>at 99.9% — tier 1</a:t>
            </a:r>
            <a:endParaRPr lang="en-US" sz="1100" dirty="0"/>
          </a:p>
        </p:txBody>
      </p:sp>
      <p:sp>
        <p:nvSpPr>
          <p:cNvPr id="16" name="Shape 13"/>
          <p:cNvSpPr/>
          <p:nvPr/>
        </p:nvSpPr>
        <p:spPr>
          <a:xfrm>
            <a:off x="8065008" y="2286000"/>
            <a:ext cx="3538728" cy="1371600"/>
          </a:xfrm>
          <a:prstGeom prst="roundRect">
            <a:avLst>
              <a:gd name="adj" fmla="val 4667"/>
            </a:avLst>
          </a:prstGeom>
          <a:solidFill>
            <a:srgbClr val="EFF2F6"/>
          </a:solidFill>
          <a:ln w="12700">
            <a:solidFill>
              <a:srgbClr val="EFF2F6"/>
            </a:solidFill>
            <a:prstDash val="solid"/>
          </a:ln>
        </p:spPr>
      </p:sp>
      <p:sp>
        <p:nvSpPr>
          <p:cNvPr id="17" name="Text 14"/>
          <p:cNvSpPr/>
          <p:nvPr/>
        </p:nvSpPr>
        <p:spPr>
          <a:xfrm>
            <a:off x="8321040" y="2450592"/>
            <a:ext cx="3017520" cy="548640"/>
          </a:xfrm>
          <a:prstGeom prst="rect">
            <a:avLst/>
          </a:prstGeom>
          <a:noFill/>
          <a:ln/>
        </p:spPr>
        <p:txBody>
          <a:bodyPr wrap="square" lIns="0" tIns="0" rIns="0" bIns="0" rtlCol="0" anchor="ctr"/>
          <a:lstStyle/>
          <a:p>
            <a:pPr algn="l" indent="0" marL="0">
              <a:buNone/>
            </a:pPr>
            <a:r>
              <a:rPr lang="en-US" sz="3000" b="1" dirty="0">
                <a:solidFill>
                  <a:srgbClr val="161C28"/>
                </a:solidFill>
                <a:latin typeface="Cambria" pitchFamily="34" charset="0"/>
                <a:ea typeface="Cambria" pitchFamily="34" charset="-122"/>
                <a:cs typeface="Cambria" pitchFamily="34" charset="-120"/>
              </a:rPr>
              <a:t>3h 36m</a:t>
            </a:r>
            <a:endParaRPr lang="en-US" sz="3000" dirty="0"/>
          </a:p>
        </p:txBody>
      </p:sp>
      <p:sp>
        <p:nvSpPr>
          <p:cNvPr id="18" name="Text 15"/>
          <p:cNvSpPr/>
          <p:nvPr/>
        </p:nvSpPr>
        <p:spPr>
          <a:xfrm>
            <a:off x="8321040" y="2962656"/>
            <a:ext cx="3017520" cy="548640"/>
          </a:xfrm>
          <a:prstGeom prst="rect">
            <a:avLst/>
          </a:prstGeom>
          <a:noFill/>
          <a:ln/>
        </p:spPr>
        <p:txBody>
          <a:bodyPr wrap="square" lIns="0" tIns="0" rIns="0" bIns="0" rtlCol="0" anchor="t"/>
          <a:lstStyle/>
          <a:p>
            <a:pPr algn="l" indent="0" marL="0">
              <a:buNone/>
            </a:pPr>
            <a:r>
              <a:rPr lang="en-US" sz="1100" dirty="0">
                <a:solidFill>
                  <a:srgbClr val="6B7891"/>
                </a:solidFill>
                <a:latin typeface="Calibri" pitchFamily="34" charset="0"/>
                <a:ea typeface="Calibri" pitchFamily="34" charset="-122"/>
                <a:cs typeface="Calibri" pitchFamily="34" charset="-120"/>
              </a:rPr>
              <a:t>at 99.5% — tier 2</a:t>
            </a:r>
            <a:endParaRPr lang="en-US" sz="1100" dirty="0"/>
          </a:p>
        </p:txBody>
      </p:sp>
      <p:sp>
        <p:nvSpPr>
          <p:cNvPr id="19" name="Text 16"/>
          <p:cNvSpPr/>
          <p:nvPr/>
        </p:nvSpPr>
        <p:spPr>
          <a:xfrm>
            <a:off x="566928" y="3886200"/>
            <a:ext cx="10607040" cy="292608"/>
          </a:xfrm>
          <a:prstGeom prst="rect">
            <a:avLst/>
          </a:prstGeom>
          <a:noFill/>
          <a:ln/>
        </p:spPr>
        <p:txBody>
          <a:bodyPr wrap="square" lIns="0" tIns="0" rIns="0" bIns="0" rtlCol="0" anchor="ctr"/>
          <a:lstStyle/>
          <a:p>
            <a:pPr indent="0" marL="0">
              <a:buNone/>
            </a:pPr>
            <a:r>
              <a:rPr lang="en-US" sz="1400" b="1" dirty="0">
                <a:solidFill>
                  <a:srgbClr val="161C28"/>
                </a:solidFill>
                <a:latin typeface="Calibri" pitchFamily="34" charset="0"/>
                <a:ea typeface="Calibri" pitchFamily="34" charset="-122"/>
                <a:cs typeface="Calibri" pitchFamily="34" charset="-120"/>
              </a:rPr>
              <a:t>What exhaustion actually triggers</a:t>
            </a:r>
            <a:endParaRPr lang="en-US" sz="1400" dirty="0"/>
          </a:p>
        </p:txBody>
      </p:sp>
      <p:sp>
        <p:nvSpPr>
          <p:cNvPr id="20" name="Shape 17"/>
          <p:cNvSpPr/>
          <p:nvPr/>
        </p:nvSpPr>
        <p:spPr>
          <a:xfrm>
            <a:off x="475488" y="4279392"/>
            <a:ext cx="11240719" cy="475488"/>
          </a:xfrm>
          <a:prstGeom prst="rect">
            <a:avLst/>
          </a:prstGeom>
          <a:solidFill>
            <a:srgbClr val="F5F7FA"/>
          </a:solidFill>
          <a:ln w="12700">
            <a:solidFill>
              <a:srgbClr val="F5F7FA"/>
            </a:solidFill>
            <a:prstDash val="solid"/>
          </a:ln>
        </p:spPr>
      </p:sp>
      <p:sp>
        <p:nvSpPr>
          <p:cNvPr id="21" name="Text 18"/>
          <p:cNvSpPr/>
          <p:nvPr/>
        </p:nvSpPr>
        <p:spPr>
          <a:xfrm>
            <a:off x="566928" y="4279392"/>
            <a:ext cx="3017520" cy="475488"/>
          </a:xfrm>
          <a:prstGeom prst="rect">
            <a:avLst/>
          </a:prstGeom>
          <a:noFill/>
          <a:ln/>
        </p:spPr>
        <p:txBody>
          <a:bodyPr wrap="square" lIns="0" tIns="0" rIns="0" bIns="0" rtlCol="0" anchor="ctr"/>
          <a:lstStyle/>
          <a:p>
            <a:pPr indent="0" marL="0">
              <a:buNone/>
            </a:pPr>
            <a:r>
              <a:rPr lang="en-US" sz="1200" b="1" dirty="0">
                <a:solidFill>
                  <a:srgbClr val="161C28"/>
                </a:solidFill>
                <a:latin typeface="Calibri" pitchFamily="34" charset="0"/>
                <a:ea typeface="Calibri" pitchFamily="34" charset="-122"/>
                <a:cs typeface="Calibri" pitchFamily="34" charset="-120"/>
              </a:rPr>
              <a:t>tier0 — mission critical</a:t>
            </a:r>
            <a:endParaRPr lang="en-US" sz="1200" dirty="0"/>
          </a:p>
        </p:txBody>
      </p:sp>
      <p:sp>
        <p:nvSpPr>
          <p:cNvPr id="22" name="Text 19"/>
          <p:cNvSpPr/>
          <p:nvPr/>
        </p:nvSpPr>
        <p:spPr>
          <a:xfrm>
            <a:off x="3767328" y="4279392"/>
            <a:ext cx="7857439" cy="475488"/>
          </a:xfrm>
          <a:prstGeom prst="rect">
            <a:avLst/>
          </a:prstGeom>
          <a:noFill/>
          <a:ln/>
        </p:spPr>
        <p:txBody>
          <a:bodyPr wrap="square" lIns="0" tIns="0" rIns="0" bIns="0" rtlCol="0" anchor="ctr"/>
          <a:lstStyle/>
          <a:p>
            <a:pPr indent="0" marL="0">
              <a:buNone/>
            </a:pPr>
            <a:r>
              <a:rPr lang="en-US" sz="1200" dirty="0">
                <a:solidFill>
                  <a:srgbClr val="3A4557"/>
                </a:solidFill>
                <a:latin typeface="Calibri" pitchFamily="34" charset="0"/>
                <a:ea typeface="Calibri" pitchFamily="34" charset="-122"/>
                <a:cs typeface="Calibri" pitchFamily="34" charset="-120"/>
              </a:rPr>
              <a:t>Feature freeze for the owning team until the budget recovers above 25%; a documented exception is required to deploy</a:t>
            </a:r>
            <a:endParaRPr lang="en-US" sz="1200" dirty="0"/>
          </a:p>
        </p:txBody>
      </p:sp>
      <p:sp>
        <p:nvSpPr>
          <p:cNvPr id="23" name="Text 20"/>
          <p:cNvSpPr/>
          <p:nvPr/>
        </p:nvSpPr>
        <p:spPr>
          <a:xfrm>
            <a:off x="566928" y="4754880"/>
            <a:ext cx="3017520" cy="475488"/>
          </a:xfrm>
          <a:prstGeom prst="rect">
            <a:avLst/>
          </a:prstGeom>
          <a:noFill/>
          <a:ln/>
        </p:spPr>
        <p:txBody>
          <a:bodyPr wrap="square" lIns="0" tIns="0" rIns="0" bIns="0" rtlCol="0" anchor="ctr"/>
          <a:lstStyle/>
          <a:p>
            <a:pPr indent="0" marL="0">
              <a:buNone/>
            </a:pPr>
            <a:r>
              <a:rPr lang="en-US" sz="1200" b="1" dirty="0">
                <a:solidFill>
                  <a:srgbClr val="161C28"/>
                </a:solidFill>
                <a:latin typeface="Calibri" pitchFamily="34" charset="0"/>
                <a:ea typeface="Calibri" pitchFamily="34" charset="-122"/>
                <a:cs typeface="Calibri" pitchFamily="34" charset="-120"/>
              </a:rPr>
              <a:t>tier1 — business critical</a:t>
            </a:r>
            <a:endParaRPr lang="en-US" sz="1200" dirty="0"/>
          </a:p>
        </p:txBody>
      </p:sp>
      <p:sp>
        <p:nvSpPr>
          <p:cNvPr id="24" name="Text 21"/>
          <p:cNvSpPr/>
          <p:nvPr/>
        </p:nvSpPr>
        <p:spPr>
          <a:xfrm>
            <a:off x="3767328" y="4754880"/>
            <a:ext cx="7857439" cy="475488"/>
          </a:xfrm>
          <a:prstGeom prst="rect">
            <a:avLst/>
          </a:prstGeom>
          <a:noFill/>
          <a:ln/>
        </p:spPr>
        <p:txBody>
          <a:bodyPr wrap="square" lIns="0" tIns="0" rIns="0" bIns="0" rtlCol="0" anchor="ctr"/>
          <a:lstStyle/>
          <a:p>
            <a:pPr indent="0" marL="0">
              <a:buNone/>
            </a:pPr>
            <a:r>
              <a:rPr lang="en-US" sz="1200" dirty="0">
                <a:solidFill>
                  <a:srgbClr val="3A4557"/>
                </a:solidFill>
                <a:latin typeface="Calibri" pitchFamily="34" charset="0"/>
                <a:ea typeface="Calibri" pitchFamily="34" charset="-122"/>
                <a:cs typeface="Calibri" pitchFamily="34" charset="-120"/>
              </a:rPr>
              <a:t>Reliability work prioritised next sprint; change-advisory review for high-risk deploys</a:t>
            </a:r>
            <a:endParaRPr lang="en-US" sz="1200" dirty="0"/>
          </a:p>
        </p:txBody>
      </p:sp>
      <p:sp>
        <p:nvSpPr>
          <p:cNvPr id="25" name="Shape 22"/>
          <p:cNvSpPr/>
          <p:nvPr/>
        </p:nvSpPr>
        <p:spPr>
          <a:xfrm>
            <a:off x="475488" y="5230368"/>
            <a:ext cx="11240719" cy="475488"/>
          </a:xfrm>
          <a:prstGeom prst="rect">
            <a:avLst/>
          </a:prstGeom>
          <a:solidFill>
            <a:srgbClr val="F5F7FA"/>
          </a:solidFill>
          <a:ln w="12700">
            <a:solidFill>
              <a:srgbClr val="F5F7FA"/>
            </a:solidFill>
            <a:prstDash val="solid"/>
          </a:ln>
        </p:spPr>
      </p:sp>
      <p:sp>
        <p:nvSpPr>
          <p:cNvPr id="26" name="Text 23"/>
          <p:cNvSpPr/>
          <p:nvPr/>
        </p:nvSpPr>
        <p:spPr>
          <a:xfrm>
            <a:off x="566928" y="5230368"/>
            <a:ext cx="3017520" cy="475488"/>
          </a:xfrm>
          <a:prstGeom prst="rect">
            <a:avLst/>
          </a:prstGeom>
          <a:noFill/>
          <a:ln/>
        </p:spPr>
        <p:txBody>
          <a:bodyPr wrap="square" lIns="0" tIns="0" rIns="0" bIns="0" rtlCol="0" anchor="ctr"/>
          <a:lstStyle/>
          <a:p>
            <a:pPr indent="0" marL="0">
              <a:buNone/>
            </a:pPr>
            <a:r>
              <a:rPr lang="en-US" sz="1200" b="1" dirty="0">
                <a:solidFill>
                  <a:srgbClr val="161C28"/>
                </a:solidFill>
                <a:latin typeface="Calibri" pitchFamily="34" charset="0"/>
                <a:ea typeface="Calibri" pitchFamily="34" charset="-122"/>
                <a:cs typeface="Calibri" pitchFamily="34" charset="-120"/>
              </a:rPr>
              <a:t>tier2 — standard</a:t>
            </a:r>
            <a:endParaRPr lang="en-US" sz="1200" dirty="0"/>
          </a:p>
        </p:txBody>
      </p:sp>
      <p:sp>
        <p:nvSpPr>
          <p:cNvPr id="27" name="Text 24"/>
          <p:cNvSpPr/>
          <p:nvPr/>
        </p:nvSpPr>
        <p:spPr>
          <a:xfrm>
            <a:off x="3767328" y="5230368"/>
            <a:ext cx="7857439" cy="475488"/>
          </a:xfrm>
          <a:prstGeom prst="rect">
            <a:avLst/>
          </a:prstGeom>
          <a:noFill/>
          <a:ln/>
        </p:spPr>
        <p:txBody>
          <a:bodyPr wrap="square" lIns="0" tIns="0" rIns="0" bIns="0" rtlCol="0" anchor="ctr"/>
          <a:lstStyle/>
          <a:p>
            <a:pPr indent="0" marL="0">
              <a:buNone/>
            </a:pPr>
            <a:r>
              <a:rPr lang="en-US" sz="1200" dirty="0">
                <a:solidFill>
                  <a:srgbClr val="3A4557"/>
                </a:solidFill>
                <a:latin typeface="Calibri" pitchFamily="34" charset="0"/>
                <a:ea typeface="Calibri" pitchFamily="34" charset="-122"/>
                <a:cs typeface="Calibri" pitchFamily="34" charset="-120"/>
              </a:rPr>
              <a:t>Tracked in the team's operational review. No freeze — the objective is not worth stopping delivery for</a:t>
            </a:r>
            <a:endParaRPr lang="en-US" sz="1200" dirty="0"/>
          </a:p>
        </p:txBody>
      </p:sp>
      <p:sp>
        <p:nvSpPr>
          <p:cNvPr id="28" name="Shape 25"/>
          <p:cNvSpPr/>
          <p:nvPr/>
        </p:nvSpPr>
        <p:spPr>
          <a:xfrm>
            <a:off x="566928" y="5779008"/>
            <a:ext cx="11057839" cy="457200"/>
          </a:xfrm>
          <a:prstGeom prst="roundRect">
            <a:avLst>
              <a:gd name="adj" fmla="val 10000"/>
            </a:avLst>
          </a:prstGeom>
          <a:solidFill>
            <a:srgbClr val="FBEEEB"/>
          </a:solidFill>
          <a:ln w="12700">
            <a:solidFill>
              <a:srgbClr val="FBEEEB"/>
            </a:solidFill>
            <a:prstDash val="solid"/>
          </a:ln>
        </p:spPr>
      </p:sp>
      <p:sp>
        <p:nvSpPr>
          <p:cNvPr id="29" name="Text 26"/>
          <p:cNvSpPr/>
          <p:nvPr/>
        </p:nvSpPr>
        <p:spPr>
          <a:xfrm>
            <a:off x="795528" y="5779008"/>
            <a:ext cx="10600639" cy="457200"/>
          </a:xfrm>
          <a:prstGeom prst="rect">
            <a:avLst/>
          </a:prstGeom>
          <a:noFill/>
          <a:ln/>
        </p:spPr>
        <p:txBody>
          <a:bodyPr wrap="square" lIns="0" tIns="0" rIns="0" bIns="0" rtlCol="0" anchor="ctr"/>
          <a:lstStyle/>
          <a:p>
            <a:pPr indent="0" marL="0">
              <a:buNone/>
            </a:pPr>
            <a:r>
              <a:rPr lang="en-US" sz="1150" b="1" dirty="0">
                <a:solidFill>
                  <a:srgbClr val="7A2E24"/>
                </a:solidFill>
                <a:latin typeface="Calibri" pitchFamily="34" charset="0"/>
                <a:ea typeface="Calibri" pitchFamily="34" charset="-122"/>
                <a:cs typeface="Calibri" pitchFamily="34" charset="-120"/>
              </a:rPr>
              <a:t>Honest boundary:  </a:t>
            </a:r>
            <a:pPr indent="0" marL="0">
              <a:buNone/>
            </a:pPr>
            <a:r>
              <a:rPr lang="en-US" sz="1150" dirty="0">
                <a:solidFill>
                  <a:srgbClr val="7A2E24"/>
                </a:solidFill>
                <a:latin typeface="Calibri" pitchFamily="34" charset="0"/>
                <a:ea typeface="Calibri" pitchFamily="34" charset="-122"/>
                <a:cs typeface="Calibri" pitchFamily="34" charset="-120"/>
              </a:rPr>
              <a:t>the policy is deployed and attached to the tiers, but no budget-consumption trend can be shown yet — the SLIs have no data until the telemetry carries the tags. This becomes the most useful chart in the programme the week that changes.</a:t>
            </a:r>
            <a:endParaRPr lang="en-US" sz="11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2161F"/>
        </a:solidFill>
      </p:bgPr>
    </p:bg>
    <p:spTree>
      <p:nvGrpSpPr>
        <p:cNvPr id="1" name=""/>
        <p:cNvGrpSpPr/>
        <p:nvPr/>
      </p:nvGrpSpPr>
      <p:grpSpPr>
        <a:xfrm>
          <a:off x="0" y="0"/>
          <a:ext cx="0" cy="0"/>
          <a:chOff x="0" y="0"/>
          <a:chExt cx="0" cy="0"/>
        </a:xfrm>
      </p:grpSpPr>
      <p:sp>
        <p:nvSpPr>
          <p:cNvPr id="2" name="Text 0"/>
          <p:cNvSpPr/>
          <p:nvPr/>
        </p:nvSpPr>
        <p:spPr>
          <a:xfrm>
            <a:off x="566928" y="6345936"/>
            <a:ext cx="7315200" cy="274320"/>
          </a:xfrm>
          <a:prstGeom prst="rect">
            <a:avLst/>
          </a:prstGeom>
          <a:noFill/>
          <a:ln/>
        </p:spPr>
        <p:txBody>
          <a:bodyPr wrap="square" lIns="0" tIns="0" rIns="0" bIns="0" rtlCol="0" anchor="ctr"/>
          <a:lstStyle/>
          <a:p>
            <a:pPr indent="0" marL="0">
              <a:buNone/>
            </a:pPr>
            <a:r>
              <a:rPr lang="en-US" sz="900" dirty="0">
                <a:solidFill>
                  <a:srgbClr val="6E7B92"/>
                </a:solidFill>
                <a:latin typeface="Calibri" pitchFamily="34" charset="0"/>
                <a:ea typeface="Calibri" pitchFamily="34" charset="-122"/>
                <a:cs typeface="Calibri" pitchFamily="34" charset="-120"/>
              </a:rPr>
              <a:t>Enterprise Observability  ·  policy-as-data on Datadog</a:t>
            </a:r>
            <a:endParaRPr lang="en-US" sz="900" dirty="0"/>
          </a:p>
        </p:txBody>
      </p:sp>
      <p:sp>
        <p:nvSpPr>
          <p:cNvPr id="3" name="Text 1"/>
          <p:cNvSpPr/>
          <p:nvPr/>
        </p:nvSpPr>
        <p:spPr>
          <a:xfrm>
            <a:off x="10710367" y="6345936"/>
            <a:ext cx="914400" cy="274320"/>
          </a:xfrm>
          <a:prstGeom prst="rect">
            <a:avLst/>
          </a:prstGeom>
          <a:noFill/>
          <a:ln/>
        </p:spPr>
        <p:txBody>
          <a:bodyPr wrap="square" lIns="0" tIns="0" rIns="0" bIns="0" rtlCol="0" anchor="ctr"/>
          <a:lstStyle/>
          <a:p>
            <a:pPr algn="r" indent="0" marL="0">
              <a:buNone/>
            </a:pPr>
            <a:r>
              <a:rPr lang="en-US" sz="900" dirty="0">
                <a:solidFill>
                  <a:srgbClr val="6E7B92"/>
                </a:solidFill>
                <a:latin typeface="Calibri" pitchFamily="34" charset="0"/>
                <a:ea typeface="Calibri" pitchFamily="34" charset="-122"/>
                <a:cs typeface="Calibri" pitchFamily="34" charset="-120"/>
              </a:rPr>
              <a:t>20</a:t>
            </a:r>
            <a:endParaRPr lang="en-US" sz="900" dirty="0"/>
          </a:p>
        </p:txBody>
      </p:sp>
      <p:sp>
        <p:nvSpPr>
          <p:cNvPr id="5" name="Text 2"/>
          <p:cNvSpPr/>
          <p:nvPr/>
        </p:nvSpPr>
        <p:spPr>
          <a:xfrm>
            <a:off x="566928" y="1417320"/>
            <a:ext cx="5486400" cy="457200"/>
          </a:xfrm>
          <a:prstGeom prst="rect">
            <a:avLst/>
          </a:prstGeom>
          <a:noFill/>
          <a:ln/>
        </p:spPr>
        <p:txBody>
          <a:bodyPr wrap="square" lIns="0" tIns="0" rIns="0" bIns="0" rtlCol="0" anchor="ctr"/>
          <a:lstStyle/>
          <a:p>
            <a:pPr indent="0" marL="0">
              <a:buNone/>
            </a:pPr>
            <a:r>
              <a:rPr lang="en-US" sz="1200" b="1" spc="240" kern="0" dirty="0">
                <a:solidFill>
                  <a:srgbClr val="E09A2E"/>
                </a:solidFill>
                <a:latin typeface="Calibri" pitchFamily="34" charset="0"/>
                <a:ea typeface="Calibri" pitchFamily="34" charset="-122"/>
                <a:cs typeface="Calibri" pitchFamily="34" charset="-120"/>
              </a:rPr>
              <a:t>PART FOUR</a:t>
            </a:r>
            <a:endParaRPr lang="en-US" sz="1200" dirty="0"/>
          </a:p>
        </p:txBody>
      </p:sp>
      <p:sp>
        <p:nvSpPr>
          <p:cNvPr id="6" name="Text 3"/>
          <p:cNvSpPr/>
          <p:nvPr/>
        </p:nvSpPr>
        <p:spPr>
          <a:xfrm>
            <a:off x="566928" y="1874520"/>
            <a:ext cx="6766560" cy="173736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From alert</a:t>
            </a:r>
            <a:endParaRPr lang="en-US" sz="4000" dirty="0"/>
          </a:p>
          <a:p>
            <a:pPr indent="0" marL="0">
              <a:buNone/>
            </a:pPr>
            <a:r>
              <a:rPr lang="en-US" sz="4000" b="1" dirty="0">
                <a:solidFill>
                  <a:srgbClr val="FFFFFF"/>
                </a:solidFill>
                <a:latin typeface="Cambria" pitchFamily="34" charset="0"/>
                <a:ea typeface="Cambria" pitchFamily="34" charset="-122"/>
                <a:cs typeface="Cambria" pitchFamily="34" charset="-120"/>
              </a:rPr>
              <a:t>to resolution</a:t>
            </a:r>
            <a:endParaRPr lang="en-US" sz="4000" dirty="0"/>
          </a:p>
        </p:txBody>
      </p:sp>
      <p:sp>
        <p:nvSpPr>
          <p:cNvPr id="7" name="Text 4"/>
          <p:cNvSpPr/>
          <p:nvPr/>
        </p:nvSpPr>
        <p:spPr>
          <a:xfrm>
            <a:off x="566928" y="3749040"/>
            <a:ext cx="6035040" cy="822960"/>
          </a:xfrm>
          <a:prstGeom prst="rect">
            <a:avLst/>
          </a:prstGeom>
          <a:noFill/>
          <a:ln/>
        </p:spPr>
        <p:txBody>
          <a:bodyPr wrap="square" lIns="0" tIns="0" rIns="0" bIns="0" rtlCol="0" anchor="t"/>
          <a:lstStyle/>
          <a:p>
            <a:pPr indent="0" marL="0">
              <a:buNone/>
            </a:pPr>
            <a:r>
              <a:rPr lang="en-US" sz="1400" dirty="0">
                <a:solidFill>
                  <a:srgbClr val="9FADC4"/>
                </a:solidFill>
                <a:latin typeface="Calibri" pitchFamily="34" charset="0"/>
                <a:ea typeface="Calibri" pitchFamily="34" charset="-122"/>
                <a:cs typeface="Calibri" pitchFamily="34" charset="-120"/>
              </a:rPr>
              <a:t>Correlation, noise, incidents, on-call, tickets, runbooks and automation — the path a signal takes to a human who can fix it.</a:t>
            </a:r>
            <a:endParaRPr lang="en-US" sz="1400" dirty="0"/>
          </a:p>
        </p:txBody>
      </p:sp>
      <p:sp>
        <p:nvSpPr>
          <p:cNvPr id="8" name="Shape 5"/>
          <p:cNvSpPr/>
          <p:nvPr/>
        </p:nvSpPr>
        <p:spPr>
          <a:xfrm>
            <a:off x="7360920" y="1371600"/>
            <a:ext cx="4263847" cy="4434840"/>
          </a:xfrm>
          <a:prstGeom prst="roundRect">
            <a:avLst>
              <a:gd name="adj" fmla="val 1501"/>
            </a:avLst>
          </a:prstGeom>
          <a:solidFill>
            <a:srgbClr val="1E2531"/>
          </a:solidFill>
          <a:ln w="12700">
            <a:solidFill>
              <a:srgbClr val="323C4D"/>
            </a:solidFill>
            <a:prstDash val="solid"/>
          </a:ln>
        </p:spPr>
      </p:sp>
      <p:sp>
        <p:nvSpPr>
          <p:cNvPr id="9" name="Text 6"/>
          <p:cNvSpPr/>
          <p:nvPr/>
        </p:nvSpPr>
        <p:spPr>
          <a:xfrm>
            <a:off x="7680960" y="1627632"/>
            <a:ext cx="3840480" cy="274320"/>
          </a:xfrm>
          <a:prstGeom prst="rect">
            <a:avLst/>
          </a:prstGeom>
          <a:noFill/>
          <a:ln/>
        </p:spPr>
        <p:txBody>
          <a:bodyPr wrap="square" lIns="0" tIns="0" rIns="0" bIns="0" rtlCol="0" anchor="ctr"/>
          <a:lstStyle/>
          <a:p>
            <a:pPr indent="0" marL="0">
              <a:buNone/>
            </a:pPr>
            <a:r>
              <a:rPr lang="en-US" sz="950" b="1" spc="160" kern="0" dirty="0">
                <a:solidFill>
                  <a:srgbClr val="E09A2E"/>
                </a:solidFill>
                <a:latin typeface="Calibri" pitchFamily="34" charset="0"/>
                <a:ea typeface="Calibri" pitchFamily="34" charset="-122"/>
                <a:cs typeface="Calibri" pitchFamily="34" charset="-120"/>
              </a:rPr>
              <a:t>TOPICS IN THIS PART</a:t>
            </a:r>
            <a:endParaRPr lang="en-US" sz="950" dirty="0"/>
          </a:p>
        </p:txBody>
      </p:sp>
      <p:sp>
        <p:nvSpPr>
          <p:cNvPr id="10" name="Text 7"/>
          <p:cNvSpPr/>
          <p:nvPr/>
        </p:nvSpPr>
        <p:spPr>
          <a:xfrm>
            <a:off x="7680960" y="1993392"/>
            <a:ext cx="3977640" cy="3566160"/>
          </a:xfrm>
          <a:prstGeom prst="rect">
            <a:avLst/>
          </a:prstGeom>
          <a:noFill/>
          <a:ln/>
        </p:spPr>
        <p:txBody>
          <a:bodyPr wrap="square" lIns="0" tIns="0" rIns="0" bIns="0" rtlCol="0" anchor="t"/>
          <a:lstStyle/>
          <a:p>
            <a:pPr indent="0" marL="0">
              <a:spcAft>
                <a:spcPts val="700"/>
              </a:spcAft>
              <a:buNone/>
            </a:pPr>
            <a:r>
              <a:rPr lang="en-US" sz="1300" dirty="0">
                <a:solidFill>
                  <a:srgbClr val="D3DCE9"/>
                </a:solidFill>
                <a:latin typeface="Calibri" pitchFamily="34" charset="0"/>
                <a:ea typeface="Calibri" pitchFamily="34" charset="-122"/>
                <a:cs typeface="Calibri" pitchFamily="34" charset="-120"/>
              </a:rPr>
              <a:t>14.  Event correlation</a:t>
            </a:r>
            <a:endParaRPr lang="en-US" sz="1300" dirty="0"/>
          </a:p>
          <a:p>
            <a:pPr indent="0" marL="0">
              <a:spcAft>
                <a:spcPts val="700"/>
              </a:spcAft>
              <a:buNone/>
            </a:pPr>
            <a:r>
              <a:rPr lang="en-US" sz="1300" dirty="0">
                <a:solidFill>
                  <a:srgbClr val="D3DCE9"/>
                </a:solidFill>
                <a:latin typeface="Calibri" pitchFamily="34" charset="0"/>
                <a:ea typeface="Calibri" pitchFamily="34" charset="-122"/>
                <a:cs typeface="Calibri" pitchFamily="34" charset="-120"/>
              </a:rPr>
              <a:t>15.  Alert-noise reduction</a:t>
            </a:r>
            <a:endParaRPr lang="en-US" sz="1300" dirty="0"/>
          </a:p>
          <a:p>
            <a:pPr indent="0" marL="0">
              <a:spcAft>
                <a:spcPts val="700"/>
              </a:spcAft>
              <a:buNone/>
            </a:pPr>
            <a:r>
              <a:rPr lang="en-US" sz="1300" dirty="0">
                <a:solidFill>
                  <a:srgbClr val="D3DCE9"/>
                </a:solidFill>
                <a:latin typeface="Calibri" pitchFamily="34" charset="0"/>
                <a:ea typeface="Calibri" pitchFamily="34" charset="-122"/>
                <a:cs typeface="Calibri" pitchFamily="34" charset="-120"/>
              </a:rPr>
              <a:t>16.  Incident management</a:t>
            </a:r>
            <a:endParaRPr lang="en-US" sz="1300" dirty="0"/>
          </a:p>
          <a:p>
            <a:pPr indent="0" marL="0">
              <a:spcAft>
                <a:spcPts val="700"/>
              </a:spcAft>
              <a:buNone/>
            </a:pPr>
            <a:r>
              <a:rPr lang="en-US" sz="1300" dirty="0">
                <a:solidFill>
                  <a:srgbClr val="D3DCE9"/>
                </a:solidFill>
                <a:latin typeface="Calibri" pitchFamily="34" charset="0"/>
                <a:ea typeface="Calibri" pitchFamily="34" charset="-122"/>
                <a:cs typeface="Calibri" pitchFamily="34" charset="-120"/>
              </a:rPr>
              <a:t>17.  On-call</a:t>
            </a:r>
            <a:endParaRPr lang="en-US" sz="1300" dirty="0"/>
          </a:p>
          <a:p>
            <a:pPr indent="0" marL="0">
              <a:spcAft>
                <a:spcPts val="700"/>
              </a:spcAft>
              <a:buNone/>
            </a:pPr>
            <a:r>
              <a:rPr lang="en-US" sz="1300" dirty="0">
                <a:solidFill>
                  <a:srgbClr val="D3DCE9"/>
                </a:solidFill>
                <a:latin typeface="Calibri" pitchFamily="34" charset="0"/>
                <a:ea typeface="Calibri" pitchFamily="34" charset="-122"/>
                <a:cs typeface="Calibri" pitchFamily="34" charset="-120"/>
              </a:rPr>
              <a:t>18.  Incident command</a:t>
            </a:r>
            <a:endParaRPr lang="en-US" sz="1300" dirty="0"/>
          </a:p>
          <a:p>
            <a:pPr indent="0" marL="0">
              <a:spcAft>
                <a:spcPts val="700"/>
              </a:spcAft>
              <a:buNone/>
            </a:pPr>
            <a:r>
              <a:rPr lang="en-US" sz="1300" dirty="0">
                <a:solidFill>
                  <a:srgbClr val="D3DCE9"/>
                </a:solidFill>
                <a:latin typeface="Calibri" pitchFamily="34" charset="0"/>
                <a:ea typeface="Calibri" pitchFamily="34" charset="-122"/>
                <a:cs typeface="Calibri" pitchFamily="34" charset="-120"/>
              </a:rPr>
              <a:t>19.  ServiceNow</a:t>
            </a:r>
            <a:endParaRPr lang="en-US" sz="1300" dirty="0"/>
          </a:p>
          <a:p>
            <a:pPr indent="0" marL="0">
              <a:spcAft>
                <a:spcPts val="700"/>
              </a:spcAft>
              <a:buNone/>
            </a:pPr>
            <a:r>
              <a:rPr lang="en-US" sz="1300" dirty="0">
                <a:solidFill>
                  <a:srgbClr val="D3DCE9"/>
                </a:solidFill>
                <a:latin typeface="Calibri" pitchFamily="34" charset="0"/>
                <a:ea typeface="Calibri" pitchFamily="34" charset="-122"/>
                <a:cs typeface="Calibri" pitchFamily="34" charset="-120"/>
              </a:rPr>
              <a:t>20.  Runbooks</a:t>
            </a:r>
            <a:endParaRPr lang="en-US" sz="1300" dirty="0"/>
          </a:p>
          <a:p>
            <a:pPr indent="0" marL="0">
              <a:spcAft>
                <a:spcPts val="700"/>
              </a:spcAft>
              <a:buNone/>
            </a:pPr>
            <a:r>
              <a:rPr lang="en-US" sz="1300" dirty="0">
                <a:solidFill>
                  <a:srgbClr val="D3DCE9"/>
                </a:solidFill>
                <a:latin typeface="Calibri" pitchFamily="34" charset="0"/>
                <a:ea typeface="Calibri" pitchFamily="34" charset="-122"/>
                <a:cs typeface="Calibri" pitchFamily="34" charset="-120"/>
              </a:rPr>
              <a:t>21.  Workflow automation</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8778240" cy="256032"/>
          </a:xfrm>
          <a:prstGeom prst="rect">
            <a:avLst/>
          </a:prstGeom>
          <a:noFill/>
          <a:ln/>
        </p:spPr>
        <p:txBody>
          <a:bodyPr wrap="square" lIns="0" tIns="0" rIns="0" bIns="0" rtlCol="0" anchor="ctr"/>
          <a:lstStyle/>
          <a:p>
            <a:pPr indent="0" marL="0">
              <a:buNone/>
            </a:pPr>
            <a:r>
              <a:rPr lang="en-US" sz="1050" b="1" spc="160" kern="0" dirty="0">
                <a:solidFill>
                  <a:srgbClr val="B87914"/>
                </a:solidFill>
                <a:latin typeface="Calibri" pitchFamily="34" charset="0"/>
                <a:ea typeface="Calibri" pitchFamily="34" charset="-122"/>
                <a:cs typeface="Calibri" pitchFamily="34" charset="-120"/>
              </a:rPr>
              <a:t>TOPIC 14</a:t>
            </a:r>
            <a:endParaRPr lang="en-US" sz="1050" dirty="0"/>
          </a:p>
        </p:txBody>
      </p:sp>
      <p:sp>
        <p:nvSpPr>
          <p:cNvPr id="3" name="Text 1"/>
          <p:cNvSpPr/>
          <p:nvPr/>
        </p:nvSpPr>
        <p:spPr>
          <a:xfrm>
            <a:off x="566928" y="694944"/>
            <a:ext cx="10424160" cy="786384"/>
          </a:xfrm>
          <a:prstGeom prst="rect">
            <a:avLst/>
          </a:prstGeom>
          <a:noFill/>
          <a:ln/>
        </p:spPr>
        <p:txBody>
          <a:bodyPr wrap="square" lIns="0" tIns="0" rIns="0" bIns="0" rtlCol="0" anchor="ctr"/>
          <a:lstStyle/>
          <a:p>
            <a:pPr indent="0" marL="0">
              <a:buNone/>
            </a:pPr>
            <a:r>
              <a:rPr lang="en-US" sz="3100" b="1" dirty="0">
                <a:solidFill>
                  <a:srgbClr val="161C28"/>
                </a:solidFill>
                <a:latin typeface="Cambria" pitchFamily="34" charset="0"/>
                <a:ea typeface="Cambria" pitchFamily="34" charset="-122"/>
                <a:cs typeface="Cambria" pitchFamily="34" charset="-120"/>
              </a:rPr>
              <a:t>Event correlation</a:t>
            </a:r>
            <a:endParaRPr lang="en-US" sz="3100" dirty="0"/>
          </a:p>
        </p:txBody>
      </p:sp>
      <p:sp>
        <p:nvSpPr>
          <p:cNvPr id="4" name="Text 2"/>
          <p:cNvSpPr/>
          <p:nvPr/>
        </p:nvSpPr>
        <p:spPr>
          <a:xfrm>
            <a:off x="566928" y="1481328"/>
            <a:ext cx="10698480" cy="457200"/>
          </a:xfrm>
          <a:prstGeom prst="rect">
            <a:avLst/>
          </a:prstGeom>
          <a:noFill/>
          <a:ln/>
        </p:spPr>
        <p:txBody>
          <a:bodyPr wrap="square" lIns="0" tIns="0" rIns="0" bIns="0" rtlCol="0" anchor="t"/>
          <a:lstStyle/>
          <a:p>
            <a:pPr indent="0" marL="0">
              <a:buNone/>
            </a:pPr>
            <a:r>
              <a:rPr lang="en-US" sz="1450" dirty="0">
                <a:solidFill>
                  <a:srgbClr val="3A4557"/>
                </a:solidFill>
                <a:latin typeface="Calibri" pitchFamily="34" charset="0"/>
                <a:ea typeface="Calibri" pitchFamily="34" charset="-122"/>
                <a:cs typeface="Calibri" pitchFamily="34" charset="-120"/>
              </a:rPr>
              <a:t>Five alerts for one problem become one incident with four children and the change that caused it attached as context.</a:t>
            </a:r>
            <a:endParaRPr lang="en-US" sz="1450" dirty="0"/>
          </a:p>
        </p:txBody>
      </p:sp>
      <p:sp>
        <p:nvSpPr>
          <p:cNvPr id="5" name="Shape 3"/>
          <p:cNvSpPr/>
          <p:nvPr/>
        </p:nvSpPr>
        <p:spPr>
          <a:xfrm>
            <a:off x="8744407" y="420624"/>
            <a:ext cx="2880360" cy="310896"/>
          </a:xfrm>
          <a:prstGeom prst="roundRect">
            <a:avLst>
              <a:gd name="adj" fmla="val 50000"/>
            </a:avLst>
          </a:prstGeom>
          <a:solidFill>
            <a:srgbClr val="E09A2E"/>
          </a:solidFill>
          <a:ln w="12700">
            <a:solidFill>
              <a:srgbClr val="E09A2E"/>
            </a:solidFill>
            <a:prstDash val="solid"/>
          </a:ln>
        </p:spPr>
      </p:sp>
      <p:sp>
        <p:nvSpPr>
          <p:cNvPr id="6" name="Text 4"/>
          <p:cNvSpPr/>
          <p:nvPr/>
        </p:nvSpPr>
        <p:spPr>
          <a:xfrm>
            <a:off x="8744407" y="420624"/>
            <a:ext cx="2880360" cy="310896"/>
          </a:xfrm>
          <a:prstGeom prst="rect">
            <a:avLst/>
          </a:prstGeom>
          <a:noFill/>
          <a:ln/>
        </p:spPr>
        <p:txBody>
          <a:bodyPr wrap="square" lIns="0" tIns="0" rIns="0" bIns="0" rtlCol="0" anchor="ctr"/>
          <a:lstStyle/>
          <a:p>
            <a:pPr algn="ctr" indent="0" marL="0">
              <a:buNone/>
            </a:pPr>
            <a:r>
              <a:rPr lang="en-US" sz="950" b="1" spc="100" kern="0" dirty="0">
                <a:solidFill>
                  <a:srgbClr val="2A1D06"/>
                </a:solidFill>
                <a:latin typeface="Calibri" pitchFamily="34" charset="0"/>
                <a:ea typeface="Calibri" pitchFamily="34" charset="-122"/>
                <a:cs typeface="Calibri" pitchFamily="34" charset="-120"/>
              </a:rPr>
              <a:t>PARTIAL — NATIVE KEYS ONLY</a:t>
            </a:r>
            <a:endParaRPr lang="en-US" sz="950" dirty="0"/>
          </a:p>
        </p:txBody>
      </p:sp>
      <p:sp>
        <p:nvSpPr>
          <p:cNvPr id="7" name="Text 5"/>
          <p:cNvSpPr/>
          <p:nvPr/>
        </p:nvSpPr>
        <p:spPr>
          <a:xfrm>
            <a:off x="566928" y="6345936"/>
            <a:ext cx="7315200" cy="274320"/>
          </a:xfrm>
          <a:prstGeom prst="rect">
            <a:avLst/>
          </a:prstGeom>
          <a:noFill/>
          <a:ln/>
        </p:spPr>
        <p:txBody>
          <a:bodyPr wrap="square" lIns="0" tIns="0" rIns="0" bIns="0" rtlCol="0" anchor="ctr"/>
          <a:lstStyle/>
          <a:p>
            <a:pPr indent="0" marL="0">
              <a:buNone/>
            </a:pPr>
            <a:r>
              <a:rPr lang="en-US" sz="900" dirty="0">
                <a:solidFill>
                  <a:srgbClr val="6B7891"/>
                </a:solidFill>
                <a:latin typeface="Calibri" pitchFamily="34" charset="0"/>
                <a:ea typeface="Calibri" pitchFamily="34" charset="-122"/>
                <a:cs typeface="Calibri" pitchFamily="34" charset="-120"/>
              </a:rPr>
              <a:t>Enterprise Observability  ·  policy-as-data on Datadog</a:t>
            </a:r>
            <a:endParaRPr lang="en-US" sz="900" dirty="0"/>
          </a:p>
        </p:txBody>
      </p:sp>
      <p:sp>
        <p:nvSpPr>
          <p:cNvPr id="8" name="Text 6"/>
          <p:cNvSpPr/>
          <p:nvPr/>
        </p:nvSpPr>
        <p:spPr>
          <a:xfrm>
            <a:off x="10710367" y="6345936"/>
            <a:ext cx="914400" cy="274320"/>
          </a:xfrm>
          <a:prstGeom prst="rect">
            <a:avLst/>
          </a:prstGeom>
          <a:noFill/>
          <a:ln/>
        </p:spPr>
        <p:txBody>
          <a:bodyPr wrap="square" lIns="0" tIns="0" rIns="0" bIns="0" rtlCol="0" anchor="ctr"/>
          <a:lstStyle/>
          <a:p>
            <a:pPr algn="r" indent="0" marL="0">
              <a:buNone/>
            </a:pPr>
            <a:r>
              <a:rPr lang="en-US" sz="900" dirty="0">
                <a:solidFill>
                  <a:srgbClr val="6B7891"/>
                </a:solidFill>
                <a:latin typeface="Calibri" pitchFamily="34" charset="0"/>
                <a:ea typeface="Calibri" pitchFamily="34" charset="-122"/>
                <a:cs typeface="Calibri" pitchFamily="34" charset="-120"/>
              </a:rPr>
              <a:t>21</a:t>
            </a:r>
            <a:endParaRPr lang="en-US" sz="900" dirty="0"/>
          </a:p>
        </p:txBody>
      </p:sp>
      <p:sp>
        <p:nvSpPr>
          <p:cNvPr id="10" name="Shape 7"/>
          <p:cNvSpPr/>
          <p:nvPr/>
        </p:nvSpPr>
        <p:spPr>
          <a:xfrm>
            <a:off x="566928" y="2148840"/>
            <a:ext cx="5349240" cy="960120"/>
          </a:xfrm>
          <a:prstGeom prst="roundRect">
            <a:avLst>
              <a:gd name="adj" fmla="val 5714"/>
            </a:avLst>
          </a:prstGeom>
          <a:solidFill>
            <a:srgbClr val="12161F"/>
          </a:solidFill>
          <a:ln w="12700">
            <a:solidFill>
              <a:srgbClr val="12161F"/>
            </a:solidFill>
            <a:prstDash val="solid"/>
          </a:ln>
        </p:spPr>
      </p:sp>
      <p:sp>
        <p:nvSpPr>
          <p:cNvPr id="11" name="Text 8"/>
          <p:cNvSpPr/>
          <p:nvPr/>
        </p:nvSpPr>
        <p:spPr>
          <a:xfrm>
            <a:off x="795528" y="2240280"/>
            <a:ext cx="4937760" cy="777240"/>
          </a:xfrm>
          <a:prstGeom prst="rect">
            <a:avLst/>
          </a:prstGeom>
          <a:noFill/>
          <a:ln/>
        </p:spPr>
        <p:txBody>
          <a:bodyPr wrap="square" lIns="0" tIns="0" rIns="0" bIns="0" rtlCol="0" anchor="ctr"/>
          <a:lstStyle/>
          <a:p>
            <a:pPr indent="0" marL="0">
              <a:lnSpc>
                <a:spcPct val="110000"/>
              </a:lnSpc>
              <a:buNone/>
            </a:pPr>
            <a:r>
              <a:rPr lang="en-US" sz="1150" dirty="0">
                <a:solidFill>
                  <a:srgbClr val="E09A2E"/>
                </a:solidFill>
                <a:latin typeface="Courier New" pitchFamily="34" charset="0"/>
                <a:ea typeface="Courier New" pitchFamily="34" charset="-122"/>
                <a:cs typeface="Courier New" pitchFamily="34" charset="-120"/>
              </a:rPr>
              <a:t>correlation_key = &lt;failure_domain&gt;.&lt;env&gt;.&lt;service&gt;</a:t>
            </a:r>
            <a:endParaRPr lang="en-US" sz="1150" dirty="0"/>
          </a:p>
          <a:p>
            <a:pPr indent="0" marL="0">
              <a:lnSpc>
                <a:spcPct val="110000"/>
              </a:lnSpc>
              <a:buNone/>
            </a:pPr>
            <a:r>
              <a:rPr lang="en-US" sz="1150" dirty="0">
                <a:solidFill>
                  <a:srgbClr val="E09A2E"/>
                </a:solidFill>
                <a:latin typeface="Courier New" pitchFamily="34" charset="0"/>
                <a:ea typeface="Courier New" pitchFamily="34" charset="-122"/>
                <a:cs typeface="Courier New" pitchFamily="34" charset="-120"/>
              </a:rPr>
              <a:t>dedup_key       = &lt;service&gt;.&lt;env&gt;.&lt;archetype&gt;</a:t>
            </a:r>
            <a:endParaRPr lang="en-US" sz="1150" dirty="0"/>
          </a:p>
        </p:txBody>
      </p:sp>
      <p:sp>
        <p:nvSpPr>
          <p:cNvPr id="12" name="Text 9"/>
          <p:cNvSpPr/>
          <p:nvPr/>
        </p:nvSpPr>
        <p:spPr>
          <a:xfrm>
            <a:off x="566928" y="3182112"/>
            <a:ext cx="5349240" cy="457200"/>
          </a:xfrm>
          <a:prstGeom prst="rect">
            <a:avLst/>
          </a:prstGeom>
          <a:noFill/>
          <a:ln/>
        </p:spPr>
        <p:txBody>
          <a:bodyPr wrap="square" lIns="0" tIns="0" rIns="0" bIns="0" rtlCol="0" anchor="t"/>
          <a:lstStyle/>
          <a:p>
            <a:pPr indent="0" marL="0">
              <a:buNone/>
            </a:pPr>
            <a:r>
              <a:rPr lang="en-US" sz="1150" dirty="0">
                <a:solidFill>
                  <a:srgbClr val="6B7891"/>
                </a:solidFill>
                <a:latin typeface="Calibri" pitchFamily="34" charset="0"/>
                <a:ea typeface="Calibri" pitchFamily="34" charset="-122"/>
                <a:cs typeface="Calibri" pitchFamily="34" charset="-120"/>
              </a:rPr>
              <a:t>Stamped on all 651 monitors by the factory. Native aggregation works off these tags with zero custom rules.</a:t>
            </a:r>
            <a:endParaRPr lang="en-US" sz="1150" dirty="0"/>
          </a:p>
        </p:txBody>
      </p:sp>
      <p:sp>
        <p:nvSpPr>
          <p:cNvPr id="13" name="Text 10"/>
          <p:cNvSpPr/>
          <p:nvPr/>
        </p:nvSpPr>
        <p:spPr>
          <a:xfrm>
            <a:off x="566928" y="3749040"/>
            <a:ext cx="5349240" cy="292608"/>
          </a:xfrm>
          <a:prstGeom prst="rect">
            <a:avLst/>
          </a:prstGeom>
          <a:noFill/>
          <a:ln/>
        </p:spPr>
        <p:txBody>
          <a:bodyPr wrap="square" lIns="0" tIns="0" rIns="0" bIns="0" rtlCol="0" anchor="ctr"/>
          <a:lstStyle/>
          <a:p>
            <a:pPr indent="0" marL="0">
              <a:buNone/>
            </a:pPr>
            <a:r>
              <a:rPr lang="en-US" sz="1400" b="1" dirty="0">
                <a:solidFill>
                  <a:srgbClr val="161C28"/>
                </a:solidFill>
                <a:latin typeface="Calibri" pitchFamily="34" charset="0"/>
                <a:ea typeface="Calibri" pitchFamily="34" charset="-122"/>
                <a:cs typeface="Calibri" pitchFamily="34" charset="-120"/>
              </a:rPr>
              <a:t>Proven on every pull request</a:t>
            </a:r>
            <a:endParaRPr lang="en-US" sz="1400" dirty="0"/>
          </a:p>
        </p:txBody>
      </p:sp>
      <p:sp>
        <p:nvSpPr>
          <p:cNvPr id="14" name="Shape 11"/>
          <p:cNvSpPr/>
          <p:nvPr/>
        </p:nvSpPr>
        <p:spPr>
          <a:xfrm>
            <a:off x="566928" y="4114800"/>
            <a:ext cx="1624584" cy="822960"/>
          </a:xfrm>
          <a:prstGeom prst="roundRect">
            <a:avLst>
              <a:gd name="adj" fmla="val 6667"/>
            </a:avLst>
          </a:prstGeom>
          <a:solidFill>
            <a:srgbClr val="EFF2F6"/>
          </a:solidFill>
          <a:ln w="12700">
            <a:solidFill>
              <a:srgbClr val="EFF2F6"/>
            </a:solidFill>
            <a:prstDash val="solid"/>
          </a:ln>
        </p:spPr>
      </p:sp>
      <p:sp>
        <p:nvSpPr>
          <p:cNvPr id="15" name="Text 12"/>
          <p:cNvSpPr/>
          <p:nvPr/>
        </p:nvSpPr>
        <p:spPr>
          <a:xfrm>
            <a:off x="676656" y="4224528"/>
            <a:ext cx="1405128" cy="603504"/>
          </a:xfrm>
          <a:prstGeom prst="rect">
            <a:avLst/>
          </a:prstGeom>
          <a:noFill/>
          <a:ln/>
        </p:spPr>
        <p:txBody>
          <a:bodyPr wrap="square" lIns="0" tIns="0" rIns="0" bIns="0" rtlCol="0" anchor="ctr"/>
          <a:lstStyle/>
          <a:p>
            <a:pPr algn="ctr" indent="0" marL="0">
              <a:lnSpc>
                <a:spcPct val="100000"/>
              </a:lnSpc>
              <a:buNone/>
            </a:pPr>
            <a:r>
              <a:rPr lang="en-US" sz="1100" b="1" dirty="0">
                <a:solidFill>
                  <a:srgbClr val="161C28"/>
                </a:solidFill>
                <a:latin typeface="Calibri" pitchFamily="34" charset="0"/>
                <a:ea typeface="Calibri" pitchFamily="34" charset="-122"/>
                <a:cs typeface="Calibri" pitchFamily="34" charset="-120"/>
              </a:rPr>
              <a:t>6 alerts</a:t>
            </a:r>
            <a:endParaRPr lang="en-US" sz="1100" dirty="0"/>
          </a:p>
          <a:p>
            <a:pPr algn="ctr" indent="0" marL="0">
              <a:lnSpc>
                <a:spcPct val="100000"/>
              </a:lnSpc>
              <a:buNone/>
            </a:pPr>
            <a:r>
              <a:rPr lang="en-US" sz="1100" b="1" dirty="0">
                <a:solidFill>
                  <a:srgbClr val="161C28"/>
                </a:solidFill>
                <a:latin typeface="Calibri" pitchFamily="34" charset="0"/>
                <a:ea typeface="Calibri" pitchFamily="34" charset="-122"/>
                <a:cs typeface="Calibri" pitchFamily="34" charset="-120"/>
              </a:rPr>
              <a:t>database cascade</a:t>
            </a:r>
            <a:endParaRPr lang="en-US" sz="1100" dirty="0"/>
          </a:p>
        </p:txBody>
      </p:sp>
      <p:sp>
        <p:nvSpPr>
          <p:cNvPr id="16" name="Shape 13"/>
          <p:cNvSpPr/>
          <p:nvPr/>
        </p:nvSpPr>
        <p:spPr>
          <a:xfrm>
            <a:off x="2246376" y="4443984"/>
            <a:ext cx="128016" cy="164592"/>
          </a:xfrm>
          <a:prstGeom prst="rightArrow">
            <a:avLst/>
          </a:prstGeom>
          <a:solidFill>
            <a:srgbClr val="5F7189"/>
          </a:solidFill>
          <a:ln w="12700">
            <a:solidFill>
              <a:srgbClr val="5F7189"/>
            </a:solidFill>
            <a:prstDash val="solid"/>
          </a:ln>
        </p:spPr>
      </p:sp>
      <p:sp>
        <p:nvSpPr>
          <p:cNvPr id="17" name="Shape 14"/>
          <p:cNvSpPr/>
          <p:nvPr/>
        </p:nvSpPr>
        <p:spPr>
          <a:xfrm>
            <a:off x="2429256" y="4114800"/>
            <a:ext cx="1624584" cy="822960"/>
          </a:xfrm>
          <a:prstGeom prst="roundRect">
            <a:avLst>
              <a:gd name="adj" fmla="val 6667"/>
            </a:avLst>
          </a:prstGeom>
          <a:solidFill>
            <a:srgbClr val="FBF1E2"/>
          </a:solidFill>
          <a:ln w="12700">
            <a:solidFill>
              <a:srgbClr val="FBF1E2"/>
            </a:solidFill>
            <a:prstDash val="solid"/>
          </a:ln>
        </p:spPr>
      </p:sp>
      <p:sp>
        <p:nvSpPr>
          <p:cNvPr id="18" name="Text 15"/>
          <p:cNvSpPr/>
          <p:nvPr/>
        </p:nvSpPr>
        <p:spPr>
          <a:xfrm>
            <a:off x="2538984" y="4224528"/>
            <a:ext cx="1405128" cy="603504"/>
          </a:xfrm>
          <a:prstGeom prst="rect">
            <a:avLst/>
          </a:prstGeom>
          <a:noFill/>
          <a:ln/>
        </p:spPr>
        <p:txBody>
          <a:bodyPr wrap="square" lIns="0" tIns="0" rIns="0" bIns="0" rtlCol="0" anchor="ctr"/>
          <a:lstStyle/>
          <a:p>
            <a:pPr algn="ctr" indent="0" marL="0">
              <a:lnSpc>
                <a:spcPct val="100000"/>
              </a:lnSpc>
              <a:buNone/>
            </a:pPr>
            <a:r>
              <a:rPr lang="en-US" sz="1100" b="1" dirty="0">
                <a:solidFill>
                  <a:srgbClr val="161C28"/>
                </a:solidFill>
                <a:latin typeface="Calibri" pitchFamily="34" charset="0"/>
                <a:ea typeface="Calibri" pitchFamily="34" charset="-122"/>
                <a:cs typeface="Calibri" pitchFamily="34" charset="-120"/>
              </a:rPr>
              <a:t>1 group</a:t>
            </a:r>
            <a:endParaRPr lang="en-US" sz="1100" dirty="0"/>
          </a:p>
          <a:p>
            <a:pPr algn="ctr" indent="0" marL="0">
              <a:lnSpc>
                <a:spcPct val="100000"/>
              </a:lnSpc>
              <a:buNone/>
            </a:pPr>
            <a:r>
              <a:rPr lang="en-US" sz="1100" b="1" dirty="0">
                <a:solidFill>
                  <a:srgbClr val="161C28"/>
                </a:solidFill>
                <a:latin typeface="Calibri" pitchFamily="34" charset="0"/>
                <a:ea typeface="Calibri" pitchFamily="34" charset="-122"/>
                <a:cs typeface="Calibri" pitchFamily="34" charset="-120"/>
              </a:rPr>
              <a:t>4 suppressed</a:t>
            </a:r>
            <a:endParaRPr lang="en-US" sz="1100" dirty="0"/>
          </a:p>
        </p:txBody>
      </p:sp>
      <p:sp>
        <p:nvSpPr>
          <p:cNvPr id="19" name="Shape 16"/>
          <p:cNvSpPr/>
          <p:nvPr/>
        </p:nvSpPr>
        <p:spPr>
          <a:xfrm>
            <a:off x="4108704" y="4443984"/>
            <a:ext cx="128016" cy="164592"/>
          </a:xfrm>
          <a:prstGeom prst="rightArrow">
            <a:avLst/>
          </a:prstGeom>
          <a:solidFill>
            <a:srgbClr val="5F7189"/>
          </a:solidFill>
          <a:ln w="12700">
            <a:solidFill>
              <a:srgbClr val="5F7189"/>
            </a:solidFill>
            <a:prstDash val="solid"/>
          </a:ln>
        </p:spPr>
      </p:sp>
      <p:sp>
        <p:nvSpPr>
          <p:cNvPr id="20" name="Shape 17"/>
          <p:cNvSpPr/>
          <p:nvPr/>
        </p:nvSpPr>
        <p:spPr>
          <a:xfrm>
            <a:off x="4291584" y="4114800"/>
            <a:ext cx="1624584" cy="822960"/>
          </a:xfrm>
          <a:prstGeom prst="roundRect">
            <a:avLst>
              <a:gd name="adj" fmla="val 6667"/>
            </a:avLst>
          </a:prstGeom>
          <a:solidFill>
            <a:srgbClr val="12161F"/>
          </a:solidFill>
          <a:ln w="12700">
            <a:solidFill>
              <a:srgbClr val="12161F"/>
            </a:solidFill>
            <a:prstDash val="solid"/>
          </a:ln>
        </p:spPr>
      </p:sp>
      <p:sp>
        <p:nvSpPr>
          <p:cNvPr id="21" name="Text 18"/>
          <p:cNvSpPr/>
          <p:nvPr/>
        </p:nvSpPr>
        <p:spPr>
          <a:xfrm>
            <a:off x="4401312" y="4224528"/>
            <a:ext cx="1405128" cy="603504"/>
          </a:xfrm>
          <a:prstGeom prst="rect">
            <a:avLst/>
          </a:prstGeom>
          <a:noFill/>
          <a:ln/>
        </p:spPr>
        <p:txBody>
          <a:bodyPr wrap="square" lIns="0" tIns="0" rIns="0" bIns="0" rtlCol="0" anchor="ctr"/>
          <a:lstStyle/>
          <a:p>
            <a:pPr algn="ctr" indent="0" marL="0">
              <a:lnSpc>
                <a:spcPct val="100000"/>
              </a:lnSpc>
              <a:buNone/>
            </a:pPr>
            <a:r>
              <a:rPr lang="en-US" sz="1100" b="1" dirty="0">
                <a:solidFill>
                  <a:srgbClr val="E09A2E"/>
                </a:solidFill>
                <a:latin typeface="Calibri" pitchFamily="34" charset="0"/>
                <a:ea typeface="Calibri" pitchFamily="34" charset="-122"/>
                <a:cs typeface="Calibri" pitchFamily="34" charset="-120"/>
              </a:rPr>
              <a:t>1 page</a:t>
            </a:r>
            <a:endParaRPr lang="en-US" sz="1100" dirty="0"/>
          </a:p>
          <a:p>
            <a:pPr algn="ctr" indent="0" marL="0">
              <a:lnSpc>
                <a:spcPct val="100000"/>
              </a:lnSpc>
              <a:buNone/>
            </a:pPr>
            <a:r>
              <a:rPr lang="en-US" sz="1100" b="1" dirty="0">
                <a:solidFill>
                  <a:srgbClr val="E09A2E"/>
                </a:solidFill>
                <a:latin typeface="Calibri" pitchFamily="34" charset="0"/>
                <a:ea typeface="Calibri" pitchFamily="34" charset="-122"/>
                <a:cs typeface="Calibri" pitchFamily="34" charset="-120"/>
              </a:rPr>
              <a:t>1 incident</a:t>
            </a:r>
            <a:endParaRPr lang="en-US" sz="1100" dirty="0"/>
          </a:p>
        </p:txBody>
      </p:sp>
      <p:sp>
        <p:nvSpPr>
          <p:cNvPr id="22" name="Text 19"/>
          <p:cNvSpPr/>
          <p:nvPr/>
        </p:nvSpPr>
        <p:spPr>
          <a:xfrm>
            <a:off x="566928" y="5029200"/>
            <a:ext cx="5349240" cy="777240"/>
          </a:xfrm>
          <a:prstGeom prst="rect">
            <a:avLst/>
          </a:prstGeom>
          <a:noFill/>
          <a:ln/>
        </p:spPr>
        <p:txBody>
          <a:bodyPr wrap="square" lIns="0" tIns="0" rIns="0" bIns="0" rtlCol="0" anchor="t"/>
          <a:lstStyle/>
          <a:p>
            <a:pPr indent="0" marL="0">
              <a:buNone/>
            </a:pPr>
            <a:r>
              <a:rPr lang="en-US" sz="1150" dirty="0">
                <a:solidFill>
                  <a:srgbClr val="3A4557"/>
                </a:solidFill>
                <a:latin typeface="Calibri" pitchFamily="34" charset="0"/>
                <a:ea typeface="Calibri" pitchFamily="34" charset="-122"/>
                <a:cs typeface="Calibri" pitchFamily="34" charset="-120"/>
              </a:rPr>
              <a:t>Plus: a deployment attaches as context and never becomes the parent; a vendor outage absorbs its downstream symptoms; unrelated regions stay separate; recovery closes the group only when every child recovers.</a:t>
            </a:r>
            <a:endParaRPr lang="en-US" sz="1150" dirty="0"/>
          </a:p>
        </p:txBody>
      </p:sp>
      <p:sp>
        <p:nvSpPr>
          <p:cNvPr id="23" name="Text 20"/>
          <p:cNvSpPr/>
          <p:nvPr/>
        </p:nvSpPr>
        <p:spPr>
          <a:xfrm>
            <a:off x="6281928" y="2148840"/>
            <a:ext cx="5349240" cy="292608"/>
          </a:xfrm>
          <a:prstGeom prst="rect">
            <a:avLst/>
          </a:prstGeom>
          <a:noFill/>
          <a:ln/>
        </p:spPr>
        <p:txBody>
          <a:bodyPr wrap="square" lIns="0" tIns="0" rIns="0" bIns="0" rtlCol="0" anchor="ctr"/>
          <a:lstStyle/>
          <a:p>
            <a:pPr indent="0" marL="0">
              <a:buNone/>
            </a:pPr>
            <a:r>
              <a:rPr lang="en-US" sz="1400" b="1" dirty="0">
                <a:solidFill>
                  <a:srgbClr val="161C28"/>
                </a:solidFill>
                <a:latin typeface="Calibri" pitchFamily="34" charset="0"/>
                <a:ea typeface="Calibri" pitchFamily="34" charset="-122"/>
                <a:cs typeface="Calibri" pitchFamily="34" charset="-120"/>
              </a:rPr>
              <a:t>Six rules, versioned as policy</a:t>
            </a:r>
            <a:endParaRPr lang="en-US" sz="1400" dirty="0"/>
          </a:p>
        </p:txBody>
      </p:sp>
      <p:sp>
        <p:nvSpPr>
          <p:cNvPr id="24" name="Shape 21"/>
          <p:cNvSpPr/>
          <p:nvPr/>
        </p:nvSpPr>
        <p:spPr>
          <a:xfrm>
            <a:off x="6281928" y="2487168"/>
            <a:ext cx="5349240" cy="475488"/>
          </a:xfrm>
          <a:prstGeom prst="roundRect">
            <a:avLst>
              <a:gd name="adj" fmla="val 9615"/>
            </a:avLst>
          </a:prstGeom>
          <a:solidFill>
            <a:srgbClr val="F5F7FA"/>
          </a:solidFill>
          <a:ln w="12700">
            <a:solidFill>
              <a:srgbClr val="F5F7FA"/>
            </a:solidFill>
            <a:prstDash val="solid"/>
          </a:ln>
        </p:spPr>
      </p:sp>
      <p:sp>
        <p:nvSpPr>
          <p:cNvPr id="25" name="Text 22"/>
          <p:cNvSpPr/>
          <p:nvPr/>
        </p:nvSpPr>
        <p:spPr>
          <a:xfrm>
            <a:off x="6464808" y="2514600"/>
            <a:ext cx="5029200" cy="237744"/>
          </a:xfrm>
          <a:prstGeom prst="rect">
            <a:avLst/>
          </a:prstGeom>
          <a:noFill/>
          <a:ln/>
        </p:spPr>
        <p:txBody>
          <a:bodyPr wrap="square" lIns="0" tIns="0" rIns="0" bIns="0" rtlCol="0" anchor="ctr"/>
          <a:lstStyle/>
          <a:p>
            <a:pPr indent="0" marL="0">
              <a:buNone/>
            </a:pPr>
            <a:r>
              <a:rPr lang="en-US" sz="1050" b="1" dirty="0">
                <a:solidFill>
                  <a:srgbClr val="B87914"/>
                </a:solidFill>
                <a:latin typeface="Courier New" pitchFamily="34" charset="0"/>
                <a:ea typeface="Courier New" pitchFamily="34" charset="-122"/>
                <a:cs typeface="Courier New" pitchFamily="34" charset="-120"/>
              </a:rPr>
              <a:t>group-by-correlation-key</a:t>
            </a:r>
            <a:endParaRPr lang="en-US" sz="1050" dirty="0"/>
          </a:p>
        </p:txBody>
      </p:sp>
      <p:sp>
        <p:nvSpPr>
          <p:cNvPr id="26" name="Text 23"/>
          <p:cNvSpPr/>
          <p:nvPr/>
        </p:nvSpPr>
        <p:spPr>
          <a:xfrm>
            <a:off x="6464808" y="2734056"/>
            <a:ext cx="5029200" cy="237744"/>
          </a:xfrm>
          <a:prstGeom prst="rect">
            <a:avLst/>
          </a:prstGeom>
          <a:noFill/>
          <a:ln/>
        </p:spPr>
        <p:txBody>
          <a:bodyPr wrap="square" lIns="0" tIns="0" rIns="0" bIns="0" rtlCol="0" anchor="ctr"/>
          <a:lstStyle/>
          <a:p>
            <a:pPr indent="0" marL="0">
              <a:buNone/>
            </a:pPr>
            <a:r>
              <a:rPr lang="en-US" sz="1050" dirty="0">
                <a:solidFill>
                  <a:srgbClr val="6B7891"/>
                </a:solidFill>
                <a:latin typeface="Calibri" pitchFamily="34" charset="0"/>
                <a:ea typeface="Calibri" pitchFamily="34" charset="-122"/>
                <a:cs typeface="Calibri" pitchFamily="34" charset="-120"/>
              </a:rPr>
              <a:t>one case per failure domain + env + service</a:t>
            </a:r>
            <a:endParaRPr lang="en-US" sz="1050" dirty="0"/>
          </a:p>
        </p:txBody>
      </p:sp>
      <p:sp>
        <p:nvSpPr>
          <p:cNvPr id="27" name="Shape 24"/>
          <p:cNvSpPr/>
          <p:nvPr/>
        </p:nvSpPr>
        <p:spPr>
          <a:xfrm>
            <a:off x="6281928" y="3017520"/>
            <a:ext cx="5349240" cy="475488"/>
          </a:xfrm>
          <a:prstGeom prst="roundRect">
            <a:avLst>
              <a:gd name="adj" fmla="val 9615"/>
            </a:avLst>
          </a:prstGeom>
          <a:solidFill>
            <a:srgbClr val="F5F7FA"/>
          </a:solidFill>
          <a:ln w="12700">
            <a:solidFill>
              <a:srgbClr val="F5F7FA"/>
            </a:solidFill>
            <a:prstDash val="solid"/>
          </a:ln>
        </p:spPr>
      </p:sp>
      <p:sp>
        <p:nvSpPr>
          <p:cNvPr id="28" name="Text 25"/>
          <p:cNvSpPr/>
          <p:nvPr/>
        </p:nvSpPr>
        <p:spPr>
          <a:xfrm>
            <a:off x="6464808" y="3044952"/>
            <a:ext cx="5029200" cy="237744"/>
          </a:xfrm>
          <a:prstGeom prst="rect">
            <a:avLst/>
          </a:prstGeom>
          <a:noFill/>
          <a:ln/>
        </p:spPr>
        <p:txBody>
          <a:bodyPr wrap="square" lIns="0" tIns="0" rIns="0" bIns="0" rtlCol="0" anchor="ctr"/>
          <a:lstStyle/>
          <a:p>
            <a:pPr indent="0" marL="0">
              <a:buNone/>
            </a:pPr>
            <a:r>
              <a:rPr lang="en-US" sz="1050" b="1" dirty="0">
                <a:solidFill>
                  <a:srgbClr val="B87914"/>
                </a:solidFill>
                <a:latin typeface="Courier New" pitchFamily="34" charset="0"/>
                <a:ea typeface="Courier New" pitchFamily="34" charset="-122"/>
                <a:cs typeface="Courier New" pitchFamily="34" charset="-120"/>
              </a:rPr>
              <a:t>attach-change-context</a:t>
            </a:r>
            <a:endParaRPr lang="en-US" sz="1050" dirty="0"/>
          </a:p>
        </p:txBody>
      </p:sp>
      <p:sp>
        <p:nvSpPr>
          <p:cNvPr id="29" name="Text 26"/>
          <p:cNvSpPr/>
          <p:nvPr/>
        </p:nvSpPr>
        <p:spPr>
          <a:xfrm>
            <a:off x="6464808" y="3264408"/>
            <a:ext cx="5029200" cy="237744"/>
          </a:xfrm>
          <a:prstGeom prst="rect">
            <a:avLst/>
          </a:prstGeom>
          <a:noFill/>
          <a:ln/>
        </p:spPr>
        <p:txBody>
          <a:bodyPr wrap="square" lIns="0" tIns="0" rIns="0" bIns="0" rtlCol="0" anchor="ctr"/>
          <a:lstStyle/>
          <a:p>
            <a:pPr indent="0" marL="0">
              <a:buNone/>
            </a:pPr>
            <a:r>
              <a:rPr lang="en-US" sz="1050" dirty="0">
                <a:solidFill>
                  <a:srgbClr val="6B7891"/>
                </a:solidFill>
                <a:latin typeface="Calibri" pitchFamily="34" charset="0"/>
                <a:ea typeface="Calibri" pitchFamily="34" charset="-122"/>
                <a:cs typeface="Calibri" pitchFamily="34" charset="-120"/>
              </a:rPr>
              <a:t>deploys and changes explain, never page, never parent</a:t>
            </a:r>
            <a:endParaRPr lang="en-US" sz="1050" dirty="0"/>
          </a:p>
        </p:txBody>
      </p:sp>
      <p:sp>
        <p:nvSpPr>
          <p:cNvPr id="30" name="Shape 27"/>
          <p:cNvSpPr/>
          <p:nvPr/>
        </p:nvSpPr>
        <p:spPr>
          <a:xfrm>
            <a:off x="6281928" y="3547872"/>
            <a:ext cx="5349240" cy="475488"/>
          </a:xfrm>
          <a:prstGeom prst="roundRect">
            <a:avLst>
              <a:gd name="adj" fmla="val 9615"/>
            </a:avLst>
          </a:prstGeom>
          <a:solidFill>
            <a:srgbClr val="F5F7FA"/>
          </a:solidFill>
          <a:ln w="12700">
            <a:solidFill>
              <a:srgbClr val="F5F7FA"/>
            </a:solidFill>
            <a:prstDash val="solid"/>
          </a:ln>
        </p:spPr>
      </p:sp>
      <p:sp>
        <p:nvSpPr>
          <p:cNvPr id="31" name="Text 28"/>
          <p:cNvSpPr/>
          <p:nvPr/>
        </p:nvSpPr>
        <p:spPr>
          <a:xfrm>
            <a:off x="6464808" y="3575304"/>
            <a:ext cx="5029200" cy="237744"/>
          </a:xfrm>
          <a:prstGeom prst="rect">
            <a:avLst/>
          </a:prstGeom>
          <a:noFill/>
          <a:ln/>
        </p:spPr>
        <p:txBody>
          <a:bodyPr wrap="square" lIns="0" tIns="0" rIns="0" bIns="0" rtlCol="0" anchor="ctr"/>
          <a:lstStyle/>
          <a:p>
            <a:pPr indent="0" marL="0">
              <a:buNone/>
            </a:pPr>
            <a:r>
              <a:rPr lang="en-US" sz="1050" b="1" dirty="0">
                <a:solidFill>
                  <a:srgbClr val="B87914"/>
                </a:solidFill>
                <a:latin typeface="Courier New" pitchFamily="34" charset="0"/>
                <a:ea typeface="Courier New" pitchFamily="34" charset="-122"/>
                <a:cs typeface="Courier New" pitchFamily="34" charset="-120"/>
              </a:rPr>
              <a:t>platform-cause-suppresses-app-symptom</a:t>
            </a:r>
            <a:endParaRPr lang="en-US" sz="1050" dirty="0"/>
          </a:p>
        </p:txBody>
      </p:sp>
      <p:sp>
        <p:nvSpPr>
          <p:cNvPr id="32" name="Text 29"/>
          <p:cNvSpPr/>
          <p:nvPr/>
        </p:nvSpPr>
        <p:spPr>
          <a:xfrm>
            <a:off x="6464808" y="3794760"/>
            <a:ext cx="5029200" cy="237744"/>
          </a:xfrm>
          <a:prstGeom prst="rect">
            <a:avLst/>
          </a:prstGeom>
          <a:noFill/>
          <a:ln/>
        </p:spPr>
        <p:txBody>
          <a:bodyPr wrap="square" lIns="0" tIns="0" rIns="0" bIns="0" rtlCol="0" anchor="ctr"/>
          <a:lstStyle/>
          <a:p>
            <a:pPr indent="0" marL="0">
              <a:buNone/>
            </a:pPr>
            <a:r>
              <a:rPr lang="en-US" sz="1050" dirty="0">
                <a:solidFill>
                  <a:srgbClr val="6B7891"/>
                </a:solidFill>
                <a:latin typeface="Calibri" pitchFamily="34" charset="0"/>
                <a:ea typeface="Calibri" pitchFamily="34" charset="-122"/>
                <a:cs typeface="Calibri" pitchFamily="34" charset="-120"/>
              </a:rPr>
              <a:t>infra adopts application symptoms in the same region</a:t>
            </a:r>
            <a:endParaRPr lang="en-US" sz="1050" dirty="0"/>
          </a:p>
        </p:txBody>
      </p:sp>
      <p:sp>
        <p:nvSpPr>
          <p:cNvPr id="33" name="Shape 30"/>
          <p:cNvSpPr/>
          <p:nvPr/>
        </p:nvSpPr>
        <p:spPr>
          <a:xfrm>
            <a:off x="6281928" y="4078224"/>
            <a:ext cx="5349240" cy="475488"/>
          </a:xfrm>
          <a:prstGeom prst="roundRect">
            <a:avLst>
              <a:gd name="adj" fmla="val 9615"/>
            </a:avLst>
          </a:prstGeom>
          <a:solidFill>
            <a:srgbClr val="F5F7FA"/>
          </a:solidFill>
          <a:ln w="12700">
            <a:solidFill>
              <a:srgbClr val="F5F7FA"/>
            </a:solidFill>
            <a:prstDash val="solid"/>
          </a:ln>
        </p:spPr>
      </p:sp>
      <p:sp>
        <p:nvSpPr>
          <p:cNvPr id="34" name="Text 31"/>
          <p:cNvSpPr/>
          <p:nvPr/>
        </p:nvSpPr>
        <p:spPr>
          <a:xfrm>
            <a:off x="6464808" y="4105656"/>
            <a:ext cx="5029200" cy="237744"/>
          </a:xfrm>
          <a:prstGeom prst="rect">
            <a:avLst/>
          </a:prstGeom>
          <a:noFill/>
          <a:ln/>
        </p:spPr>
        <p:txBody>
          <a:bodyPr wrap="square" lIns="0" tIns="0" rIns="0" bIns="0" rtlCol="0" anchor="ctr"/>
          <a:lstStyle/>
          <a:p>
            <a:pPr indent="0" marL="0">
              <a:buNone/>
            </a:pPr>
            <a:r>
              <a:rPr lang="en-US" sz="1050" b="1" dirty="0">
                <a:solidFill>
                  <a:srgbClr val="B87914"/>
                </a:solidFill>
                <a:latin typeface="Courier New" pitchFamily="34" charset="0"/>
                <a:ea typeface="Courier New" pitchFamily="34" charset="-122"/>
                <a:cs typeface="Courier New" pitchFamily="34" charset="-120"/>
              </a:rPr>
              <a:t>vendor-outage-suppresses-integration</a:t>
            </a:r>
            <a:endParaRPr lang="en-US" sz="1050" dirty="0"/>
          </a:p>
        </p:txBody>
      </p:sp>
      <p:sp>
        <p:nvSpPr>
          <p:cNvPr id="35" name="Text 32"/>
          <p:cNvSpPr/>
          <p:nvPr/>
        </p:nvSpPr>
        <p:spPr>
          <a:xfrm>
            <a:off x="6464808" y="4325112"/>
            <a:ext cx="5029200" cy="237744"/>
          </a:xfrm>
          <a:prstGeom prst="rect">
            <a:avLst/>
          </a:prstGeom>
          <a:noFill/>
          <a:ln/>
        </p:spPr>
        <p:txBody>
          <a:bodyPr wrap="square" lIns="0" tIns="0" rIns="0" bIns="0" rtlCol="0" anchor="ctr"/>
          <a:lstStyle/>
          <a:p>
            <a:pPr indent="0" marL="0">
              <a:buNone/>
            </a:pPr>
            <a:r>
              <a:rPr lang="en-US" sz="1050" dirty="0">
                <a:solidFill>
                  <a:srgbClr val="6B7891"/>
                </a:solidFill>
                <a:latin typeface="Calibri" pitchFamily="34" charset="0"/>
                <a:ea typeface="Calibri" pitchFamily="34" charset="-122"/>
                <a:cs typeface="Calibri" pitchFamily="34" charset="-120"/>
              </a:rPr>
              <a:t>"it is them, not us" — once, not twelve times</a:t>
            </a:r>
            <a:endParaRPr lang="en-US" sz="1050" dirty="0"/>
          </a:p>
        </p:txBody>
      </p:sp>
      <p:sp>
        <p:nvSpPr>
          <p:cNvPr id="36" name="Shape 33"/>
          <p:cNvSpPr/>
          <p:nvPr/>
        </p:nvSpPr>
        <p:spPr>
          <a:xfrm>
            <a:off x="6281928" y="4608576"/>
            <a:ext cx="5349240" cy="475488"/>
          </a:xfrm>
          <a:prstGeom prst="roundRect">
            <a:avLst>
              <a:gd name="adj" fmla="val 9615"/>
            </a:avLst>
          </a:prstGeom>
          <a:solidFill>
            <a:srgbClr val="F5F7FA"/>
          </a:solidFill>
          <a:ln w="12700">
            <a:solidFill>
              <a:srgbClr val="F5F7FA"/>
            </a:solidFill>
            <a:prstDash val="solid"/>
          </a:ln>
        </p:spPr>
      </p:sp>
      <p:sp>
        <p:nvSpPr>
          <p:cNvPr id="37" name="Text 34"/>
          <p:cNvSpPr/>
          <p:nvPr/>
        </p:nvSpPr>
        <p:spPr>
          <a:xfrm>
            <a:off x="6464808" y="4636008"/>
            <a:ext cx="5029200" cy="237744"/>
          </a:xfrm>
          <a:prstGeom prst="rect">
            <a:avLst/>
          </a:prstGeom>
          <a:noFill/>
          <a:ln/>
        </p:spPr>
        <p:txBody>
          <a:bodyPr wrap="square" lIns="0" tIns="0" rIns="0" bIns="0" rtlCol="0" anchor="ctr"/>
          <a:lstStyle/>
          <a:p>
            <a:pPr indent="0" marL="0">
              <a:buNone/>
            </a:pPr>
            <a:r>
              <a:rPr lang="en-US" sz="1050" b="1" dirty="0">
                <a:solidFill>
                  <a:srgbClr val="B87914"/>
                </a:solidFill>
                <a:latin typeface="Courier New" pitchFamily="34" charset="0"/>
                <a:ea typeface="Courier New" pitchFamily="34" charset="-122"/>
                <a:cs typeface="Courier New" pitchFamily="34" charset="-120"/>
              </a:rPr>
              <a:t>maintenance-window-suppression</a:t>
            </a:r>
            <a:endParaRPr lang="en-US" sz="1050" dirty="0"/>
          </a:p>
        </p:txBody>
      </p:sp>
      <p:sp>
        <p:nvSpPr>
          <p:cNvPr id="38" name="Text 35"/>
          <p:cNvSpPr/>
          <p:nvPr/>
        </p:nvSpPr>
        <p:spPr>
          <a:xfrm>
            <a:off x="6464808" y="4855464"/>
            <a:ext cx="5029200" cy="237744"/>
          </a:xfrm>
          <a:prstGeom prst="rect">
            <a:avLst/>
          </a:prstGeom>
          <a:noFill/>
          <a:ln/>
        </p:spPr>
        <p:txBody>
          <a:bodyPr wrap="square" lIns="0" tIns="0" rIns="0" bIns="0" rtlCol="0" anchor="ctr"/>
          <a:lstStyle/>
          <a:p>
            <a:pPr indent="0" marL="0">
              <a:buNone/>
            </a:pPr>
            <a:r>
              <a:rPr lang="en-US" sz="1050" dirty="0">
                <a:solidFill>
                  <a:srgbClr val="6B7891"/>
                </a:solidFill>
                <a:latin typeface="Calibri" pitchFamily="34" charset="0"/>
                <a:ea typeface="Calibri" pitchFamily="34" charset="-122"/>
                <a:cs typeface="Calibri" pitchFamily="34" charset="-120"/>
              </a:rPr>
              <a:t>events inside a downtime never open a group</a:t>
            </a:r>
            <a:endParaRPr lang="en-US" sz="1050" dirty="0"/>
          </a:p>
        </p:txBody>
      </p:sp>
      <p:sp>
        <p:nvSpPr>
          <p:cNvPr id="39" name="Shape 36"/>
          <p:cNvSpPr/>
          <p:nvPr/>
        </p:nvSpPr>
        <p:spPr>
          <a:xfrm>
            <a:off x="6281928" y="5138928"/>
            <a:ext cx="5349240" cy="475488"/>
          </a:xfrm>
          <a:prstGeom prst="roundRect">
            <a:avLst>
              <a:gd name="adj" fmla="val 9615"/>
            </a:avLst>
          </a:prstGeom>
          <a:solidFill>
            <a:srgbClr val="F5F7FA"/>
          </a:solidFill>
          <a:ln w="12700">
            <a:solidFill>
              <a:srgbClr val="F5F7FA"/>
            </a:solidFill>
            <a:prstDash val="solid"/>
          </a:ln>
        </p:spPr>
      </p:sp>
      <p:sp>
        <p:nvSpPr>
          <p:cNvPr id="40" name="Text 37"/>
          <p:cNvSpPr/>
          <p:nvPr/>
        </p:nvSpPr>
        <p:spPr>
          <a:xfrm>
            <a:off x="6464808" y="5166360"/>
            <a:ext cx="5029200" cy="237744"/>
          </a:xfrm>
          <a:prstGeom prst="rect">
            <a:avLst/>
          </a:prstGeom>
          <a:noFill/>
          <a:ln/>
        </p:spPr>
        <p:txBody>
          <a:bodyPr wrap="square" lIns="0" tIns="0" rIns="0" bIns="0" rtlCol="0" anchor="ctr"/>
          <a:lstStyle/>
          <a:p>
            <a:pPr indent="0" marL="0">
              <a:buNone/>
            </a:pPr>
            <a:r>
              <a:rPr lang="en-US" sz="1050" b="1" dirty="0">
                <a:solidFill>
                  <a:srgbClr val="B87914"/>
                </a:solidFill>
                <a:latin typeface="Courier New" pitchFamily="34" charset="0"/>
                <a:ea typeface="Courier New" pitchFamily="34" charset="-122"/>
                <a:cs typeface="Courier New" pitchFamily="34" charset="-120"/>
              </a:rPr>
              <a:t>scope-uplift</a:t>
            </a:r>
            <a:endParaRPr lang="en-US" sz="1050" dirty="0"/>
          </a:p>
        </p:txBody>
      </p:sp>
      <p:sp>
        <p:nvSpPr>
          <p:cNvPr id="41" name="Text 38"/>
          <p:cNvSpPr/>
          <p:nvPr/>
        </p:nvSpPr>
        <p:spPr>
          <a:xfrm>
            <a:off x="6464808" y="5385816"/>
            <a:ext cx="5029200" cy="237744"/>
          </a:xfrm>
          <a:prstGeom prst="rect">
            <a:avLst/>
          </a:prstGeom>
          <a:noFill/>
          <a:ln/>
        </p:spPr>
        <p:txBody>
          <a:bodyPr wrap="square" lIns="0" tIns="0" rIns="0" bIns="0" rtlCol="0" anchor="ctr"/>
          <a:lstStyle/>
          <a:p>
            <a:pPr indent="0" marL="0">
              <a:buNone/>
            </a:pPr>
            <a:r>
              <a:rPr lang="en-US" sz="1050" dirty="0">
                <a:solidFill>
                  <a:srgbClr val="6B7891"/>
                </a:solidFill>
                <a:latin typeface="Calibri" pitchFamily="34" charset="0"/>
                <a:ea typeface="Calibri" pitchFamily="34" charset="-122"/>
                <a:cs typeface="Calibri" pitchFamily="34" charset="-120"/>
              </a:rPr>
              <a:t>a group spanning &gt;25% of a pack rises one priority</a:t>
            </a:r>
            <a:endParaRPr lang="en-US" sz="1050" dirty="0"/>
          </a:p>
        </p:txBody>
      </p:sp>
      <p:sp>
        <p:nvSpPr>
          <p:cNvPr id="42" name="Text 39"/>
          <p:cNvSpPr/>
          <p:nvPr/>
        </p:nvSpPr>
        <p:spPr>
          <a:xfrm>
            <a:off x="6281928" y="5742432"/>
            <a:ext cx="5349240" cy="548640"/>
          </a:xfrm>
          <a:prstGeom prst="rect">
            <a:avLst/>
          </a:prstGeom>
          <a:noFill/>
          <a:ln/>
        </p:spPr>
        <p:txBody>
          <a:bodyPr wrap="square" lIns="0" tIns="0" rIns="0" bIns="0" rtlCol="0" anchor="t"/>
          <a:lstStyle/>
          <a:p>
            <a:pPr indent="0" marL="0">
              <a:buNone/>
            </a:pPr>
            <a:r>
              <a:rPr lang="en-US" sz="1050" dirty="0">
                <a:solidFill>
                  <a:srgbClr val="5F7189"/>
                </a:solidFill>
                <a:latin typeface="Calibri" pitchFamily="34" charset="0"/>
                <a:ea typeface="Calibri" pitchFamily="34" charset="-122"/>
                <a:cs typeface="Calibri" pitchFamily="34" charset="-120"/>
              </a:rPr>
              <a:t>Why partial: Datadog's correlation rules have no GA Terraform resource or public API. The rules file is an executable specification, proven in CI — when the API ships, the same YAML becomes its input with no monitor changes.</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8778240" cy="256032"/>
          </a:xfrm>
          <a:prstGeom prst="rect">
            <a:avLst/>
          </a:prstGeom>
          <a:noFill/>
          <a:ln/>
        </p:spPr>
        <p:txBody>
          <a:bodyPr wrap="square" lIns="0" tIns="0" rIns="0" bIns="0" rtlCol="0" anchor="ctr"/>
          <a:lstStyle/>
          <a:p>
            <a:pPr indent="0" marL="0">
              <a:buNone/>
            </a:pPr>
            <a:r>
              <a:rPr lang="en-US" sz="1050" b="1" spc="160" kern="0" dirty="0">
                <a:solidFill>
                  <a:srgbClr val="B87914"/>
                </a:solidFill>
                <a:latin typeface="Calibri" pitchFamily="34" charset="0"/>
                <a:ea typeface="Calibri" pitchFamily="34" charset="-122"/>
                <a:cs typeface="Calibri" pitchFamily="34" charset="-120"/>
              </a:rPr>
              <a:t>TOPIC 15</a:t>
            </a:r>
            <a:endParaRPr lang="en-US" sz="1050" dirty="0"/>
          </a:p>
        </p:txBody>
      </p:sp>
      <p:sp>
        <p:nvSpPr>
          <p:cNvPr id="3" name="Text 1"/>
          <p:cNvSpPr/>
          <p:nvPr/>
        </p:nvSpPr>
        <p:spPr>
          <a:xfrm>
            <a:off x="566928" y="694944"/>
            <a:ext cx="10424160" cy="786384"/>
          </a:xfrm>
          <a:prstGeom prst="rect">
            <a:avLst/>
          </a:prstGeom>
          <a:noFill/>
          <a:ln/>
        </p:spPr>
        <p:txBody>
          <a:bodyPr wrap="square" lIns="0" tIns="0" rIns="0" bIns="0" rtlCol="0" anchor="ctr"/>
          <a:lstStyle/>
          <a:p>
            <a:pPr indent="0" marL="0">
              <a:buNone/>
            </a:pPr>
            <a:r>
              <a:rPr lang="en-US" sz="3100" b="1" dirty="0">
                <a:solidFill>
                  <a:srgbClr val="161C28"/>
                </a:solidFill>
                <a:latin typeface="Cambria" pitchFamily="34" charset="0"/>
                <a:ea typeface="Cambria" pitchFamily="34" charset="-122"/>
                <a:cs typeface="Cambria" pitchFamily="34" charset="-120"/>
              </a:rPr>
              <a:t>Alert-noise reduction</a:t>
            </a:r>
            <a:endParaRPr lang="en-US" sz="3100" dirty="0"/>
          </a:p>
        </p:txBody>
      </p:sp>
      <p:sp>
        <p:nvSpPr>
          <p:cNvPr id="4" name="Text 2"/>
          <p:cNvSpPr/>
          <p:nvPr/>
        </p:nvSpPr>
        <p:spPr>
          <a:xfrm>
            <a:off x="566928" y="1481328"/>
            <a:ext cx="10698480" cy="457200"/>
          </a:xfrm>
          <a:prstGeom prst="rect">
            <a:avLst/>
          </a:prstGeom>
          <a:noFill/>
          <a:ln/>
        </p:spPr>
        <p:txBody>
          <a:bodyPr wrap="square" lIns="0" tIns="0" rIns="0" bIns="0" rtlCol="0" anchor="t"/>
          <a:lstStyle/>
          <a:p>
            <a:pPr indent="0" marL="0">
              <a:buNone/>
            </a:pPr>
            <a:r>
              <a:rPr lang="en-US" sz="1450" dirty="0">
                <a:solidFill>
                  <a:srgbClr val="3A4557"/>
                </a:solidFill>
                <a:latin typeface="Calibri" pitchFamily="34" charset="0"/>
                <a:ea typeface="Calibri" pitchFamily="34" charset="-122"/>
                <a:cs typeface="Calibri" pitchFamily="34" charset="-120"/>
              </a:rPr>
              <a:t>Priority states the required human response. A second, narrower rule decides paging — conflating the two is the main cause of alert fatigue.</a:t>
            </a:r>
            <a:endParaRPr lang="en-US" sz="1450" dirty="0"/>
          </a:p>
        </p:txBody>
      </p:sp>
      <p:sp>
        <p:nvSpPr>
          <p:cNvPr id="5" name="Shape 3"/>
          <p:cNvSpPr/>
          <p:nvPr/>
        </p:nvSpPr>
        <p:spPr>
          <a:xfrm>
            <a:off x="10568635" y="420624"/>
            <a:ext cx="1056132" cy="310896"/>
          </a:xfrm>
          <a:prstGeom prst="roundRect">
            <a:avLst>
              <a:gd name="adj" fmla="val 50000"/>
            </a:avLst>
          </a:prstGeom>
          <a:solidFill>
            <a:srgbClr val="27807C"/>
          </a:solidFill>
          <a:ln w="12700">
            <a:solidFill>
              <a:srgbClr val="27807C"/>
            </a:solidFill>
            <a:prstDash val="solid"/>
          </a:ln>
        </p:spPr>
      </p:sp>
      <p:sp>
        <p:nvSpPr>
          <p:cNvPr id="6" name="Text 4"/>
          <p:cNvSpPr/>
          <p:nvPr/>
        </p:nvSpPr>
        <p:spPr>
          <a:xfrm>
            <a:off x="10568635" y="420624"/>
            <a:ext cx="1056132" cy="310896"/>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SHIPPED</a:t>
            </a:r>
            <a:endParaRPr lang="en-US" sz="950" dirty="0"/>
          </a:p>
        </p:txBody>
      </p:sp>
      <p:sp>
        <p:nvSpPr>
          <p:cNvPr id="7" name="Text 5"/>
          <p:cNvSpPr/>
          <p:nvPr/>
        </p:nvSpPr>
        <p:spPr>
          <a:xfrm>
            <a:off x="566928" y="6345936"/>
            <a:ext cx="7315200" cy="274320"/>
          </a:xfrm>
          <a:prstGeom prst="rect">
            <a:avLst/>
          </a:prstGeom>
          <a:noFill/>
          <a:ln/>
        </p:spPr>
        <p:txBody>
          <a:bodyPr wrap="square" lIns="0" tIns="0" rIns="0" bIns="0" rtlCol="0" anchor="ctr"/>
          <a:lstStyle/>
          <a:p>
            <a:pPr indent="0" marL="0">
              <a:buNone/>
            </a:pPr>
            <a:r>
              <a:rPr lang="en-US" sz="900" dirty="0">
                <a:solidFill>
                  <a:srgbClr val="6B7891"/>
                </a:solidFill>
                <a:latin typeface="Calibri" pitchFamily="34" charset="0"/>
                <a:ea typeface="Calibri" pitchFamily="34" charset="-122"/>
                <a:cs typeface="Calibri" pitchFamily="34" charset="-120"/>
              </a:rPr>
              <a:t>Enterprise Observability  ·  policy-as-data on Datadog</a:t>
            </a:r>
            <a:endParaRPr lang="en-US" sz="900" dirty="0"/>
          </a:p>
        </p:txBody>
      </p:sp>
      <p:sp>
        <p:nvSpPr>
          <p:cNvPr id="8" name="Text 6"/>
          <p:cNvSpPr/>
          <p:nvPr/>
        </p:nvSpPr>
        <p:spPr>
          <a:xfrm>
            <a:off x="10710367" y="6345936"/>
            <a:ext cx="914400" cy="274320"/>
          </a:xfrm>
          <a:prstGeom prst="rect">
            <a:avLst/>
          </a:prstGeom>
          <a:noFill/>
          <a:ln/>
        </p:spPr>
        <p:txBody>
          <a:bodyPr wrap="square" lIns="0" tIns="0" rIns="0" bIns="0" rtlCol="0" anchor="ctr"/>
          <a:lstStyle/>
          <a:p>
            <a:pPr algn="r" indent="0" marL="0">
              <a:buNone/>
            </a:pPr>
            <a:r>
              <a:rPr lang="en-US" sz="900" dirty="0">
                <a:solidFill>
                  <a:srgbClr val="6B7891"/>
                </a:solidFill>
                <a:latin typeface="Calibri" pitchFamily="34" charset="0"/>
                <a:ea typeface="Calibri" pitchFamily="34" charset="-122"/>
                <a:cs typeface="Calibri" pitchFamily="34" charset="-120"/>
              </a:rPr>
              <a:t>22</a:t>
            </a:r>
            <a:endParaRPr lang="en-US" sz="900" dirty="0"/>
          </a:p>
        </p:txBody>
      </p:sp>
      <p:sp>
        <p:nvSpPr>
          <p:cNvPr id="10" name="Shape 7"/>
          <p:cNvSpPr/>
          <p:nvPr/>
        </p:nvSpPr>
        <p:spPr>
          <a:xfrm>
            <a:off x="566928" y="2148840"/>
            <a:ext cx="6400800" cy="1371600"/>
          </a:xfrm>
          <a:prstGeom prst="roundRect">
            <a:avLst>
              <a:gd name="adj" fmla="val 4667"/>
            </a:avLst>
          </a:prstGeom>
          <a:solidFill>
            <a:srgbClr val="12161F"/>
          </a:solidFill>
          <a:ln w="12700">
            <a:solidFill>
              <a:srgbClr val="12161F"/>
            </a:solidFill>
            <a:prstDash val="solid"/>
          </a:ln>
        </p:spPr>
      </p:sp>
      <p:sp>
        <p:nvSpPr>
          <p:cNvPr id="11" name="Text 8"/>
          <p:cNvSpPr/>
          <p:nvPr/>
        </p:nvSpPr>
        <p:spPr>
          <a:xfrm>
            <a:off x="822960" y="2286000"/>
            <a:ext cx="5852160" cy="256032"/>
          </a:xfrm>
          <a:prstGeom prst="rect">
            <a:avLst/>
          </a:prstGeom>
          <a:noFill/>
          <a:ln/>
        </p:spPr>
        <p:txBody>
          <a:bodyPr wrap="square" lIns="0" tIns="0" rIns="0" bIns="0" rtlCol="0" anchor="ctr"/>
          <a:lstStyle/>
          <a:p>
            <a:pPr indent="0" marL="0">
              <a:buNone/>
            </a:pPr>
            <a:r>
              <a:rPr lang="en-US" sz="1000" b="1" spc="160" kern="0" dirty="0">
                <a:solidFill>
                  <a:srgbClr val="E09A2E"/>
                </a:solidFill>
                <a:latin typeface="Calibri" pitchFamily="34" charset="0"/>
                <a:ea typeface="Calibri" pitchFamily="34" charset="-122"/>
                <a:cs typeface="Calibri" pitchFamily="34" charset="-120"/>
              </a:rPr>
              <a:t>THE PAGING RULE</a:t>
            </a:r>
            <a:endParaRPr lang="en-US" sz="1000" dirty="0"/>
          </a:p>
        </p:txBody>
      </p:sp>
      <p:sp>
        <p:nvSpPr>
          <p:cNvPr id="12" name="Text 9"/>
          <p:cNvSpPr/>
          <p:nvPr/>
        </p:nvSpPr>
        <p:spPr>
          <a:xfrm>
            <a:off x="822960" y="2560320"/>
            <a:ext cx="5943600" cy="868680"/>
          </a:xfrm>
          <a:prstGeom prst="rect">
            <a:avLst/>
          </a:prstGeom>
          <a:noFill/>
          <a:ln/>
        </p:spPr>
        <p:txBody>
          <a:bodyPr wrap="square" lIns="0" tIns="0" rIns="0" bIns="0" rtlCol="0" anchor="ctr"/>
          <a:lstStyle/>
          <a:p>
            <a:pPr indent="0" marL="0">
              <a:lnSpc>
                <a:spcPct val="112000"/>
              </a:lnSpc>
              <a:buNone/>
            </a:pPr>
            <a:r>
              <a:rPr lang="en-US" sz="1250" dirty="0">
                <a:solidFill>
                  <a:srgbClr val="FFFFFF"/>
                </a:solidFill>
                <a:latin typeface="Courier New" pitchFamily="34" charset="0"/>
                <a:ea typeface="Courier New" pitchFamily="34" charset="-122"/>
                <a:cs typeface="Courier New" pitchFamily="34" charset="-120"/>
              </a:rPr>
              <a:t>pages =  env == prod</a:t>
            </a:r>
            <a:endParaRPr lang="en-US" sz="1250" dirty="0"/>
          </a:p>
          <a:p>
            <a:pPr indent="0" marL="0">
              <a:lnSpc>
                <a:spcPct val="112000"/>
              </a:lnSpc>
              <a:buNone/>
            </a:pPr>
            <a:r>
              <a:rPr lang="en-US" sz="1250" dirty="0">
                <a:solidFill>
                  <a:srgbClr val="FFFFFF"/>
                </a:solidFill>
                <a:latin typeface="Courier New" pitchFamily="34" charset="0"/>
                <a:ea typeface="Courier New" pitchFamily="34" charset="-122"/>
                <a:cs typeface="Courier New" pitchFamily="34" charset="-120"/>
              </a:rPr>
              <a:t>     AND alert_band == critical</a:t>
            </a:r>
            <a:endParaRPr lang="en-US" sz="1250" dirty="0"/>
          </a:p>
          <a:p>
            <a:pPr indent="0" marL="0">
              <a:lnSpc>
                <a:spcPct val="112000"/>
              </a:lnSpc>
              <a:buNone/>
            </a:pPr>
            <a:r>
              <a:rPr lang="en-US" sz="1250" dirty="0">
                <a:solidFill>
                  <a:srgbClr val="FFFFFF"/>
                </a:solidFill>
                <a:latin typeface="Courier New" pitchFamily="34" charset="0"/>
                <a:ea typeface="Courier New" pitchFamily="34" charset="-122"/>
                <a:cs typeface="Courier New" pitchFamily="34" charset="-120"/>
              </a:rPr>
              <a:t>     AND ( priority == P1  OR  source in (slo_burn, composite) )</a:t>
            </a:r>
            <a:endParaRPr lang="en-US" sz="1250" dirty="0"/>
          </a:p>
        </p:txBody>
      </p:sp>
      <p:sp>
        <p:nvSpPr>
          <p:cNvPr id="13" name="Text 10"/>
          <p:cNvSpPr/>
          <p:nvPr/>
        </p:nvSpPr>
        <p:spPr>
          <a:xfrm>
            <a:off x="7424928" y="2194560"/>
            <a:ext cx="2011680" cy="777240"/>
          </a:xfrm>
          <a:prstGeom prst="rect">
            <a:avLst/>
          </a:prstGeom>
          <a:noFill/>
          <a:ln/>
        </p:spPr>
        <p:txBody>
          <a:bodyPr wrap="square" lIns="0" tIns="0" rIns="0" bIns="0" rtlCol="0" anchor="ctr"/>
          <a:lstStyle/>
          <a:p>
            <a:pPr algn="l" indent="0" marL="0">
              <a:buNone/>
            </a:pPr>
            <a:r>
              <a:rPr lang="en-US" sz="4400" b="1" dirty="0">
                <a:solidFill>
                  <a:srgbClr val="BE4A3F"/>
                </a:solidFill>
                <a:latin typeface="Cambria" pitchFamily="34" charset="0"/>
                <a:ea typeface="Cambria" pitchFamily="34" charset="-122"/>
                <a:cs typeface="Cambria" pitchFamily="34" charset="-120"/>
              </a:rPr>
              <a:t>70</a:t>
            </a:r>
            <a:endParaRPr lang="en-US" sz="4400" dirty="0"/>
          </a:p>
        </p:txBody>
      </p:sp>
      <p:sp>
        <p:nvSpPr>
          <p:cNvPr id="14" name="Text 11"/>
          <p:cNvSpPr/>
          <p:nvPr/>
        </p:nvSpPr>
        <p:spPr>
          <a:xfrm>
            <a:off x="7424928" y="2935224"/>
            <a:ext cx="2011680" cy="548640"/>
          </a:xfrm>
          <a:prstGeom prst="rect">
            <a:avLst/>
          </a:prstGeom>
          <a:noFill/>
          <a:ln/>
        </p:spPr>
        <p:txBody>
          <a:bodyPr wrap="square" lIns="0" tIns="0" rIns="0" bIns="0" rtlCol="0" anchor="t"/>
          <a:lstStyle/>
          <a:p>
            <a:pPr algn="l" indent="0" marL="0">
              <a:buNone/>
            </a:pPr>
            <a:r>
              <a:rPr lang="en-US" sz="1150" dirty="0">
                <a:solidFill>
                  <a:srgbClr val="6B7891"/>
                </a:solidFill>
                <a:latin typeface="Calibri" pitchFamily="34" charset="0"/>
                <a:ea typeface="Calibri" pitchFamily="34" charset="-122"/>
                <a:cs typeface="Calibri" pitchFamily="34" charset="-120"/>
              </a:rPr>
              <a:t>of 651 monitors may page a human</a:t>
            </a:r>
            <a:endParaRPr lang="en-US" sz="1150" dirty="0"/>
          </a:p>
        </p:txBody>
      </p:sp>
      <p:sp>
        <p:nvSpPr>
          <p:cNvPr id="15" name="Text 12"/>
          <p:cNvSpPr/>
          <p:nvPr/>
        </p:nvSpPr>
        <p:spPr>
          <a:xfrm>
            <a:off x="9619488" y="2194560"/>
            <a:ext cx="2011680" cy="777240"/>
          </a:xfrm>
          <a:prstGeom prst="rect">
            <a:avLst/>
          </a:prstGeom>
          <a:noFill/>
          <a:ln/>
        </p:spPr>
        <p:txBody>
          <a:bodyPr wrap="square" lIns="0" tIns="0" rIns="0" bIns="0" rtlCol="0" anchor="ctr"/>
          <a:lstStyle/>
          <a:p>
            <a:pPr algn="l" indent="0" marL="0">
              <a:buNone/>
            </a:pPr>
            <a:r>
              <a:rPr lang="en-US" sz="4400" b="1" dirty="0">
                <a:solidFill>
                  <a:srgbClr val="161C28"/>
                </a:solidFill>
                <a:latin typeface="Cambria" pitchFamily="34" charset="0"/>
                <a:ea typeface="Cambria" pitchFamily="34" charset="-122"/>
                <a:cs typeface="Cambria" pitchFamily="34" charset="-120"/>
              </a:rPr>
              <a:t>11%</a:t>
            </a:r>
            <a:endParaRPr lang="en-US" sz="4400" dirty="0"/>
          </a:p>
        </p:txBody>
      </p:sp>
      <p:sp>
        <p:nvSpPr>
          <p:cNvPr id="16" name="Text 13"/>
          <p:cNvSpPr/>
          <p:nvPr/>
        </p:nvSpPr>
        <p:spPr>
          <a:xfrm>
            <a:off x="9619488" y="2935224"/>
            <a:ext cx="2011680" cy="548640"/>
          </a:xfrm>
          <a:prstGeom prst="rect">
            <a:avLst/>
          </a:prstGeom>
          <a:noFill/>
          <a:ln/>
        </p:spPr>
        <p:txBody>
          <a:bodyPr wrap="square" lIns="0" tIns="0" rIns="0" bIns="0" rtlCol="0" anchor="t"/>
          <a:lstStyle/>
          <a:p>
            <a:pPr algn="l" indent="0" marL="0">
              <a:buNone/>
            </a:pPr>
            <a:r>
              <a:rPr lang="en-US" sz="1150" dirty="0">
                <a:solidFill>
                  <a:srgbClr val="6B7891"/>
                </a:solidFill>
                <a:latin typeface="Calibri" pitchFamily="34" charset="0"/>
                <a:ea typeface="Calibri" pitchFamily="34" charset="-122"/>
                <a:cs typeface="Calibri" pitchFamily="34" charset="-120"/>
              </a:rPr>
              <a:t>budgeted at 90 in global.yaml; raising it is a reviewed PR</a:t>
            </a:r>
            <a:endParaRPr lang="en-US" sz="1150" dirty="0"/>
          </a:p>
        </p:txBody>
      </p:sp>
      <p:sp>
        <p:nvSpPr>
          <p:cNvPr id="17" name="Text 14"/>
          <p:cNvSpPr/>
          <p:nvPr/>
        </p:nvSpPr>
        <p:spPr>
          <a:xfrm>
            <a:off x="566928" y="3703320"/>
            <a:ext cx="10607040" cy="292608"/>
          </a:xfrm>
          <a:prstGeom prst="rect">
            <a:avLst/>
          </a:prstGeom>
          <a:noFill/>
          <a:ln/>
        </p:spPr>
        <p:txBody>
          <a:bodyPr wrap="square" lIns="0" tIns="0" rIns="0" bIns="0" rtlCol="0" anchor="ctr"/>
          <a:lstStyle/>
          <a:p>
            <a:pPr indent="0" marL="0">
              <a:buNone/>
            </a:pPr>
            <a:r>
              <a:rPr lang="en-US" sz="1400" b="1" dirty="0">
                <a:solidFill>
                  <a:srgbClr val="161C28"/>
                </a:solidFill>
                <a:latin typeface="Calibri" pitchFamily="34" charset="0"/>
                <a:ea typeface="Calibri" pitchFamily="34" charset="-122"/>
                <a:cs typeface="Calibri" pitchFamily="34" charset="-120"/>
              </a:rPr>
              <a:t>Four mechanisms underneath, applied in order</a:t>
            </a:r>
            <a:endParaRPr lang="en-US" sz="1400" dirty="0"/>
          </a:p>
        </p:txBody>
      </p:sp>
      <p:sp>
        <p:nvSpPr>
          <p:cNvPr id="18" name="Shape 15"/>
          <p:cNvSpPr/>
          <p:nvPr/>
        </p:nvSpPr>
        <p:spPr>
          <a:xfrm>
            <a:off x="566928" y="4041648"/>
            <a:ext cx="2586152" cy="1783080"/>
          </a:xfrm>
          <a:prstGeom prst="roundRect">
            <a:avLst>
              <a:gd name="adj" fmla="val 3077"/>
            </a:avLst>
          </a:prstGeom>
          <a:solidFill>
            <a:srgbClr val="EFF2F6"/>
          </a:solidFill>
          <a:ln w="12700">
            <a:solidFill>
              <a:srgbClr val="EFF2F6"/>
            </a:solidFill>
            <a:prstDash val="solid"/>
          </a:ln>
        </p:spPr>
      </p:sp>
      <p:sp>
        <p:nvSpPr>
          <p:cNvPr id="19" name="Text 16"/>
          <p:cNvSpPr/>
          <p:nvPr/>
        </p:nvSpPr>
        <p:spPr>
          <a:xfrm>
            <a:off x="768096" y="4187952"/>
            <a:ext cx="2183816" cy="347472"/>
          </a:xfrm>
          <a:prstGeom prst="rect">
            <a:avLst/>
          </a:prstGeom>
          <a:noFill/>
          <a:ln/>
        </p:spPr>
        <p:txBody>
          <a:bodyPr wrap="square" lIns="0" tIns="0" rIns="0" bIns="0" rtlCol="0" anchor="t"/>
          <a:lstStyle/>
          <a:p>
            <a:pPr indent="0" marL="0">
              <a:buNone/>
            </a:pPr>
            <a:r>
              <a:rPr lang="en-US" sz="1450" b="1" dirty="0">
                <a:solidFill>
                  <a:srgbClr val="161C28"/>
                </a:solidFill>
                <a:latin typeface="Calibri" pitchFamily="34" charset="0"/>
                <a:ea typeface="Calibri" pitchFamily="34" charset="-122"/>
                <a:cs typeface="Calibri" pitchFamily="34" charset="-120"/>
              </a:rPr>
              <a:t>Multi-alert grouping</a:t>
            </a:r>
            <a:endParaRPr lang="en-US" sz="1450" dirty="0"/>
          </a:p>
        </p:txBody>
      </p:sp>
      <p:sp>
        <p:nvSpPr>
          <p:cNvPr id="20" name="Text 17"/>
          <p:cNvSpPr/>
          <p:nvPr/>
        </p:nvSpPr>
        <p:spPr>
          <a:xfrm>
            <a:off x="768096" y="4572000"/>
            <a:ext cx="2183816" cy="1106424"/>
          </a:xfrm>
          <a:prstGeom prst="rect">
            <a:avLst/>
          </a:prstGeom>
          <a:noFill/>
          <a:ln/>
        </p:spPr>
        <p:txBody>
          <a:bodyPr wrap="square" lIns="0" tIns="0" rIns="0" bIns="0" rtlCol="0" anchor="t"/>
          <a:lstStyle/>
          <a:p>
            <a:pPr indent="0" marL="0">
              <a:lnSpc>
                <a:spcPct val="102000"/>
              </a:lnSpc>
              <a:buNone/>
            </a:pPr>
            <a:r>
              <a:rPr lang="en-US" sz="1150" dirty="0">
                <a:solidFill>
                  <a:srgbClr val="3A4557"/>
                </a:solidFill>
                <a:latin typeface="Calibri" pitchFamily="34" charset="0"/>
                <a:ea typeface="Calibri" pitchFamily="34" charset="-122"/>
                <a:cs typeface="Calibri" pitchFamily="34" charset="-120"/>
              </a:rPr>
              <a:t>The monitor evaluates per group, not per resource. Maximum three group keys, enforced at plan time — a monitor that breaks it cannot be created.</a:t>
            </a:r>
            <a:endParaRPr lang="en-US" sz="1150" dirty="0"/>
          </a:p>
        </p:txBody>
      </p:sp>
      <p:sp>
        <p:nvSpPr>
          <p:cNvPr id="21" name="Shape 18"/>
          <p:cNvSpPr/>
          <p:nvPr/>
        </p:nvSpPr>
        <p:spPr>
          <a:xfrm>
            <a:off x="3390824" y="4041648"/>
            <a:ext cx="2586152" cy="1783080"/>
          </a:xfrm>
          <a:prstGeom prst="roundRect">
            <a:avLst>
              <a:gd name="adj" fmla="val 3077"/>
            </a:avLst>
          </a:prstGeom>
          <a:solidFill>
            <a:srgbClr val="EFF2F6"/>
          </a:solidFill>
          <a:ln w="12700">
            <a:solidFill>
              <a:srgbClr val="EFF2F6"/>
            </a:solidFill>
            <a:prstDash val="solid"/>
          </a:ln>
        </p:spPr>
      </p:sp>
      <p:sp>
        <p:nvSpPr>
          <p:cNvPr id="22" name="Text 19"/>
          <p:cNvSpPr/>
          <p:nvPr/>
        </p:nvSpPr>
        <p:spPr>
          <a:xfrm>
            <a:off x="3591992" y="4187952"/>
            <a:ext cx="2183816" cy="347472"/>
          </a:xfrm>
          <a:prstGeom prst="rect">
            <a:avLst/>
          </a:prstGeom>
          <a:noFill/>
          <a:ln/>
        </p:spPr>
        <p:txBody>
          <a:bodyPr wrap="square" lIns="0" tIns="0" rIns="0" bIns="0" rtlCol="0" anchor="t"/>
          <a:lstStyle/>
          <a:p>
            <a:pPr indent="0" marL="0">
              <a:buNone/>
            </a:pPr>
            <a:r>
              <a:rPr lang="en-US" sz="1450" b="1" dirty="0">
                <a:solidFill>
                  <a:srgbClr val="161C28"/>
                </a:solidFill>
                <a:latin typeface="Calibri" pitchFamily="34" charset="0"/>
                <a:ea typeface="Calibri" pitchFamily="34" charset="-122"/>
                <a:cs typeface="Calibri" pitchFamily="34" charset="-120"/>
              </a:rPr>
              <a:t>notify_by collapse</a:t>
            </a:r>
            <a:endParaRPr lang="en-US" sz="1450" dirty="0"/>
          </a:p>
        </p:txBody>
      </p:sp>
      <p:sp>
        <p:nvSpPr>
          <p:cNvPr id="23" name="Text 20"/>
          <p:cNvSpPr/>
          <p:nvPr/>
        </p:nvSpPr>
        <p:spPr>
          <a:xfrm>
            <a:off x="3591992" y="4572000"/>
            <a:ext cx="2183816" cy="1106424"/>
          </a:xfrm>
          <a:prstGeom prst="rect">
            <a:avLst/>
          </a:prstGeom>
          <a:noFill/>
          <a:ln/>
        </p:spPr>
        <p:txBody>
          <a:bodyPr wrap="square" lIns="0" tIns="0" rIns="0" bIns="0" rtlCol="0" anchor="t"/>
          <a:lstStyle/>
          <a:p>
            <a:pPr indent="0" marL="0">
              <a:lnSpc>
                <a:spcPct val="102000"/>
              </a:lnSpc>
              <a:buNone/>
            </a:pPr>
            <a:r>
              <a:rPr lang="en-US" sz="1150" dirty="0">
                <a:solidFill>
                  <a:srgbClr val="3A4557"/>
                </a:solidFill>
                <a:latin typeface="Calibri" pitchFamily="34" charset="0"/>
                <a:ea typeface="Calibri" pitchFamily="34" charset="-122"/>
                <a:cs typeface="Calibri" pitchFamily="34" charset="-120"/>
              </a:rPr>
              <a:t>Grouped by cluster + namespace + deployment, notifying by cluster: 4,000 groups evaluated, one notification sent.</a:t>
            </a:r>
            <a:endParaRPr lang="en-US" sz="1150" dirty="0"/>
          </a:p>
        </p:txBody>
      </p:sp>
      <p:sp>
        <p:nvSpPr>
          <p:cNvPr id="24" name="Shape 21"/>
          <p:cNvSpPr/>
          <p:nvPr/>
        </p:nvSpPr>
        <p:spPr>
          <a:xfrm>
            <a:off x="6214720" y="4041648"/>
            <a:ext cx="2586152" cy="1783080"/>
          </a:xfrm>
          <a:prstGeom prst="roundRect">
            <a:avLst>
              <a:gd name="adj" fmla="val 3077"/>
            </a:avLst>
          </a:prstGeom>
          <a:solidFill>
            <a:srgbClr val="EFF2F6"/>
          </a:solidFill>
          <a:ln w="12700">
            <a:solidFill>
              <a:srgbClr val="EFF2F6"/>
            </a:solidFill>
            <a:prstDash val="solid"/>
          </a:ln>
        </p:spPr>
      </p:sp>
      <p:sp>
        <p:nvSpPr>
          <p:cNvPr id="25" name="Text 22"/>
          <p:cNvSpPr/>
          <p:nvPr/>
        </p:nvSpPr>
        <p:spPr>
          <a:xfrm>
            <a:off x="6415888" y="4187952"/>
            <a:ext cx="2183816" cy="347472"/>
          </a:xfrm>
          <a:prstGeom prst="rect">
            <a:avLst/>
          </a:prstGeom>
          <a:noFill/>
          <a:ln/>
        </p:spPr>
        <p:txBody>
          <a:bodyPr wrap="square" lIns="0" tIns="0" rIns="0" bIns="0" rtlCol="0" anchor="t"/>
          <a:lstStyle/>
          <a:p>
            <a:pPr indent="0" marL="0">
              <a:buNone/>
            </a:pPr>
            <a:r>
              <a:rPr lang="en-US" sz="1450" b="1" dirty="0">
                <a:solidFill>
                  <a:srgbClr val="161C28"/>
                </a:solidFill>
                <a:latin typeface="Calibri" pitchFamily="34" charset="0"/>
                <a:ea typeface="Calibri" pitchFamily="34" charset="-122"/>
                <a:cs typeface="Calibri" pitchFamily="34" charset="-120"/>
              </a:rPr>
              <a:t>Dedup + flap control</a:t>
            </a:r>
            <a:endParaRPr lang="en-US" sz="1450" dirty="0"/>
          </a:p>
        </p:txBody>
      </p:sp>
      <p:sp>
        <p:nvSpPr>
          <p:cNvPr id="26" name="Text 23"/>
          <p:cNvSpPr/>
          <p:nvPr/>
        </p:nvSpPr>
        <p:spPr>
          <a:xfrm>
            <a:off x="6415888" y="4572000"/>
            <a:ext cx="2183816" cy="1106424"/>
          </a:xfrm>
          <a:prstGeom prst="rect">
            <a:avLst/>
          </a:prstGeom>
          <a:noFill/>
          <a:ln/>
        </p:spPr>
        <p:txBody>
          <a:bodyPr wrap="square" lIns="0" tIns="0" rIns="0" bIns="0" rtlCol="0" anchor="t"/>
          <a:lstStyle/>
          <a:p>
            <a:pPr indent="0" marL="0">
              <a:lnSpc>
                <a:spcPct val="102000"/>
              </a:lnSpc>
              <a:buNone/>
            </a:pPr>
            <a:r>
              <a:rPr lang="en-US" sz="1150" dirty="0">
                <a:solidFill>
                  <a:srgbClr val="3A4557"/>
                </a:solidFill>
                <a:latin typeface="Calibri" pitchFamily="34" charset="0"/>
                <a:ea typeface="Calibri" pitchFamily="34" charset="-122"/>
                <a:cs typeface="Calibri" pitchFamily="34" charset="-120"/>
              </a:rPr>
              <a:t>Identical dedup_key inside 15 minutes is one event. More than four transitions in an hour is flapping: muted, ticket raised.</a:t>
            </a:r>
            <a:endParaRPr lang="en-US" sz="1150" dirty="0"/>
          </a:p>
        </p:txBody>
      </p:sp>
      <p:sp>
        <p:nvSpPr>
          <p:cNvPr id="27" name="Shape 24"/>
          <p:cNvSpPr/>
          <p:nvPr/>
        </p:nvSpPr>
        <p:spPr>
          <a:xfrm>
            <a:off x="9038615" y="4041648"/>
            <a:ext cx="2586152" cy="1783080"/>
          </a:xfrm>
          <a:prstGeom prst="roundRect">
            <a:avLst>
              <a:gd name="adj" fmla="val 3077"/>
            </a:avLst>
          </a:prstGeom>
          <a:solidFill>
            <a:srgbClr val="EFF2F6"/>
          </a:solidFill>
          <a:ln w="12700">
            <a:solidFill>
              <a:srgbClr val="EFF2F6"/>
            </a:solidFill>
            <a:prstDash val="solid"/>
          </a:ln>
        </p:spPr>
      </p:sp>
      <p:sp>
        <p:nvSpPr>
          <p:cNvPr id="28" name="Text 25"/>
          <p:cNvSpPr/>
          <p:nvPr/>
        </p:nvSpPr>
        <p:spPr>
          <a:xfrm>
            <a:off x="9239783" y="4187952"/>
            <a:ext cx="2183816" cy="347472"/>
          </a:xfrm>
          <a:prstGeom prst="rect">
            <a:avLst/>
          </a:prstGeom>
          <a:noFill/>
          <a:ln/>
        </p:spPr>
        <p:txBody>
          <a:bodyPr wrap="square" lIns="0" tIns="0" rIns="0" bIns="0" rtlCol="0" anchor="t"/>
          <a:lstStyle/>
          <a:p>
            <a:pPr indent="0" marL="0">
              <a:buNone/>
            </a:pPr>
            <a:r>
              <a:rPr lang="en-US" sz="1450" b="1" dirty="0">
                <a:solidFill>
                  <a:srgbClr val="161C28"/>
                </a:solidFill>
                <a:latin typeface="Calibri" pitchFamily="34" charset="0"/>
                <a:ea typeface="Calibri" pitchFamily="34" charset="-122"/>
                <a:cs typeface="Calibri" pitchFamily="34" charset="-120"/>
              </a:rPr>
              <a:t>Storm limits</a:t>
            </a:r>
            <a:endParaRPr lang="en-US" sz="1450" dirty="0"/>
          </a:p>
        </p:txBody>
      </p:sp>
      <p:sp>
        <p:nvSpPr>
          <p:cNvPr id="29" name="Text 26"/>
          <p:cNvSpPr/>
          <p:nvPr/>
        </p:nvSpPr>
        <p:spPr>
          <a:xfrm>
            <a:off x="9239783" y="4572000"/>
            <a:ext cx="2183816" cy="1106424"/>
          </a:xfrm>
          <a:prstGeom prst="rect">
            <a:avLst/>
          </a:prstGeom>
          <a:noFill/>
          <a:ln/>
        </p:spPr>
        <p:txBody>
          <a:bodyPr wrap="square" lIns="0" tIns="0" rIns="0" bIns="0" rtlCol="0" anchor="t"/>
          <a:lstStyle/>
          <a:p>
            <a:pPr indent="0" marL="0">
              <a:lnSpc>
                <a:spcPct val="102000"/>
              </a:lnSpc>
              <a:buNone/>
            </a:pPr>
            <a:r>
              <a:rPr lang="en-US" sz="1150" dirty="0">
                <a:solidFill>
                  <a:srgbClr val="3A4557"/>
                </a:solidFill>
                <a:latin typeface="Calibri" pitchFamily="34" charset="0"/>
                <a:ea typeface="Calibri" pitchFamily="34" charset="-122"/>
                <a:cs typeface="Calibri" pitchFamily="34" charset="-120"/>
              </a:rPr>
              <a:t>100 groups → one summary. 25 per team per hour → suppress and page the platform. 50 pages an hour globally → major incident, stop paging, open the bridge.</a:t>
            </a:r>
            <a:endParaRPr lang="en-US" sz="11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8778240" cy="256032"/>
          </a:xfrm>
          <a:prstGeom prst="rect">
            <a:avLst/>
          </a:prstGeom>
          <a:noFill/>
          <a:ln/>
        </p:spPr>
        <p:txBody>
          <a:bodyPr wrap="square" lIns="0" tIns="0" rIns="0" bIns="0" rtlCol="0" anchor="ctr"/>
          <a:lstStyle/>
          <a:p>
            <a:pPr indent="0" marL="0">
              <a:buNone/>
            </a:pPr>
            <a:r>
              <a:rPr lang="en-US" sz="1050" b="1" spc="160" kern="0" dirty="0">
                <a:solidFill>
                  <a:srgbClr val="B87914"/>
                </a:solidFill>
                <a:latin typeface="Calibri" pitchFamily="34" charset="0"/>
                <a:ea typeface="Calibri" pitchFamily="34" charset="-122"/>
                <a:cs typeface="Calibri" pitchFamily="34" charset="-120"/>
              </a:rPr>
              <a:t>TOPIC 16</a:t>
            </a:r>
            <a:endParaRPr lang="en-US" sz="1050" dirty="0"/>
          </a:p>
        </p:txBody>
      </p:sp>
      <p:sp>
        <p:nvSpPr>
          <p:cNvPr id="3" name="Text 1"/>
          <p:cNvSpPr/>
          <p:nvPr/>
        </p:nvSpPr>
        <p:spPr>
          <a:xfrm>
            <a:off x="566928" y="694944"/>
            <a:ext cx="10424160" cy="786384"/>
          </a:xfrm>
          <a:prstGeom prst="rect">
            <a:avLst/>
          </a:prstGeom>
          <a:noFill/>
          <a:ln/>
        </p:spPr>
        <p:txBody>
          <a:bodyPr wrap="square" lIns="0" tIns="0" rIns="0" bIns="0" rtlCol="0" anchor="ctr"/>
          <a:lstStyle/>
          <a:p>
            <a:pPr indent="0" marL="0">
              <a:buNone/>
            </a:pPr>
            <a:r>
              <a:rPr lang="en-US" sz="3100" b="1" dirty="0">
                <a:solidFill>
                  <a:srgbClr val="161C28"/>
                </a:solidFill>
                <a:latin typeface="Cambria" pitchFamily="34" charset="0"/>
                <a:ea typeface="Cambria" pitchFamily="34" charset="-122"/>
                <a:cs typeface="Cambria" pitchFamily="34" charset="-120"/>
              </a:rPr>
              <a:t>Incident management</a:t>
            </a:r>
            <a:endParaRPr lang="en-US" sz="3100" dirty="0"/>
          </a:p>
        </p:txBody>
      </p:sp>
      <p:sp>
        <p:nvSpPr>
          <p:cNvPr id="4" name="Text 2"/>
          <p:cNvSpPr/>
          <p:nvPr/>
        </p:nvSpPr>
        <p:spPr>
          <a:xfrm>
            <a:off x="566928" y="1481328"/>
            <a:ext cx="10698480" cy="457200"/>
          </a:xfrm>
          <a:prstGeom prst="rect">
            <a:avLst/>
          </a:prstGeom>
          <a:noFill/>
          <a:ln/>
        </p:spPr>
        <p:txBody>
          <a:bodyPr wrap="square" lIns="0" tIns="0" rIns="0" bIns="0" rtlCol="0" anchor="t"/>
          <a:lstStyle/>
          <a:p>
            <a:pPr indent="0" marL="0">
              <a:buNone/>
            </a:pPr>
            <a:r>
              <a:rPr lang="en-US" sz="1450" dirty="0">
                <a:solidFill>
                  <a:srgbClr val="3A4557"/>
                </a:solidFill>
                <a:latin typeface="Calibri" pitchFamily="34" charset="0"/>
                <a:ea typeface="Calibri" pitchFamily="34" charset="-122"/>
                <a:cs typeface="Calibri" pitchFamily="34" charset="-120"/>
              </a:rPr>
              <a:t>Severity is derived from the same priority model as everything else, so an incident is opened by policy rather than by whoever happens to be reading the channel.</a:t>
            </a:r>
            <a:endParaRPr lang="en-US" sz="1450" dirty="0"/>
          </a:p>
        </p:txBody>
      </p:sp>
      <p:sp>
        <p:nvSpPr>
          <p:cNvPr id="5" name="Shape 3"/>
          <p:cNvSpPr/>
          <p:nvPr/>
        </p:nvSpPr>
        <p:spPr>
          <a:xfrm>
            <a:off x="8648395" y="420624"/>
            <a:ext cx="2976372" cy="310896"/>
          </a:xfrm>
          <a:prstGeom prst="roundRect">
            <a:avLst>
              <a:gd name="adj" fmla="val 50000"/>
            </a:avLst>
          </a:prstGeom>
          <a:solidFill>
            <a:srgbClr val="E09A2E"/>
          </a:solidFill>
          <a:ln w="12700">
            <a:solidFill>
              <a:srgbClr val="E09A2E"/>
            </a:solidFill>
            <a:prstDash val="solid"/>
          </a:ln>
        </p:spPr>
      </p:sp>
      <p:sp>
        <p:nvSpPr>
          <p:cNvPr id="6" name="Text 4"/>
          <p:cNvSpPr/>
          <p:nvPr/>
        </p:nvSpPr>
        <p:spPr>
          <a:xfrm>
            <a:off x="8648395" y="420624"/>
            <a:ext cx="2976372" cy="310896"/>
          </a:xfrm>
          <a:prstGeom prst="rect">
            <a:avLst/>
          </a:prstGeom>
          <a:noFill/>
          <a:ln/>
        </p:spPr>
        <p:txBody>
          <a:bodyPr wrap="square" lIns="0" tIns="0" rIns="0" bIns="0" rtlCol="0" anchor="ctr"/>
          <a:lstStyle/>
          <a:p>
            <a:pPr algn="ctr" indent="0" marL="0">
              <a:buNone/>
            </a:pPr>
            <a:r>
              <a:rPr lang="en-US" sz="950" b="1" spc="100" kern="0" dirty="0">
                <a:solidFill>
                  <a:srgbClr val="2A1D06"/>
                </a:solidFill>
                <a:latin typeface="Calibri" pitchFamily="34" charset="0"/>
                <a:ea typeface="Calibri" pitchFamily="34" charset="-122"/>
                <a:cs typeface="Calibri" pitchFamily="34" charset="-120"/>
              </a:rPr>
              <a:t>PARTIAL — NO PIR AUTOMATION</a:t>
            </a:r>
            <a:endParaRPr lang="en-US" sz="950" dirty="0"/>
          </a:p>
        </p:txBody>
      </p:sp>
      <p:sp>
        <p:nvSpPr>
          <p:cNvPr id="7" name="Text 5"/>
          <p:cNvSpPr/>
          <p:nvPr/>
        </p:nvSpPr>
        <p:spPr>
          <a:xfrm>
            <a:off x="566928" y="6345936"/>
            <a:ext cx="7315200" cy="274320"/>
          </a:xfrm>
          <a:prstGeom prst="rect">
            <a:avLst/>
          </a:prstGeom>
          <a:noFill/>
          <a:ln/>
        </p:spPr>
        <p:txBody>
          <a:bodyPr wrap="square" lIns="0" tIns="0" rIns="0" bIns="0" rtlCol="0" anchor="ctr"/>
          <a:lstStyle/>
          <a:p>
            <a:pPr indent="0" marL="0">
              <a:buNone/>
            </a:pPr>
            <a:r>
              <a:rPr lang="en-US" sz="900" dirty="0">
                <a:solidFill>
                  <a:srgbClr val="6B7891"/>
                </a:solidFill>
                <a:latin typeface="Calibri" pitchFamily="34" charset="0"/>
                <a:ea typeface="Calibri" pitchFamily="34" charset="-122"/>
                <a:cs typeface="Calibri" pitchFamily="34" charset="-120"/>
              </a:rPr>
              <a:t>Enterprise Observability  ·  policy-as-data on Datadog</a:t>
            </a:r>
            <a:endParaRPr lang="en-US" sz="900" dirty="0"/>
          </a:p>
        </p:txBody>
      </p:sp>
      <p:sp>
        <p:nvSpPr>
          <p:cNvPr id="8" name="Text 6"/>
          <p:cNvSpPr/>
          <p:nvPr/>
        </p:nvSpPr>
        <p:spPr>
          <a:xfrm>
            <a:off x="10710367" y="6345936"/>
            <a:ext cx="914400" cy="274320"/>
          </a:xfrm>
          <a:prstGeom prst="rect">
            <a:avLst/>
          </a:prstGeom>
          <a:noFill/>
          <a:ln/>
        </p:spPr>
        <p:txBody>
          <a:bodyPr wrap="square" lIns="0" tIns="0" rIns="0" bIns="0" rtlCol="0" anchor="ctr"/>
          <a:lstStyle/>
          <a:p>
            <a:pPr algn="r" indent="0" marL="0">
              <a:buNone/>
            </a:pPr>
            <a:r>
              <a:rPr lang="en-US" sz="900" dirty="0">
                <a:solidFill>
                  <a:srgbClr val="6B7891"/>
                </a:solidFill>
                <a:latin typeface="Calibri" pitchFamily="34" charset="0"/>
                <a:ea typeface="Calibri" pitchFamily="34" charset="-122"/>
                <a:cs typeface="Calibri" pitchFamily="34" charset="-120"/>
              </a:rPr>
              <a:t>23</a:t>
            </a:r>
            <a:endParaRPr lang="en-US" sz="900" dirty="0"/>
          </a:p>
        </p:txBody>
      </p:sp>
      <p:sp>
        <p:nvSpPr>
          <p:cNvPr id="10" name="Shape 7"/>
          <p:cNvSpPr/>
          <p:nvPr/>
        </p:nvSpPr>
        <p:spPr>
          <a:xfrm>
            <a:off x="566928" y="2194560"/>
            <a:ext cx="6400800" cy="585216"/>
          </a:xfrm>
          <a:prstGeom prst="roundRect">
            <a:avLst>
              <a:gd name="adj" fmla="val 7813"/>
            </a:avLst>
          </a:prstGeom>
          <a:solidFill>
            <a:srgbClr val="F5F7FA"/>
          </a:solidFill>
          <a:ln w="12700">
            <a:solidFill>
              <a:srgbClr val="F5F7FA"/>
            </a:solidFill>
            <a:prstDash val="solid"/>
          </a:ln>
        </p:spPr>
      </p:sp>
      <p:sp>
        <p:nvSpPr>
          <p:cNvPr id="11" name="Shape 8"/>
          <p:cNvSpPr/>
          <p:nvPr/>
        </p:nvSpPr>
        <p:spPr>
          <a:xfrm>
            <a:off x="704088" y="2322576"/>
            <a:ext cx="566928" cy="329184"/>
          </a:xfrm>
          <a:prstGeom prst="roundRect">
            <a:avLst>
              <a:gd name="adj" fmla="val 13889"/>
            </a:avLst>
          </a:prstGeom>
          <a:solidFill>
            <a:srgbClr val="BE4A3F"/>
          </a:solidFill>
          <a:ln w="12700">
            <a:solidFill>
              <a:srgbClr val="BE4A3F"/>
            </a:solidFill>
            <a:prstDash val="solid"/>
          </a:ln>
        </p:spPr>
      </p:sp>
      <p:sp>
        <p:nvSpPr>
          <p:cNvPr id="12" name="Text 9"/>
          <p:cNvSpPr/>
          <p:nvPr/>
        </p:nvSpPr>
        <p:spPr>
          <a:xfrm>
            <a:off x="704088" y="2322576"/>
            <a:ext cx="566928"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P1</a:t>
            </a:r>
            <a:endParaRPr lang="en-US" sz="1200" dirty="0"/>
          </a:p>
        </p:txBody>
      </p:sp>
      <p:sp>
        <p:nvSpPr>
          <p:cNvPr id="13" name="Text 10"/>
          <p:cNvSpPr/>
          <p:nvPr/>
        </p:nvSpPr>
        <p:spPr>
          <a:xfrm>
            <a:off x="1408176" y="2212848"/>
            <a:ext cx="4114800" cy="548640"/>
          </a:xfrm>
          <a:prstGeom prst="rect">
            <a:avLst/>
          </a:prstGeom>
          <a:noFill/>
          <a:ln/>
        </p:spPr>
        <p:txBody>
          <a:bodyPr wrap="square" lIns="0" tIns="0" rIns="0" bIns="0" rtlCol="0" anchor="ctr"/>
          <a:lstStyle/>
          <a:p>
            <a:pPr indent="0" marL="0">
              <a:buNone/>
            </a:pPr>
            <a:r>
              <a:rPr lang="en-US" sz="1100" dirty="0">
                <a:solidFill>
                  <a:srgbClr val="3A4557"/>
                </a:solidFill>
                <a:latin typeface="Calibri" pitchFamily="34" charset="0"/>
                <a:ea typeface="Calibri" pitchFamily="34" charset="-122"/>
                <a:cs typeface="Calibri" pitchFamily="34" charset="-120"/>
              </a:rPr>
              <a:t>SEV-1 incident + ServiceNow P1 + page + major-incident channel + exec notification</a:t>
            </a:r>
            <a:endParaRPr lang="en-US" sz="1100" dirty="0"/>
          </a:p>
        </p:txBody>
      </p:sp>
      <p:sp>
        <p:nvSpPr>
          <p:cNvPr id="14" name="Text 11"/>
          <p:cNvSpPr/>
          <p:nvPr/>
        </p:nvSpPr>
        <p:spPr>
          <a:xfrm>
            <a:off x="5550408" y="2212848"/>
            <a:ext cx="1325880" cy="548640"/>
          </a:xfrm>
          <a:prstGeom prst="rect">
            <a:avLst/>
          </a:prstGeom>
          <a:noFill/>
          <a:ln/>
        </p:spPr>
        <p:txBody>
          <a:bodyPr wrap="square" lIns="0" tIns="0" rIns="0" bIns="0" rtlCol="0" anchor="ctr"/>
          <a:lstStyle/>
          <a:p>
            <a:pPr algn="r" indent="0" marL="0">
              <a:buNone/>
            </a:pPr>
            <a:r>
              <a:rPr lang="en-US" sz="1050" b="1" dirty="0">
                <a:solidFill>
                  <a:srgbClr val="6B7891"/>
                </a:solidFill>
                <a:latin typeface="Calibri" pitchFamily="34" charset="0"/>
                <a:ea typeface="Calibri" pitchFamily="34" charset="-122"/>
                <a:cs typeface="Calibri" pitchFamily="34" charset="-120"/>
              </a:rPr>
              <a:t>ack 5m · escalate 10m</a:t>
            </a:r>
            <a:endParaRPr lang="en-US" sz="1050" dirty="0"/>
          </a:p>
        </p:txBody>
      </p:sp>
      <p:sp>
        <p:nvSpPr>
          <p:cNvPr id="15" name="Shape 12"/>
          <p:cNvSpPr/>
          <p:nvPr/>
        </p:nvSpPr>
        <p:spPr>
          <a:xfrm>
            <a:off x="566928" y="2852928"/>
            <a:ext cx="6400800" cy="585216"/>
          </a:xfrm>
          <a:prstGeom prst="roundRect">
            <a:avLst>
              <a:gd name="adj" fmla="val 7813"/>
            </a:avLst>
          </a:prstGeom>
          <a:solidFill>
            <a:srgbClr val="F5F7FA"/>
          </a:solidFill>
          <a:ln w="12700">
            <a:solidFill>
              <a:srgbClr val="F5F7FA"/>
            </a:solidFill>
            <a:prstDash val="solid"/>
          </a:ln>
        </p:spPr>
      </p:sp>
      <p:sp>
        <p:nvSpPr>
          <p:cNvPr id="16" name="Shape 13"/>
          <p:cNvSpPr/>
          <p:nvPr/>
        </p:nvSpPr>
        <p:spPr>
          <a:xfrm>
            <a:off x="704088" y="2980944"/>
            <a:ext cx="566928" cy="329184"/>
          </a:xfrm>
          <a:prstGeom prst="roundRect">
            <a:avLst>
              <a:gd name="adj" fmla="val 13889"/>
            </a:avLst>
          </a:prstGeom>
          <a:solidFill>
            <a:srgbClr val="E09A2E"/>
          </a:solidFill>
          <a:ln w="12700">
            <a:solidFill>
              <a:srgbClr val="E09A2E"/>
            </a:solidFill>
            <a:prstDash val="solid"/>
          </a:ln>
        </p:spPr>
      </p:sp>
      <p:sp>
        <p:nvSpPr>
          <p:cNvPr id="17" name="Text 14"/>
          <p:cNvSpPr/>
          <p:nvPr/>
        </p:nvSpPr>
        <p:spPr>
          <a:xfrm>
            <a:off x="704088" y="2980944"/>
            <a:ext cx="566928"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P2</a:t>
            </a:r>
            <a:endParaRPr lang="en-US" sz="1200" dirty="0"/>
          </a:p>
        </p:txBody>
      </p:sp>
      <p:sp>
        <p:nvSpPr>
          <p:cNvPr id="18" name="Text 15"/>
          <p:cNvSpPr/>
          <p:nvPr/>
        </p:nvSpPr>
        <p:spPr>
          <a:xfrm>
            <a:off x="1408176" y="2871216"/>
            <a:ext cx="4114800" cy="548640"/>
          </a:xfrm>
          <a:prstGeom prst="rect">
            <a:avLst/>
          </a:prstGeom>
          <a:noFill/>
          <a:ln/>
        </p:spPr>
        <p:txBody>
          <a:bodyPr wrap="square" lIns="0" tIns="0" rIns="0" bIns="0" rtlCol="0" anchor="ctr"/>
          <a:lstStyle/>
          <a:p>
            <a:pPr indent="0" marL="0">
              <a:buNone/>
            </a:pPr>
            <a:r>
              <a:rPr lang="en-US" sz="1100" dirty="0">
                <a:solidFill>
                  <a:srgbClr val="3A4557"/>
                </a:solidFill>
                <a:latin typeface="Calibri" pitchFamily="34" charset="0"/>
                <a:ea typeface="Calibri" pitchFamily="34" charset="-122"/>
                <a:cs typeface="Calibri" pitchFamily="34" charset="-120"/>
              </a:rPr>
              <a:t>SEV-2 incident + ServiceNow P2 + team channel — pages only on confirmed impact</a:t>
            </a:r>
            <a:endParaRPr lang="en-US" sz="1100" dirty="0"/>
          </a:p>
        </p:txBody>
      </p:sp>
      <p:sp>
        <p:nvSpPr>
          <p:cNvPr id="19" name="Text 16"/>
          <p:cNvSpPr/>
          <p:nvPr/>
        </p:nvSpPr>
        <p:spPr>
          <a:xfrm>
            <a:off x="5550408" y="2871216"/>
            <a:ext cx="1325880" cy="548640"/>
          </a:xfrm>
          <a:prstGeom prst="rect">
            <a:avLst/>
          </a:prstGeom>
          <a:noFill/>
          <a:ln/>
        </p:spPr>
        <p:txBody>
          <a:bodyPr wrap="square" lIns="0" tIns="0" rIns="0" bIns="0" rtlCol="0" anchor="ctr"/>
          <a:lstStyle/>
          <a:p>
            <a:pPr algn="r" indent="0" marL="0">
              <a:buNone/>
            </a:pPr>
            <a:r>
              <a:rPr lang="en-US" sz="1050" b="1" dirty="0">
                <a:solidFill>
                  <a:srgbClr val="6B7891"/>
                </a:solidFill>
                <a:latin typeface="Calibri" pitchFamily="34" charset="0"/>
                <a:ea typeface="Calibri" pitchFamily="34" charset="-122"/>
                <a:cs typeface="Calibri" pitchFamily="34" charset="-120"/>
              </a:rPr>
              <a:t>ack 10m · escalate 20m</a:t>
            </a:r>
            <a:endParaRPr lang="en-US" sz="1050" dirty="0"/>
          </a:p>
        </p:txBody>
      </p:sp>
      <p:sp>
        <p:nvSpPr>
          <p:cNvPr id="20" name="Shape 17"/>
          <p:cNvSpPr/>
          <p:nvPr/>
        </p:nvSpPr>
        <p:spPr>
          <a:xfrm>
            <a:off x="566928" y="3511296"/>
            <a:ext cx="6400800" cy="585216"/>
          </a:xfrm>
          <a:prstGeom prst="roundRect">
            <a:avLst>
              <a:gd name="adj" fmla="val 7813"/>
            </a:avLst>
          </a:prstGeom>
          <a:solidFill>
            <a:srgbClr val="F5F7FA"/>
          </a:solidFill>
          <a:ln w="12700">
            <a:solidFill>
              <a:srgbClr val="F5F7FA"/>
            </a:solidFill>
            <a:prstDash val="solid"/>
          </a:ln>
        </p:spPr>
      </p:sp>
      <p:sp>
        <p:nvSpPr>
          <p:cNvPr id="21" name="Shape 18"/>
          <p:cNvSpPr/>
          <p:nvPr/>
        </p:nvSpPr>
        <p:spPr>
          <a:xfrm>
            <a:off x="704088" y="3639312"/>
            <a:ext cx="566928" cy="329184"/>
          </a:xfrm>
          <a:prstGeom prst="roundRect">
            <a:avLst>
              <a:gd name="adj" fmla="val 13889"/>
            </a:avLst>
          </a:prstGeom>
          <a:solidFill>
            <a:srgbClr val="5F7189"/>
          </a:solidFill>
          <a:ln w="12700">
            <a:solidFill>
              <a:srgbClr val="5F7189"/>
            </a:solidFill>
            <a:prstDash val="solid"/>
          </a:ln>
        </p:spPr>
      </p:sp>
      <p:sp>
        <p:nvSpPr>
          <p:cNvPr id="22" name="Text 19"/>
          <p:cNvSpPr/>
          <p:nvPr/>
        </p:nvSpPr>
        <p:spPr>
          <a:xfrm>
            <a:off x="704088" y="3639312"/>
            <a:ext cx="566928"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P3</a:t>
            </a:r>
            <a:endParaRPr lang="en-US" sz="1200" dirty="0"/>
          </a:p>
        </p:txBody>
      </p:sp>
      <p:sp>
        <p:nvSpPr>
          <p:cNvPr id="23" name="Text 20"/>
          <p:cNvSpPr/>
          <p:nvPr/>
        </p:nvSpPr>
        <p:spPr>
          <a:xfrm>
            <a:off x="1408176" y="3529584"/>
            <a:ext cx="4114800" cy="548640"/>
          </a:xfrm>
          <a:prstGeom prst="rect">
            <a:avLst/>
          </a:prstGeom>
          <a:noFill/>
          <a:ln/>
        </p:spPr>
        <p:txBody>
          <a:bodyPr wrap="square" lIns="0" tIns="0" rIns="0" bIns="0" rtlCol="0" anchor="ctr"/>
          <a:lstStyle/>
          <a:p>
            <a:pPr indent="0" marL="0">
              <a:buNone/>
            </a:pPr>
            <a:r>
              <a:rPr lang="en-US" sz="1100" dirty="0">
                <a:solidFill>
                  <a:srgbClr val="3A4557"/>
                </a:solidFill>
                <a:latin typeface="Calibri" pitchFamily="34" charset="0"/>
                <a:ea typeface="Calibri" pitchFamily="34" charset="-122"/>
                <a:cs typeface="Calibri" pitchFamily="34" charset="-120"/>
              </a:rPr>
              <a:t>No incident. ServiceNow task when sustained past two renotifications</a:t>
            </a:r>
            <a:endParaRPr lang="en-US" sz="1100" dirty="0"/>
          </a:p>
        </p:txBody>
      </p:sp>
      <p:sp>
        <p:nvSpPr>
          <p:cNvPr id="24" name="Text 21"/>
          <p:cNvSpPr/>
          <p:nvPr/>
        </p:nvSpPr>
        <p:spPr>
          <a:xfrm>
            <a:off x="5550408" y="3529584"/>
            <a:ext cx="1325880" cy="548640"/>
          </a:xfrm>
          <a:prstGeom prst="rect">
            <a:avLst/>
          </a:prstGeom>
          <a:noFill/>
          <a:ln/>
        </p:spPr>
        <p:txBody>
          <a:bodyPr wrap="square" lIns="0" tIns="0" rIns="0" bIns="0" rtlCol="0" anchor="ctr"/>
          <a:lstStyle/>
          <a:p>
            <a:pPr algn="r" indent="0" marL="0">
              <a:buNone/>
            </a:pPr>
            <a:r>
              <a:rPr lang="en-US" sz="1050" b="1" dirty="0">
                <a:solidFill>
                  <a:srgbClr val="6B7891"/>
                </a:solidFill>
                <a:latin typeface="Calibri" pitchFamily="34" charset="0"/>
                <a:ea typeface="Calibri" pitchFamily="34" charset="-122"/>
                <a:cs typeface="Calibri" pitchFamily="34" charset="-120"/>
              </a:rPr>
              <a:t>next business day</a:t>
            </a:r>
            <a:endParaRPr lang="en-US" sz="1050" dirty="0"/>
          </a:p>
        </p:txBody>
      </p:sp>
      <p:sp>
        <p:nvSpPr>
          <p:cNvPr id="25" name="Shape 22"/>
          <p:cNvSpPr/>
          <p:nvPr/>
        </p:nvSpPr>
        <p:spPr>
          <a:xfrm>
            <a:off x="566928" y="4169664"/>
            <a:ext cx="6400800" cy="585216"/>
          </a:xfrm>
          <a:prstGeom prst="roundRect">
            <a:avLst>
              <a:gd name="adj" fmla="val 7813"/>
            </a:avLst>
          </a:prstGeom>
          <a:solidFill>
            <a:srgbClr val="F5F7FA"/>
          </a:solidFill>
          <a:ln w="12700">
            <a:solidFill>
              <a:srgbClr val="F5F7FA"/>
            </a:solidFill>
            <a:prstDash val="solid"/>
          </a:ln>
        </p:spPr>
      </p:sp>
      <p:sp>
        <p:nvSpPr>
          <p:cNvPr id="26" name="Shape 23"/>
          <p:cNvSpPr/>
          <p:nvPr/>
        </p:nvSpPr>
        <p:spPr>
          <a:xfrm>
            <a:off x="704088" y="4297680"/>
            <a:ext cx="566928" cy="329184"/>
          </a:xfrm>
          <a:prstGeom prst="roundRect">
            <a:avLst>
              <a:gd name="adj" fmla="val 13889"/>
            </a:avLst>
          </a:prstGeom>
          <a:solidFill>
            <a:srgbClr val="6B7891"/>
          </a:solidFill>
          <a:ln w="12700">
            <a:solidFill>
              <a:srgbClr val="6B7891"/>
            </a:solidFill>
            <a:prstDash val="solid"/>
          </a:ln>
        </p:spPr>
      </p:sp>
      <p:sp>
        <p:nvSpPr>
          <p:cNvPr id="27" name="Text 24"/>
          <p:cNvSpPr/>
          <p:nvPr/>
        </p:nvSpPr>
        <p:spPr>
          <a:xfrm>
            <a:off x="704088" y="4297680"/>
            <a:ext cx="566928"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P4</a:t>
            </a:r>
            <a:endParaRPr lang="en-US" sz="1200" dirty="0"/>
          </a:p>
        </p:txBody>
      </p:sp>
      <p:sp>
        <p:nvSpPr>
          <p:cNvPr id="28" name="Text 25"/>
          <p:cNvSpPr/>
          <p:nvPr/>
        </p:nvSpPr>
        <p:spPr>
          <a:xfrm>
            <a:off x="1408176" y="4187952"/>
            <a:ext cx="4114800" cy="548640"/>
          </a:xfrm>
          <a:prstGeom prst="rect">
            <a:avLst/>
          </a:prstGeom>
          <a:noFill/>
          <a:ln/>
        </p:spPr>
        <p:txBody>
          <a:bodyPr wrap="square" lIns="0" tIns="0" rIns="0" bIns="0" rtlCol="0" anchor="ctr"/>
          <a:lstStyle/>
          <a:p>
            <a:pPr indent="0" marL="0">
              <a:buNone/>
            </a:pPr>
            <a:r>
              <a:rPr lang="en-US" sz="1100" dirty="0">
                <a:solidFill>
                  <a:srgbClr val="3A4557"/>
                </a:solidFill>
                <a:latin typeface="Calibri" pitchFamily="34" charset="0"/>
                <a:ea typeface="Calibri" pitchFamily="34" charset="-122"/>
                <a:cs typeface="Calibri" pitchFamily="34" charset="-120"/>
              </a:rPr>
              <a:t>Nothing. Reviewed in aggregate at the monthly alert-quality review</a:t>
            </a:r>
            <a:endParaRPr lang="en-US" sz="1100" dirty="0"/>
          </a:p>
        </p:txBody>
      </p:sp>
      <p:sp>
        <p:nvSpPr>
          <p:cNvPr id="29" name="Text 26"/>
          <p:cNvSpPr/>
          <p:nvPr/>
        </p:nvSpPr>
        <p:spPr>
          <a:xfrm>
            <a:off x="5550408" y="4187952"/>
            <a:ext cx="1325880" cy="548640"/>
          </a:xfrm>
          <a:prstGeom prst="rect">
            <a:avLst/>
          </a:prstGeom>
          <a:noFill/>
          <a:ln/>
        </p:spPr>
        <p:txBody>
          <a:bodyPr wrap="square" lIns="0" tIns="0" rIns="0" bIns="0" rtlCol="0" anchor="ctr"/>
          <a:lstStyle/>
          <a:p>
            <a:pPr algn="r" indent="0" marL="0">
              <a:buNone/>
            </a:pPr>
            <a:r>
              <a:rPr lang="en-US" sz="1050" b="1" dirty="0">
                <a:solidFill>
                  <a:srgbClr val="6B7891"/>
                </a:solidFill>
                <a:latin typeface="Calibri" pitchFamily="34" charset="0"/>
                <a:ea typeface="Calibri" pitchFamily="34" charset="-122"/>
                <a:cs typeface="Calibri" pitchFamily="34" charset="-120"/>
              </a:rPr>
              <a:t>—</a:t>
            </a:r>
            <a:endParaRPr lang="en-US" sz="1050" dirty="0"/>
          </a:p>
        </p:txBody>
      </p:sp>
      <p:sp>
        <p:nvSpPr>
          <p:cNvPr id="30" name="Shape 27"/>
          <p:cNvSpPr/>
          <p:nvPr/>
        </p:nvSpPr>
        <p:spPr>
          <a:xfrm>
            <a:off x="7333488" y="2194560"/>
            <a:ext cx="4297680" cy="3063240"/>
          </a:xfrm>
          <a:prstGeom prst="roundRect">
            <a:avLst>
              <a:gd name="adj" fmla="val 2090"/>
            </a:avLst>
          </a:prstGeom>
          <a:solidFill>
            <a:srgbClr val="12161F"/>
          </a:solidFill>
          <a:ln w="12700">
            <a:solidFill>
              <a:srgbClr val="12161F"/>
            </a:solidFill>
            <a:prstDash val="solid"/>
          </a:ln>
        </p:spPr>
      </p:sp>
      <p:sp>
        <p:nvSpPr>
          <p:cNvPr id="31" name="Text 28"/>
          <p:cNvSpPr/>
          <p:nvPr/>
        </p:nvSpPr>
        <p:spPr>
          <a:xfrm>
            <a:off x="7562088" y="2340864"/>
            <a:ext cx="3840480" cy="274320"/>
          </a:xfrm>
          <a:prstGeom prst="rect">
            <a:avLst/>
          </a:prstGeom>
          <a:noFill/>
          <a:ln/>
        </p:spPr>
        <p:txBody>
          <a:bodyPr wrap="square" lIns="0" tIns="0" rIns="0" bIns="0" rtlCol="0" anchor="ctr"/>
          <a:lstStyle/>
          <a:p>
            <a:pPr indent="0" marL="0">
              <a:buNone/>
            </a:pPr>
            <a:r>
              <a:rPr lang="en-US" sz="950" b="1" spc="130" kern="0" dirty="0">
                <a:solidFill>
                  <a:srgbClr val="E09A2E"/>
                </a:solidFill>
                <a:latin typeface="Calibri" pitchFamily="34" charset="0"/>
                <a:ea typeface="Calibri" pitchFamily="34" charset="-122"/>
                <a:cs typeface="Calibri" pitchFamily="34" charset="-120"/>
              </a:rPr>
              <a:t>WHAT HAPPENS WHEN A MONITOR FIRES</a:t>
            </a:r>
            <a:endParaRPr lang="en-US" sz="950" dirty="0"/>
          </a:p>
        </p:txBody>
      </p:sp>
      <p:sp>
        <p:nvSpPr>
          <p:cNvPr id="32" name="Text 29"/>
          <p:cNvSpPr/>
          <p:nvPr/>
        </p:nvSpPr>
        <p:spPr>
          <a:xfrm>
            <a:off x="7562088" y="2688336"/>
            <a:ext cx="3840480" cy="246888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rgbClr val="C6D0DF"/>
                </a:solidFill>
                <a:latin typeface="Calibri" pitchFamily="34" charset="0"/>
                <a:ea typeface="Calibri" pitchFamily="34" charset="-122"/>
                <a:cs typeface="Calibri" pitchFamily="34" charset="-120"/>
              </a:rPr>
              <a:t>Diagnostics attach automatically (every alert)</a:t>
            </a:r>
            <a:endParaRPr lang="en-US" sz="1100" dirty="0"/>
          </a:p>
          <a:p>
            <a:pPr marL="342900" indent="-342900">
              <a:spcAft>
                <a:spcPts val="600"/>
              </a:spcAft>
              <a:buSzPct val="100000"/>
              <a:buChar char="•"/>
            </a:pPr>
            <a:r>
              <a:rPr lang="en-US" sz="1100" dirty="0">
                <a:solidFill>
                  <a:srgbClr val="C6D0DF"/>
                </a:solidFill>
                <a:latin typeface="Calibri" pitchFamily="34" charset="0"/>
                <a:ea typeface="Calibri" pitchFamily="34" charset="-122"/>
                <a:cs typeface="Calibri" pitchFamily="34" charset="-120"/>
              </a:rPr>
              <a:t>Correlation groups it; change events attach as context</a:t>
            </a:r>
            <a:endParaRPr lang="en-US" sz="1100" dirty="0"/>
          </a:p>
          <a:p>
            <a:pPr marL="342900" indent="-342900">
              <a:spcAft>
                <a:spcPts val="600"/>
              </a:spcAft>
              <a:buSzPct val="100000"/>
              <a:buChar char="•"/>
            </a:pPr>
            <a:r>
              <a:rPr lang="en-US" sz="1100" dirty="0">
                <a:solidFill>
                  <a:srgbClr val="C6D0DF"/>
                </a:solidFill>
                <a:latin typeface="Calibri" pitchFamily="34" charset="0"/>
                <a:ea typeface="Calibri" pitchFamily="34" charset="-122"/>
                <a:cs typeface="Calibri" pitchFamily="34" charset="-120"/>
              </a:rPr>
              <a:t>Rules resolve tags → Teams + ServiceNow + On-Call</a:t>
            </a:r>
            <a:endParaRPr lang="en-US" sz="1100" dirty="0"/>
          </a:p>
          <a:p>
            <a:pPr marL="342900" indent="-342900">
              <a:spcAft>
                <a:spcPts val="600"/>
              </a:spcAft>
              <a:buSzPct val="100000"/>
              <a:buChar char="•"/>
            </a:pPr>
            <a:r>
              <a:rPr lang="en-US" sz="1100" dirty="0">
                <a:solidFill>
                  <a:srgbClr val="C6D0DF"/>
                </a:solidFill>
                <a:latin typeface="Calibri" pitchFamily="34" charset="0"/>
                <a:ea typeface="Calibri" pitchFamily="34" charset="-122"/>
                <a:cs typeface="Calibri" pitchFamily="34" charset="-120"/>
              </a:rPr>
              <a:t>Responder opens the runbook linked in the alert</a:t>
            </a:r>
            <a:endParaRPr lang="en-US" sz="1100" dirty="0"/>
          </a:p>
          <a:p>
            <a:pPr marL="342900" indent="-342900">
              <a:spcAft>
                <a:spcPts val="600"/>
              </a:spcAft>
              <a:buSzPct val="100000"/>
              <a:buChar char="•"/>
            </a:pPr>
            <a:r>
              <a:rPr lang="en-US" sz="1100" dirty="0">
                <a:solidFill>
                  <a:srgbClr val="C6D0DF"/>
                </a:solidFill>
                <a:latin typeface="Calibri" pitchFamily="34" charset="0"/>
                <a:ea typeface="Calibri" pitchFamily="34" charset="-122"/>
                <a:cs typeface="Calibri" pitchFamily="34" charset="-120"/>
              </a:rPr>
              <a:t>Remediation: manual, approval-gated or automatic</a:t>
            </a:r>
            <a:endParaRPr lang="en-US" sz="1100" dirty="0"/>
          </a:p>
          <a:p>
            <a:pPr marL="342900" indent="-342900">
              <a:spcAft>
                <a:spcPts val="600"/>
              </a:spcAft>
              <a:buSzPct val="100000"/>
              <a:buChar char="•"/>
            </a:pPr>
            <a:r>
              <a:rPr lang="en-US" sz="1100" dirty="0">
                <a:solidFill>
                  <a:srgbClr val="C6D0DF"/>
                </a:solidFill>
                <a:latin typeface="Calibri" pitchFamily="34" charset="0"/>
                <a:ea typeface="Calibri" pitchFamily="34" charset="-122"/>
                <a:cs typeface="Calibri" pitchFamily="34" charset="-120"/>
              </a:rPr>
              <a:t>Recovery notification; the group closes when every child recovers</a:t>
            </a:r>
            <a:endParaRPr lang="en-US" sz="1100" dirty="0"/>
          </a:p>
          <a:p>
            <a:pPr marL="342900" indent="-342900">
              <a:spcAft>
                <a:spcPts val="600"/>
              </a:spcAft>
              <a:buSzPct val="100000"/>
              <a:buChar char="•"/>
            </a:pPr>
            <a:r>
              <a:rPr lang="en-US" sz="1100" dirty="0">
                <a:solidFill>
                  <a:srgbClr val="C6D0DF"/>
                </a:solidFill>
                <a:latin typeface="Calibri" pitchFamily="34" charset="0"/>
                <a:ea typeface="Calibri" pitchFamily="34" charset="-122"/>
                <a:cs typeface="Calibri" pitchFamily="34" charset="-120"/>
              </a:rPr>
              <a:t>Error-budget impact recorded against the SLO</a:t>
            </a:r>
            <a:endParaRPr lang="en-US" sz="1100" dirty="0"/>
          </a:p>
        </p:txBody>
      </p:sp>
      <p:sp>
        <p:nvSpPr>
          <p:cNvPr id="33" name="Shape 30"/>
          <p:cNvSpPr/>
          <p:nvPr/>
        </p:nvSpPr>
        <p:spPr>
          <a:xfrm>
            <a:off x="566928" y="5440680"/>
            <a:ext cx="11057839" cy="566928"/>
          </a:xfrm>
          <a:prstGeom prst="roundRect">
            <a:avLst>
              <a:gd name="adj" fmla="val 8065"/>
            </a:avLst>
          </a:prstGeom>
          <a:solidFill>
            <a:srgbClr val="FBEEEB"/>
          </a:solidFill>
          <a:ln w="12700">
            <a:solidFill>
              <a:srgbClr val="FBEEEB"/>
            </a:solidFill>
            <a:prstDash val="solid"/>
          </a:ln>
        </p:spPr>
      </p:sp>
      <p:sp>
        <p:nvSpPr>
          <p:cNvPr id="34" name="Text 31"/>
          <p:cNvSpPr/>
          <p:nvPr/>
        </p:nvSpPr>
        <p:spPr>
          <a:xfrm>
            <a:off x="795528" y="5440680"/>
            <a:ext cx="10600639" cy="566928"/>
          </a:xfrm>
          <a:prstGeom prst="rect">
            <a:avLst/>
          </a:prstGeom>
          <a:noFill/>
          <a:ln/>
        </p:spPr>
        <p:txBody>
          <a:bodyPr wrap="square" lIns="0" tIns="0" rIns="0" bIns="0" rtlCol="0" anchor="ctr"/>
          <a:lstStyle/>
          <a:p>
            <a:pPr indent="0" marL="0">
              <a:buNone/>
            </a:pPr>
            <a:r>
              <a:rPr lang="en-US" sz="1150" b="1" dirty="0">
                <a:solidFill>
                  <a:srgbClr val="7A2E24"/>
                </a:solidFill>
                <a:latin typeface="Calibri" pitchFamily="34" charset="0"/>
                <a:ea typeface="Calibri" pitchFamily="34" charset="-122"/>
                <a:cs typeface="Calibri" pitchFamily="34" charset="-120"/>
              </a:rPr>
              <a:t>Why partial:  </a:t>
            </a:r>
            <a:pPr indent="0" marL="0">
              <a:buNone/>
            </a:pPr>
            <a:r>
              <a:rPr lang="en-US" sz="1150" dirty="0">
                <a:solidFill>
                  <a:srgbClr val="7A2E24"/>
                </a:solidFill>
                <a:latin typeface="Calibri" pitchFamily="34" charset="0"/>
                <a:ea typeface="Calibri" pitchFamily="34" charset="-122"/>
                <a:cs typeface="Calibri" pitchFamily="34" charset="-120"/>
              </a:rPr>
              <a:t>severity-to-incident intent is declared and deployed, but there is no incident-command role model in the platform and no timeline or post-incident-review automation. Datadog holds the incident; we have not yet encoded who does what inside it.</a:t>
            </a:r>
            <a:endParaRPr lang="en-US" sz="11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8778240" cy="256032"/>
          </a:xfrm>
          <a:prstGeom prst="rect">
            <a:avLst/>
          </a:prstGeom>
          <a:noFill/>
          <a:ln/>
        </p:spPr>
        <p:txBody>
          <a:bodyPr wrap="square" lIns="0" tIns="0" rIns="0" bIns="0" rtlCol="0" anchor="ctr"/>
          <a:lstStyle/>
          <a:p>
            <a:pPr indent="0" marL="0">
              <a:buNone/>
            </a:pPr>
            <a:r>
              <a:rPr lang="en-US" sz="1050" b="1" spc="160" kern="0" dirty="0">
                <a:solidFill>
                  <a:srgbClr val="B87914"/>
                </a:solidFill>
                <a:latin typeface="Calibri" pitchFamily="34" charset="0"/>
                <a:ea typeface="Calibri" pitchFamily="34" charset="-122"/>
                <a:cs typeface="Calibri" pitchFamily="34" charset="-120"/>
              </a:rPr>
              <a:t>TOPIC 17</a:t>
            </a:r>
            <a:endParaRPr lang="en-US" sz="1050" dirty="0"/>
          </a:p>
        </p:txBody>
      </p:sp>
      <p:sp>
        <p:nvSpPr>
          <p:cNvPr id="3" name="Text 1"/>
          <p:cNvSpPr/>
          <p:nvPr/>
        </p:nvSpPr>
        <p:spPr>
          <a:xfrm>
            <a:off x="566928" y="694944"/>
            <a:ext cx="10424160" cy="786384"/>
          </a:xfrm>
          <a:prstGeom prst="rect">
            <a:avLst/>
          </a:prstGeom>
          <a:noFill/>
          <a:ln/>
        </p:spPr>
        <p:txBody>
          <a:bodyPr wrap="square" lIns="0" tIns="0" rIns="0" bIns="0" rtlCol="0" anchor="ctr"/>
          <a:lstStyle/>
          <a:p>
            <a:pPr indent="0" marL="0">
              <a:buNone/>
            </a:pPr>
            <a:r>
              <a:rPr lang="en-US" sz="3100" b="1" dirty="0">
                <a:solidFill>
                  <a:srgbClr val="161C28"/>
                </a:solidFill>
                <a:latin typeface="Cambria" pitchFamily="34" charset="0"/>
                <a:ea typeface="Cambria" pitchFamily="34" charset="-122"/>
                <a:cs typeface="Cambria" pitchFamily="34" charset="-120"/>
              </a:rPr>
              <a:t>On-call</a:t>
            </a:r>
            <a:endParaRPr lang="en-US" sz="3100" dirty="0"/>
          </a:p>
        </p:txBody>
      </p:sp>
      <p:sp>
        <p:nvSpPr>
          <p:cNvPr id="4" name="Text 2"/>
          <p:cNvSpPr/>
          <p:nvPr/>
        </p:nvSpPr>
        <p:spPr>
          <a:xfrm>
            <a:off x="566928" y="1481328"/>
            <a:ext cx="10698480" cy="457200"/>
          </a:xfrm>
          <a:prstGeom prst="rect">
            <a:avLst/>
          </a:prstGeom>
          <a:noFill/>
          <a:ln/>
        </p:spPr>
        <p:txBody>
          <a:bodyPr wrap="square" lIns="0" tIns="0" rIns="0" bIns="0" rtlCol="0" anchor="t"/>
          <a:lstStyle/>
          <a:p>
            <a:pPr indent="0" marL="0">
              <a:buNone/>
            </a:pPr>
            <a:r>
              <a:rPr lang="en-US" sz="1450" dirty="0">
                <a:solidFill>
                  <a:srgbClr val="3A4557"/>
                </a:solidFill>
                <a:latin typeface="Calibri" pitchFamily="34" charset="0"/>
                <a:ea typeface="Calibri" pitchFamily="34" charset="-122"/>
                <a:cs typeface="Calibri" pitchFamily="34" charset="-120"/>
              </a:rPr>
              <a:t>The structure is built and deployed: 7 teams, 14 schedules, 7 four-step escalation policies. The rosters are empty, so today a page reaches nobody.</a:t>
            </a:r>
            <a:endParaRPr lang="en-US" sz="1450" dirty="0"/>
          </a:p>
        </p:txBody>
      </p:sp>
      <p:sp>
        <p:nvSpPr>
          <p:cNvPr id="5" name="Shape 3"/>
          <p:cNvSpPr/>
          <p:nvPr/>
        </p:nvSpPr>
        <p:spPr>
          <a:xfrm>
            <a:off x="9608515" y="420624"/>
            <a:ext cx="2016252" cy="310896"/>
          </a:xfrm>
          <a:prstGeom prst="roundRect">
            <a:avLst>
              <a:gd name="adj" fmla="val 50000"/>
            </a:avLst>
          </a:prstGeom>
          <a:solidFill>
            <a:srgbClr val="BE4A3F"/>
          </a:solidFill>
          <a:ln w="12700">
            <a:solidFill>
              <a:srgbClr val="BE4A3F"/>
            </a:solidFill>
            <a:prstDash val="solid"/>
          </a:ln>
        </p:spPr>
      </p:sp>
      <p:sp>
        <p:nvSpPr>
          <p:cNvPr id="6" name="Text 4"/>
          <p:cNvSpPr/>
          <p:nvPr/>
        </p:nvSpPr>
        <p:spPr>
          <a:xfrm>
            <a:off x="9608515" y="420624"/>
            <a:ext cx="2016252" cy="310896"/>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ACT NOW — ROSTERS</a:t>
            </a:r>
            <a:endParaRPr lang="en-US" sz="950" dirty="0"/>
          </a:p>
        </p:txBody>
      </p:sp>
      <p:sp>
        <p:nvSpPr>
          <p:cNvPr id="7" name="Text 5"/>
          <p:cNvSpPr/>
          <p:nvPr/>
        </p:nvSpPr>
        <p:spPr>
          <a:xfrm>
            <a:off x="566928" y="6345936"/>
            <a:ext cx="7315200" cy="274320"/>
          </a:xfrm>
          <a:prstGeom prst="rect">
            <a:avLst/>
          </a:prstGeom>
          <a:noFill/>
          <a:ln/>
        </p:spPr>
        <p:txBody>
          <a:bodyPr wrap="square" lIns="0" tIns="0" rIns="0" bIns="0" rtlCol="0" anchor="ctr"/>
          <a:lstStyle/>
          <a:p>
            <a:pPr indent="0" marL="0">
              <a:buNone/>
            </a:pPr>
            <a:r>
              <a:rPr lang="en-US" sz="900" dirty="0">
                <a:solidFill>
                  <a:srgbClr val="6B7891"/>
                </a:solidFill>
                <a:latin typeface="Calibri" pitchFamily="34" charset="0"/>
                <a:ea typeface="Calibri" pitchFamily="34" charset="-122"/>
                <a:cs typeface="Calibri" pitchFamily="34" charset="-120"/>
              </a:rPr>
              <a:t>Enterprise Observability  ·  policy-as-data on Datadog</a:t>
            </a:r>
            <a:endParaRPr lang="en-US" sz="900" dirty="0"/>
          </a:p>
        </p:txBody>
      </p:sp>
      <p:sp>
        <p:nvSpPr>
          <p:cNvPr id="8" name="Text 6"/>
          <p:cNvSpPr/>
          <p:nvPr/>
        </p:nvSpPr>
        <p:spPr>
          <a:xfrm>
            <a:off x="10710367" y="6345936"/>
            <a:ext cx="914400" cy="274320"/>
          </a:xfrm>
          <a:prstGeom prst="rect">
            <a:avLst/>
          </a:prstGeom>
          <a:noFill/>
          <a:ln/>
        </p:spPr>
        <p:txBody>
          <a:bodyPr wrap="square" lIns="0" tIns="0" rIns="0" bIns="0" rtlCol="0" anchor="ctr"/>
          <a:lstStyle/>
          <a:p>
            <a:pPr algn="r" indent="0" marL="0">
              <a:buNone/>
            </a:pPr>
            <a:r>
              <a:rPr lang="en-US" sz="900" dirty="0">
                <a:solidFill>
                  <a:srgbClr val="6B7891"/>
                </a:solidFill>
                <a:latin typeface="Calibri" pitchFamily="34" charset="0"/>
                <a:ea typeface="Calibri" pitchFamily="34" charset="-122"/>
                <a:cs typeface="Calibri" pitchFamily="34" charset="-120"/>
              </a:rPr>
              <a:t>24</a:t>
            </a:r>
            <a:endParaRPr lang="en-US" sz="900" dirty="0"/>
          </a:p>
        </p:txBody>
      </p:sp>
      <p:sp>
        <p:nvSpPr>
          <p:cNvPr id="10" name="Shape 7"/>
          <p:cNvSpPr/>
          <p:nvPr/>
        </p:nvSpPr>
        <p:spPr>
          <a:xfrm>
            <a:off x="566928" y="2194560"/>
            <a:ext cx="2606040" cy="1188720"/>
          </a:xfrm>
          <a:prstGeom prst="roundRect">
            <a:avLst>
              <a:gd name="adj" fmla="val 5385"/>
            </a:avLst>
          </a:prstGeom>
          <a:solidFill>
            <a:srgbClr val="EFF2F6"/>
          </a:solidFill>
          <a:ln w="12700">
            <a:solidFill>
              <a:srgbClr val="EFF2F6"/>
            </a:solidFill>
            <a:prstDash val="solid"/>
          </a:ln>
        </p:spPr>
      </p:sp>
      <p:sp>
        <p:nvSpPr>
          <p:cNvPr id="11" name="Text 8"/>
          <p:cNvSpPr/>
          <p:nvPr/>
        </p:nvSpPr>
        <p:spPr>
          <a:xfrm>
            <a:off x="786384" y="2331720"/>
            <a:ext cx="2194560" cy="566928"/>
          </a:xfrm>
          <a:prstGeom prst="rect">
            <a:avLst/>
          </a:prstGeom>
          <a:noFill/>
          <a:ln/>
        </p:spPr>
        <p:txBody>
          <a:bodyPr wrap="square" lIns="0" tIns="0" rIns="0" bIns="0" rtlCol="0" anchor="ctr"/>
          <a:lstStyle/>
          <a:p>
            <a:pPr algn="l" indent="0" marL="0">
              <a:buNone/>
            </a:pPr>
            <a:r>
              <a:rPr lang="en-US" sz="3400" b="1" dirty="0">
                <a:solidFill>
                  <a:srgbClr val="161C28"/>
                </a:solidFill>
                <a:latin typeface="Cambria" pitchFamily="34" charset="0"/>
                <a:ea typeface="Cambria" pitchFamily="34" charset="-122"/>
                <a:cs typeface="Cambria" pitchFamily="34" charset="-120"/>
              </a:rPr>
              <a:t>7</a:t>
            </a:r>
            <a:endParaRPr lang="en-US" sz="3400" dirty="0"/>
          </a:p>
        </p:txBody>
      </p:sp>
      <p:sp>
        <p:nvSpPr>
          <p:cNvPr id="12" name="Text 9"/>
          <p:cNvSpPr/>
          <p:nvPr/>
        </p:nvSpPr>
        <p:spPr>
          <a:xfrm>
            <a:off x="786384" y="2862072"/>
            <a:ext cx="2194560" cy="548640"/>
          </a:xfrm>
          <a:prstGeom prst="rect">
            <a:avLst/>
          </a:prstGeom>
          <a:noFill/>
          <a:ln/>
        </p:spPr>
        <p:txBody>
          <a:bodyPr wrap="square" lIns="0" tIns="0" rIns="0" bIns="0" rtlCol="0" anchor="t"/>
          <a:lstStyle/>
          <a:p>
            <a:pPr algn="l" indent="0" marL="0">
              <a:buNone/>
            </a:pPr>
            <a:r>
              <a:rPr lang="en-US" sz="1050" dirty="0">
                <a:solidFill>
                  <a:srgbClr val="6B7891"/>
                </a:solidFill>
                <a:latin typeface="Calibri" pitchFamily="34" charset="0"/>
                <a:ea typeface="Calibri" pitchFamily="34" charset="-122"/>
                <a:cs typeface="Calibri" pitchFamily="34" charset="-120"/>
              </a:rPr>
              <a:t>teams</a:t>
            </a:r>
            <a:endParaRPr lang="en-US" sz="1050" dirty="0"/>
          </a:p>
        </p:txBody>
      </p:sp>
      <p:sp>
        <p:nvSpPr>
          <p:cNvPr id="13" name="Shape 10"/>
          <p:cNvSpPr/>
          <p:nvPr/>
        </p:nvSpPr>
        <p:spPr>
          <a:xfrm>
            <a:off x="3355848" y="2194560"/>
            <a:ext cx="2606040" cy="1188720"/>
          </a:xfrm>
          <a:prstGeom prst="roundRect">
            <a:avLst>
              <a:gd name="adj" fmla="val 5385"/>
            </a:avLst>
          </a:prstGeom>
          <a:solidFill>
            <a:srgbClr val="EFF2F6"/>
          </a:solidFill>
          <a:ln w="12700">
            <a:solidFill>
              <a:srgbClr val="EFF2F6"/>
            </a:solidFill>
            <a:prstDash val="solid"/>
          </a:ln>
        </p:spPr>
      </p:sp>
      <p:sp>
        <p:nvSpPr>
          <p:cNvPr id="14" name="Text 11"/>
          <p:cNvSpPr/>
          <p:nvPr/>
        </p:nvSpPr>
        <p:spPr>
          <a:xfrm>
            <a:off x="3575304" y="2331720"/>
            <a:ext cx="2194560" cy="566928"/>
          </a:xfrm>
          <a:prstGeom prst="rect">
            <a:avLst/>
          </a:prstGeom>
          <a:noFill/>
          <a:ln/>
        </p:spPr>
        <p:txBody>
          <a:bodyPr wrap="square" lIns="0" tIns="0" rIns="0" bIns="0" rtlCol="0" anchor="ctr"/>
          <a:lstStyle/>
          <a:p>
            <a:pPr algn="l" indent="0" marL="0">
              <a:buNone/>
            </a:pPr>
            <a:r>
              <a:rPr lang="en-US" sz="3400" b="1" dirty="0">
                <a:solidFill>
                  <a:srgbClr val="161C28"/>
                </a:solidFill>
                <a:latin typeface="Cambria" pitchFamily="34" charset="0"/>
                <a:ea typeface="Cambria" pitchFamily="34" charset="-122"/>
                <a:cs typeface="Cambria" pitchFamily="34" charset="-120"/>
              </a:rPr>
              <a:t>14</a:t>
            </a:r>
            <a:endParaRPr lang="en-US" sz="3400" dirty="0"/>
          </a:p>
        </p:txBody>
      </p:sp>
      <p:sp>
        <p:nvSpPr>
          <p:cNvPr id="15" name="Text 12"/>
          <p:cNvSpPr/>
          <p:nvPr/>
        </p:nvSpPr>
        <p:spPr>
          <a:xfrm>
            <a:off x="3575304" y="2862072"/>
            <a:ext cx="2194560" cy="548640"/>
          </a:xfrm>
          <a:prstGeom prst="rect">
            <a:avLst/>
          </a:prstGeom>
          <a:noFill/>
          <a:ln/>
        </p:spPr>
        <p:txBody>
          <a:bodyPr wrap="square" lIns="0" tIns="0" rIns="0" bIns="0" rtlCol="0" anchor="t"/>
          <a:lstStyle/>
          <a:p>
            <a:pPr algn="l" indent="0" marL="0">
              <a:buNone/>
            </a:pPr>
            <a:r>
              <a:rPr lang="en-US" sz="1050" dirty="0">
                <a:solidFill>
                  <a:srgbClr val="6B7891"/>
                </a:solidFill>
                <a:latin typeface="Calibri" pitchFamily="34" charset="0"/>
                <a:ea typeface="Calibri" pitchFamily="34" charset="-122"/>
                <a:cs typeface="Calibri" pitchFamily="34" charset="-120"/>
              </a:rPr>
              <a:t>schedules — primary + secondary</a:t>
            </a:r>
            <a:endParaRPr lang="en-US" sz="1050" dirty="0"/>
          </a:p>
        </p:txBody>
      </p:sp>
      <p:sp>
        <p:nvSpPr>
          <p:cNvPr id="16" name="Shape 13"/>
          <p:cNvSpPr/>
          <p:nvPr/>
        </p:nvSpPr>
        <p:spPr>
          <a:xfrm>
            <a:off x="6144768" y="2194560"/>
            <a:ext cx="2606040" cy="1188720"/>
          </a:xfrm>
          <a:prstGeom prst="roundRect">
            <a:avLst>
              <a:gd name="adj" fmla="val 5385"/>
            </a:avLst>
          </a:prstGeom>
          <a:solidFill>
            <a:srgbClr val="EFF2F6"/>
          </a:solidFill>
          <a:ln w="12700">
            <a:solidFill>
              <a:srgbClr val="EFF2F6"/>
            </a:solidFill>
            <a:prstDash val="solid"/>
          </a:ln>
        </p:spPr>
      </p:sp>
      <p:sp>
        <p:nvSpPr>
          <p:cNvPr id="17" name="Text 14"/>
          <p:cNvSpPr/>
          <p:nvPr/>
        </p:nvSpPr>
        <p:spPr>
          <a:xfrm>
            <a:off x="6364224" y="2331720"/>
            <a:ext cx="2194560" cy="566928"/>
          </a:xfrm>
          <a:prstGeom prst="rect">
            <a:avLst/>
          </a:prstGeom>
          <a:noFill/>
          <a:ln/>
        </p:spPr>
        <p:txBody>
          <a:bodyPr wrap="square" lIns="0" tIns="0" rIns="0" bIns="0" rtlCol="0" anchor="ctr"/>
          <a:lstStyle/>
          <a:p>
            <a:pPr algn="l" indent="0" marL="0">
              <a:buNone/>
            </a:pPr>
            <a:r>
              <a:rPr lang="en-US" sz="3400" b="1" dirty="0">
                <a:solidFill>
                  <a:srgbClr val="161C28"/>
                </a:solidFill>
                <a:latin typeface="Cambria" pitchFamily="34" charset="0"/>
                <a:ea typeface="Cambria" pitchFamily="34" charset="-122"/>
                <a:cs typeface="Cambria" pitchFamily="34" charset="-120"/>
              </a:rPr>
              <a:t>7</a:t>
            </a:r>
            <a:endParaRPr lang="en-US" sz="3400" dirty="0"/>
          </a:p>
        </p:txBody>
      </p:sp>
      <p:sp>
        <p:nvSpPr>
          <p:cNvPr id="18" name="Text 15"/>
          <p:cNvSpPr/>
          <p:nvPr/>
        </p:nvSpPr>
        <p:spPr>
          <a:xfrm>
            <a:off x="6364224" y="2862072"/>
            <a:ext cx="2194560" cy="548640"/>
          </a:xfrm>
          <a:prstGeom prst="rect">
            <a:avLst/>
          </a:prstGeom>
          <a:noFill/>
          <a:ln/>
        </p:spPr>
        <p:txBody>
          <a:bodyPr wrap="square" lIns="0" tIns="0" rIns="0" bIns="0" rtlCol="0" anchor="t"/>
          <a:lstStyle/>
          <a:p>
            <a:pPr algn="l" indent="0" marL="0">
              <a:buNone/>
            </a:pPr>
            <a:r>
              <a:rPr lang="en-US" sz="1050" dirty="0">
                <a:solidFill>
                  <a:srgbClr val="6B7891"/>
                </a:solidFill>
                <a:latin typeface="Calibri" pitchFamily="34" charset="0"/>
                <a:ea typeface="Calibri" pitchFamily="34" charset="-122"/>
                <a:cs typeface="Calibri" pitchFamily="34" charset="-120"/>
              </a:rPr>
              <a:t>escalation policies, 4 steps each</a:t>
            </a:r>
            <a:endParaRPr lang="en-US" sz="1050" dirty="0"/>
          </a:p>
        </p:txBody>
      </p:sp>
      <p:sp>
        <p:nvSpPr>
          <p:cNvPr id="19" name="Shape 16"/>
          <p:cNvSpPr/>
          <p:nvPr/>
        </p:nvSpPr>
        <p:spPr>
          <a:xfrm>
            <a:off x="8933688" y="2194560"/>
            <a:ext cx="2606040" cy="1188720"/>
          </a:xfrm>
          <a:prstGeom prst="roundRect">
            <a:avLst>
              <a:gd name="adj" fmla="val 5385"/>
            </a:avLst>
          </a:prstGeom>
          <a:solidFill>
            <a:srgbClr val="FBEEEB"/>
          </a:solidFill>
          <a:ln w="12700">
            <a:solidFill>
              <a:srgbClr val="FBEEEB"/>
            </a:solidFill>
            <a:prstDash val="solid"/>
          </a:ln>
        </p:spPr>
      </p:sp>
      <p:sp>
        <p:nvSpPr>
          <p:cNvPr id="20" name="Text 17"/>
          <p:cNvSpPr/>
          <p:nvPr/>
        </p:nvSpPr>
        <p:spPr>
          <a:xfrm>
            <a:off x="9153144" y="2331720"/>
            <a:ext cx="2194560" cy="566928"/>
          </a:xfrm>
          <a:prstGeom prst="rect">
            <a:avLst/>
          </a:prstGeom>
          <a:noFill/>
          <a:ln/>
        </p:spPr>
        <p:txBody>
          <a:bodyPr wrap="square" lIns="0" tIns="0" rIns="0" bIns="0" rtlCol="0" anchor="ctr"/>
          <a:lstStyle/>
          <a:p>
            <a:pPr algn="l" indent="0" marL="0">
              <a:buNone/>
            </a:pPr>
            <a:r>
              <a:rPr lang="en-US" sz="3400" b="1" dirty="0">
                <a:solidFill>
                  <a:srgbClr val="BE4A3F"/>
                </a:solidFill>
                <a:latin typeface="Cambria" pitchFamily="34" charset="0"/>
                <a:ea typeface="Cambria" pitchFamily="34" charset="-122"/>
                <a:cs typeface="Cambria" pitchFamily="34" charset="-120"/>
              </a:rPr>
              <a:t>0</a:t>
            </a:r>
            <a:endParaRPr lang="en-US" sz="3400" dirty="0"/>
          </a:p>
        </p:txBody>
      </p:sp>
      <p:sp>
        <p:nvSpPr>
          <p:cNvPr id="21" name="Text 18"/>
          <p:cNvSpPr/>
          <p:nvPr/>
        </p:nvSpPr>
        <p:spPr>
          <a:xfrm>
            <a:off x="9153144" y="2862072"/>
            <a:ext cx="2194560" cy="548640"/>
          </a:xfrm>
          <a:prstGeom prst="rect">
            <a:avLst/>
          </a:prstGeom>
          <a:noFill/>
          <a:ln/>
        </p:spPr>
        <p:txBody>
          <a:bodyPr wrap="square" lIns="0" tIns="0" rIns="0" bIns="0" rtlCol="0" anchor="t"/>
          <a:lstStyle/>
          <a:p>
            <a:pPr algn="l" indent="0" marL="0">
              <a:buNone/>
            </a:pPr>
            <a:r>
              <a:rPr lang="en-US" sz="1050" dirty="0">
                <a:solidFill>
                  <a:srgbClr val="6B7891"/>
                </a:solidFill>
                <a:latin typeface="Calibri" pitchFamily="34" charset="0"/>
                <a:ea typeface="Calibri" pitchFamily="34" charset="-122"/>
                <a:cs typeface="Calibri" pitchFamily="34" charset="-120"/>
              </a:rPr>
              <a:t>positions currently assigned</a:t>
            </a:r>
            <a:endParaRPr lang="en-US" sz="1050" dirty="0"/>
          </a:p>
        </p:txBody>
      </p:sp>
      <p:sp>
        <p:nvSpPr>
          <p:cNvPr id="22" name="Text 19"/>
          <p:cNvSpPr/>
          <p:nvPr/>
        </p:nvSpPr>
        <p:spPr>
          <a:xfrm>
            <a:off x="566928" y="3584448"/>
            <a:ext cx="10607040" cy="292608"/>
          </a:xfrm>
          <a:prstGeom prst="rect">
            <a:avLst/>
          </a:prstGeom>
          <a:noFill/>
          <a:ln/>
        </p:spPr>
        <p:txBody>
          <a:bodyPr wrap="square" lIns="0" tIns="0" rIns="0" bIns="0" rtlCol="0" anchor="ctr"/>
          <a:lstStyle/>
          <a:p>
            <a:pPr indent="0" marL="0">
              <a:buNone/>
            </a:pPr>
            <a:r>
              <a:rPr lang="en-US" sz="1400" b="1" dirty="0">
                <a:solidFill>
                  <a:srgbClr val="161C28"/>
                </a:solidFill>
                <a:latin typeface="Calibri" pitchFamily="34" charset="0"/>
                <a:ea typeface="Calibri" pitchFamily="34" charset="-122"/>
                <a:cs typeface="Calibri" pitchFamily="34" charset="-120"/>
              </a:rPr>
              <a:t>The escalation chain, derived from the priority model</a:t>
            </a:r>
            <a:endParaRPr lang="en-US" sz="1400" dirty="0"/>
          </a:p>
        </p:txBody>
      </p:sp>
      <p:sp>
        <p:nvSpPr>
          <p:cNvPr id="23" name="Shape 20"/>
          <p:cNvSpPr/>
          <p:nvPr/>
        </p:nvSpPr>
        <p:spPr>
          <a:xfrm>
            <a:off x="566928" y="3950208"/>
            <a:ext cx="1421892" cy="777240"/>
          </a:xfrm>
          <a:prstGeom prst="roundRect">
            <a:avLst>
              <a:gd name="adj" fmla="val 7059"/>
            </a:avLst>
          </a:prstGeom>
          <a:solidFill>
            <a:srgbClr val="EFF2F6"/>
          </a:solidFill>
          <a:ln w="12700">
            <a:solidFill>
              <a:srgbClr val="EFF2F6"/>
            </a:solidFill>
            <a:prstDash val="solid"/>
          </a:ln>
        </p:spPr>
      </p:sp>
      <p:sp>
        <p:nvSpPr>
          <p:cNvPr id="24" name="Text 21"/>
          <p:cNvSpPr/>
          <p:nvPr/>
        </p:nvSpPr>
        <p:spPr>
          <a:xfrm>
            <a:off x="676656" y="4059936"/>
            <a:ext cx="1202436" cy="557784"/>
          </a:xfrm>
          <a:prstGeom prst="rect">
            <a:avLst/>
          </a:prstGeom>
          <a:noFill/>
          <a:ln/>
        </p:spPr>
        <p:txBody>
          <a:bodyPr wrap="square" lIns="0" tIns="0" rIns="0" bIns="0" rtlCol="0" anchor="ctr"/>
          <a:lstStyle/>
          <a:p>
            <a:pPr algn="ctr" indent="0" marL="0">
              <a:lnSpc>
                <a:spcPct val="100000"/>
              </a:lnSpc>
              <a:buNone/>
            </a:pPr>
            <a:r>
              <a:rPr lang="en-US" sz="1150" b="1" dirty="0">
                <a:solidFill>
                  <a:srgbClr val="161C28"/>
                </a:solidFill>
                <a:latin typeface="Calibri" pitchFamily="34" charset="0"/>
                <a:ea typeface="Calibri" pitchFamily="34" charset="-122"/>
                <a:cs typeface="Calibri" pitchFamily="34" charset="-120"/>
              </a:rPr>
              <a:t>Primary</a:t>
            </a:r>
            <a:endParaRPr lang="en-US" sz="1150" dirty="0"/>
          </a:p>
          <a:p>
            <a:pPr algn="ctr" indent="0" marL="0">
              <a:lnSpc>
                <a:spcPct val="100000"/>
              </a:lnSpc>
              <a:buNone/>
            </a:pPr>
            <a:r>
              <a:rPr lang="en-US" sz="1150" b="1" dirty="0">
                <a:solidFill>
                  <a:srgbClr val="161C28"/>
                </a:solidFill>
                <a:latin typeface="Calibri" pitchFamily="34" charset="0"/>
                <a:ea typeface="Calibri" pitchFamily="34" charset="-122"/>
                <a:cs typeface="Calibri" pitchFamily="34" charset="-120"/>
              </a:rPr>
              <a:t>on-call</a:t>
            </a:r>
            <a:endParaRPr lang="en-US" sz="1150" dirty="0"/>
          </a:p>
        </p:txBody>
      </p:sp>
      <p:sp>
        <p:nvSpPr>
          <p:cNvPr id="25" name="Shape 22"/>
          <p:cNvSpPr/>
          <p:nvPr/>
        </p:nvSpPr>
        <p:spPr>
          <a:xfrm>
            <a:off x="2043684" y="4256532"/>
            <a:ext cx="128016" cy="164592"/>
          </a:xfrm>
          <a:prstGeom prst="rightArrow">
            <a:avLst/>
          </a:prstGeom>
          <a:solidFill>
            <a:srgbClr val="5F7189"/>
          </a:solidFill>
          <a:ln w="12700">
            <a:solidFill>
              <a:srgbClr val="5F7189"/>
            </a:solidFill>
            <a:prstDash val="solid"/>
          </a:ln>
        </p:spPr>
      </p:sp>
      <p:sp>
        <p:nvSpPr>
          <p:cNvPr id="26" name="Shape 23"/>
          <p:cNvSpPr/>
          <p:nvPr/>
        </p:nvSpPr>
        <p:spPr>
          <a:xfrm>
            <a:off x="2226564" y="3950208"/>
            <a:ext cx="1421892" cy="777240"/>
          </a:xfrm>
          <a:prstGeom prst="roundRect">
            <a:avLst>
              <a:gd name="adj" fmla="val 7059"/>
            </a:avLst>
          </a:prstGeom>
          <a:solidFill>
            <a:srgbClr val="EFF2F6"/>
          </a:solidFill>
          <a:ln w="12700">
            <a:solidFill>
              <a:srgbClr val="EFF2F6"/>
            </a:solidFill>
            <a:prstDash val="solid"/>
          </a:ln>
        </p:spPr>
      </p:sp>
      <p:sp>
        <p:nvSpPr>
          <p:cNvPr id="27" name="Text 24"/>
          <p:cNvSpPr/>
          <p:nvPr/>
        </p:nvSpPr>
        <p:spPr>
          <a:xfrm>
            <a:off x="2336292" y="4059936"/>
            <a:ext cx="1202436" cy="557784"/>
          </a:xfrm>
          <a:prstGeom prst="rect">
            <a:avLst/>
          </a:prstGeom>
          <a:noFill/>
          <a:ln/>
        </p:spPr>
        <p:txBody>
          <a:bodyPr wrap="square" lIns="0" tIns="0" rIns="0" bIns="0" rtlCol="0" anchor="ctr"/>
          <a:lstStyle/>
          <a:p>
            <a:pPr algn="ctr" indent="0" marL="0">
              <a:lnSpc>
                <a:spcPct val="100000"/>
              </a:lnSpc>
              <a:buNone/>
            </a:pPr>
            <a:r>
              <a:rPr lang="en-US" sz="1150" b="1" dirty="0">
                <a:solidFill>
                  <a:srgbClr val="161C28"/>
                </a:solidFill>
                <a:latin typeface="Calibri" pitchFamily="34" charset="0"/>
                <a:ea typeface="Calibri" pitchFamily="34" charset="-122"/>
                <a:cs typeface="Calibri" pitchFamily="34" charset="-120"/>
              </a:rPr>
              <a:t>Secondary</a:t>
            </a:r>
            <a:endParaRPr lang="en-US" sz="1150" dirty="0"/>
          </a:p>
          <a:p>
            <a:pPr algn="ctr" indent="0" marL="0">
              <a:lnSpc>
                <a:spcPct val="100000"/>
              </a:lnSpc>
              <a:buNone/>
            </a:pPr>
            <a:r>
              <a:rPr lang="en-US" sz="1150" b="1" dirty="0">
                <a:solidFill>
                  <a:srgbClr val="161C28"/>
                </a:solidFill>
                <a:latin typeface="Calibri" pitchFamily="34" charset="0"/>
                <a:ea typeface="Calibri" pitchFamily="34" charset="-122"/>
                <a:cs typeface="Calibri" pitchFamily="34" charset="-120"/>
              </a:rPr>
              <a:t>on-call</a:t>
            </a:r>
            <a:endParaRPr lang="en-US" sz="1150" dirty="0"/>
          </a:p>
        </p:txBody>
      </p:sp>
      <p:sp>
        <p:nvSpPr>
          <p:cNvPr id="28" name="Shape 25"/>
          <p:cNvSpPr/>
          <p:nvPr/>
        </p:nvSpPr>
        <p:spPr>
          <a:xfrm>
            <a:off x="3703320" y="4256532"/>
            <a:ext cx="128016" cy="164592"/>
          </a:xfrm>
          <a:prstGeom prst="rightArrow">
            <a:avLst/>
          </a:prstGeom>
          <a:solidFill>
            <a:srgbClr val="5F7189"/>
          </a:solidFill>
          <a:ln w="12700">
            <a:solidFill>
              <a:srgbClr val="5F7189"/>
            </a:solidFill>
            <a:prstDash val="solid"/>
          </a:ln>
        </p:spPr>
      </p:sp>
      <p:sp>
        <p:nvSpPr>
          <p:cNvPr id="29" name="Shape 26"/>
          <p:cNvSpPr/>
          <p:nvPr/>
        </p:nvSpPr>
        <p:spPr>
          <a:xfrm>
            <a:off x="3886200" y="3950208"/>
            <a:ext cx="1421892" cy="777240"/>
          </a:xfrm>
          <a:prstGeom prst="roundRect">
            <a:avLst>
              <a:gd name="adj" fmla="val 7059"/>
            </a:avLst>
          </a:prstGeom>
          <a:solidFill>
            <a:srgbClr val="EFF2F6"/>
          </a:solidFill>
          <a:ln w="12700">
            <a:solidFill>
              <a:srgbClr val="EFF2F6"/>
            </a:solidFill>
            <a:prstDash val="solid"/>
          </a:ln>
        </p:spPr>
      </p:sp>
      <p:sp>
        <p:nvSpPr>
          <p:cNvPr id="30" name="Text 27"/>
          <p:cNvSpPr/>
          <p:nvPr/>
        </p:nvSpPr>
        <p:spPr>
          <a:xfrm>
            <a:off x="3995928" y="4059936"/>
            <a:ext cx="1202436" cy="557784"/>
          </a:xfrm>
          <a:prstGeom prst="rect">
            <a:avLst/>
          </a:prstGeom>
          <a:noFill/>
          <a:ln/>
        </p:spPr>
        <p:txBody>
          <a:bodyPr wrap="square" lIns="0" tIns="0" rIns="0" bIns="0" rtlCol="0" anchor="ctr"/>
          <a:lstStyle/>
          <a:p>
            <a:pPr algn="ctr" indent="0" marL="0">
              <a:lnSpc>
                <a:spcPct val="100000"/>
              </a:lnSpc>
              <a:buNone/>
            </a:pPr>
            <a:r>
              <a:rPr lang="en-US" sz="1150" b="1" dirty="0">
                <a:solidFill>
                  <a:srgbClr val="161C28"/>
                </a:solidFill>
                <a:latin typeface="Calibri" pitchFamily="34" charset="0"/>
                <a:ea typeface="Calibri" pitchFamily="34" charset="-122"/>
                <a:cs typeface="Calibri" pitchFamily="34" charset="-120"/>
              </a:rPr>
              <a:t>Team</a:t>
            </a:r>
            <a:endParaRPr lang="en-US" sz="1150" dirty="0"/>
          </a:p>
          <a:p>
            <a:pPr algn="ctr" indent="0" marL="0">
              <a:lnSpc>
                <a:spcPct val="100000"/>
              </a:lnSpc>
              <a:buNone/>
            </a:pPr>
            <a:r>
              <a:rPr lang="en-US" sz="1150" b="1" dirty="0">
                <a:solidFill>
                  <a:srgbClr val="161C28"/>
                </a:solidFill>
                <a:latin typeface="Calibri" pitchFamily="34" charset="0"/>
                <a:ea typeface="Calibri" pitchFamily="34" charset="-122"/>
                <a:cs typeface="Calibri" pitchFamily="34" charset="-120"/>
              </a:rPr>
              <a:t>lead</a:t>
            </a:r>
            <a:endParaRPr lang="en-US" sz="1150" dirty="0"/>
          </a:p>
        </p:txBody>
      </p:sp>
      <p:sp>
        <p:nvSpPr>
          <p:cNvPr id="31" name="Shape 28"/>
          <p:cNvSpPr/>
          <p:nvPr/>
        </p:nvSpPr>
        <p:spPr>
          <a:xfrm>
            <a:off x="5362956" y="4256532"/>
            <a:ext cx="128016" cy="164592"/>
          </a:xfrm>
          <a:prstGeom prst="rightArrow">
            <a:avLst/>
          </a:prstGeom>
          <a:solidFill>
            <a:srgbClr val="5F7189"/>
          </a:solidFill>
          <a:ln w="12700">
            <a:solidFill>
              <a:srgbClr val="5F7189"/>
            </a:solidFill>
            <a:prstDash val="solid"/>
          </a:ln>
        </p:spPr>
      </p:sp>
      <p:sp>
        <p:nvSpPr>
          <p:cNvPr id="32" name="Shape 29"/>
          <p:cNvSpPr/>
          <p:nvPr/>
        </p:nvSpPr>
        <p:spPr>
          <a:xfrm>
            <a:off x="5545836" y="3950208"/>
            <a:ext cx="1421892" cy="777240"/>
          </a:xfrm>
          <a:prstGeom prst="roundRect">
            <a:avLst>
              <a:gd name="adj" fmla="val 7059"/>
            </a:avLst>
          </a:prstGeom>
          <a:solidFill>
            <a:srgbClr val="12161F"/>
          </a:solidFill>
          <a:ln w="12700">
            <a:solidFill>
              <a:srgbClr val="12161F"/>
            </a:solidFill>
            <a:prstDash val="solid"/>
          </a:ln>
        </p:spPr>
      </p:sp>
      <p:sp>
        <p:nvSpPr>
          <p:cNvPr id="33" name="Text 30"/>
          <p:cNvSpPr/>
          <p:nvPr/>
        </p:nvSpPr>
        <p:spPr>
          <a:xfrm>
            <a:off x="5655564" y="4059936"/>
            <a:ext cx="1202436" cy="557784"/>
          </a:xfrm>
          <a:prstGeom prst="rect">
            <a:avLst/>
          </a:prstGeom>
          <a:noFill/>
          <a:ln/>
        </p:spPr>
        <p:txBody>
          <a:bodyPr wrap="square" lIns="0" tIns="0" rIns="0" bIns="0" rtlCol="0" anchor="ctr"/>
          <a:lstStyle/>
          <a:p>
            <a:pPr algn="ctr" indent="0" marL="0">
              <a:lnSpc>
                <a:spcPct val="100000"/>
              </a:lnSpc>
              <a:buNone/>
            </a:pPr>
            <a:r>
              <a:rPr lang="en-US" sz="1150" b="1" dirty="0">
                <a:solidFill>
                  <a:srgbClr val="E09A2E"/>
                </a:solidFill>
                <a:latin typeface="Calibri" pitchFamily="34" charset="0"/>
                <a:ea typeface="Calibri" pitchFamily="34" charset="-122"/>
                <a:cs typeface="Calibri" pitchFamily="34" charset="-120"/>
              </a:rPr>
              <a:t>Incident</a:t>
            </a:r>
            <a:endParaRPr lang="en-US" sz="1150" dirty="0"/>
          </a:p>
          <a:p>
            <a:pPr algn="ctr" indent="0" marL="0">
              <a:lnSpc>
                <a:spcPct val="100000"/>
              </a:lnSpc>
              <a:buNone/>
            </a:pPr>
            <a:r>
              <a:rPr lang="en-US" sz="1150" b="1" dirty="0">
                <a:solidFill>
                  <a:srgbClr val="E09A2E"/>
                </a:solidFill>
                <a:latin typeface="Calibri" pitchFamily="34" charset="0"/>
                <a:ea typeface="Calibri" pitchFamily="34" charset="-122"/>
                <a:cs typeface="Calibri" pitchFamily="34" charset="-120"/>
              </a:rPr>
              <a:t>commander</a:t>
            </a:r>
            <a:endParaRPr lang="en-US" sz="1150" dirty="0"/>
          </a:p>
        </p:txBody>
      </p:sp>
      <p:sp>
        <p:nvSpPr>
          <p:cNvPr id="34" name="Shape 31"/>
          <p:cNvSpPr/>
          <p:nvPr/>
        </p:nvSpPr>
        <p:spPr>
          <a:xfrm>
            <a:off x="7242048" y="3950208"/>
            <a:ext cx="4480560" cy="365760"/>
          </a:xfrm>
          <a:prstGeom prst="rect">
            <a:avLst/>
          </a:prstGeom>
          <a:solidFill>
            <a:srgbClr val="F5F7FA"/>
          </a:solidFill>
          <a:ln w="12700">
            <a:solidFill>
              <a:srgbClr val="F5F7FA"/>
            </a:solidFill>
            <a:prstDash val="solid"/>
          </a:ln>
        </p:spPr>
      </p:sp>
      <p:sp>
        <p:nvSpPr>
          <p:cNvPr id="35" name="Text 32"/>
          <p:cNvSpPr/>
          <p:nvPr/>
        </p:nvSpPr>
        <p:spPr>
          <a:xfrm>
            <a:off x="7333488" y="3950208"/>
            <a:ext cx="1463040" cy="365760"/>
          </a:xfrm>
          <a:prstGeom prst="rect">
            <a:avLst/>
          </a:prstGeom>
          <a:noFill/>
          <a:ln/>
        </p:spPr>
        <p:txBody>
          <a:bodyPr wrap="square" lIns="0" tIns="0" rIns="0" bIns="0" rtlCol="0" anchor="ctr"/>
          <a:lstStyle/>
          <a:p>
            <a:pPr indent="0" marL="0">
              <a:buNone/>
            </a:pPr>
            <a:r>
              <a:rPr lang="en-US" sz="1150" b="1" dirty="0">
                <a:solidFill>
                  <a:srgbClr val="161C28"/>
                </a:solidFill>
                <a:latin typeface="Calibri" pitchFamily="34" charset="0"/>
                <a:ea typeface="Calibri" pitchFamily="34" charset="-122"/>
                <a:cs typeface="Calibri" pitchFamily="34" charset="-120"/>
              </a:rPr>
              <a:t>P1</a:t>
            </a:r>
            <a:endParaRPr lang="en-US" sz="1150" dirty="0"/>
          </a:p>
        </p:txBody>
      </p:sp>
      <p:sp>
        <p:nvSpPr>
          <p:cNvPr id="36" name="Text 33"/>
          <p:cNvSpPr/>
          <p:nvPr/>
        </p:nvSpPr>
        <p:spPr>
          <a:xfrm>
            <a:off x="8979408" y="3950208"/>
            <a:ext cx="2651760" cy="365760"/>
          </a:xfrm>
          <a:prstGeom prst="rect">
            <a:avLst/>
          </a:prstGeom>
          <a:noFill/>
          <a:ln/>
        </p:spPr>
        <p:txBody>
          <a:bodyPr wrap="square" lIns="0" tIns="0" rIns="0" bIns="0" rtlCol="0" anchor="ctr"/>
          <a:lstStyle/>
          <a:p>
            <a:pPr indent="0" marL="0">
              <a:buNone/>
            </a:pPr>
            <a:r>
              <a:rPr lang="en-US" sz="1150" dirty="0">
                <a:solidFill>
                  <a:srgbClr val="3A4557"/>
                </a:solidFill>
                <a:latin typeface="Calibri" pitchFamily="34" charset="0"/>
                <a:ea typeface="Calibri" pitchFamily="34" charset="-122"/>
                <a:cs typeface="Calibri" pitchFamily="34" charset="-120"/>
              </a:rPr>
              <a:t>ack 5 min · escalate 10 min · 24×7</a:t>
            </a:r>
            <a:endParaRPr lang="en-US" sz="1150" dirty="0"/>
          </a:p>
        </p:txBody>
      </p:sp>
      <p:sp>
        <p:nvSpPr>
          <p:cNvPr id="37" name="Text 34"/>
          <p:cNvSpPr/>
          <p:nvPr/>
        </p:nvSpPr>
        <p:spPr>
          <a:xfrm>
            <a:off x="7333488" y="4315968"/>
            <a:ext cx="1463040" cy="365760"/>
          </a:xfrm>
          <a:prstGeom prst="rect">
            <a:avLst/>
          </a:prstGeom>
          <a:noFill/>
          <a:ln/>
        </p:spPr>
        <p:txBody>
          <a:bodyPr wrap="square" lIns="0" tIns="0" rIns="0" bIns="0" rtlCol="0" anchor="ctr"/>
          <a:lstStyle/>
          <a:p>
            <a:pPr indent="0" marL="0">
              <a:buNone/>
            </a:pPr>
            <a:r>
              <a:rPr lang="en-US" sz="1150" b="1" dirty="0">
                <a:solidFill>
                  <a:srgbClr val="161C28"/>
                </a:solidFill>
                <a:latin typeface="Calibri" pitchFamily="34" charset="0"/>
                <a:ea typeface="Calibri" pitchFamily="34" charset="-122"/>
                <a:cs typeface="Calibri" pitchFamily="34" charset="-120"/>
              </a:rPr>
              <a:t>P2 (paging)</a:t>
            </a:r>
            <a:endParaRPr lang="en-US" sz="1150" dirty="0"/>
          </a:p>
        </p:txBody>
      </p:sp>
      <p:sp>
        <p:nvSpPr>
          <p:cNvPr id="38" name="Text 35"/>
          <p:cNvSpPr/>
          <p:nvPr/>
        </p:nvSpPr>
        <p:spPr>
          <a:xfrm>
            <a:off x="8979408" y="4315968"/>
            <a:ext cx="2651760" cy="365760"/>
          </a:xfrm>
          <a:prstGeom prst="rect">
            <a:avLst/>
          </a:prstGeom>
          <a:noFill/>
          <a:ln/>
        </p:spPr>
        <p:txBody>
          <a:bodyPr wrap="square" lIns="0" tIns="0" rIns="0" bIns="0" rtlCol="0" anchor="ctr"/>
          <a:lstStyle/>
          <a:p>
            <a:pPr indent="0" marL="0">
              <a:buNone/>
            </a:pPr>
            <a:r>
              <a:rPr lang="en-US" sz="1150" dirty="0">
                <a:solidFill>
                  <a:srgbClr val="3A4557"/>
                </a:solidFill>
                <a:latin typeface="Calibri" pitchFamily="34" charset="0"/>
                <a:ea typeface="Calibri" pitchFamily="34" charset="-122"/>
                <a:cs typeface="Calibri" pitchFamily="34" charset="-120"/>
              </a:rPr>
              <a:t>ack 10 min · escalate 20 min</a:t>
            </a:r>
            <a:endParaRPr lang="en-US" sz="1150" dirty="0"/>
          </a:p>
        </p:txBody>
      </p:sp>
      <p:sp>
        <p:nvSpPr>
          <p:cNvPr id="39" name="Shape 36"/>
          <p:cNvSpPr/>
          <p:nvPr/>
        </p:nvSpPr>
        <p:spPr>
          <a:xfrm>
            <a:off x="7242048" y="4681728"/>
            <a:ext cx="4480560" cy="365760"/>
          </a:xfrm>
          <a:prstGeom prst="rect">
            <a:avLst/>
          </a:prstGeom>
          <a:solidFill>
            <a:srgbClr val="F5F7FA"/>
          </a:solidFill>
          <a:ln w="12700">
            <a:solidFill>
              <a:srgbClr val="F5F7FA"/>
            </a:solidFill>
            <a:prstDash val="solid"/>
          </a:ln>
        </p:spPr>
      </p:sp>
      <p:sp>
        <p:nvSpPr>
          <p:cNvPr id="40" name="Text 37"/>
          <p:cNvSpPr/>
          <p:nvPr/>
        </p:nvSpPr>
        <p:spPr>
          <a:xfrm>
            <a:off x="7333488" y="4681728"/>
            <a:ext cx="1463040" cy="365760"/>
          </a:xfrm>
          <a:prstGeom prst="rect">
            <a:avLst/>
          </a:prstGeom>
          <a:noFill/>
          <a:ln/>
        </p:spPr>
        <p:txBody>
          <a:bodyPr wrap="square" lIns="0" tIns="0" rIns="0" bIns="0" rtlCol="0" anchor="ctr"/>
          <a:lstStyle/>
          <a:p>
            <a:pPr indent="0" marL="0">
              <a:buNone/>
            </a:pPr>
            <a:r>
              <a:rPr lang="en-US" sz="1150" b="1" dirty="0">
                <a:solidFill>
                  <a:srgbClr val="161C28"/>
                </a:solidFill>
                <a:latin typeface="Calibri" pitchFamily="34" charset="0"/>
                <a:ea typeface="Calibri" pitchFamily="34" charset="-122"/>
                <a:cs typeface="Calibri" pitchFamily="34" charset="-120"/>
              </a:rPr>
              <a:t>P3 · P4</a:t>
            </a:r>
            <a:endParaRPr lang="en-US" sz="1150" dirty="0"/>
          </a:p>
        </p:txBody>
      </p:sp>
      <p:sp>
        <p:nvSpPr>
          <p:cNvPr id="41" name="Text 38"/>
          <p:cNvSpPr/>
          <p:nvPr/>
        </p:nvSpPr>
        <p:spPr>
          <a:xfrm>
            <a:off x="8979408" y="4681728"/>
            <a:ext cx="2651760" cy="365760"/>
          </a:xfrm>
          <a:prstGeom prst="rect">
            <a:avLst/>
          </a:prstGeom>
          <a:noFill/>
          <a:ln/>
        </p:spPr>
        <p:txBody>
          <a:bodyPr wrap="square" lIns="0" tIns="0" rIns="0" bIns="0" rtlCol="0" anchor="ctr"/>
          <a:lstStyle/>
          <a:p>
            <a:pPr indent="0" marL="0">
              <a:buNone/>
            </a:pPr>
            <a:r>
              <a:rPr lang="en-US" sz="1150" dirty="0">
                <a:solidFill>
                  <a:srgbClr val="3A4557"/>
                </a:solidFill>
                <a:latin typeface="Calibri" pitchFamily="34" charset="0"/>
                <a:ea typeface="Calibri" pitchFamily="34" charset="-122"/>
                <a:cs typeface="Calibri" pitchFamily="34" charset="-120"/>
              </a:rPr>
              <a:t>team channel; never pages</a:t>
            </a:r>
            <a:endParaRPr lang="en-US" sz="1150" dirty="0"/>
          </a:p>
        </p:txBody>
      </p:sp>
      <p:sp>
        <p:nvSpPr>
          <p:cNvPr id="42" name="Shape 39"/>
          <p:cNvSpPr/>
          <p:nvPr/>
        </p:nvSpPr>
        <p:spPr>
          <a:xfrm>
            <a:off x="566928" y="5138928"/>
            <a:ext cx="11057839" cy="960120"/>
          </a:xfrm>
          <a:prstGeom prst="roundRect">
            <a:avLst>
              <a:gd name="adj" fmla="val 6667"/>
            </a:avLst>
          </a:prstGeom>
          <a:solidFill>
            <a:srgbClr val="FBEEEB"/>
          </a:solidFill>
          <a:ln w="12700">
            <a:solidFill>
              <a:srgbClr val="BE4A3F"/>
            </a:solidFill>
            <a:prstDash val="solid"/>
          </a:ln>
        </p:spPr>
      </p:sp>
      <p:sp>
        <p:nvSpPr>
          <p:cNvPr id="43" name="Text 40"/>
          <p:cNvSpPr/>
          <p:nvPr/>
        </p:nvSpPr>
        <p:spPr>
          <a:xfrm>
            <a:off x="841248" y="5248656"/>
            <a:ext cx="4572000" cy="274320"/>
          </a:xfrm>
          <a:prstGeom prst="rect">
            <a:avLst/>
          </a:prstGeom>
          <a:noFill/>
          <a:ln/>
        </p:spPr>
        <p:txBody>
          <a:bodyPr wrap="square" lIns="0" tIns="0" rIns="0" bIns="0" rtlCol="0" anchor="ctr"/>
          <a:lstStyle/>
          <a:p>
            <a:pPr indent="0" marL="0">
              <a:buNone/>
            </a:pPr>
            <a:r>
              <a:rPr lang="en-US" sz="1200" b="1" dirty="0">
                <a:solidFill>
                  <a:srgbClr val="BE4A3F"/>
                </a:solidFill>
                <a:latin typeface="Calibri" pitchFamily="34" charset="0"/>
                <a:ea typeface="Calibri" pitchFamily="34" charset="-122"/>
                <a:cs typeface="Calibri" pitchFamily="34" charset="-120"/>
              </a:rPr>
              <a:t>ACT NOW — the rosters</a:t>
            </a:r>
            <a:endParaRPr lang="en-US" sz="1200" dirty="0"/>
          </a:p>
        </p:txBody>
      </p:sp>
      <p:sp>
        <p:nvSpPr>
          <p:cNvPr id="44" name="Text 41"/>
          <p:cNvSpPr/>
          <p:nvPr/>
        </p:nvSpPr>
        <p:spPr>
          <a:xfrm>
            <a:off x="841248" y="5449824"/>
            <a:ext cx="10424160" cy="548640"/>
          </a:xfrm>
          <a:prstGeom prst="rect">
            <a:avLst/>
          </a:prstGeom>
          <a:noFill/>
          <a:ln/>
        </p:spPr>
        <p:txBody>
          <a:bodyPr wrap="square" lIns="0" tIns="0" rIns="0" bIns="0" rtlCol="0" anchor="t"/>
          <a:lstStyle/>
          <a:p>
            <a:pPr indent="0" marL="0">
              <a:buNone/>
            </a:pPr>
            <a:r>
              <a:rPr lang="en-US" sz="1150" dirty="0">
                <a:solidFill>
                  <a:srgbClr val="7A2E24"/>
                </a:solidFill>
                <a:latin typeface="Calibri" pitchFamily="34" charset="0"/>
                <a:ea typeface="Calibri" pitchFamily="34" charset="-122"/>
                <a:cs typeface="Calibri" pitchFamily="34" charset="-120"/>
              </a:rPr>
              <a:t>Every schedule position is unassigned. The module holds an UNASSIGNED position rather than inventing a name — a fabricated rotation is worse than an obviously empty one. If a P1 fired this afternoon the policy would execute correctly and reach nobody. The fix is the IdP group sync plus each team naming a primary and a secondary: a people decision, not engineering work.</a:t>
            </a:r>
            <a:endParaRPr lang="en-US" sz="11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8778240" cy="256032"/>
          </a:xfrm>
          <a:prstGeom prst="rect">
            <a:avLst/>
          </a:prstGeom>
          <a:noFill/>
          <a:ln/>
        </p:spPr>
        <p:txBody>
          <a:bodyPr wrap="square" lIns="0" tIns="0" rIns="0" bIns="0" rtlCol="0" anchor="ctr"/>
          <a:lstStyle/>
          <a:p>
            <a:pPr indent="0" marL="0">
              <a:buNone/>
            </a:pPr>
            <a:r>
              <a:rPr lang="en-US" sz="1050" b="1" spc="160" kern="0" dirty="0">
                <a:solidFill>
                  <a:srgbClr val="B87914"/>
                </a:solidFill>
                <a:latin typeface="Calibri" pitchFamily="34" charset="0"/>
                <a:ea typeface="Calibri" pitchFamily="34" charset="-122"/>
                <a:cs typeface="Calibri" pitchFamily="34" charset="-120"/>
              </a:rPr>
              <a:t>TOPIC 18</a:t>
            </a:r>
            <a:endParaRPr lang="en-US" sz="1050" dirty="0"/>
          </a:p>
        </p:txBody>
      </p:sp>
      <p:sp>
        <p:nvSpPr>
          <p:cNvPr id="3" name="Text 1"/>
          <p:cNvSpPr/>
          <p:nvPr/>
        </p:nvSpPr>
        <p:spPr>
          <a:xfrm>
            <a:off x="566928" y="694944"/>
            <a:ext cx="10424160" cy="786384"/>
          </a:xfrm>
          <a:prstGeom prst="rect">
            <a:avLst/>
          </a:prstGeom>
          <a:noFill/>
          <a:ln/>
        </p:spPr>
        <p:txBody>
          <a:bodyPr wrap="square" lIns="0" tIns="0" rIns="0" bIns="0" rtlCol="0" anchor="ctr"/>
          <a:lstStyle/>
          <a:p>
            <a:pPr indent="0" marL="0">
              <a:buNone/>
            </a:pPr>
            <a:r>
              <a:rPr lang="en-US" sz="3100" b="1" dirty="0">
                <a:solidFill>
                  <a:srgbClr val="161C28"/>
                </a:solidFill>
                <a:latin typeface="Cambria" pitchFamily="34" charset="0"/>
                <a:ea typeface="Cambria" pitchFamily="34" charset="-122"/>
                <a:cs typeface="Cambria" pitchFamily="34" charset="-120"/>
              </a:rPr>
              <a:t>Incident command</a:t>
            </a:r>
            <a:endParaRPr lang="en-US" sz="3100" dirty="0"/>
          </a:p>
        </p:txBody>
      </p:sp>
      <p:sp>
        <p:nvSpPr>
          <p:cNvPr id="4" name="Text 2"/>
          <p:cNvSpPr/>
          <p:nvPr/>
        </p:nvSpPr>
        <p:spPr>
          <a:xfrm>
            <a:off x="566928" y="1481328"/>
            <a:ext cx="10698480" cy="457200"/>
          </a:xfrm>
          <a:prstGeom prst="rect">
            <a:avLst/>
          </a:prstGeom>
          <a:noFill/>
          <a:ln/>
        </p:spPr>
        <p:txBody>
          <a:bodyPr wrap="square" lIns="0" tIns="0" rIns="0" bIns="0" rtlCol="0" anchor="t"/>
          <a:lstStyle/>
          <a:p>
            <a:pPr indent="0" marL="0">
              <a:buNone/>
            </a:pPr>
            <a:r>
              <a:rPr lang="en-US" sz="1450" dirty="0">
                <a:solidFill>
                  <a:srgbClr val="3A4557"/>
                </a:solidFill>
                <a:latin typeface="Calibri" pitchFamily="34" charset="0"/>
                <a:ea typeface="Calibri" pitchFamily="34" charset="-122"/>
                <a:cs typeface="Calibri" pitchFamily="34" charset="-120"/>
              </a:rPr>
              <a:t>The escalation chain has a fourth step reserved for the incident commander. The role model behind that step is written policy, not yet platform configuration.</a:t>
            </a:r>
            <a:endParaRPr lang="en-US" sz="1450" dirty="0"/>
          </a:p>
        </p:txBody>
      </p:sp>
      <p:sp>
        <p:nvSpPr>
          <p:cNvPr id="5" name="Shape 3"/>
          <p:cNvSpPr/>
          <p:nvPr/>
        </p:nvSpPr>
        <p:spPr>
          <a:xfrm>
            <a:off x="9608515" y="420624"/>
            <a:ext cx="2016252" cy="310896"/>
          </a:xfrm>
          <a:prstGeom prst="roundRect">
            <a:avLst>
              <a:gd name="adj" fmla="val 50000"/>
            </a:avLst>
          </a:prstGeom>
          <a:solidFill>
            <a:srgbClr val="E09A2E"/>
          </a:solidFill>
          <a:ln w="12700">
            <a:solidFill>
              <a:srgbClr val="E09A2E"/>
            </a:solidFill>
            <a:prstDash val="solid"/>
          </a:ln>
        </p:spPr>
      </p:sp>
      <p:sp>
        <p:nvSpPr>
          <p:cNvPr id="6" name="Text 4"/>
          <p:cNvSpPr/>
          <p:nvPr/>
        </p:nvSpPr>
        <p:spPr>
          <a:xfrm>
            <a:off x="9608515" y="420624"/>
            <a:ext cx="2016252" cy="310896"/>
          </a:xfrm>
          <a:prstGeom prst="rect">
            <a:avLst/>
          </a:prstGeom>
          <a:noFill/>
          <a:ln/>
        </p:spPr>
        <p:txBody>
          <a:bodyPr wrap="square" lIns="0" tIns="0" rIns="0" bIns="0" rtlCol="0" anchor="ctr"/>
          <a:lstStyle/>
          <a:p>
            <a:pPr algn="ctr" indent="0" marL="0">
              <a:buNone/>
            </a:pPr>
            <a:r>
              <a:rPr lang="en-US" sz="950" b="1" spc="100" kern="0" dirty="0">
                <a:solidFill>
                  <a:srgbClr val="2A1D06"/>
                </a:solidFill>
                <a:latin typeface="Calibri" pitchFamily="34" charset="0"/>
                <a:ea typeface="Calibri" pitchFamily="34" charset="-122"/>
                <a:cs typeface="Calibri" pitchFamily="34" charset="-120"/>
              </a:rPr>
              <a:t>PARTIAL · PHASE 6</a:t>
            </a:r>
            <a:endParaRPr lang="en-US" sz="950" dirty="0"/>
          </a:p>
        </p:txBody>
      </p:sp>
      <p:sp>
        <p:nvSpPr>
          <p:cNvPr id="7" name="Text 5"/>
          <p:cNvSpPr/>
          <p:nvPr/>
        </p:nvSpPr>
        <p:spPr>
          <a:xfrm>
            <a:off x="566928" y="6345936"/>
            <a:ext cx="7315200" cy="274320"/>
          </a:xfrm>
          <a:prstGeom prst="rect">
            <a:avLst/>
          </a:prstGeom>
          <a:noFill/>
          <a:ln/>
        </p:spPr>
        <p:txBody>
          <a:bodyPr wrap="square" lIns="0" tIns="0" rIns="0" bIns="0" rtlCol="0" anchor="ctr"/>
          <a:lstStyle/>
          <a:p>
            <a:pPr indent="0" marL="0">
              <a:buNone/>
            </a:pPr>
            <a:r>
              <a:rPr lang="en-US" sz="900" dirty="0">
                <a:solidFill>
                  <a:srgbClr val="6B7891"/>
                </a:solidFill>
                <a:latin typeface="Calibri" pitchFamily="34" charset="0"/>
                <a:ea typeface="Calibri" pitchFamily="34" charset="-122"/>
                <a:cs typeface="Calibri" pitchFamily="34" charset="-120"/>
              </a:rPr>
              <a:t>Enterprise Observability  ·  policy-as-data on Datadog</a:t>
            </a:r>
            <a:endParaRPr lang="en-US" sz="900" dirty="0"/>
          </a:p>
        </p:txBody>
      </p:sp>
      <p:sp>
        <p:nvSpPr>
          <p:cNvPr id="8" name="Text 6"/>
          <p:cNvSpPr/>
          <p:nvPr/>
        </p:nvSpPr>
        <p:spPr>
          <a:xfrm>
            <a:off x="10710367" y="6345936"/>
            <a:ext cx="914400" cy="274320"/>
          </a:xfrm>
          <a:prstGeom prst="rect">
            <a:avLst/>
          </a:prstGeom>
          <a:noFill/>
          <a:ln/>
        </p:spPr>
        <p:txBody>
          <a:bodyPr wrap="square" lIns="0" tIns="0" rIns="0" bIns="0" rtlCol="0" anchor="ctr"/>
          <a:lstStyle/>
          <a:p>
            <a:pPr algn="r" indent="0" marL="0">
              <a:buNone/>
            </a:pPr>
            <a:r>
              <a:rPr lang="en-US" sz="900" dirty="0">
                <a:solidFill>
                  <a:srgbClr val="6B7891"/>
                </a:solidFill>
                <a:latin typeface="Calibri" pitchFamily="34" charset="0"/>
                <a:ea typeface="Calibri" pitchFamily="34" charset="-122"/>
                <a:cs typeface="Calibri" pitchFamily="34" charset="-120"/>
              </a:rPr>
              <a:t>25</a:t>
            </a:r>
            <a:endParaRPr lang="en-US" sz="900" dirty="0"/>
          </a:p>
        </p:txBody>
      </p:sp>
      <p:sp>
        <p:nvSpPr>
          <p:cNvPr id="10" name="Shape 7"/>
          <p:cNvSpPr/>
          <p:nvPr/>
        </p:nvSpPr>
        <p:spPr>
          <a:xfrm>
            <a:off x="566928" y="2240280"/>
            <a:ext cx="2586152" cy="1600200"/>
          </a:xfrm>
          <a:prstGeom prst="roundRect">
            <a:avLst>
              <a:gd name="adj" fmla="val 3429"/>
            </a:avLst>
          </a:prstGeom>
          <a:solidFill>
            <a:srgbClr val="EFF2F6"/>
          </a:solidFill>
          <a:ln w="12700">
            <a:solidFill>
              <a:srgbClr val="EFF2F6"/>
            </a:solidFill>
            <a:prstDash val="solid"/>
          </a:ln>
        </p:spPr>
      </p:sp>
      <p:sp>
        <p:nvSpPr>
          <p:cNvPr id="11" name="Text 8"/>
          <p:cNvSpPr/>
          <p:nvPr/>
        </p:nvSpPr>
        <p:spPr>
          <a:xfrm>
            <a:off x="768096" y="2386584"/>
            <a:ext cx="2183816" cy="347472"/>
          </a:xfrm>
          <a:prstGeom prst="rect">
            <a:avLst/>
          </a:prstGeom>
          <a:noFill/>
          <a:ln/>
        </p:spPr>
        <p:txBody>
          <a:bodyPr wrap="square" lIns="0" tIns="0" rIns="0" bIns="0" rtlCol="0" anchor="t"/>
          <a:lstStyle/>
          <a:p>
            <a:pPr indent="0" marL="0">
              <a:buNone/>
            </a:pPr>
            <a:r>
              <a:rPr lang="en-US" sz="1450" b="1" dirty="0">
                <a:solidFill>
                  <a:srgbClr val="161C28"/>
                </a:solidFill>
                <a:latin typeface="Calibri" pitchFamily="34" charset="0"/>
                <a:ea typeface="Calibri" pitchFamily="34" charset="-122"/>
                <a:cs typeface="Calibri" pitchFamily="34" charset="-120"/>
              </a:rPr>
              <a:t>Incident commander</a:t>
            </a:r>
            <a:endParaRPr lang="en-US" sz="1450" dirty="0"/>
          </a:p>
        </p:txBody>
      </p:sp>
      <p:sp>
        <p:nvSpPr>
          <p:cNvPr id="12" name="Text 9"/>
          <p:cNvSpPr/>
          <p:nvPr/>
        </p:nvSpPr>
        <p:spPr>
          <a:xfrm>
            <a:off x="768096" y="2770632"/>
            <a:ext cx="2183816" cy="923544"/>
          </a:xfrm>
          <a:prstGeom prst="rect">
            <a:avLst/>
          </a:prstGeom>
          <a:noFill/>
          <a:ln/>
        </p:spPr>
        <p:txBody>
          <a:bodyPr wrap="square" lIns="0" tIns="0" rIns="0" bIns="0" rtlCol="0" anchor="t"/>
          <a:lstStyle/>
          <a:p>
            <a:pPr indent="0" marL="0">
              <a:lnSpc>
                <a:spcPct val="102000"/>
              </a:lnSpc>
              <a:buNone/>
            </a:pPr>
            <a:r>
              <a:rPr lang="en-US" sz="1150" dirty="0">
                <a:solidFill>
                  <a:srgbClr val="3A4557"/>
                </a:solidFill>
                <a:latin typeface="Calibri" pitchFamily="34" charset="0"/>
                <a:ea typeface="Calibri" pitchFamily="34" charset="-122"/>
                <a:cs typeface="Calibri" pitchFamily="34" charset="-120"/>
              </a:rPr>
              <a:t>Owns the incident, not the fix. Decides, delegates, and is the single point of coordination. Step 4 of every escalation policy.</a:t>
            </a:r>
            <a:endParaRPr lang="en-US" sz="1150" dirty="0"/>
          </a:p>
        </p:txBody>
      </p:sp>
      <p:sp>
        <p:nvSpPr>
          <p:cNvPr id="13" name="Shape 10"/>
          <p:cNvSpPr/>
          <p:nvPr/>
        </p:nvSpPr>
        <p:spPr>
          <a:xfrm>
            <a:off x="3390824" y="2240280"/>
            <a:ext cx="2586152" cy="1600200"/>
          </a:xfrm>
          <a:prstGeom prst="roundRect">
            <a:avLst>
              <a:gd name="adj" fmla="val 3429"/>
            </a:avLst>
          </a:prstGeom>
          <a:solidFill>
            <a:srgbClr val="EFF2F6"/>
          </a:solidFill>
          <a:ln w="12700">
            <a:solidFill>
              <a:srgbClr val="EFF2F6"/>
            </a:solidFill>
            <a:prstDash val="solid"/>
          </a:ln>
        </p:spPr>
      </p:sp>
      <p:sp>
        <p:nvSpPr>
          <p:cNvPr id="14" name="Text 11"/>
          <p:cNvSpPr/>
          <p:nvPr/>
        </p:nvSpPr>
        <p:spPr>
          <a:xfrm>
            <a:off x="3591992" y="2386584"/>
            <a:ext cx="2183816" cy="347472"/>
          </a:xfrm>
          <a:prstGeom prst="rect">
            <a:avLst/>
          </a:prstGeom>
          <a:noFill/>
          <a:ln/>
        </p:spPr>
        <p:txBody>
          <a:bodyPr wrap="square" lIns="0" tIns="0" rIns="0" bIns="0" rtlCol="0" anchor="t"/>
          <a:lstStyle/>
          <a:p>
            <a:pPr indent="0" marL="0">
              <a:buNone/>
            </a:pPr>
            <a:r>
              <a:rPr lang="en-US" sz="1450" b="1" dirty="0">
                <a:solidFill>
                  <a:srgbClr val="161C28"/>
                </a:solidFill>
                <a:latin typeface="Calibri" pitchFamily="34" charset="0"/>
                <a:ea typeface="Calibri" pitchFamily="34" charset="-122"/>
                <a:cs typeface="Calibri" pitchFamily="34" charset="-120"/>
              </a:rPr>
              <a:t>Operations lead</a:t>
            </a:r>
            <a:endParaRPr lang="en-US" sz="1450" dirty="0"/>
          </a:p>
        </p:txBody>
      </p:sp>
      <p:sp>
        <p:nvSpPr>
          <p:cNvPr id="15" name="Text 12"/>
          <p:cNvSpPr/>
          <p:nvPr/>
        </p:nvSpPr>
        <p:spPr>
          <a:xfrm>
            <a:off x="3591992" y="2770632"/>
            <a:ext cx="2183816" cy="923544"/>
          </a:xfrm>
          <a:prstGeom prst="rect">
            <a:avLst/>
          </a:prstGeom>
          <a:noFill/>
          <a:ln/>
        </p:spPr>
        <p:txBody>
          <a:bodyPr wrap="square" lIns="0" tIns="0" rIns="0" bIns="0" rtlCol="0" anchor="t"/>
          <a:lstStyle/>
          <a:p>
            <a:pPr indent="0" marL="0">
              <a:lnSpc>
                <a:spcPct val="102000"/>
              </a:lnSpc>
              <a:buNone/>
            </a:pPr>
            <a:r>
              <a:rPr lang="en-US" sz="1150" dirty="0">
                <a:solidFill>
                  <a:srgbClr val="3A4557"/>
                </a:solidFill>
                <a:latin typeface="Calibri" pitchFamily="34" charset="0"/>
                <a:ea typeface="Calibri" pitchFamily="34" charset="-122"/>
                <a:cs typeface="Calibri" pitchFamily="34" charset="-120"/>
              </a:rPr>
              <a:t>Runs the technical response — the responders, the runbooks, the remediation attempts and their sequencing.</a:t>
            </a:r>
            <a:endParaRPr lang="en-US" sz="1150" dirty="0"/>
          </a:p>
        </p:txBody>
      </p:sp>
      <p:sp>
        <p:nvSpPr>
          <p:cNvPr id="16" name="Shape 13"/>
          <p:cNvSpPr/>
          <p:nvPr/>
        </p:nvSpPr>
        <p:spPr>
          <a:xfrm>
            <a:off x="6214720" y="2240280"/>
            <a:ext cx="2586152" cy="1600200"/>
          </a:xfrm>
          <a:prstGeom prst="roundRect">
            <a:avLst>
              <a:gd name="adj" fmla="val 3429"/>
            </a:avLst>
          </a:prstGeom>
          <a:solidFill>
            <a:srgbClr val="EFF2F6"/>
          </a:solidFill>
          <a:ln w="12700">
            <a:solidFill>
              <a:srgbClr val="EFF2F6"/>
            </a:solidFill>
            <a:prstDash val="solid"/>
          </a:ln>
        </p:spPr>
      </p:sp>
      <p:sp>
        <p:nvSpPr>
          <p:cNvPr id="17" name="Text 14"/>
          <p:cNvSpPr/>
          <p:nvPr/>
        </p:nvSpPr>
        <p:spPr>
          <a:xfrm>
            <a:off x="6415888" y="2386584"/>
            <a:ext cx="2183816" cy="347472"/>
          </a:xfrm>
          <a:prstGeom prst="rect">
            <a:avLst/>
          </a:prstGeom>
          <a:noFill/>
          <a:ln/>
        </p:spPr>
        <p:txBody>
          <a:bodyPr wrap="square" lIns="0" tIns="0" rIns="0" bIns="0" rtlCol="0" anchor="t"/>
          <a:lstStyle/>
          <a:p>
            <a:pPr indent="0" marL="0">
              <a:buNone/>
            </a:pPr>
            <a:r>
              <a:rPr lang="en-US" sz="1450" b="1" dirty="0">
                <a:solidFill>
                  <a:srgbClr val="161C28"/>
                </a:solidFill>
                <a:latin typeface="Calibri" pitchFamily="34" charset="0"/>
                <a:ea typeface="Calibri" pitchFamily="34" charset="-122"/>
                <a:cs typeface="Calibri" pitchFamily="34" charset="-120"/>
              </a:rPr>
              <a:t>Communications lead</a:t>
            </a:r>
            <a:endParaRPr lang="en-US" sz="1450" dirty="0"/>
          </a:p>
        </p:txBody>
      </p:sp>
      <p:sp>
        <p:nvSpPr>
          <p:cNvPr id="18" name="Text 15"/>
          <p:cNvSpPr/>
          <p:nvPr/>
        </p:nvSpPr>
        <p:spPr>
          <a:xfrm>
            <a:off x="6415888" y="2770632"/>
            <a:ext cx="2183816" cy="923544"/>
          </a:xfrm>
          <a:prstGeom prst="rect">
            <a:avLst/>
          </a:prstGeom>
          <a:noFill/>
          <a:ln/>
        </p:spPr>
        <p:txBody>
          <a:bodyPr wrap="square" lIns="0" tIns="0" rIns="0" bIns="0" rtlCol="0" anchor="t"/>
          <a:lstStyle/>
          <a:p>
            <a:pPr indent="0" marL="0">
              <a:lnSpc>
                <a:spcPct val="102000"/>
              </a:lnSpc>
              <a:buNone/>
            </a:pPr>
            <a:r>
              <a:rPr lang="en-US" sz="1150" dirty="0">
                <a:solidFill>
                  <a:srgbClr val="3A4557"/>
                </a:solidFill>
                <a:latin typeface="Calibri" pitchFamily="34" charset="0"/>
                <a:ea typeface="Calibri" pitchFamily="34" charset="-122"/>
                <a:cs typeface="Calibri" pitchFamily="34" charset="-120"/>
              </a:rPr>
              <a:t>Owns stakeholder and executive updates so the responders are not interrupted for status.</a:t>
            </a:r>
            <a:endParaRPr lang="en-US" sz="1150" dirty="0"/>
          </a:p>
        </p:txBody>
      </p:sp>
      <p:sp>
        <p:nvSpPr>
          <p:cNvPr id="19" name="Shape 16"/>
          <p:cNvSpPr/>
          <p:nvPr/>
        </p:nvSpPr>
        <p:spPr>
          <a:xfrm>
            <a:off x="9038615" y="2240280"/>
            <a:ext cx="2586152" cy="1600200"/>
          </a:xfrm>
          <a:prstGeom prst="roundRect">
            <a:avLst>
              <a:gd name="adj" fmla="val 3429"/>
            </a:avLst>
          </a:prstGeom>
          <a:solidFill>
            <a:srgbClr val="EFF2F6"/>
          </a:solidFill>
          <a:ln w="12700">
            <a:solidFill>
              <a:srgbClr val="EFF2F6"/>
            </a:solidFill>
            <a:prstDash val="solid"/>
          </a:ln>
        </p:spPr>
      </p:sp>
      <p:sp>
        <p:nvSpPr>
          <p:cNvPr id="20" name="Text 17"/>
          <p:cNvSpPr/>
          <p:nvPr/>
        </p:nvSpPr>
        <p:spPr>
          <a:xfrm>
            <a:off x="9239783" y="2386584"/>
            <a:ext cx="2183816" cy="347472"/>
          </a:xfrm>
          <a:prstGeom prst="rect">
            <a:avLst/>
          </a:prstGeom>
          <a:noFill/>
          <a:ln/>
        </p:spPr>
        <p:txBody>
          <a:bodyPr wrap="square" lIns="0" tIns="0" rIns="0" bIns="0" rtlCol="0" anchor="t"/>
          <a:lstStyle/>
          <a:p>
            <a:pPr indent="0" marL="0">
              <a:buNone/>
            </a:pPr>
            <a:r>
              <a:rPr lang="en-US" sz="1450" b="1" dirty="0">
                <a:solidFill>
                  <a:srgbClr val="161C28"/>
                </a:solidFill>
                <a:latin typeface="Calibri" pitchFamily="34" charset="0"/>
                <a:ea typeface="Calibri" pitchFamily="34" charset="-122"/>
                <a:cs typeface="Calibri" pitchFamily="34" charset="-120"/>
              </a:rPr>
              <a:t>Scribe</a:t>
            </a:r>
            <a:endParaRPr lang="en-US" sz="1450" dirty="0"/>
          </a:p>
        </p:txBody>
      </p:sp>
      <p:sp>
        <p:nvSpPr>
          <p:cNvPr id="21" name="Text 18"/>
          <p:cNvSpPr/>
          <p:nvPr/>
        </p:nvSpPr>
        <p:spPr>
          <a:xfrm>
            <a:off x="9239783" y="2770632"/>
            <a:ext cx="2183816" cy="923544"/>
          </a:xfrm>
          <a:prstGeom prst="rect">
            <a:avLst/>
          </a:prstGeom>
          <a:noFill/>
          <a:ln/>
        </p:spPr>
        <p:txBody>
          <a:bodyPr wrap="square" lIns="0" tIns="0" rIns="0" bIns="0" rtlCol="0" anchor="t"/>
          <a:lstStyle/>
          <a:p>
            <a:pPr indent="0" marL="0">
              <a:lnSpc>
                <a:spcPct val="102000"/>
              </a:lnSpc>
              <a:buNone/>
            </a:pPr>
            <a:r>
              <a:rPr lang="en-US" sz="1150" dirty="0">
                <a:solidFill>
                  <a:srgbClr val="3A4557"/>
                </a:solidFill>
                <a:latin typeface="Calibri" pitchFamily="34" charset="0"/>
                <a:ea typeface="Calibri" pitchFamily="34" charset="-122"/>
                <a:cs typeface="Calibri" pitchFamily="34" charset="-120"/>
              </a:rPr>
              <a:t>Captures the timeline as it happens, which is what makes the post-incident review honest rather than reconstructed.</a:t>
            </a:r>
            <a:endParaRPr lang="en-US" sz="1150" dirty="0"/>
          </a:p>
        </p:txBody>
      </p:sp>
      <p:sp>
        <p:nvSpPr>
          <p:cNvPr id="22" name="Shape 19"/>
          <p:cNvSpPr/>
          <p:nvPr/>
        </p:nvSpPr>
        <p:spPr>
          <a:xfrm>
            <a:off x="566928" y="4069080"/>
            <a:ext cx="5349240" cy="1737360"/>
          </a:xfrm>
          <a:prstGeom prst="roundRect">
            <a:avLst>
              <a:gd name="adj" fmla="val 3684"/>
            </a:avLst>
          </a:prstGeom>
          <a:solidFill>
            <a:srgbClr val="EAF3F1"/>
          </a:solidFill>
          <a:ln w="12700">
            <a:solidFill>
              <a:srgbClr val="EAF3F1"/>
            </a:solidFill>
            <a:prstDash val="solid"/>
          </a:ln>
        </p:spPr>
      </p:sp>
      <p:sp>
        <p:nvSpPr>
          <p:cNvPr id="23" name="Text 20"/>
          <p:cNvSpPr/>
          <p:nvPr/>
        </p:nvSpPr>
        <p:spPr>
          <a:xfrm>
            <a:off x="822960" y="4206240"/>
            <a:ext cx="4846320" cy="274320"/>
          </a:xfrm>
          <a:prstGeom prst="rect">
            <a:avLst/>
          </a:prstGeom>
          <a:noFill/>
          <a:ln/>
        </p:spPr>
        <p:txBody>
          <a:bodyPr wrap="square" lIns="0" tIns="0" rIns="0" bIns="0" rtlCol="0" anchor="ctr"/>
          <a:lstStyle/>
          <a:p>
            <a:pPr indent="0" marL="0">
              <a:buNone/>
            </a:pPr>
            <a:r>
              <a:rPr lang="en-US" sz="1050" b="1" spc="150" kern="0" dirty="0">
                <a:solidFill>
                  <a:srgbClr val="1D5C59"/>
                </a:solidFill>
                <a:latin typeface="Calibri" pitchFamily="34" charset="0"/>
                <a:ea typeface="Calibri" pitchFamily="34" charset="-122"/>
                <a:cs typeface="Calibri" pitchFamily="34" charset="-120"/>
              </a:rPr>
              <a:t>WHAT IS REAL TODAY</a:t>
            </a:r>
            <a:endParaRPr lang="en-US" sz="1050" dirty="0"/>
          </a:p>
        </p:txBody>
      </p:sp>
      <p:sp>
        <p:nvSpPr>
          <p:cNvPr id="24" name="Text 21"/>
          <p:cNvSpPr/>
          <p:nvPr/>
        </p:nvSpPr>
        <p:spPr>
          <a:xfrm>
            <a:off x="822960" y="4517136"/>
            <a:ext cx="4846320" cy="118872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1D5C59"/>
                </a:solidFill>
                <a:latin typeface="Calibri" pitchFamily="34" charset="0"/>
                <a:ea typeface="Calibri" pitchFamily="34" charset="-122"/>
                <a:cs typeface="Calibri" pitchFamily="34" charset="-120"/>
              </a:rPr>
              <a:t>Step 4 of all 7 escalation policies is reserved for the IC</a:t>
            </a:r>
            <a:endParaRPr lang="en-US" sz="1150" dirty="0"/>
          </a:p>
          <a:p>
            <a:pPr marL="342900" indent="-342900">
              <a:spcAft>
                <a:spcPts val="600"/>
              </a:spcAft>
              <a:buSzPct val="100000"/>
              <a:buChar char="•"/>
            </a:pPr>
            <a:r>
              <a:rPr lang="en-US" sz="1150" dirty="0">
                <a:solidFill>
                  <a:srgbClr val="1D5C59"/>
                </a:solidFill>
                <a:latin typeface="Calibri" pitchFamily="34" charset="0"/>
                <a:ea typeface="Calibri" pitchFamily="34" charset="-122"/>
                <a:cs typeface="Calibri" pitchFamily="34" charset="-120"/>
              </a:rPr>
              <a:t>P1 declares an IC on the bridge, by policy</a:t>
            </a:r>
            <a:endParaRPr lang="en-US" sz="1150" dirty="0"/>
          </a:p>
          <a:p>
            <a:pPr marL="342900" indent="-342900">
              <a:spcAft>
                <a:spcPts val="600"/>
              </a:spcAft>
              <a:buSzPct val="100000"/>
              <a:buChar char="•"/>
            </a:pPr>
            <a:r>
              <a:rPr lang="en-US" sz="1150" dirty="0">
                <a:solidFill>
                  <a:srgbClr val="1D5C59"/>
                </a:solidFill>
                <a:latin typeface="Calibri" pitchFamily="34" charset="0"/>
                <a:ea typeface="Calibri" pitchFamily="34" charset="-122"/>
                <a:cs typeface="Calibri" pitchFamily="34" charset="-120"/>
              </a:rPr>
              <a:t>50 pages in an hour automatically declares a major incident, stops paging and opens the bridge</a:t>
            </a:r>
            <a:endParaRPr lang="en-US" sz="1150" dirty="0"/>
          </a:p>
        </p:txBody>
      </p:sp>
      <p:sp>
        <p:nvSpPr>
          <p:cNvPr id="25" name="Shape 22"/>
          <p:cNvSpPr/>
          <p:nvPr/>
        </p:nvSpPr>
        <p:spPr>
          <a:xfrm>
            <a:off x="6281928" y="4069080"/>
            <a:ext cx="5349240" cy="1737360"/>
          </a:xfrm>
          <a:prstGeom prst="roundRect">
            <a:avLst>
              <a:gd name="adj" fmla="val 3684"/>
            </a:avLst>
          </a:prstGeom>
          <a:solidFill>
            <a:srgbClr val="F3F4F6"/>
          </a:solidFill>
          <a:ln w="12700">
            <a:solidFill>
              <a:srgbClr val="D6DDE6"/>
            </a:solidFill>
            <a:prstDash val="solid"/>
          </a:ln>
        </p:spPr>
      </p:sp>
      <p:sp>
        <p:nvSpPr>
          <p:cNvPr id="26" name="Text 23"/>
          <p:cNvSpPr/>
          <p:nvPr/>
        </p:nvSpPr>
        <p:spPr>
          <a:xfrm>
            <a:off x="6537960" y="4206240"/>
            <a:ext cx="4846320" cy="274320"/>
          </a:xfrm>
          <a:prstGeom prst="rect">
            <a:avLst/>
          </a:prstGeom>
          <a:noFill/>
          <a:ln/>
        </p:spPr>
        <p:txBody>
          <a:bodyPr wrap="square" lIns="0" tIns="0" rIns="0" bIns="0" rtlCol="0" anchor="ctr"/>
          <a:lstStyle/>
          <a:p>
            <a:pPr indent="0" marL="0">
              <a:buNone/>
            </a:pPr>
            <a:r>
              <a:rPr lang="en-US" sz="1050" b="1" spc="150" kern="0" dirty="0">
                <a:solidFill>
                  <a:srgbClr val="5F7189"/>
                </a:solidFill>
                <a:latin typeface="Calibri" pitchFamily="34" charset="0"/>
                <a:ea typeface="Calibri" pitchFamily="34" charset="-122"/>
                <a:cs typeface="Calibri" pitchFamily="34" charset="-120"/>
              </a:rPr>
              <a:t>WHAT IS NOT</a:t>
            </a:r>
            <a:endParaRPr lang="en-US" sz="1050" dirty="0"/>
          </a:p>
        </p:txBody>
      </p:sp>
      <p:sp>
        <p:nvSpPr>
          <p:cNvPr id="27" name="Text 24"/>
          <p:cNvSpPr/>
          <p:nvPr/>
        </p:nvSpPr>
        <p:spPr>
          <a:xfrm>
            <a:off x="6537960" y="4517136"/>
            <a:ext cx="4846320" cy="118872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3A4557"/>
                </a:solidFill>
                <a:latin typeface="Calibri" pitchFamily="34" charset="0"/>
                <a:ea typeface="Calibri" pitchFamily="34" charset="-122"/>
                <a:cs typeface="Calibri" pitchFamily="34" charset="-120"/>
              </a:rPr>
              <a:t>No leadership team provisioned — step 4 falls back to the owning team (leadership_team_id is empty)</a:t>
            </a:r>
            <a:endParaRPr lang="en-US" sz="1150" dirty="0"/>
          </a:p>
          <a:p>
            <a:pPr marL="342900" indent="-342900">
              <a:spcAft>
                <a:spcPts val="600"/>
              </a:spcAft>
              <a:buSzPct val="100000"/>
              <a:buChar char="•"/>
            </a:pPr>
            <a:r>
              <a:rPr lang="en-US" sz="1150" dirty="0">
                <a:solidFill>
                  <a:srgbClr val="3A4557"/>
                </a:solidFill>
                <a:latin typeface="Calibri" pitchFamily="34" charset="0"/>
                <a:ea typeface="Calibri" pitchFamily="34" charset="-122"/>
                <a:cs typeface="Calibri" pitchFamily="34" charset="-120"/>
              </a:rPr>
              <a:t>No role model encoded in incident settings</a:t>
            </a:r>
            <a:endParaRPr lang="en-US" sz="1150" dirty="0"/>
          </a:p>
          <a:p>
            <a:pPr marL="342900" indent="-342900">
              <a:spcAft>
                <a:spcPts val="600"/>
              </a:spcAft>
              <a:buSzPct val="100000"/>
              <a:buChar char="•"/>
            </a:pPr>
            <a:r>
              <a:rPr lang="en-US" sz="1150" dirty="0">
                <a:solidFill>
                  <a:srgbClr val="3A4557"/>
                </a:solidFill>
                <a:latin typeface="Calibri" pitchFamily="34" charset="0"/>
                <a:ea typeface="Calibri" pitchFamily="34" charset="-122"/>
                <a:cs typeface="Calibri" pitchFamily="34" charset="-120"/>
              </a:rPr>
              <a:t>No timeline capture, no post-incident-review automation</a:t>
            </a:r>
            <a:endParaRPr lang="en-US" sz="11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8778240" cy="256032"/>
          </a:xfrm>
          <a:prstGeom prst="rect">
            <a:avLst/>
          </a:prstGeom>
          <a:noFill/>
          <a:ln/>
        </p:spPr>
        <p:txBody>
          <a:bodyPr wrap="square" lIns="0" tIns="0" rIns="0" bIns="0" rtlCol="0" anchor="ctr"/>
          <a:lstStyle/>
          <a:p>
            <a:pPr indent="0" marL="0">
              <a:buNone/>
            </a:pPr>
            <a:r>
              <a:rPr lang="en-US" sz="1050" b="1" spc="160" kern="0" dirty="0">
                <a:solidFill>
                  <a:srgbClr val="B87914"/>
                </a:solidFill>
                <a:latin typeface="Calibri" pitchFamily="34" charset="0"/>
                <a:ea typeface="Calibri" pitchFamily="34" charset="-122"/>
                <a:cs typeface="Calibri" pitchFamily="34" charset="-120"/>
              </a:rPr>
              <a:t>TOPIC 19</a:t>
            </a:r>
            <a:endParaRPr lang="en-US" sz="1050" dirty="0"/>
          </a:p>
        </p:txBody>
      </p:sp>
      <p:sp>
        <p:nvSpPr>
          <p:cNvPr id="3" name="Text 1"/>
          <p:cNvSpPr/>
          <p:nvPr/>
        </p:nvSpPr>
        <p:spPr>
          <a:xfrm>
            <a:off x="566928" y="694944"/>
            <a:ext cx="10424160" cy="786384"/>
          </a:xfrm>
          <a:prstGeom prst="rect">
            <a:avLst/>
          </a:prstGeom>
          <a:noFill/>
          <a:ln/>
        </p:spPr>
        <p:txBody>
          <a:bodyPr wrap="square" lIns="0" tIns="0" rIns="0" bIns="0" rtlCol="0" anchor="ctr"/>
          <a:lstStyle/>
          <a:p>
            <a:pPr indent="0" marL="0">
              <a:buNone/>
            </a:pPr>
            <a:r>
              <a:rPr lang="en-US" sz="3100" b="1" dirty="0">
                <a:solidFill>
                  <a:srgbClr val="161C28"/>
                </a:solidFill>
                <a:latin typeface="Cambria" pitchFamily="34" charset="0"/>
                <a:ea typeface="Cambria" pitchFamily="34" charset="-122"/>
                <a:cs typeface="Cambria" pitchFamily="34" charset="-120"/>
              </a:rPr>
              <a:t>ServiceNow</a:t>
            </a:r>
            <a:endParaRPr lang="en-US" sz="3100" dirty="0"/>
          </a:p>
        </p:txBody>
      </p:sp>
      <p:sp>
        <p:nvSpPr>
          <p:cNvPr id="4" name="Text 2"/>
          <p:cNvSpPr/>
          <p:nvPr/>
        </p:nvSpPr>
        <p:spPr>
          <a:xfrm>
            <a:off x="566928" y="1481328"/>
            <a:ext cx="10698480" cy="457200"/>
          </a:xfrm>
          <a:prstGeom prst="rect">
            <a:avLst/>
          </a:prstGeom>
          <a:noFill/>
          <a:ln/>
        </p:spPr>
        <p:txBody>
          <a:bodyPr wrap="square" lIns="0" tIns="0" rIns="0" bIns="0" rtlCol="0" anchor="t"/>
          <a:lstStyle/>
          <a:p>
            <a:pPr indent="0" marL="0">
              <a:buNone/>
            </a:pPr>
            <a:r>
              <a:rPr lang="en-US" sz="1450" dirty="0">
                <a:solidFill>
                  <a:srgbClr val="3A4557"/>
                </a:solidFill>
                <a:latin typeface="Calibri" pitchFamily="34" charset="0"/>
                <a:ea typeface="Calibri" pitchFamily="34" charset="-122"/>
                <a:cs typeface="Calibri" pitchFamily="34" charset="-120"/>
              </a:rPr>
              <a:t>Used deliberately, at one priority level of separation from paging — so the ticket queue records what happened without becoming the thing that wakes people.</a:t>
            </a:r>
            <a:endParaRPr lang="en-US" sz="1450" dirty="0"/>
          </a:p>
        </p:txBody>
      </p:sp>
      <p:sp>
        <p:nvSpPr>
          <p:cNvPr id="5" name="Shape 3"/>
          <p:cNvSpPr/>
          <p:nvPr/>
        </p:nvSpPr>
        <p:spPr>
          <a:xfrm>
            <a:off x="10568635" y="420624"/>
            <a:ext cx="1056132" cy="310896"/>
          </a:xfrm>
          <a:prstGeom prst="roundRect">
            <a:avLst>
              <a:gd name="adj" fmla="val 50000"/>
            </a:avLst>
          </a:prstGeom>
          <a:solidFill>
            <a:srgbClr val="27807C"/>
          </a:solidFill>
          <a:ln w="12700">
            <a:solidFill>
              <a:srgbClr val="27807C"/>
            </a:solidFill>
            <a:prstDash val="solid"/>
          </a:ln>
        </p:spPr>
      </p:sp>
      <p:sp>
        <p:nvSpPr>
          <p:cNvPr id="6" name="Text 4"/>
          <p:cNvSpPr/>
          <p:nvPr/>
        </p:nvSpPr>
        <p:spPr>
          <a:xfrm>
            <a:off x="10568635" y="420624"/>
            <a:ext cx="1056132" cy="310896"/>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SHIPPED</a:t>
            </a:r>
            <a:endParaRPr lang="en-US" sz="950" dirty="0"/>
          </a:p>
        </p:txBody>
      </p:sp>
      <p:sp>
        <p:nvSpPr>
          <p:cNvPr id="7" name="Text 5"/>
          <p:cNvSpPr/>
          <p:nvPr/>
        </p:nvSpPr>
        <p:spPr>
          <a:xfrm>
            <a:off x="566928" y="6345936"/>
            <a:ext cx="7315200" cy="274320"/>
          </a:xfrm>
          <a:prstGeom prst="rect">
            <a:avLst/>
          </a:prstGeom>
          <a:noFill/>
          <a:ln/>
        </p:spPr>
        <p:txBody>
          <a:bodyPr wrap="square" lIns="0" tIns="0" rIns="0" bIns="0" rtlCol="0" anchor="ctr"/>
          <a:lstStyle/>
          <a:p>
            <a:pPr indent="0" marL="0">
              <a:buNone/>
            </a:pPr>
            <a:r>
              <a:rPr lang="en-US" sz="900" dirty="0">
                <a:solidFill>
                  <a:srgbClr val="6B7891"/>
                </a:solidFill>
                <a:latin typeface="Calibri" pitchFamily="34" charset="0"/>
                <a:ea typeface="Calibri" pitchFamily="34" charset="-122"/>
                <a:cs typeface="Calibri" pitchFamily="34" charset="-120"/>
              </a:rPr>
              <a:t>Enterprise Observability  ·  policy-as-data on Datadog</a:t>
            </a:r>
            <a:endParaRPr lang="en-US" sz="900" dirty="0"/>
          </a:p>
        </p:txBody>
      </p:sp>
      <p:sp>
        <p:nvSpPr>
          <p:cNvPr id="8" name="Text 6"/>
          <p:cNvSpPr/>
          <p:nvPr/>
        </p:nvSpPr>
        <p:spPr>
          <a:xfrm>
            <a:off x="10710367" y="6345936"/>
            <a:ext cx="914400" cy="274320"/>
          </a:xfrm>
          <a:prstGeom prst="rect">
            <a:avLst/>
          </a:prstGeom>
          <a:noFill/>
          <a:ln/>
        </p:spPr>
        <p:txBody>
          <a:bodyPr wrap="square" lIns="0" tIns="0" rIns="0" bIns="0" rtlCol="0" anchor="ctr"/>
          <a:lstStyle/>
          <a:p>
            <a:pPr algn="r" indent="0" marL="0">
              <a:buNone/>
            </a:pPr>
            <a:r>
              <a:rPr lang="en-US" sz="900" dirty="0">
                <a:solidFill>
                  <a:srgbClr val="6B7891"/>
                </a:solidFill>
                <a:latin typeface="Calibri" pitchFamily="34" charset="0"/>
                <a:ea typeface="Calibri" pitchFamily="34" charset="-122"/>
                <a:cs typeface="Calibri" pitchFamily="34" charset="-120"/>
              </a:rPr>
              <a:t>26</a:t>
            </a:r>
            <a:endParaRPr lang="en-US" sz="900" dirty="0"/>
          </a:p>
        </p:txBody>
      </p:sp>
      <p:sp>
        <p:nvSpPr>
          <p:cNvPr id="10" name="Shape 7"/>
          <p:cNvSpPr/>
          <p:nvPr/>
        </p:nvSpPr>
        <p:spPr>
          <a:xfrm>
            <a:off x="566928" y="2286000"/>
            <a:ext cx="6949440" cy="621792"/>
          </a:xfrm>
          <a:prstGeom prst="roundRect">
            <a:avLst>
              <a:gd name="adj" fmla="val 7353"/>
            </a:avLst>
          </a:prstGeom>
          <a:solidFill>
            <a:srgbClr val="F5F7FA"/>
          </a:solidFill>
          <a:ln w="12700">
            <a:solidFill>
              <a:srgbClr val="F5F7FA"/>
            </a:solidFill>
            <a:prstDash val="solid"/>
          </a:ln>
        </p:spPr>
      </p:sp>
      <p:sp>
        <p:nvSpPr>
          <p:cNvPr id="11" name="Shape 8"/>
          <p:cNvSpPr/>
          <p:nvPr/>
        </p:nvSpPr>
        <p:spPr>
          <a:xfrm>
            <a:off x="713232" y="2432304"/>
            <a:ext cx="585216" cy="329184"/>
          </a:xfrm>
          <a:prstGeom prst="roundRect">
            <a:avLst>
              <a:gd name="adj" fmla="val 13889"/>
            </a:avLst>
          </a:prstGeom>
          <a:solidFill>
            <a:srgbClr val="BE4A3F"/>
          </a:solidFill>
          <a:ln w="12700">
            <a:solidFill>
              <a:srgbClr val="BE4A3F"/>
            </a:solidFill>
            <a:prstDash val="solid"/>
          </a:ln>
        </p:spPr>
      </p:sp>
      <p:sp>
        <p:nvSpPr>
          <p:cNvPr id="12" name="Text 9"/>
          <p:cNvSpPr/>
          <p:nvPr/>
        </p:nvSpPr>
        <p:spPr>
          <a:xfrm>
            <a:off x="713232" y="2432304"/>
            <a:ext cx="585216"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P1</a:t>
            </a:r>
            <a:endParaRPr lang="en-US" sz="1200" dirty="0"/>
          </a:p>
        </p:txBody>
      </p:sp>
      <p:sp>
        <p:nvSpPr>
          <p:cNvPr id="13" name="Text 10"/>
          <p:cNvSpPr/>
          <p:nvPr/>
        </p:nvSpPr>
        <p:spPr>
          <a:xfrm>
            <a:off x="1444752" y="2286000"/>
            <a:ext cx="3566160" cy="621792"/>
          </a:xfrm>
          <a:prstGeom prst="rect">
            <a:avLst/>
          </a:prstGeom>
          <a:noFill/>
          <a:ln/>
        </p:spPr>
        <p:txBody>
          <a:bodyPr wrap="square" lIns="0" tIns="0" rIns="0" bIns="0" rtlCol="0" anchor="ctr"/>
          <a:lstStyle/>
          <a:p>
            <a:pPr indent="0" marL="0">
              <a:buNone/>
            </a:pPr>
            <a:r>
              <a:rPr lang="en-US" sz="1200" b="1" dirty="0">
                <a:solidFill>
                  <a:srgbClr val="161C28"/>
                </a:solidFill>
                <a:latin typeface="Calibri" pitchFamily="34" charset="0"/>
                <a:ea typeface="Calibri" pitchFamily="34" charset="-122"/>
                <a:cs typeface="Calibri" pitchFamily="34" charset="-120"/>
              </a:rPr>
              <a:t>ServiceNow Incident · P1</a:t>
            </a:r>
            <a:endParaRPr lang="en-US" sz="1200" dirty="0"/>
          </a:p>
        </p:txBody>
      </p:sp>
      <p:sp>
        <p:nvSpPr>
          <p:cNvPr id="14" name="Text 11"/>
          <p:cNvSpPr/>
          <p:nvPr/>
        </p:nvSpPr>
        <p:spPr>
          <a:xfrm>
            <a:off x="5047488" y="2286000"/>
            <a:ext cx="2377440" cy="621792"/>
          </a:xfrm>
          <a:prstGeom prst="rect">
            <a:avLst/>
          </a:prstGeom>
          <a:noFill/>
          <a:ln/>
        </p:spPr>
        <p:txBody>
          <a:bodyPr wrap="square" lIns="0" tIns="0" rIns="0" bIns="0" rtlCol="0" anchor="ctr"/>
          <a:lstStyle/>
          <a:p>
            <a:pPr indent="0" marL="0">
              <a:buNone/>
            </a:pPr>
            <a:r>
              <a:rPr lang="en-US" sz="1100" dirty="0">
                <a:solidFill>
                  <a:srgbClr val="6B7891"/>
                </a:solidFill>
                <a:latin typeface="Calibri" pitchFamily="34" charset="0"/>
                <a:ea typeface="Calibri" pitchFamily="34" charset="-122"/>
                <a:cs typeface="Calibri" pitchFamily="34" charset="-120"/>
              </a:rPr>
              <a:t>Pages · SEV-1 · exec notification</a:t>
            </a:r>
            <a:endParaRPr lang="en-US" sz="1100" dirty="0"/>
          </a:p>
        </p:txBody>
      </p:sp>
      <p:sp>
        <p:nvSpPr>
          <p:cNvPr id="15" name="Shape 12"/>
          <p:cNvSpPr/>
          <p:nvPr/>
        </p:nvSpPr>
        <p:spPr>
          <a:xfrm>
            <a:off x="566928" y="2999232"/>
            <a:ext cx="6949440" cy="621792"/>
          </a:xfrm>
          <a:prstGeom prst="roundRect">
            <a:avLst>
              <a:gd name="adj" fmla="val 7353"/>
            </a:avLst>
          </a:prstGeom>
          <a:solidFill>
            <a:srgbClr val="F5F7FA"/>
          </a:solidFill>
          <a:ln w="12700">
            <a:solidFill>
              <a:srgbClr val="F5F7FA"/>
            </a:solidFill>
            <a:prstDash val="solid"/>
          </a:ln>
        </p:spPr>
      </p:sp>
      <p:sp>
        <p:nvSpPr>
          <p:cNvPr id="16" name="Shape 13"/>
          <p:cNvSpPr/>
          <p:nvPr/>
        </p:nvSpPr>
        <p:spPr>
          <a:xfrm>
            <a:off x="713232" y="3145536"/>
            <a:ext cx="585216" cy="329184"/>
          </a:xfrm>
          <a:prstGeom prst="roundRect">
            <a:avLst>
              <a:gd name="adj" fmla="val 13889"/>
            </a:avLst>
          </a:prstGeom>
          <a:solidFill>
            <a:srgbClr val="E09A2E"/>
          </a:solidFill>
          <a:ln w="12700">
            <a:solidFill>
              <a:srgbClr val="E09A2E"/>
            </a:solidFill>
            <a:prstDash val="solid"/>
          </a:ln>
        </p:spPr>
      </p:sp>
      <p:sp>
        <p:nvSpPr>
          <p:cNvPr id="17" name="Text 14"/>
          <p:cNvSpPr/>
          <p:nvPr/>
        </p:nvSpPr>
        <p:spPr>
          <a:xfrm>
            <a:off x="713232" y="3145536"/>
            <a:ext cx="585216"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P2</a:t>
            </a:r>
            <a:endParaRPr lang="en-US" sz="1200" dirty="0"/>
          </a:p>
        </p:txBody>
      </p:sp>
      <p:sp>
        <p:nvSpPr>
          <p:cNvPr id="18" name="Text 15"/>
          <p:cNvSpPr/>
          <p:nvPr/>
        </p:nvSpPr>
        <p:spPr>
          <a:xfrm>
            <a:off x="1444752" y="2999232"/>
            <a:ext cx="3566160" cy="621792"/>
          </a:xfrm>
          <a:prstGeom prst="rect">
            <a:avLst/>
          </a:prstGeom>
          <a:noFill/>
          <a:ln/>
        </p:spPr>
        <p:txBody>
          <a:bodyPr wrap="square" lIns="0" tIns="0" rIns="0" bIns="0" rtlCol="0" anchor="ctr"/>
          <a:lstStyle/>
          <a:p>
            <a:pPr indent="0" marL="0">
              <a:buNone/>
            </a:pPr>
            <a:r>
              <a:rPr lang="en-US" sz="1200" b="1" dirty="0">
                <a:solidFill>
                  <a:srgbClr val="161C28"/>
                </a:solidFill>
                <a:latin typeface="Calibri" pitchFamily="34" charset="0"/>
                <a:ea typeface="Calibri" pitchFamily="34" charset="-122"/>
                <a:cs typeface="Calibri" pitchFamily="34" charset="-120"/>
              </a:rPr>
              <a:t>ServiceNow Incident · P2</a:t>
            </a:r>
            <a:endParaRPr lang="en-US" sz="1200" dirty="0"/>
          </a:p>
        </p:txBody>
      </p:sp>
      <p:sp>
        <p:nvSpPr>
          <p:cNvPr id="19" name="Text 16"/>
          <p:cNvSpPr/>
          <p:nvPr/>
        </p:nvSpPr>
        <p:spPr>
          <a:xfrm>
            <a:off x="5047488" y="2999232"/>
            <a:ext cx="2377440" cy="621792"/>
          </a:xfrm>
          <a:prstGeom prst="rect">
            <a:avLst/>
          </a:prstGeom>
          <a:noFill/>
          <a:ln/>
        </p:spPr>
        <p:txBody>
          <a:bodyPr wrap="square" lIns="0" tIns="0" rIns="0" bIns="0" rtlCol="0" anchor="ctr"/>
          <a:lstStyle/>
          <a:p>
            <a:pPr indent="0" marL="0">
              <a:buNone/>
            </a:pPr>
            <a:r>
              <a:rPr lang="en-US" sz="1100" dirty="0">
                <a:solidFill>
                  <a:srgbClr val="6B7891"/>
                </a:solidFill>
                <a:latin typeface="Calibri" pitchFamily="34" charset="0"/>
                <a:ea typeface="Calibri" pitchFamily="34" charset="-122"/>
                <a:cs typeface="Calibri" pitchFamily="34" charset="-120"/>
              </a:rPr>
              <a:t>Pages only from a burn-rate alert or composite</a:t>
            </a:r>
            <a:endParaRPr lang="en-US" sz="1100" dirty="0"/>
          </a:p>
        </p:txBody>
      </p:sp>
      <p:sp>
        <p:nvSpPr>
          <p:cNvPr id="20" name="Shape 17"/>
          <p:cNvSpPr/>
          <p:nvPr/>
        </p:nvSpPr>
        <p:spPr>
          <a:xfrm>
            <a:off x="566928" y="3712464"/>
            <a:ext cx="6949440" cy="621792"/>
          </a:xfrm>
          <a:prstGeom prst="roundRect">
            <a:avLst>
              <a:gd name="adj" fmla="val 7353"/>
            </a:avLst>
          </a:prstGeom>
          <a:solidFill>
            <a:srgbClr val="F5F7FA"/>
          </a:solidFill>
          <a:ln w="12700">
            <a:solidFill>
              <a:srgbClr val="F5F7FA"/>
            </a:solidFill>
            <a:prstDash val="solid"/>
          </a:ln>
        </p:spPr>
      </p:sp>
      <p:sp>
        <p:nvSpPr>
          <p:cNvPr id="21" name="Shape 18"/>
          <p:cNvSpPr/>
          <p:nvPr/>
        </p:nvSpPr>
        <p:spPr>
          <a:xfrm>
            <a:off x="713232" y="3858768"/>
            <a:ext cx="585216" cy="329184"/>
          </a:xfrm>
          <a:prstGeom prst="roundRect">
            <a:avLst>
              <a:gd name="adj" fmla="val 13889"/>
            </a:avLst>
          </a:prstGeom>
          <a:solidFill>
            <a:srgbClr val="5F7189"/>
          </a:solidFill>
          <a:ln w="12700">
            <a:solidFill>
              <a:srgbClr val="5F7189"/>
            </a:solidFill>
            <a:prstDash val="solid"/>
          </a:ln>
        </p:spPr>
      </p:sp>
      <p:sp>
        <p:nvSpPr>
          <p:cNvPr id="22" name="Text 19"/>
          <p:cNvSpPr/>
          <p:nvPr/>
        </p:nvSpPr>
        <p:spPr>
          <a:xfrm>
            <a:off x="713232" y="3858768"/>
            <a:ext cx="585216"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P3</a:t>
            </a:r>
            <a:endParaRPr lang="en-US" sz="1200" dirty="0"/>
          </a:p>
        </p:txBody>
      </p:sp>
      <p:sp>
        <p:nvSpPr>
          <p:cNvPr id="23" name="Text 20"/>
          <p:cNvSpPr/>
          <p:nvPr/>
        </p:nvSpPr>
        <p:spPr>
          <a:xfrm>
            <a:off x="1444752" y="3712464"/>
            <a:ext cx="3566160" cy="621792"/>
          </a:xfrm>
          <a:prstGeom prst="rect">
            <a:avLst/>
          </a:prstGeom>
          <a:noFill/>
          <a:ln/>
        </p:spPr>
        <p:txBody>
          <a:bodyPr wrap="square" lIns="0" tIns="0" rIns="0" bIns="0" rtlCol="0" anchor="ctr"/>
          <a:lstStyle/>
          <a:p>
            <a:pPr indent="0" marL="0">
              <a:buNone/>
            </a:pPr>
            <a:r>
              <a:rPr lang="en-US" sz="1200" b="1" dirty="0">
                <a:solidFill>
                  <a:srgbClr val="161C28"/>
                </a:solidFill>
                <a:latin typeface="Calibri" pitchFamily="34" charset="0"/>
                <a:ea typeface="Calibri" pitchFamily="34" charset="-122"/>
                <a:cs typeface="Calibri" pitchFamily="34" charset="-120"/>
              </a:rPr>
              <a:t>ServiceNow Task — when sustained past two renotifications</a:t>
            </a:r>
            <a:endParaRPr lang="en-US" sz="1200" dirty="0"/>
          </a:p>
        </p:txBody>
      </p:sp>
      <p:sp>
        <p:nvSpPr>
          <p:cNvPr id="24" name="Text 21"/>
          <p:cNvSpPr/>
          <p:nvPr/>
        </p:nvSpPr>
        <p:spPr>
          <a:xfrm>
            <a:off x="5047488" y="3712464"/>
            <a:ext cx="2377440" cy="621792"/>
          </a:xfrm>
          <a:prstGeom prst="rect">
            <a:avLst/>
          </a:prstGeom>
          <a:noFill/>
          <a:ln/>
        </p:spPr>
        <p:txBody>
          <a:bodyPr wrap="square" lIns="0" tIns="0" rIns="0" bIns="0" rtlCol="0" anchor="ctr"/>
          <a:lstStyle/>
          <a:p>
            <a:pPr indent="0" marL="0">
              <a:buNone/>
            </a:pPr>
            <a:r>
              <a:rPr lang="en-US" sz="1100" dirty="0">
                <a:solidFill>
                  <a:srgbClr val="6B7891"/>
                </a:solidFill>
                <a:latin typeface="Calibri" pitchFamily="34" charset="0"/>
                <a:ea typeface="Calibri" pitchFamily="34" charset="-122"/>
                <a:cs typeface="Calibri" pitchFamily="34" charset="-120"/>
              </a:rPr>
              <a:t>Never pages</a:t>
            </a:r>
            <a:endParaRPr lang="en-US" sz="1100" dirty="0"/>
          </a:p>
        </p:txBody>
      </p:sp>
      <p:sp>
        <p:nvSpPr>
          <p:cNvPr id="25" name="Shape 22"/>
          <p:cNvSpPr/>
          <p:nvPr/>
        </p:nvSpPr>
        <p:spPr>
          <a:xfrm>
            <a:off x="566928" y="4425696"/>
            <a:ext cx="6949440" cy="621792"/>
          </a:xfrm>
          <a:prstGeom prst="roundRect">
            <a:avLst>
              <a:gd name="adj" fmla="val 7353"/>
            </a:avLst>
          </a:prstGeom>
          <a:solidFill>
            <a:srgbClr val="F5F7FA"/>
          </a:solidFill>
          <a:ln w="12700">
            <a:solidFill>
              <a:srgbClr val="F5F7FA"/>
            </a:solidFill>
            <a:prstDash val="solid"/>
          </a:ln>
        </p:spPr>
      </p:sp>
      <p:sp>
        <p:nvSpPr>
          <p:cNvPr id="26" name="Shape 23"/>
          <p:cNvSpPr/>
          <p:nvPr/>
        </p:nvSpPr>
        <p:spPr>
          <a:xfrm>
            <a:off x="713232" y="4572000"/>
            <a:ext cx="585216" cy="329184"/>
          </a:xfrm>
          <a:prstGeom prst="roundRect">
            <a:avLst>
              <a:gd name="adj" fmla="val 13889"/>
            </a:avLst>
          </a:prstGeom>
          <a:solidFill>
            <a:srgbClr val="6B7891"/>
          </a:solidFill>
          <a:ln w="12700">
            <a:solidFill>
              <a:srgbClr val="6B7891"/>
            </a:solidFill>
            <a:prstDash val="solid"/>
          </a:ln>
        </p:spPr>
      </p:sp>
      <p:sp>
        <p:nvSpPr>
          <p:cNvPr id="27" name="Text 24"/>
          <p:cNvSpPr/>
          <p:nvPr/>
        </p:nvSpPr>
        <p:spPr>
          <a:xfrm>
            <a:off x="713232" y="4572000"/>
            <a:ext cx="585216"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P4</a:t>
            </a:r>
            <a:endParaRPr lang="en-US" sz="1200" dirty="0"/>
          </a:p>
        </p:txBody>
      </p:sp>
      <p:sp>
        <p:nvSpPr>
          <p:cNvPr id="28" name="Text 25"/>
          <p:cNvSpPr/>
          <p:nvPr/>
        </p:nvSpPr>
        <p:spPr>
          <a:xfrm>
            <a:off x="1444752" y="4425696"/>
            <a:ext cx="3566160" cy="621792"/>
          </a:xfrm>
          <a:prstGeom prst="rect">
            <a:avLst/>
          </a:prstGeom>
          <a:noFill/>
          <a:ln/>
        </p:spPr>
        <p:txBody>
          <a:bodyPr wrap="square" lIns="0" tIns="0" rIns="0" bIns="0" rtlCol="0" anchor="ctr"/>
          <a:lstStyle/>
          <a:p>
            <a:pPr indent="0" marL="0">
              <a:buNone/>
            </a:pPr>
            <a:r>
              <a:rPr lang="en-US" sz="1200" b="1" dirty="0">
                <a:solidFill>
                  <a:srgbClr val="161C28"/>
                </a:solidFill>
                <a:latin typeface="Calibri" pitchFamily="34" charset="0"/>
                <a:ea typeface="Calibri" pitchFamily="34" charset="-122"/>
                <a:cs typeface="Calibri" pitchFamily="34" charset="-120"/>
              </a:rPr>
              <a:t>Nothing</a:t>
            </a:r>
            <a:endParaRPr lang="en-US" sz="1200" dirty="0"/>
          </a:p>
        </p:txBody>
      </p:sp>
      <p:sp>
        <p:nvSpPr>
          <p:cNvPr id="29" name="Text 26"/>
          <p:cNvSpPr/>
          <p:nvPr/>
        </p:nvSpPr>
        <p:spPr>
          <a:xfrm>
            <a:off x="5047488" y="4425696"/>
            <a:ext cx="2377440" cy="621792"/>
          </a:xfrm>
          <a:prstGeom prst="rect">
            <a:avLst/>
          </a:prstGeom>
          <a:noFill/>
          <a:ln/>
        </p:spPr>
        <p:txBody>
          <a:bodyPr wrap="square" lIns="0" tIns="0" rIns="0" bIns="0" rtlCol="0" anchor="ctr"/>
          <a:lstStyle/>
          <a:p>
            <a:pPr indent="0" marL="0">
              <a:buNone/>
            </a:pPr>
            <a:r>
              <a:rPr lang="en-US" sz="1100" dirty="0">
                <a:solidFill>
                  <a:srgbClr val="6B7891"/>
                </a:solidFill>
                <a:latin typeface="Calibri" pitchFamily="34" charset="0"/>
                <a:ea typeface="Calibri" pitchFamily="34" charset="-122"/>
                <a:cs typeface="Calibri" pitchFamily="34" charset="-120"/>
              </a:rPr>
              <a:t>Reviewed in aggregate</a:t>
            </a:r>
            <a:endParaRPr lang="en-US" sz="1100" dirty="0"/>
          </a:p>
        </p:txBody>
      </p:sp>
      <p:sp>
        <p:nvSpPr>
          <p:cNvPr id="30" name="Shape 27"/>
          <p:cNvSpPr/>
          <p:nvPr/>
        </p:nvSpPr>
        <p:spPr>
          <a:xfrm>
            <a:off x="7882128" y="2286000"/>
            <a:ext cx="3749040" cy="2962656"/>
          </a:xfrm>
          <a:prstGeom prst="roundRect">
            <a:avLst>
              <a:gd name="adj" fmla="val 2160"/>
            </a:avLst>
          </a:prstGeom>
          <a:solidFill>
            <a:srgbClr val="12161F"/>
          </a:solidFill>
          <a:ln w="12700">
            <a:solidFill>
              <a:srgbClr val="12161F"/>
            </a:solidFill>
            <a:prstDash val="solid"/>
          </a:ln>
        </p:spPr>
      </p:sp>
      <p:sp>
        <p:nvSpPr>
          <p:cNvPr id="31" name="Text 28"/>
          <p:cNvSpPr/>
          <p:nvPr/>
        </p:nvSpPr>
        <p:spPr>
          <a:xfrm>
            <a:off x="8138160" y="2450592"/>
            <a:ext cx="3291840" cy="274320"/>
          </a:xfrm>
          <a:prstGeom prst="rect">
            <a:avLst/>
          </a:prstGeom>
          <a:noFill/>
          <a:ln/>
        </p:spPr>
        <p:txBody>
          <a:bodyPr wrap="square" lIns="0" tIns="0" rIns="0" bIns="0" rtlCol="0" anchor="ctr"/>
          <a:lstStyle/>
          <a:p>
            <a:pPr indent="0" marL="0">
              <a:buNone/>
            </a:pPr>
            <a:r>
              <a:rPr lang="en-US" sz="950" b="1" spc="150" kern="0" dirty="0">
                <a:solidFill>
                  <a:srgbClr val="E09A2E"/>
                </a:solidFill>
                <a:latin typeface="Calibri" pitchFamily="34" charset="0"/>
                <a:ea typeface="Calibri" pitchFamily="34" charset="-122"/>
                <a:cs typeface="Calibri" pitchFamily="34" charset="-120"/>
              </a:rPr>
              <a:t>THE PRINCIPLE</a:t>
            </a:r>
            <a:endParaRPr lang="en-US" sz="950" dirty="0"/>
          </a:p>
        </p:txBody>
      </p:sp>
      <p:sp>
        <p:nvSpPr>
          <p:cNvPr id="32" name="Text 29"/>
          <p:cNvSpPr/>
          <p:nvPr/>
        </p:nvSpPr>
        <p:spPr>
          <a:xfrm>
            <a:off x="8138160" y="2761488"/>
            <a:ext cx="3291840" cy="2194560"/>
          </a:xfrm>
          <a:prstGeom prst="rect">
            <a:avLst/>
          </a:prstGeom>
          <a:noFill/>
          <a:ln/>
        </p:spPr>
        <p:txBody>
          <a:bodyPr wrap="square" lIns="0" tIns="0" rIns="0" bIns="0" rtlCol="0" anchor="t"/>
          <a:lstStyle/>
          <a:p>
            <a:pPr indent="0" marL="0">
              <a:lnSpc>
                <a:spcPct val="105000"/>
              </a:lnSpc>
              <a:buNone/>
            </a:pPr>
            <a:r>
              <a:rPr lang="en-US" sz="1300" dirty="0">
                <a:solidFill>
                  <a:srgbClr val="C6D0DF"/>
                </a:solidFill>
                <a:latin typeface="Calibri" pitchFamily="34" charset="0"/>
                <a:ea typeface="Calibri" pitchFamily="34" charset="-122"/>
                <a:cs typeface="Calibri" pitchFamily="34" charset="-120"/>
              </a:rPr>
              <a:t>The ticket system records and schedules work.</a:t>
            </a:r>
            <a:endParaRPr lang="en-US" sz="1300" dirty="0"/>
          </a:p>
          <a:p>
            <a:pPr indent="0" marL="0">
              <a:lnSpc>
                <a:spcPct val="105000"/>
              </a:lnSpc>
              <a:buNone/>
            </a:pPr>
            <a:endParaRPr lang="en-US" sz="1300" dirty="0"/>
          </a:p>
          <a:p>
            <a:pPr indent="0" marL="0">
              <a:lnSpc>
                <a:spcPct val="105000"/>
              </a:lnSpc>
              <a:buNone/>
            </a:pPr>
            <a:r>
              <a:rPr lang="en-US" sz="1300" dirty="0">
                <a:solidFill>
                  <a:srgbClr val="C6D0DF"/>
                </a:solidFill>
                <a:latin typeface="Calibri" pitchFamily="34" charset="0"/>
                <a:ea typeface="Calibri" pitchFamily="34" charset="-122"/>
                <a:cs typeface="Calibri" pitchFamily="34" charset="-120"/>
              </a:rPr>
              <a:t>The pager interrupts a human life.</a:t>
            </a:r>
            <a:endParaRPr lang="en-US" sz="1300" dirty="0"/>
          </a:p>
          <a:p>
            <a:pPr indent="0" marL="0">
              <a:lnSpc>
                <a:spcPct val="105000"/>
              </a:lnSpc>
              <a:buNone/>
            </a:pPr>
            <a:endParaRPr lang="en-US" sz="1300" dirty="0"/>
          </a:p>
          <a:p>
            <a:pPr indent="0" marL="0">
              <a:lnSpc>
                <a:spcPct val="105000"/>
              </a:lnSpc>
              <a:buNone/>
            </a:pPr>
            <a:r>
              <a:rPr lang="en-US" sz="1300" dirty="0">
                <a:solidFill>
                  <a:srgbClr val="C6D0DF"/>
                </a:solidFill>
                <a:latin typeface="Calibri" pitchFamily="34" charset="0"/>
                <a:ea typeface="Calibri" pitchFamily="34" charset="-122"/>
                <a:cs typeface="Calibri" pitchFamily="34" charset="-120"/>
              </a:rPr>
              <a:t>Those are different decisions. Conflating them produces a queue nobody reads and a pager nobody trusts.</a:t>
            </a:r>
            <a:endParaRPr lang="en-US" sz="1300" dirty="0"/>
          </a:p>
        </p:txBody>
      </p:sp>
      <p:sp>
        <p:nvSpPr>
          <p:cNvPr id="33" name="Text 30"/>
          <p:cNvSpPr/>
          <p:nvPr/>
        </p:nvSpPr>
        <p:spPr>
          <a:xfrm>
            <a:off x="566928" y="5440680"/>
            <a:ext cx="11057839" cy="548640"/>
          </a:xfrm>
          <a:prstGeom prst="rect">
            <a:avLst/>
          </a:prstGeom>
          <a:noFill/>
          <a:ln/>
        </p:spPr>
        <p:txBody>
          <a:bodyPr wrap="square" lIns="0" tIns="0" rIns="0" bIns="0" rtlCol="0" anchor="t"/>
          <a:lstStyle/>
          <a:p>
            <a:pPr indent="0" marL="0">
              <a:buNone/>
            </a:pPr>
            <a:r>
              <a:rPr lang="en-US" sz="1200" dirty="0">
                <a:solidFill>
                  <a:srgbClr val="3A4557"/>
                </a:solidFill>
                <a:latin typeface="Calibri" pitchFamily="34" charset="0"/>
                <a:ea typeface="Calibri" pitchFamily="34" charset="-122"/>
                <a:cs typeface="Calibri" pitchFamily="34" charset="-120"/>
              </a:rPr>
              <a:t>Non-production creates ServiceNow tasks, never incidents, and never pages — a failing test environment is a work item, not an operational event. No monitor names a ServiceNow group: routing is resolved from tags, so moving a team's assignment group is one line.</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8778240" cy="256032"/>
          </a:xfrm>
          <a:prstGeom prst="rect">
            <a:avLst/>
          </a:prstGeom>
          <a:noFill/>
          <a:ln/>
        </p:spPr>
        <p:txBody>
          <a:bodyPr wrap="square" lIns="0" tIns="0" rIns="0" bIns="0" rtlCol="0" anchor="ctr"/>
          <a:lstStyle/>
          <a:p>
            <a:pPr indent="0" marL="0">
              <a:buNone/>
            </a:pPr>
            <a:r>
              <a:rPr lang="en-US" sz="1050" b="1" spc="160" kern="0" dirty="0">
                <a:solidFill>
                  <a:srgbClr val="B87914"/>
                </a:solidFill>
                <a:latin typeface="Calibri" pitchFamily="34" charset="0"/>
                <a:ea typeface="Calibri" pitchFamily="34" charset="-122"/>
                <a:cs typeface="Calibri" pitchFamily="34" charset="-120"/>
              </a:rPr>
              <a:t>TOPIC 20</a:t>
            </a:r>
            <a:endParaRPr lang="en-US" sz="1050" dirty="0"/>
          </a:p>
        </p:txBody>
      </p:sp>
      <p:sp>
        <p:nvSpPr>
          <p:cNvPr id="3" name="Text 1"/>
          <p:cNvSpPr/>
          <p:nvPr/>
        </p:nvSpPr>
        <p:spPr>
          <a:xfrm>
            <a:off x="566928" y="694944"/>
            <a:ext cx="10424160" cy="786384"/>
          </a:xfrm>
          <a:prstGeom prst="rect">
            <a:avLst/>
          </a:prstGeom>
          <a:noFill/>
          <a:ln/>
        </p:spPr>
        <p:txBody>
          <a:bodyPr wrap="square" lIns="0" tIns="0" rIns="0" bIns="0" rtlCol="0" anchor="ctr"/>
          <a:lstStyle/>
          <a:p>
            <a:pPr indent="0" marL="0">
              <a:buNone/>
            </a:pPr>
            <a:r>
              <a:rPr lang="en-US" sz="3100" b="1" dirty="0">
                <a:solidFill>
                  <a:srgbClr val="161C28"/>
                </a:solidFill>
                <a:latin typeface="Cambria" pitchFamily="34" charset="0"/>
                <a:ea typeface="Cambria" pitchFamily="34" charset="-122"/>
                <a:cs typeface="Cambria" pitchFamily="34" charset="-120"/>
              </a:rPr>
              <a:t>Runbooks</a:t>
            </a:r>
            <a:endParaRPr lang="en-US" sz="3100" dirty="0"/>
          </a:p>
        </p:txBody>
      </p:sp>
      <p:sp>
        <p:nvSpPr>
          <p:cNvPr id="4" name="Text 2"/>
          <p:cNvSpPr/>
          <p:nvPr/>
        </p:nvSpPr>
        <p:spPr>
          <a:xfrm>
            <a:off x="566928" y="1481328"/>
            <a:ext cx="10698480" cy="457200"/>
          </a:xfrm>
          <a:prstGeom prst="rect">
            <a:avLst/>
          </a:prstGeom>
          <a:noFill/>
          <a:ln/>
        </p:spPr>
        <p:txBody>
          <a:bodyPr wrap="square" lIns="0" tIns="0" rIns="0" bIns="0" rtlCol="0" anchor="t"/>
          <a:lstStyle/>
          <a:p>
            <a:pPr indent="0" marL="0">
              <a:buNone/>
            </a:pPr>
            <a:r>
              <a:rPr lang="en-US" sz="1450" dirty="0">
                <a:solidFill>
                  <a:srgbClr val="3A4557"/>
                </a:solidFill>
                <a:latin typeface="Calibri" pitchFamily="34" charset="0"/>
                <a:ea typeface="Calibri" pitchFamily="34" charset="-122"/>
                <a:cs typeface="Calibri" pitchFamily="34" charset="-120"/>
              </a:rPr>
              <a:t>Native Datadog notebooks attached to the monitor as an asset — not a link to a wiki page that rotted two reorganisations ago.</a:t>
            </a:r>
            <a:endParaRPr lang="en-US" sz="1450" dirty="0"/>
          </a:p>
        </p:txBody>
      </p:sp>
      <p:sp>
        <p:nvSpPr>
          <p:cNvPr id="5" name="Shape 3"/>
          <p:cNvSpPr/>
          <p:nvPr/>
        </p:nvSpPr>
        <p:spPr>
          <a:xfrm>
            <a:off x="10568635" y="420624"/>
            <a:ext cx="1056132" cy="310896"/>
          </a:xfrm>
          <a:prstGeom prst="roundRect">
            <a:avLst>
              <a:gd name="adj" fmla="val 50000"/>
            </a:avLst>
          </a:prstGeom>
          <a:solidFill>
            <a:srgbClr val="27807C"/>
          </a:solidFill>
          <a:ln w="12700">
            <a:solidFill>
              <a:srgbClr val="27807C"/>
            </a:solidFill>
            <a:prstDash val="solid"/>
          </a:ln>
        </p:spPr>
      </p:sp>
      <p:sp>
        <p:nvSpPr>
          <p:cNvPr id="6" name="Text 4"/>
          <p:cNvSpPr/>
          <p:nvPr/>
        </p:nvSpPr>
        <p:spPr>
          <a:xfrm>
            <a:off x="10568635" y="420624"/>
            <a:ext cx="1056132" cy="310896"/>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SHIPPED</a:t>
            </a:r>
            <a:endParaRPr lang="en-US" sz="950" dirty="0"/>
          </a:p>
        </p:txBody>
      </p:sp>
      <p:sp>
        <p:nvSpPr>
          <p:cNvPr id="7" name="Text 5"/>
          <p:cNvSpPr/>
          <p:nvPr/>
        </p:nvSpPr>
        <p:spPr>
          <a:xfrm>
            <a:off x="566928" y="6345936"/>
            <a:ext cx="7315200" cy="274320"/>
          </a:xfrm>
          <a:prstGeom prst="rect">
            <a:avLst/>
          </a:prstGeom>
          <a:noFill/>
          <a:ln/>
        </p:spPr>
        <p:txBody>
          <a:bodyPr wrap="square" lIns="0" tIns="0" rIns="0" bIns="0" rtlCol="0" anchor="ctr"/>
          <a:lstStyle/>
          <a:p>
            <a:pPr indent="0" marL="0">
              <a:buNone/>
            </a:pPr>
            <a:r>
              <a:rPr lang="en-US" sz="900" dirty="0">
                <a:solidFill>
                  <a:srgbClr val="6B7891"/>
                </a:solidFill>
                <a:latin typeface="Calibri" pitchFamily="34" charset="0"/>
                <a:ea typeface="Calibri" pitchFamily="34" charset="-122"/>
                <a:cs typeface="Calibri" pitchFamily="34" charset="-120"/>
              </a:rPr>
              <a:t>Enterprise Observability  ·  policy-as-data on Datadog</a:t>
            </a:r>
            <a:endParaRPr lang="en-US" sz="900" dirty="0"/>
          </a:p>
        </p:txBody>
      </p:sp>
      <p:sp>
        <p:nvSpPr>
          <p:cNvPr id="8" name="Text 6"/>
          <p:cNvSpPr/>
          <p:nvPr/>
        </p:nvSpPr>
        <p:spPr>
          <a:xfrm>
            <a:off x="10710367" y="6345936"/>
            <a:ext cx="914400" cy="274320"/>
          </a:xfrm>
          <a:prstGeom prst="rect">
            <a:avLst/>
          </a:prstGeom>
          <a:noFill/>
          <a:ln/>
        </p:spPr>
        <p:txBody>
          <a:bodyPr wrap="square" lIns="0" tIns="0" rIns="0" bIns="0" rtlCol="0" anchor="ctr"/>
          <a:lstStyle/>
          <a:p>
            <a:pPr algn="r" indent="0" marL="0">
              <a:buNone/>
            </a:pPr>
            <a:r>
              <a:rPr lang="en-US" sz="900" dirty="0">
                <a:solidFill>
                  <a:srgbClr val="6B7891"/>
                </a:solidFill>
                <a:latin typeface="Calibri" pitchFamily="34" charset="0"/>
                <a:ea typeface="Calibri" pitchFamily="34" charset="-122"/>
                <a:cs typeface="Calibri" pitchFamily="34" charset="-120"/>
              </a:rPr>
              <a:t>27</a:t>
            </a:r>
            <a:endParaRPr lang="en-US" sz="900" dirty="0"/>
          </a:p>
        </p:txBody>
      </p:sp>
      <p:sp>
        <p:nvSpPr>
          <p:cNvPr id="10" name="Shape 7"/>
          <p:cNvSpPr/>
          <p:nvPr/>
        </p:nvSpPr>
        <p:spPr>
          <a:xfrm>
            <a:off x="566928" y="2240280"/>
            <a:ext cx="3538728" cy="1234440"/>
          </a:xfrm>
          <a:prstGeom prst="roundRect">
            <a:avLst>
              <a:gd name="adj" fmla="val 5185"/>
            </a:avLst>
          </a:prstGeom>
          <a:solidFill>
            <a:srgbClr val="EFF2F6"/>
          </a:solidFill>
          <a:ln w="12700">
            <a:solidFill>
              <a:srgbClr val="EFF2F6"/>
            </a:solidFill>
            <a:prstDash val="solid"/>
          </a:ln>
        </p:spPr>
      </p:sp>
      <p:sp>
        <p:nvSpPr>
          <p:cNvPr id="11" name="Text 8"/>
          <p:cNvSpPr/>
          <p:nvPr/>
        </p:nvSpPr>
        <p:spPr>
          <a:xfrm>
            <a:off x="822960" y="2395728"/>
            <a:ext cx="3017520" cy="548640"/>
          </a:xfrm>
          <a:prstGeom prst="rect">
            <a:avLst/>
          </a:prstGeom>
          <a:noFill/>
          <a:ln/>
        </p:spPr>
        <p:txBody>
          <a:bodyPr wrap="square" lIns="0" tIns="0" rIns="0" bIns="0" rtlCol="0" anchor="ctr"/>
          <a:lstStyle/>
          <a:p>
            <a:pPr algn="l" indent="0" marL="0">
              <a:buNone/>
            </a:pPr>
            <a:r>
              <a:rPr lang="en-US" sz="3200" b="1" dirty="0">
                <a:solidFill>
                  <a:srgbClr val="161C28"/>
                </a:solidFill>
                <a:latin typeface="Cambria" pitchFamily="34" charset="0"/>
                <a:ea typeface="Cambria" pitchFamily="34" charset="-122"/>
                <a:cs typeface="Cambria" pitchFamily="34" charset="-120"/>
              </a:rPr>
              <a:t>261</a:t>
            </a:r>
            <a:endParaRPr lang="en-US" sz="3200" dirty="0"/>
          </a:p>
        </p:txBody>
      </p:sp>
      <p:sp>
        <p:nvSpPr>
          <p:cNvPr id="12" name="Text 9"/>
          <p:cNvSpPr/>
          <p:nvPr/>
        </p:nvSpPr>
        <p:spPr>
          <a:xfrm>
            <a:off x="822960" y="2907792"/>
            <a:ext cx="3017520" cy="548640"/>
          </a:xfrm>
          <a:prstGeom prst="rect">
            <a:avLst/>
          </a:prstGeom>
          <a:noFill/>
          <a:ln/>
        </p:spPr>
        <p:txBody>
          <a:bodyPr wrap="square" lIns="0" tIns="0" rIns="0" bIns="0" rtlCol="0" anchor="t"/>
          <a:lstStyle/>
          <a:p>
            <a:pPr algn="l" indent="0" marL="0">
              <a:buNone/>
            </a:pPr>
            <a:r>
              <a:rPr lang="en-US" sz="1050" dirty="0">
                <a:solidFill>
                  <a:srgbClr val="6B7891"/>
                </a:solidFill>
                <a:latin typeface="Calibri" pitchFamily="34" charset="0"/>
                <a:ea typeface="Calibri" pitchFamily="34" charset="-122"/>
                <a:cs typeface="Calibri" pitchFamily="34" charset="-120"/>
              </a:rPr>
              <a:t>runbooks published as native notebooks</a:t>
            </a:r>
            <a:endParaRPr lang="en-US" sz="1050" dirty="0"/>
          </a:p>
        </p:txBody>
      </p:sp>
      <p:sp>
        <p:nvSpPr>
          <p:cNvPr id="13" name="Shape 10"/>
          <p:cNvSpPr/>
          <p:nvPr/>
        </p:nvSpPr>
        <p:spPr>
          <a:xfrm>
            <a:off x="4315968" y="2240280"/>
            <a:ext cx="3538728" cy="1234440"/>
          </a:xfrm>
          <a:prstGeom prst="roundRect">
            <a:avLst>
              <a:gd name="adj" fmla="val 5185"/>
            </a:avLst>
          </a:prstGeom>
          <a:solidFill>
            <a:srgbClr val="EFF2F6"/>
          </a:solidFill>
          <a:ln w="12700">
            <a:solidFill>
              <a:srgbClr val="EFF2F6"/>
            </a:solidFill>
            <a:prstDash val="solid"/>
          </a:ln>
        </p:spPr>
      </p:sp>
      <p:sp>
        <p:nvSpPr>
          <p:cNvPr id="14" name="Text 11"/>
          <p:cNvSpPr/>
          <p:nvPr/>
        </p:nvSpPr>
        <p:spPr>
          <a:xfrm>
            <a:off x="4572000" y="2395728"/>
            <a:ext cx="3017520" cy="548640"/>
          </a:xfrm>
          <a:prstGeom prst="rect">
            <a:avLst/>
          </a:prstGeom>
          <a:noFill/>
          <a:ln/>
        </p:spPr>
        <p:txBody>
          <a:bodyPr wrap="square" lIns="0" tIns="0" rIns="0" bIns="0" rtlCol="0" anchor="ctr"/>
          <a:lstStyle/>
          <a:p>
            <a:pPr algn="l" indent="0" marL="0">
              <a:buNone/>
            </a:pPr>
            <a:r>
              <a:rPr lang="en-US" sz="3200" b="1" dirty="0">
                <a:solidFill>
                  <a:srgbClr val="161C28"/>
                </a:solidFill>
                <a:latin typeface="Cambria" pitchFamily="34" charset="0"/>
                <a:ea typeface="Cambria" pitchFamily="34" charset="-122"/>
                <a:cs typeface="Cambria" pitchFamily="34" charset="-120"/>
              </a:rPr>
              <a:t>651 / 651</a:t>
            </a:r>
            <a:endParaRPr lang="en-US" sz="3200" dirty="0"/>
          </a:p>
        </p:txBody>
      </p:sp>
      <p:sp>
        <p:nvSpPr>
          <p:cNvPr id="15" name="Text 12"/>
          <p:cNvSpPr/>
          <p:nvPr/>
        </p:nvSpPr>
        <p:spPr>
          <a:xfrm>
            <a:off x="4572000" y="2907792"/>
            <a:ext cx="3017520" cy="548640"/>
          </a:xfrm>
          <a:prstGeom prst="rect">
            <a:avLst/>
          </a:prstGeom>
          <a:noFill/>
          <a:ln/>
        </p:spPr>
        <p:txBody>
          <a:bodyPr wrap="square" lIns="0" tIns="0" rIns="0" bIns="0" rtlCol="0" anchor="t"/>
          <a:lstStyle/>
          <a:p>
            <a:pPr algn="l" indent="0" marL="0">
              <a:buNone/>
            </a:pPr>
            <a:r>
              <a:rPr lang="en-US" sz="1050" dirty="0">
                <a:solidFill>
                  <a:srgbClr val="6B7891"/>
                </a:solidFill>
                <a:latin typeface="Calibri" pitchFamily="34" charset="0"/>
                <a:ea typeface="Calibri" pitchFamily="34" charset="-122"/>
                <a:cs typeface="Calibri" pitchFamily="34" charset="-120"/>
              </a:rPr>
              <a:t>monitors with a runbook attached</a:t>
            </a:r>
            <a:endParaRPr lang="en-US" sz="1050" dirty="0"/>
          </a:p>
        </p:txBody>
      </p:sp>
      <p:sp>
        <p:nvSpPr>
          <p:cNvPr id="16" name="Shape 13"/>
          <p:cNvSpPr/>
          <p:nvPr/>
        </p:nvSpPr>
        <p:spPr>
          <a:xfrm>
            <a:off x="8065008" y="2240280"/>
            <a:ext cx="3538728" cy="1234440"/>
          </a:xfrm>
          <a:prstGeom prst="roundRect">
            <a:avLst>
              <a:gd name="adj" fmla="val 5185"/>
            </a:avLst>
          </a:prstGeom>
          <a:solidFill>
            <a:srgbClr val="12161F"/>
          </a:solidFill>
          <a:ln w="12700">
            <a:solidFill>
              <a:srgbClr val="12161F"/>
            </a:solidFill>
            <a:prstDash val="solid"/>
          </a:ln>
        </p:spPr>
      </p:sp>
      <p:sp>
        <p:nvSpPr>
          <p:cNvPr id="17" name="Text 14"/>
          <p:cNvSpPr/>
          <p:nvPr/>
        </p:nvSpPr>
        <p:spPr>
          <a:xfrm>
            <a:off x="8321040" y="2395728"/>
            <a:ext cx="3017520" cy="548640"/>
          </a:xfrm>
          <a:prstGeom prst="rect">
            <a:avLst/>
          </a:prstGeom>
          <a:noFill/>
          <a:ln/>
        </p:spPr>
        <p:txBody>
          <a:bodyPr wrap="square" lIns="0" tIns="0" rIns="0" bIns="0" rtlCol="0" anchor="ctr"/>
          <a:lstStyle/>
          <a:p>
            <a:pPr algn="l" indent="0" marL="0">
              <a:buNone/>
            </a:pPr>
            <a:r>
              <a:rPr lang="en-US" sz="3200" b="1" dirty="0">
                <a:solidFill>
                  <a:srgbClr val="E09A2E"/>
                </a:solidFill>
                <a:latin typeface="Cambria" pitchFamily="34" charset="0"/>
                <a:ea typeface="Cambria" pitchFamily="34" charset="-122"/>
                <a:cs typeface="Cambria" pitchFamily="34" charset="-120"/>
              </a:rPr>
              <a:t>0</a:t>
            </a:r>
            <a:endParaRPr lang="en-US" sz="3200" dirty="0"/>
          </a:p>
        </p:txBody>
      </p:sp>
      <p:sp>
        <p:nvSpPr>
          <p:cNvPr id="18" name="Text 15"/>
          <p:cNvSpPr/>
          <p:nvPr/>
        </p:nvSpPr>
        <p:spPr>
          <a:xfrm>
            <a:off x="8321040" y="2907792"/>
            <a:ext cx="3017520" cy="548640"/>
          </a:xfrm>
          <a:prstGeom prst="rect">
            <a:avLst/>
          </a:prstGeom>
          <a:noFill/>
          <a:ln/>
        </p:spPr>
        <p:txBody>
          <a:bodyPr wrap="square" lIns="0" tIns="0" rIns="0" bIns="0" rtlCol="0" anchor="t"/>
          <a:lstStyle/>
          <a:p>
            <a:pPr algn="l" indent="0" marL="0">
              <a:buNone/>
            </a:pPr>
            <a:r>
              <a:rPr lang="en-US" sz="1050" dirty="0">
                <a:solidFill>
                  <a:srgbClr val="9FADC4"/>
                </a:solidFill>
                <a:latin typeface="Calibri" pitchFamily="34" charset="0"/>
                <a:ea typeface="Calibri" pitchFamily="34" charset="-122"/>
                <a:cs typeface="Calibri" pitchFamily="34" charset="-120"/>
              </a:rPr>
              <a:t>runbook URLs pasted into alert bodies</a:t>
            </a:r>
            <a:endParaRPr lang="en-US" sz="1050" dirty="0"/>
          </a:p>
        </p:txBody>
      </p:sp>
      <p:sp>
        <p:nvSpPr>
          <p:cNvPr id="19" name="Shape 16"/>
          <p:cNvSpPr/>
          <p:nvPr/>
        </p:nvSpPr>
        <p:spPr>
          <a:xfrm>
            <a:off x="566928" y="3703320"/>
            <a:ext cx="1992112" cy="914400"/>
          </a:xfrm>
          <a:prstGeom prst="roundRect">
            <a:avLst>
              <a:gd name="adj" fmla="val 6000"/>
            </a:avLst>
          </a:prstGeom>
          <a:solidFill>
            <a:srgbClr val="EFF2F6"/>
          </a:solidFill>
          <a:ln w="12700">
            <a:solidFill>
              <a:srgbClr val="EFF2F6"/>
            </a:solidFill>
            <a:prstDash val="solid"/>
          </a:ln>
        </p:spPr>
      </p:sp>
      <p:sp>
        <p:nvSpPr>
          <p:cNvPr id="20" name="Text 17"/>
          <p:cNvSpPr/>
          <p:nvPr/>
        </p:nvSpPr>
        <p:spPr>
          <a:xfrm>
            <a:off x="676656" y="3813048"/>
            <a:ext cx="1772656" cy="694944"/>
          </a:xfrm>
          <a:prstGeom prst="rect">
            <a:avLst/>
          </a:prstGeom>
          <a:noFill/>
          <a:ln/>
        </p:spPr>
        <p:txBody>
          <a:bodyPr wrap="square" lIns="0" tIns="0" rIns="0" bIns="0" rtlCol="0" anchor="ctr"/>
          <a:lstStyle/>
          <a:p>
            <a:pPr algn="ctr" indent="0" marL="0">
              <a:lnSpc>
                <a:spcPct val="100000"/>
              </a:lnSpc>
              <a:buNone/>
            </a:pPr>
            <a:r>
              <a:rPr lang="en-US" sz="1150" b="1" dirty="0">
                <a:solidFill>
                  <a:srgbClr val="161C28"/>
                </a:solidFill>
                <a:latin typeface="Calibri" pitchFamily="34" charset="0"/>
                <a:ea typeface="Calibri" pitchFamily="34" charset="-122"/>
                <a:cs typeface="Calibri" pitchFamily="34" charset="-120"/>
              </a:rPr>
              <a:t>Archetype</a:t>
            </a:r>
            <a:endParaRPr lang="en-US" sz="1150" dirty="0"/>
          </a:p>
          <a:p>
            <a:pPr algn="ctr" indent="0" marL="0">
              <a:lnSpc>
                <a:spcPct val="100000"/>
              </a:lnSpc>
              <a:buNone/>
            </a:pPr>
            <a:r>
              <a:rPr lang="en-US" sz="1150" b="1" dirty="0">
                <a:solidFill>
                  <a:srgbClr val="161C28"/>
                </a:solidFill>
                <a:latin typeface="Calibri" pitchFamily="34" charset="0"/>
                <a:ea typeface="Calibri" pitchFamily="34" charset="-122"/>
                <a:cs typeface="Calibri" pitchFamily="34" charset="-120"/>
              </a:rPr>
              <a:t>changes</a:t>
            </a:r>
            <a:endParaRPr lang="en-US" sz="1150" dirty="0"/>
          </a:p>
        </p:txBody>
      </p:sp>
      <p:sp>
        <p:nvSpPr>
          <p:cNvPr id="21" name="Shape 18"/>
          <p:cNvSpPr/>
          <p:nvPr/>
        </p:nvSpPr>
        <p:spPr>
          <a:xfrm>
            <a:off x="2613904" y="4078224"/>
            <a:ext cx="164592" cy="164592"/>
          </a:xfrm>
          <a:prstGeom prst="rightArrow">
            <a:avLst/>
          </a:prstGeom>
          <a:solidFill>
            <a:srgbClr val="5F7189"/>
          </a:solidFill>
          <a:ln w="12700">
            <a:solidFill>
              <a:srgbClr val="5F7189"/>
            </a:solidFill>
            <a:prstDash val="solid"/>
          </a:ln>
        </p:spPr>
      </p:sp>
      <p:sp>
        <p:nvSpPr>
          <p:cNvPr id="22" name="Shape 19"/>
          <p:cNvSpPr/>
          <p:nvPr/>
        </p:nvSpPr>
        <p:spPr>
          <a:xfrm>
            <a:off x="2833360" y="3703320"/>
            <a:ext cx="1992112" cy="914400"/>
          </a:xfrm>
          <a:prstGeom prst="roundRect">
            <a:avLst>
              <a:gd name="adj" fmla="val 6000"/>
            </a:avLst>
          </a:prstGeom>
          <a:solidFill>
            <a:srgbClr val="EFF2F6"/>
          </a:solidFill>
          <a:ln w="12700">
            <a:solidFill>
              <a:srgbClr val="EFF2F6"/>
            </a:solidFill>
            <a:prstDash val="solid"/>
          </a:ln>
        </p:spPr>
      </p:sp>
      <p:sp>
        <p:nvSpPr>
          <p:cNvPr id="23" name="Text 20"/>
          <p:cNvSpPr/>
          <p:nvPr/>
        </p:nvSpPr>
        <p:spPr>
          <a:xfrm>
            <a:off x="2943088" y="3813048"/>
            <a:ext cx="1772656" cy="694944"/>
          </a:xfrm>
          <a:prstGeom prst="rect">
            <a:avLst/>
          </a:prstGeom>
          <a:noFill/>
          <a:ln/>
        </p:spPr>
        <p:txBody>
          <a:bodyPr wrap="square" lIns="0" tIns="0" rIns="0" bIns="0" rtlCol="0" anchor="ctr"/>
          <a:lstStyle/>
          <a:p>
            <a:pPr algn="ctr" indent="0" marL="0">
              <a:lnSpc>
                <a:spcPct val="100000"/>
              </a:lnSpc>
              <a:buNone/>
            </a:pPr>
            <a:r>
              <a:rPr lang="en-US" sz="1150" b="1" dirty="0">
                <a:solidFill>
                  <a:srgbClr val="161C28"/>
                </a:solidFill>
                <a:latin typeface="Calibri" pitchFamily="34" charset="0"/>
                <a:ea typeface="Calibri" pitchFamily="34" charset="-122"/>
                <a:cs typeface="Calibri" pitchFamily="34" charset="-120"/>
              </a:rPr>
              <a:t>Generator writes</a:t>
            </a:r>
            <a:endParaRPr lang="en-US" sz="1150" dirty="0"/>
          </a:p>
          <a:p>
            <a:pPr algn="ctr" indent="0" marL="0">
              <a:lnSpc>
                <a:spcPct val="100000"/>
              </a:lnSpc>
              <a:buNone/>
            </a:pPr>
            <a:r>
              <a:rPr lang="en-US" sz="1150" b="1" dirty="0">
                <a:solidFill>
                  <a:srgbClr val="161C28"/>
                </a:solidFill>
                <a:latin typeface="Calibri" pitchFamily="34" charset="0"/>
                <a:ea typeface="Calibri" pitchFamily="34" charset="-122"/>
                <a:cs typeface="Calibri" pitchFamily="34" charset="-120"/>
              </a:rPr>
              <a:t>the machine block</a:t>
            </a:r>
            <a:endParaRPr lang="en-US" sz="1150" dirty="0"/>
          </a:p>
        </p:txBody>
      </p:sp>
      <p:sp>
        <p:nvSpPr>
          <p:cNvPr id="24" name="Shape 21"/>
          <p:cNvSpPr/>
          <p:nvPr/>
        </p:nvSpPr>
        <p:spPr>
          <a:xfrm>
            <a:off x="4880336" y="4078224"/>
            <a:ext cx="164592" cy="164592"/>
          </a:xfrm>
          <a:prstGeom prst="rightArrow">
            <a:avLst/>
          </a:prstGeom>
          <a:solidFill>
            <a:srgbClr val="5F7189"/>
          </a:solidFill>
          <a:ln w="12700">
            <a:solidFill>
              <a:srgbClr val="5F7189"/>
            </a:solidFill>
            <a:prstDash val="solid"/>
          </a:ln>
        </p:spPr>
      </p:sp>
      <p:sp>
        <p:nvSpPr>
          <p:cNvPr id="25" name="Shape 22"/>
          <p:cNvSpPr/>
          <p:nvPr/>
        </p:nvSpPr>
        <p:spPr>
          <a:xfrm>
            <a:off x="5099792" y="3703320"/>
            <a:ext cx="1992112" cy="914400"/>
          </a:xfrm>
          <a:prstGeom prst="roundRect">
            <a:avLst>
              <a:gd name="adj" fmla="val 6000"/>
            </a:avLst>
          </a:prstGeom>
          <a:solidFill>
            <a:srgbClr val="FBF1E2"/>
          </a:solidFill>
          <a:ln w="12700">
            <a:solidFill>
              <a:srgbClr val="FBF1E2"/>
            </a:solidFill>
            <a:prstDash val="solid"/>
          </a:ln>
        </p:spPr>
      </p:sp>
      <p:sp>
        <p:nvSpPr>
          <p:cNvPr id="26" name="Text 23"/>
          <p:cNvSpPr/>
          <p:nvPr/>
        </p:nvSpPr>
        <p:spPr>
          <a:xfrm>
            <a:off x="5209520" y="3813048"/>
            <a:ext cx="1772656" cy="694944"/>
          </a:xfrm>
          <a:prstGeom prst="rect">
            <a:avLst/>
          </a:prstGeom>
          <a:noFill/>
          <a:ln/>
        </p:spPr>
        <p:txBody>
          <a:bodyPr wrap="square" lIns="0" tIns="0" rIns="0" bIns="0" rtlCol="0" anchor="ctr"/>
          <a:lstStyle/>
          <a:p>
            <a:pPr algn="ctr" indent="0" marL="0">
              <a:lnSpc>
                <a:spcPct val="100000"/>
              </a:lnSpc>
              <a:buNone/>
            </a:pPr>
            <a:r>
              <a:rPr lang="en-US" sz="1150" b="1" dirty="0">
                <a:solidFill>
                  <a:srgbClr val="161C28"/>
                </a:solidFill>
                <a:latin typeface="Calibri" pitchFamily="34" charset="0"/>
                <a:ea typeface="Calibri" pitchFamily="34" charset="-122"/>
                <a:cs typeface="Calibri" pitchFamily="34" charset="-120"/>
              </a:rPr>
              <a:t>Human sections</a:t>
            </a:r>
            <a:endParaRPr lang="en-US" sz="1150" dirty="0"/>
          </a:p>
          <a:p>
            <a:pPr algn="ctr" indent="0" marL="0">
              <a:lnSpc>
                <a:spcPct val="100000"/>
              </a:lnSpc>
              <a:buNone/>
            </a:pPr>
            <a:r>
              <a:rPr lang="en-US" sz="1150" b="1" dirty="0">
                <a:solidFill>
                  <a:srgbClr val="161C28"/>
                </a:solidFill>
                <a:latin typeface="Calibri" pitchFamily="34" charset="0"/>
                <a:ea typeface="Calibri" pitchFamily="34" charset="-122"/>
                <a:cs typeface="Calibri" pitchFamily="34" charset="-120"/>
              </a:rPr>
              <a:t>preserved</a:t>
            </a:r>
            <a:endParaRPr lang="en-US" sz="1150" dirty="0"/>
          </a:p>
        </p:txBody>
      </p:sp>
      <p:sp>
        <p:nvSpPr>
          <p:cNvPr id="27" name="Shape 24"/>
          <p:cNvSpPr/>
          <p:nvPr/>
        </p:nvSpPr>
        <p:spPr>
          <a:xfrm>
            <a:off x="7146768" y="4078224"/>
            <a:ext cx="164592" cy="164592"/>
          </a:xfrm>
          <a:prstGeom prst="rightArrow">
            <a:avLst/>
          </a:prstGeom>
          <a:solidFill>
            <a:srgbClr val="5F7189"/>
          </a:solidFill>
          <a:ln w="12700">
            <a:solidFill>
              <a:srgbClr val="5F7189"/>
            </a:solidFill>
            <a:prstDash val="solid"/>
          </a:ln>
        </p:spPr>
      </p:sp>
      <p:sp>
        <p:nvSpPr>
          <p:cNvPr id="28" name="Shape 25"/>
          <p:cNvSpPr/>
          <p:nvPr/>
        </p:nvSpPr>
        <p:spPr>
          <a:xfrm>
            <a:off x="7366224" y="3703320"/>
            <a:ext cx="1992112" cy="914400"/>
          </a:xfrm>
          <a:prstGeom prst="roundRect">
            <a:avLst>
              <a:gd name="adj" fmla="val 6000"/>
            </a:avLst>
          </a:prstGeom>
          <a:solidFill>
            <a:srgbClr val="EFF2F6"/>
          </a:solidFill>
          <a:ln w="12700">
            <a:solidFill>
              <a:srgbClr val="EFF2F6"/>
            </a:solidFill>
            <a:prstDash val="solid"/>
          </a:ln>
        </p:spPr>
      </p:sp>
      <p:sp>
        <p:nvSpPr>
          <p:cNvPr id="29" name="Text 26"/>
          <p:cNvSpPr/>
          <p:nvPr/>
        </p:nvSpPr>
        <p:spPr>
          <a:xfrm>
            <a:off x="7475952" y="3813048"/>
            <a:ext cx="1772656" cy="694944"/>
          </a:xfrm>
          <a:prstGeom prst="rect">
            <a:avLst/>
          </a:prstGeom>
          <a:noFill/>
          <a:ln/>
        </p:spPr>
        <p:txBody>
          <a:bodyPr wrap="square" lIns="0" tIns="0" rIns="0" bIns="0" rtlCol="0" anchor="ctr"/>
          <a:lstStyle/>
          <a:p>
            <a:pPr algn="ctr" indent="0" marL="0">
              <a:lnSpc>
                <a:spcPct val="100000"/>
              </a:lnSpc>
              <a:buNone/>
            </a:pPr>
            <a:r>
              <a:rPr lang="en-US" sz="1150" b="1" dirty="0">
                <a:solidFill>
                  <a:srgbClr val="161C28"/>
                </a:solidFill>
                <a:latin typeface="Calibri" pitchFamily="34" charset="0"/>
                <a:ea typeface="Calibri" pitchFamily="34" charset="-122"/>
                <a:cs typeface="Calibri" pitchFamily="34" charset="-120"/>
              </a:rPr>
              <a:t>Published with</a:t>
            </a:r>
            <a:endParaRPr lang="en-US" sz="1150" dirty="0"/>
          </a:p>
          <a:p>
            <a:pPr algn="ctr" indent="0" marL="0">
              <a:lnSpc>
                <a:spcPct val="100000"/>
              </a:lnSpc>
              <a:buNone/>
            </a:pPr>
            <a:r>
              <a:rPr lang="en-US" sz="1150" b="1" dirty="0">
                <a:solidFill>
                  <a:srgbClr val="161C28"/>
                </a:solidFill>
                <a:latin typeface="Calibri" pitchFamily="34" charset="0"/>
                <a:ea typeface="Calibri" pitchFamily="34" charset="-122"/>
                <a:cs typeface="Calibri" pitchFamily="34" charset="-120"/>
              </a:rPr>
              <a:t>a content hash</a:t>
            </a:r>
            <a:endParaRPr lang="en-US" sz="1150" dirty="0"/>
          </a:p>
        </p:txBody>
      </p:sp>
      <p:sp>
        <p:nvSpPr>
          <p:cNvPr id="30" name="Shape 27"/>
          <p:cNvSpPr/>
          <p:nvPr/>
        </p:nvSpPr>
        <p:spPr>
          <a:xfrm>
            <a:off x="9413199" y="4078224"/>
            <a:ext cx="164592" cy="164592"/>
          </a:xfrm>
          <a:prstGeom prst="rightArrow">
            <a:avLst/>
          </a:prstGeom>
          <a:solidFill>
            <a:srgbClr val="5F7189"/>
          </a:solidFill>
          <a:ln w="12700">
            <a:solidFill>
              <a:srgbClr val="5F7189"/>
            </a:solidFill>
            <a:prstDash val="solid"/>
          </a:ln>
        </p:spPr>
      </p:sp>
      <p:sp>
        <p:nvSpPr>
          <p:cNvPr id="31" name="Shape 28"/>
          <p:cNvSpPr/>
          <p:nvPr/>
        </p:nvSpPr>
        <p:spPr>
          <a:xfrm>
            <a:off x="9632655" y="3703320"/>
            <a:ext cx="1992112" cy="914400"/>
          </a:xfrm>
          <a:prstGeom prst="roundRect">
            <a:avLst>
              <a:gd name="adj" fmla="val 6000"/>
            </a:avLst>
          </a:prstGeom>
          <a:solidFill>
            <a:srgbClr val="12161F"/>
          </a:solidFill>
          <a:ln w="12700">
            <a:solidFill>
              <a:srgbClr val="12161F"/>
            </a:solidFill>
            <a:prstDash val="solid"/>
          </a:ln>
        </p:spPr>
      </p:sp>
      <p:sp>
        <p:nvSpPr>
          <p:cNvPr id="32" name="Text 29"/>
          <p:cNvSpPr/>
          <p:nvPr/>
        </p:nvSpPr>
        <p:spPr>
          <a:xfrm>
            <a:off x="9742383" y="3813048"/>
            <a:ext cx="1772656" cy="694944"/>
          </a:xfrm>
          <a:prstGeom prst="rect">
            <a:avLst/>
          </a:prstGeom>
          <a:noFill/>
          <a:ln/>
        </p:spPr>
        <p:txBody>
          <a:bodyPr wrap="square" lIns="0" tIns="0" rIns="0" bIns="0" rtlCol="0" anchor="ctr"/>
          <a:lstStyle/>
          <a:p>
            <a:pPr algn="ctr" indent="0" marL="0">
              <a:lnSpc>
                <a:spcPct val="100000"/>
              </a:lnSpc>
              <a:buNone/>
            </a:pPr>
            <a:r>
              <a:rPr lang="en-US" sz="1150" b="1" dirty="0">
                <a:solidFill>
                  <a:srgbClr val="E09A2E"/>
                </a:solidFill>
                <a:latin typeface="Calibri" pitchFamily="34" charset="0"/>
                <a:ea typeface="Calibri" pitchFamily="34" charset="-122"/>
                <a:cs typeface="Calibri" pitchFamily="34" charset="-120"/>
              </a:rPr>
              <a:t>Attached to the</a:t>
            </a:r>
            <a:endParaRPr lang="en-US" sz="1150" dirty="0"/>
          </a:p>
          <a:p>
            <a:pPr algn="ctr" indent="0" marL="0">
              <a:lnSpc>
                <a:spcPct val="100000"/>
              </a:lnSpc>
              <a:buNone/>
            </a:pPr>
            <a:r>
              <a:rPr lang="en-US" sz="1150" b="1" dirty="0">
                <a:solidFill>
                  <a:srgbClr val="E09A2E"/>
                </a:solidFill>
                <a:latin typeface="Calibri" pitchFamily="34" charset="0"/>
                <a:ea typeface="Calibri" pitchFamily="34" charset="-122"/>
                <a:cs typeface="Calibri" pitchFamily="34" charset="-120"/>
              </a:rPr>
              <a:t>monitor as an asset</a:t>
            </a:r>
            <a:endParaRPr lang="en-US" sz="1150" dirty="0"/>
          </a:p>
        </p:txBody>
      </p:sp>
      <p:sp>
        <p:nvSpPr>
          <p:cNvPr id="33" name="Shape 30"/>
          <p:cNvSpPr/>
          <p:nvPr/>
        </p:nvSpPr>
        <p:spPr>
          <a:xfrm>
            <a:off x="566928" y="4846320"/>
            <a:ext cx="3527450" cy="1280160"/>
          </a:xfrm>
          <a:prstGeom prst="roundRect">
            <a:avLst>
              <a:gd name="adj" fmla="val 4286"/>
            </a:avLst>
          </a:prstGeom>
          <a:solidFill>
            <a:srgbClr val="EFF2F6"/>
          </a:solidFill>
          <a:ln w="12700">
            <a:solidFill>
              <a:srgbClr val="EFF2F6"/>
            </a:solidFill>
            <a:prstDash val="solid"/>
          </a:ln>
        </p:spPr>
      </p:sp>
      <p:sp>
        <p:nvSpPr>
          <p:cNvPr id="34" name="Text 31"/>
          <p:cNvSpPr/>
          <p:nvPr/>
        </p:nvSpPr>
        <p:spPr>
          <a:xfrm>
            <a:off x="768096" y="4992624"/>
            <a:ext cx="3125114" cy="347472"/>
          </a:xfrm>
          <a:prstGeom prst="rect">
            <a:avLst/>
          </a:prstGeom>
          <a:noFill/>
          <a:ln/>
        </p:spPr>
        <p:txBody>
          <a:bodyPr wrap="square" lIns="0" tIns="0" rIns="0" bIns="0" rtlCol="0" anchor="t"/>
          <a:lstStyle/>
          <a:p>
            <a:pPr indent="0" marL="0">
              <a:buNone/>
            </a:pPr>
            <a:r>
              <a:rPr lang="en-US" sz="1450" b="1" dirty="0">
                <a:solidFill>
                  <a:srgbClr val="161C28"/>
                </a:solidFill>
                <a:latin typeface="Calibri" pitchFamily="34" charset="0"/>
                <a:ea typeface="Calibri" pitchFamily="34" charset="-122"/>
                <a:cs typeface="Calibri" pitchFamily="34" charset="-120"/>
              </a:rPr>
              <a:t>Mechanically checkable</a:t>
            </a:r>
            <a:endParaRPr lang="en-US" sz="1450" dirty="0"/>
          </a:p>
        </p:txBody>
      </p:sp>
      <p:sp>
        <p:nvSpPr>
          <p:cNvPr id="35" name="Text 32"/>
          <p:cNvSpPr/>
          <p:nvPr/>
        </p:nvSpPr>
        <p:spPr>
          <a:xfrm>
            <a:off x="768096" y="5376672"/>
            <a:ext cx="3125114" cy="603504"/>
          </a:xfrm>
          <a:prstGeom prst="rect">
            <a:avLst/>
          </a:prstGeom>
          <a:noFill/>
          <a:ln/>
        </p:spPr>
        <p:txBody>
          <a:bodyPr wrap="square" lIns="0" tIns="0" rIns="0" bIns="0" rtlCol="0" anchor="t"/>
          <a:lstStyle/>
          <a:p>
            <a:pPr indent="0" marL="0">
              <a:lnSpc>
                <a:spcPct val="102000"/>
              </a:lnSpc>
              <a:buNone/>
            </a:pPr>
            <a:r>
              <a:rPr lang="en-US" sz="1150" dirty="0">
                <a:solidFill>
                  <a:srgbClr val="3A4557"/>
                </a:solidFill>
                <a:latin typeface="Calibri" pitchFamily="34" charset="0"/>
                <a:ea typeface="Calibri" pitchFamily="34" charset="-122"/>
                <a:cs typeface="Calibri" pitchFamily="34" charset="-120"/>
              </a:rPr>
              <a:t>One runbook per archetype, id-matched. "Every monitor has a runbook" is a contract check (C5, C16), not a claim.</a:t>
            </a:r>
            <a:endParaRPr lang="en-US" sz="1150" dirty="0"/>
          </a:p>
        </p:txBody>
      </p:sp>
      <p:sp>
        <p:nvSpPr>
          <p:cNvPr id="36" name="Shape 33"/>
          <p:cNvSpPr/>
          <p:nvPr/>
        </p:nvSpPr>
        <p:spPr>
          <a:xfrm>
            <a:off x="4332122" y="4846320"/>
            <a:ext cx="3527450" cy="1280160"/>
          </a:xfrm>
          <a:prstGeom prst="roundRect">
            <a:avLst>
              <a:gd name="adj" fmla="val 4286"/>
            </a:avLst>
          </a:prstGeom>
          <a:solidFill>
            <a:srgbClr val="EFF2F6"/>
          </a:solidFill>
          <a:ln w="12700">
            <a:solidFill>
              <a:srgbClr val="EFF2F6"/>
            </a:solidFill>
            <a:prstDash val="solid"/>
          </a:ln>
        </p:spPr>
      </p:sp>
      <p:sp>
        <p:nvSpPr>
          <p:cNvPr id="37" name="Text 34"/>
          <p:cNvSpPr/>
          <p:nvPr/>
        </p:nvSpPr>
        <p:spPr>
          <a:xfrm>
            <a:off x="4533290" y="4992624"/>
            <a:ext cx="3125114" cy="347472"/>
          </a:xfrm>
          <a:prstGeom prst="rect">
            <a:avLst/>
          </a:prstGeom>
          <a:noFill/>
          <a:ln/>
        </p:spPr>
        <p:txBody>
          <a:bodyPr wrap="square" lIns="0" tIns="0" rIns="0" bIns="0" rtlCol="0" anchor="t"/>
          <a:lstStyle/>
          <a:p>
            <a:pPr indent="0" marL="0">
              <a:buNone/>
            </a:pPr>
            <a:r>
              <a:rPr lang="en-US" sz="1450" b="1" dirty="0">
                <a:solidFill>
                  <a:srgbClr val="161C28"/>
                </a:solidFill>
                <a:latin typeface="Calibri" pitchFamily="34" charset="0"/>
                <a:ea typeface="Calibri" pitchFamily="34" charset="-122"/>
                <a:cs typeface="Calibri" pitchFamily="34" charset="-120"/>
              </a:rPr>
              <a:t>Drift-detecting</a:t>
            </a:r>
            <a:endParaRPr lang="en-US" sz="1450" dirty="0"/>
          </a:p>
        </p:txBody>
      </p:sp>
      <p:sp>
        <p:nvSpPr>
          <p:cNvPr id="38" name="Text 35"/>
          <p:cNvSpPr/>
          <p:nvPr/>
        </p:nvSpPr>
        <p:spPr>
          <a:xfrm>
            <a:off x="4533290" y="5376672"/>
            <a:ext cx="3125114" cy="603504"/>
          </a:xfrm>
          <a:prstGeom prst="rect">
            <a:avLst/>
          </a:prstGeom>
          <a:noFill/>
          <a:ln/>
        </p:spPr>
        <p:txBody>
          <a:bodyPr wrap="square" lIns="0" tIns="0" rIns="0" bIns="0" rtlCol="0" anchor="t"/>
          <a:lstStyle/>
          <a:p>
            <a:pPr indent="0" marL="0">
              <a:lnSpc>
                <a:spcPct val="102000"/>
              </a:lnSpc>
              <a:buNone/>
            </a:pPr>
            <a:r>
              <a:rPr lang="en-US" sz="1150" dirty="0">
                <a:solidFill>
                  <a:srgbClr val="3A4557"/>
                </a:solidFill>
                <a:latin typeface="Calibri" pitchFamily="34" charset="0"/>
                <a:ea typeface="Calibri" pitchFamily="34" charset="-122"/>
                <a:cs typeface="Calibri" pitchFamily="34" charset="-120"/>
              </a:rPr>
              <a:t>The embedded content hash makes publishing idempotent and lets CI fail when a notebook is edited away from the repository.</a:t>
            </a:r>
            <a:endParaRPr lang="en-US" sz="1150" dirty="0"/>
          </a:p>
        </p:txBody>
      </p:sp>
      <p:sp>
        <p:nvSpPr>
          <p:cNvPr id="39" name="Shape 36"/>
          <p:cNvSpPr/>
          <p:nvPr/>
        </p:nvSpPr>
        <p:spPr>
          <a:xfrm>
            <a:off x="8097317" y="4846320"/>
            <a:ext cx="3527450" cy="1280160"/>
          </a:xfrm>
          <a:prstGeom prst="roundRect">
            <a:avLst>
              <a:gd name="adj" fmla="val 4286"/>
            </a:avLst>
          </a:prstGeom>
          <a:solidFill>
            <a:srgbClr val="EFF2F6"/>
          </a:solidFill>
          <a:ln w="12700">
            <a:solidFill>
              <a:srgbClr val="EFF2F6"/>
            </a:solidFill>
            <a:prstDash val="solid"/>
          </a:ln>
        </p:spPr>
      </p:sp>
      <p:sp>
        <p:nvSpPr>
          <p:cNvPr id="40" name="Text 37"/>
          <p:cNvSpPr/>
          <p:nvPr/>
        </p:nvSpPr>
        <p:spPr>
          <a:xfrm>
            <a:off x="8298485" y="4992624"/>
            <a:ext cx="3125114" cy="347472"/>
          </a:xfrm>
          <a:prstGeom prst="rect">
            <a:avLst/>
          </a:prstGeom>
          <a:noFill/>
          <a:ln/>
        </p:spPr>
        <p:txBody>
          <a:bodyPr wrap="square" lIns="0" tIns="0" rIns="0" bIns="0" rtlCol="0" anchor="t"/>
          <a:lstStyle/>
          <a:p>
            <a:pPr indent="0" marL="0">
              <a:buNone/>
            </a:pPr>
            <a:r>
              <a:rPr lang="en-US" sz="1450" b="1" dirty="0">
                <a:solidFill>
                  <a:srgbClr val="161C28"/>
                </a:solidFill>
                <a:latin typeface="Calibri" pitchFamily="34" charset="0"/>
                <a:ea typeface="Calibri" pitchFamily="34" charset="-122"/>
                <a:cs typeface="Calibri" pitchFamily="34" charset="-120"/>
              </a:rPr>
              <a:t>An honest backlog</a:t>
            </a:r>
            <a:endParaRPr lang="en-US" sz="1450" dirty="0"/>
          </a:p>
        </p:txBody>
      </p:sp>
      <p:sp>
        <p:nvSpPr>
          <p:cNvPr id="41" name="Text 38"/>
          <p:cNvSpPr/>
          <p:nvPr/>
        </p:nvSpPr>
        <p:spPr>
          <a:xfrm>
            <a:off x="8298485" y="5376672"/>
            <a:ext cx="3125114" cy="603504"/>
          </a:xfrm>
          <a:prstGeom prst="rect">
            <a:avLst/>
          </a:prstGeom>
          <a:noFill/>
          <a:ln/>
        </p:spPr>
        <p:txBody>
          <a:bodyPr wrap="square" lIns="0" tIns="0" rIns="0" bIns="0" rtlCol="0" anchor="t"/>
          <a:lstStyle/>
          <a:p>
            <a:pPr indent="0" marL="0">
              <a:lnSpc>
                <a:spcPct val="102000"/>
              </a:lnSpc>
              <a:buNone/>
            </a:pPr>
            <a:r>
              <a:rPr lang="en-US" sz="1150" dirty="0">
                <a:solidFill>
                  <a:srgbClr val="3A4557"/>
                </a:solidFill>
                <a:latin typeface="Calibri" pitchFamily="34" charset="0"/>
                <a:ea typeface="Calibri" pitchFamily="34" charset="-122"/>
                <a:cs typeface="Calibri" pitchFamily="34" charset="-120"/>
              </a:rPr>
              <a:t>Sections still marked TODO(owner) are tracked per domain — visible, rather than hidden behind 261 empty or stale files.</a:t>
            </a:r>
            <a:endParaRPr lang="en-US" sz="11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8778240" cy="256032"/>
          </a:xfrm>
          <a:prstGeom prst="rect">
            <a:avLst/>
          </a:prstGeom>
          <a:noFill/>
          <a:ln/>
        </p:spPr>
        <p:txBody>
          <a:bodyPr wrap="square" lIns="0" tIns="0" rIns="0" bIns="0" rtlCol="0" anchor="ctr"/>
          <a:lstStyle/>
          <a:p>
            <a:pPr indent="0" marL="0">
              <a:buNone/>
            </a:pPr>
            <a:r>
              <a:rPr lang="en-US" sz="1050" b="1" spc="160" kern="0" dirty="0">
                <a:solidFill>
                  <a:srgbClr val="B87914"/>
                </a:solidFill>
                <a:latin typeface="Calibri" pitchFamily="34" charset="0"/>
                <a:ea typeface="Calibri" pitchFamily="34" charset="-122"/>
                <a:cs typeface="Calibri" pitchFamily="34" charset="-120"/>
              </a:rPr>
              <a:t>TOPIC 21</a:t>
            </a:r>
            <a:endParaRPr lang="en-US" sz="1050" dirty="0"/>
          </a:p>
        </p:txBody>
      </p:sp>
      <p:sp>
        <p:nvSpPr>
          <p:cNvPr id="3" name="Text 1"/>
          <p:cNvSpPr/>
          <p:nvPr/>
        </p:nvSpPr>
        <p:spPr>
          <a:xfrm>
            <a:off x="566928" y="694944"/>
            <a:ext cx="10424160" cy="786384"/>
          </a:xfrm>
          <a:prstGeom prst="rect">
            <a:avLst/>
          </a:prstGeom>
          <a:noFill/>
          <a:ln/>
        </p:spPr>
        <p:txBody>
          <a:bodyPr wrap="square" lIns="0" tIns="0" rIns="0" bIns="0" rtlCol="0" anchor="ctr"/>
          <a:lstStyle/>
          <a:p>
            <a:pPr indent="0" marL="0">
              <a:buNone/>
            </a:pPr>
            <a:r>
              <a:rPr lang="en-US" sz="3100" b="1" dirty="0">
                <a:solidFill>
                  <a:srgbClr val="161C28"/>
                </a:solidFill>
                <a:latin typeface="Cambria" pitchFamily="34" charset="0"/>
                <a:ea typeface="Cambria" pitchFamily="34" charset="-122"/>
                <a:cs typeface="Cambria" pitchFamily="34" charset="-120"/>
              </a:rPr>
              <a:t>Workflow automation</a:t>
            </a:r>
            <a:endParaRPr lang="en-US" sz="3100" dirty="0"/>
          </a:p>
        </p:txBody>
      </p:sp>
      <p:sp>
        <p:nvSpPr>
          <p:cNvPr id="4" name="Text 2"/>
          <p:cNvSpPr/>
          <p:nvPr/>
        </p:nvSpPr>
        <p:spPr>
          <a:xfrm>
            <a:off x="566928" y="1481328"/>
            <a:ext cx="10698480" cy="457200"/>
          </a:xfrm>
          <a:prstGeom prst="rect">
            <a:avLst/>
          </a:prstGeom>
          <a:noFill/>
          <a:ln/>
        </p:spPr>
        <p:txBody>
          <a:bodyPr wrap="square" lIns="0" tIns="0" rIns="0" bIns="0" rtlCol="0" anchor="t"/>
          <a:lstStyle/>
          <a:p>
            <a:pPr indent="0" marL="0">
              <a:buNone/>
            </a:pPr>
            <a:r>
              <a:rPr lang="en-US" sz="1450" dirty="0">
                <a:solidFill>
                  <a:srgbClr val="3A4557"/>
                </a:solidFill>
                <a:latin typeface="Calibri" pitchFamily="34" charset="0"/>
                <a:ea typeface="Calibri" pitchFamily="34" charset="-122"/>
                <a:cs typeface="Calibri" pitchFamily="34" charset="-120"/>
              </a:rPr>
              <a:t>Automation is classified by blast radius, and the module refuses to publish a workflow whose class does not match its safeguards.</a:t>
            </a:r>
            <a:endParaRPr lang="en-US" sz="1450" dirty="0"/>
          </a:p>
        </p:txBody>
      </p:sp>
      <p:sp>
        <p:nvSpPr>
          <p:cNvPr id="5" name="Shape 3"/>
          <p:cNvSpPr/>
          <p:nvPr/>
        </p:nvSpPr>
        <p:spPr>
          <a:xfrm>
            <a:off x="9800539" y="420624"/>
            <a:ext cx="1824228" cy="310896"/>
          </a:xfrm>
          <a:prstGeom prst="roundRect">
            <a:avLst>
              <a:gd name="adj" fmla="val 50000"/>
            </a:avLst>
          </a:prstGeom>
          <a:solidFill>
            <a:srgbClr val="BE4A3F"/>
          </a:solidFill>
          <a:ln w="12700">
            <a:solidFill>
              <a:srgbClr val="BE4A3F"/>
            </a:solidFill>
            <a:prstDash val="solid"/>
          </a:ln>
        </p:spPr>
      </p:sp>
      <p:sp>
        <p:nvSpPr>
          <p:cNvPr id="6" name="Text 4"/>
          <p:cNvSpPr/>
          <p:nvPr/>
        </p:nvSpPr>
        <p:spPr>
          <a:xfrm>
            <a:off x="9800539" y="420624"/>
            <a:ext cx="1824228" cy="310896"/>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ACT NOW — QUOTA</a:t>
            </a:r>
            <a:endParaRPr lang="en-US" sz="950" dirty="0"/>
          </a:p>
        </p:txBody>
      </p:sp>
      <p:sp>
        <p:nvSpPr>
          <p:cNvPr id="7" name="Text 5"/>
          <p:cNvSpPr/>
          <p:nvPr/>
        </p:nvSpPr>
        <p:spPr>
          <a:xfrm>
            <a:off x="566928" y="6345936"/>
            <a:ext cx="7315200" cy="274320"/>
          </a:xfrm>
          <a:prstGeom prst="rect">
            <a:avLst/>
          </a:prstGeom>
          <a:noFill/>
          <a:ln/>
        </p:spPr>
        <p:txBody>
          <a:bodyPr wrap="square" lIns="0" tIns="0" rIns="0" bIns="0" rtlCol="0" anchor="ctr"/>
          <a:lstStyle/>
          <a:p>
            <a:pPr indent="0" marL="0">
              <a:buNone/>
            </a:pPr>
            <a:r>
              <a:rPr lang="en-US" sz="900" dirty="0">
                <a:solidFill>
                  <a:srgbClr val="6B7891"/>
                </a:solidFill>
                <a:latin typeface="Calibri" pitchFamily="34" charset="0"/>
                <a:ea typeface="Calibri" pitchFamily="34" charset="-122"/>
                <a:cs typeface="Calibri" pitchFamily="34" charset="-120"/>
              </a:rPr>
              <a:t>Enterprise Observability  ·  policy-as-data on Datadog</a:t>
            </a:r>
            <a:endParaRPr lang="en-US" sz="900" dirty="0"/>
          </a:p>
        </p:txBody>
      </p:sp>
      <p:sp>
        <p:nvSpPr>
          <p:cNvPr id="8" name="Text 6"/>
          <p:cNvSpPr/>
          <p:nvPr/>
        </p:nvSpPr>
        <p:spPr>
          <a:xfrm>
            <a:off x="10710367" y="6345936"/>
            <a:ext cx="914400" cy="274320"/>
          </a:xfrm>
          <a:prstGeom prst="rect">
            <a:avLst/>
          </a:prstGeom>
          <a:noFill/>
          <a:ln/>
        </p:spPr>
        <p:txBody>
          <a:bodyPr wrap="square" lIns="0" tIns="0" rIns="0" bIns="0" rtlCol="0" anchor="ctr"/>
          <a:lstStyle/>
          <a:p>
            <a:pPr algn="r" indent="0" marL="0">
              <a:buNone/>
            </a:pPr>
            <a:r>
              <a:rPr lang="en-US" sz="900" dirty="0">
                <a:solidFill>
                  <a:srgbClr val="6B7891"/>
                </a:solidFill>
                <a:latin typeface="Calibri" pitchFamily="34" charset="0"/>
                <a:ea typeface="Calibri" pitchFamily="34" charset="-122"/>
                <a:cs typeface="Calibri" pitchFamily="34" charset="-120"/>
              </a:rPr>
              <a:t>28</a:t>
            </a:r>
            <a:endParaRPr lang="en-US" sz="900" dirty="0"/>
          </a:p>
        </p:txBody>
      </p:sp>
      <p:sp>
        <p:nvSpPr>
          <p:cNvPr id="10" name="Shape 7"/>
          <p:cNvSpPr/>
          <p:nvPr/>
        </p:nvSpPr>
        <p:spPr>
          <a:xfrm>
            <a:off x="566928" y="2240280"/>
            <a:ext cx="2586152" cy="1371600"/>
          </a:xfrm>
          <a:prstGeom prst="roundRect">
            <a:avLst>
              <a:gd name="adj" fmla="val 4000"/>
            </a:avLst>
          </a:prstGeom>
          <a:solidFill>
            <a:srgbClr val="EAF3F1"/>
          </a:solidFill>
          <a:ln w="12700">
            <a:solidFill>
              <a:srgbClr val="EAF3F1"/>
            </a:solidFill>
            <a:prstDash val="solid"/>
          </a:ln>
        </p:spPr>
      </p:sp>
      <p:sp>
        <p:nvSpPr>
          <p:cNvPr id="11" name="Text 8"/>
          <p:cNvSpPr/>
          <p:nvPr/>
        </p:nvSpPr>
        <p:spPr>
          <a:xfrm>
            <a:off x="768096" y="2386584"/>
            <a:ext cx="2183816" cy="347472"/>
          </a:xfrm>
          <a:prstGeom prst="rect">
            <a:avLst/>
          </a:prstGeom>
          <a:noFill/>
          <a:ln/>
        </p:spPr>
        <p:txBody>
          <a:bodyPr wrap="square" lIns="0" tIns="0" rIns="0" bIns="0" rtlCol="0" anchor="t"/>
          <a:lstStyle/>
          <a:p>
            <a:pPr indent="0" marL="0">
              <a:buNone/>
            </a:pPr>
            <a:r>
              <a:rPr lang="en-US" sz="1450" b="1" dirty="0">
                <a:solidFill>
                  <a:srgbClr val="1D5C59"/>
                </a:solidFill>
                <a:latin typeface="Calibri" pitchFamily="34" charset="0"/>
                <a:ea typeface="Calibri" pitchFamily="34" charset="-122"/>
                <a:cs typeface="Calibri" pitchFamily="34" charset="-120"/>
              </a:rPr>
              <a:t>diagnostic_only</a:t>
            </a:r>
            <a:endParaRPr lang="en-US" sz="1450" dirty="0"/>
          </a:p>
        </p:txBody>
      </p:sp>
      <p:sp>
        <p:nvSpPr>
          <p:cNvPr id="12" name="Text 9"/>
          <p:cNvSpPr/>
          <p:nvPr/>
        </p:nvSpPr>
        <p:spPr>
          <a:xfrm>
            <a:off x="768096" y="2770632"/>
            <a:ext cx="2183816" cy="694944"/>
          </a:xfrm>
          <a:prstGeom prst="rect">
            <a:avLst/>
          </a:prstGeom>
          <a:noFill/>
          <a:ln/>
        </p:spPr>
        <p:txBody>
          <a:bodyPr wrap="square" lIns="0" tIns="0" rIns="0" bIns="0" rtlCol="0" anchor="t"/>
          <a:lstStyle/>
          <a:p>
            <a:pPr indent="0" marL="0">
              <a:lnSpc>
                <a:spcPct val="102000"/>
              </a:lnSpc>
              <a:buNone/>
            </a:pPr>
            <a:r>
              <a:rPr lang="en-US" sz="1150" dirty="0">
                <a:solidFill>
                  <a:srgbClr val="1D5C59"/>
                </a:solidFill>
                <a:latin typeface="Calibri" pitchFamily="34" charset="0"/>
                <a:ea typeface="Calibri" pitchFamily="34" charset="-122"/>
                <a:cs typeface="Calibri" pitchFamily="34" charset="-120"/>
              </a:rPr>
              <a:t>Read-only. Gathers context, changes nothing, runs automatically on every alert. No approval.</a:t>
            </a:r>
            <a:endParaRPr lang="en-US" sz="1150" dirty="0"/>
          </a:p>
        </p:txBody>
      </p:sp>
      <p:sp>
        <p:nvSpPr>
          <p:cNvPr id="13" name="Shape 10"/>
          <p:cNvSpPr/>
          <p:nvPr/>
        </p:nvSpPr>
        <p:spPr>
          <a:xfrm>
            <a:off x="3390824" y="2240280"/>
            <a:ext cx="2586152" cy="1371600"/>
          </a:xfrm>
          <a:prstGeom prst="roundRect">
            <a:avLst>
              <a:gd name="adj" fmla="val 4000"/>
            </a:avLst>
          </a:prstGeom>
          <a:solidFill>
            <a:srgbClr val="EFF2F6"/>
          </a:solidFill>
          <a:ln w="12700">
            <a:solidFill>
              <a:srgbClr val="EFF2F6"/>
            </a:solidFill>
            <a:prstDash val="solid"/>
          </a:ln>
        </p:spPr>
      </p:sp>
      <p:sp>
        <p:nvSpPr>
          <p:cNvPr id="14" name="Text 11"/>
          <p:cNvSpPr/>
          <p:nvPr/>
        </p:nvSpPr>
        <p:spPr>
          <a:xfrm>
            <a:off x="3591992" y="2386584"/>
            <a:ext cx="2183816" cy="347472"/>
          </a:xfrm>
          <a:prstGeom prst="rect">
            <a:avLst/>
          </a:prstGeom>
          <a:noFill/>
          <a:ln/>
        </p:spPr>
        <p:txBody>
          <a:bodyPr wrap="square" lIns="0" tIns="0" rIns="0" bIns="0" rtlCol="0" anchor="t"/>
          <a:lstStyle/>
          <a:p>
            <a:pPr indent="0" marL="0">
              <a:buNone/>
            </a:pPr>
            <a:r>
              <a:rPr lang="en-US" sz="1450" b="1" dirty="0">
                <a:solidFill>
                  <a:srgbClr val="161C28"/>
                </a:solidFill>
                <a:latin typeface="Calibri" pitchFamily="34" charset="0"/>
                <a:ea typeface="Calibri" pitchFamily="34" charset="-122"/>
                <a:cs typeface="Calibri" pitchFamily="34" charset="-120"/>
              </a:rPr>
              <a:t>fully_automatic</a:t>
            </a:r>
            <a:endParaRPr lang="en-US" sz="1450" dirty="0"/>
          </a:p>
        </p:txBody>
      </p:sp>
      <p:sp>
        <p:nvSpPr>
          <p:cNvPr id="15" name="Text 12"/>
          <p:cNvSpPr/>
          <p:nvPr/>
        </p:nvSpPr>
        <p:spPr>
          <a:xfrm>
            <a:off x="3591992" y="2770632"/>
            <a:ext cx="2183816" cy="694944"/>
          </a:xfrm>
          <a:prstGeom prst="rect">
            <a:avLst/>
          </a:prstGeom>
          <a:noFill/>
          <a:ln/>
        </p:spPr>
        <p:txBody>
          <a:bodyPr wrap="square" lIns="0" tIns="0" rIns="0" bIns="0" rtlCol="0" anchor="t"/>
          <a:lstStyle/>
          <a:p>
            <a:pPr indent="0" marL="0">
              <a:lnSpc>
                <a:spcPct val="102000"/>
              </a:lnSpc>
              <a:buNone/>
            </a:pPr>
            <a:r>
              <a:rPr lang="en-US" sz="1150" dirty="0">
                <a:solidFill>
                  <a:srgbClr val="3A4557"/>
                </a:solidFill>
                <a:latin typeface="Calibri" pitchFamily="34" charset="0"/>
                <a:ea typeface="Calibri" pitchFamily="34" charset="-122"/>
                <a:cs typeface="Calibri" pitchFamily="34" charset="-120"/>
              </a:rPr>
              <a:t>Changes production, but provably safe, idempotent and reversible — with a blast-radius cap.</a:t>
            </a:r>
            <a:endParaRPr lang="en-US" sz="1150" dirty="0"/>
          </a:p>
        </p:txBody>
      </p:sp>
      <p:sp>
        <p:nvSpPr>
          <p:cNvPr id="16" name="Shape 13"/>
          <p:cNvSpPr/>
          <p:nvPr/>
        </p:nvSpPr>
        <p:spPr>
          <a:xfrm>
            <a:off x="6214720" y="2240280"/>
            <a:ext cx="2586152" cy="1371600"/>
          </a:xfrm>
          <a:prstGeom prst="roundRect">
            <a:avLst>
              <a:gd name="adj" fmla="val 4000"/>
            </a:avLst>
          </a:prstGeom>
          <a:solidFill>
            <a:srgbClr val="EFF2F6"/>
          </a:solidFill>
          <a:ln w="12700">
            <a:solidFill>
              <a:srgbClr val="EFF2F6"/>
            </a:solidFill>
            <a:prstDash val="solid"/>
          </a:ln>
        </p:spPr>
      </p:sp>
      <p:sp>
        <p:nvSpPr>
          <p:cNvPr id="17" name="Text 14"/>
          <p:cNvSpPr/>
          <p:nvPr/>
        </p:nvSpPr>
        <p:spPr>
          <a:xfrm>
            <a:off x="6415888" y="2386584"/>
            <a:ext cx="2183816" cy="347472"/>
          </a:xfrm>
          <a:prstGeom prst="rect">
            <a:avLst/>
          </a:prstGeom>
          <a:noFill/>
          <a:ln/>
        </p:spPr>
        <p:txBody>
          <a:bodyPr wrap="square" lIns="0" tIns="0" rIns="0" bIns="0" rtlCol="0" anchor="t"/>
          <a:lstStyle/>
          <a:p>
            <a:pPr indent="0" marL="0">
              <a:buNone/>
            </a:pPr>
            <a:r>
              <a:rPr lang="en-US" sz="1450" b="1" dirty="0">
                <a:solidFill>
                  <a:srgbClr val="161C28"/>
                </a:solidFill>
                <a:latin typeface="Calibri" pitchFamily="34" charset="0"/>
                <a:ea typeface="Calibri" pitchFamily="34" charset="-122"/>
                <a:cs typeface="Calibri" pitchFamily="34" charset="-120"/>
              </a:rPr>
              <a:t>approval_required</a:t>
            </a:r>
            <a:endParaRPr lang="en-US" sz="1450" dirty="0"/>
          </a:p>
        </p:txBody>
      </p:sp>
      <p:sp>
        <p:nvSpPr>
          <p:cNvPr id="18" name="Text 15"/>
          <p:cNvSpPr/>
          <p:nvPr/>
        </p:nvSpPr>
        <p:spPr>
          <a:xfrm>
            <a:off x="6415888" y="2770632"/>
            <a:ext cx="2183816" cy="694944"/>
          </a:xfrm>
          <a:prstGeom prst="rect">
            <a:avLst/>
          </a:prstGeom>
          <a:noFill/>
          <a:ln/>
        </p:spPr>
        <p:txBody>
          <a:bodyPr wrap="square" lIns="0" tIns="0" rIns="0" bIns="0" rtlCol="0" anchor="t"/>
          <a:lstStyle/>
          <a:p>
            <a:pPr indent="0" marL="0">
              <a:lnSpc>
                <a:spcPct val="102000"/>
              </a:lnSpc>
              <a:buNone/>
            </a:pPr>
            <a:r>
              <a:rPr lang="en-US" sz="1150" dirty="0">
                <a:solidFill>
                  <a:srgbClr val="3A4557"/>
                </a:solidFill>
                <a:latin typeface="Calibri" pitchFamily="34" charset="0"/>
                <a:ea typeface="Calibri" pitchFamily="34" charset="-122"/>
                <a:cs typeface="Calibri" pitchFamily="34" charset="-120"/>
              </a:rPr>
              <a:t>Prepares everything and waits for a human decision. Anything that can lose data lands here.</a:t>
            </a:r>
            <a:endParaRPr lang="en-US" sz="1150" dirty="0"/>
          </a:p>
        </p:txBody>
      </p:sp>
      <p:sp>
        <p:nvSpPr>
          <p:cNvPr id="19" name="Shape 16"/>
          <p:cNvSpPr/>
          <p:nvPr/>
        </p:nvSpPr>
        <p:spPr>
          <a:xfrm>
            <a:off x="9038615" y="2240280"/>
            <a:ext cx="2586152" cy="1371600"/>
          </a:xfrm>
          <a:prstGeom prst="roundRect">
            <a:avLst>
              <a:gd name="adj" fmla="val 4000"/>
            </a:avLst>
          </a:prstGeom>
          <a:solidFill>
            <a:srgbClr val="F3F4F6"/>
          </a:solidFill>
          <a:ln w="12700">
            <a:solidFill>
              <a:srgbClr val="F3F4F6"/>
            </a:solidFill>
            <a:prstDash val="solid"/>
          </a:ln>
        </p:spPr>
      </p:sp>
      <p:sp>
        <p:nvSpPr>
          <p:cNvPr id="20" name="Text 17"/>
          <p:cNvSpPr/>
          <p:nvPr/>
        </p:nvSpPr>
        <p:spPr>
          <a:xfrm>
            <a:off x="9239783" y="2386584"/>
            <a:ext cx="2183816" cy="347472"/>
          </a:xfrm>
          <a:prstGeom prst="rect">
            <a:avLst/>
          </a:prstGeom>
          <a:noFill/>
          <a:ln/>
        </p:spPr>
        <p:txBody>
          <a:bodyPr wrap="square" lIns="0" tIns="0" rIns="0" bIns="0" rtlCol="0" anchor="t"/>
          <a:lstStyle/>
          <a:p>
            <a:pPr indent="0" marL="0">
              <a:buNone/>
            </a:pPr>
            <a:r>
              <a:rPr lang="en-US" sz="1450" b="1" dirty="0">
                <a:solidFill>
                  <a:srgbClr val="161C28"/>
                </a:solidFill>
                <a:latin typeface="Calibri" pitchFamily="34" charset="0"/>
                <a:ea typeface="Calibri" pitchFamily="34" charset="-122"/>
                <a:cs typeface="Calibri" pitchFamily="34" charset="-120"/>
              </a:rPr>
              <a:t>manual</a:t>
            </a:r>
            <a:endParaRPr lang="en-US" sz="1450" dirty="0"/>
          </a:p>
        </p:txBody>
      </p:sp>
      <p:sp>
        <p:nvSpPr>
          <p:cNvPr id="21" name="Text 18"/>
          <p:cNvSpPr/>
          <p:nvPr/>
        </p:nvSpPr>
        <p:spPr>
          <a:xfrm>
            <a:off x="9239783" y="2770632"/>
            <a:ext cx="2183816" cy="694944"/>
          </a:xfrm>
          <a:prstGeom prst="rect">
            <a:avLst/>
          </a:prstGeom>
          <a:noFill/>
          <a:ln/>
        </p:spPr>
        <p:txBody>
          <a:bodyPr wrap="square" lIns="0" tIns="0" rIns="0" bIns="0" rtlCol="0" anchor="t"/>
          <a:lstStyle/>
          <a:p>
            <a:pPr indent="0" marL="0">
              <a:lnSpc>
                <a:spcPct val="102000"/>
              </a:lnSpc>
              <a:buNone/>
            </a:pPr>
            <a:r>
              <a:rPr lang="en-US" sz="1150" dirty="0">
                <a:solidFill>
                  <a:srgbClr val="3A4557"/>
                </a:solidFill>
                <a:latin typeface="Calibri" pitchFamily="34" charset="0"/>
                <a:ea typeface="Calibri" pitchFamily="34" charset="-122"/>
                <a:cs typeface="Calibri" pitchFamily="34" charset="-120"/>
              </a:rPr>
              <a:t>Documented in the runbook; no automation exists yet. An honest state, not a failure.</a:t>
            </a:r>
            <a:endParaRPr lang="en-US" sz="1150" dirty="0"/>
          </a:p>
        </p:txBody>
      </p:sp>
      <p:sp>
        <p:nvSpPr>
          <p:cNvPr id="22" name="Shape 19"/>
          <p:cNvSpPr/>
          <p:nvPr/>
        </p:nvSpPr>
        <p:spPr>
          <a:xfrm>
            <a:off x="566928" y="3794760"/>
            <a:ext cx="5349240" cy="1051560"/>
          </a:xfrm>
          <a:prstGeom prst="roundRect">
            <a:avLst>
              <a:gd name="adj" fmla="val 6087"/>
            </a:avLst>
          </a:prstGeom>
          <a:solidFill>
            <a:srgbClr val="12161F"/>
          </a:solidFill>
          <a:ln w="12700">
            <a:solidFill>
              <a:srgbClr val="12161F"/>
            </a:solidFill>
            <a:prstDash val="solid"/>
          </a:ln>
        </p:spPr>
      </p:sp>
      <p:sp>
        <p:nvSpPr>
          <p:cNvPr id="23" name="Text 20"/>
          <p:cNvSpPr/>
          <p:nvPr/>
        </p:nvSpPr>
        <p:spPr>
          <a:xfrm>
            <a:off x="822960" y="3913632"/>
            <a:ext cx="4846320" cy="274320"/>
          </a:xfrm>
          <a:prstGeom prst="rect">
            <a:avLst/>
          </a:prstGeom>
          <a:noFill/>
          <a:ln/>
        </p:spPr>
        <p:txBody>
          <a:bodyPr wrap="square" lIns="0" tIns="0" rIns="0" bIns="0" rtlCol="0" anchor="ctr"/>
          <a:lstStyle/>
          <a:p>
            <a:pPr indent="0" marL="0">
              <a:buNone/>
            </a:pPr>
            <a:r>
              <a:rPr lang="en-US" sz="1200" b="1" dirty="0">
                <a:solidFill>
                  <a:srgbClr val="E09A2E"/>
                </a:solidFill>
                <a:latin typeface="Calibri" pitchFamily="34" charset="0"/>
                <a:ea typeface="Calibri" pitchFamily="34" charset="-122"/>
                <a:cs typeface="Calibri" pitchFamily="34" charset="-120"/>
              </a:rPr>
              <a:t>The rule the module enforces (ADR-008)</a:t>
            </a:r>
            <a:endParaRPr lang="en-US" sz="1200" dirty="0"/>
          </a:p>
        </p:txBody>
      </p:sp>
      <p:sp>
        <p:nvSpPr>
          <p:cNvPr id="24" name="Text 21"/>
          <p:cNvSpPr/>
          <p:nvPr/>
        </p:nvSpPr>
        <p:spPr>
          <a:xfrm>
            <a:off x="822960" y="4187952"/>
            <a:ext cx="4846320" cy="594360"/>
          </a:xfrm>
          <a:prstGeom prst="rect">
            <a:avLst/>
          </a:prstGeom>
          <a:noFill/>
          <a:ln/>
        </p:spPr>
        <p:txBody>
          <a:bodyPr wrap="square" lIns="0" tIns="0" rIns="0" bIns="0" rtlCol="0" anchor="t"/>
          <a:lstStyle/>
          <a:p>
            <a:pPr indent="0" marL="0">
              <a:buNone/>
            </a:pPr>
            <a:r>
              <a:rPr lang="en-US" sz="1150" dirty="0">
                <a:solidFill>
                  <a:srgbClr val="AEBACD"/>
                </a:solidFill>
                <a:latin typeface="Calibri" pitchFamily="34" charset="0"/>
                <a:ea typeface="Calibri" pitchFamily="34" charset="-122"/>
                <a:cs typeface="Calibri" pitchFamily="34" charset="-120"/>
              </a:rPr>
              <a:t>A workflow attached to a monitor may only be fully_automatic if reversible: true AND blast_radius is bounded. Anything that can lose data, restart a stateful service or scale cost is approval_required.</a:t>
            </a:r>
            <a:endParaRPr lang="en-US" sz="1150" dirty="0"/>
          </a:p>
        </p:txBody>
      </p:sp>
      <p:sp>
        <p:nvSpPr>
          <p:cNvPr id="25" name="Text 22"/>
          <p:cNvSpPr/>
          <p:nvPr/>
        </p:nvSpPr>
        <p:spPr>
          <a:xfrm>
            <a:off x="6464808" y="3840480"/>
            <a:ext cx="2194560" cy="685800"/>
          </a:xfrm>
          <a:prstGeom prst="rect">
            <a:avLst/>
          </a:prstGeom>
          <a:noFill/>
          <a:ln/>
        </p:spPr>
        <p:txBody>
          <a:bodyPr wrap="square" lIns="0" tIns="0" rIns="0" bIns="0" rtlCol="0" anchor="ctr"/>
          <a:lstStyle/>
          <a:p>
            <a:pPr algn="l" indent="0" marL="0">
              <a:buNone/>
            </a:pPr>
            <a:r>
              <a:rPr lang="en-US" sz="4000" b="1" dirty="0">
                <a:solidFill>
                  <a:srgbClr val="161C28"/>
                </a:solidFill>
                <a:latin typeface="Cambria" pitchFamily="34" charset="0"/>
                <a:ea typeface="Cambria" pitchFamily="34" charset="-122"/>
                <a:cs typeface="Cambria" pitchFamily="34" charset="-120"/>
              </a:rPr>
              <a:t>27</a:t>
            </a:r>
            <a:endParaRPr lang="en-US" sz="4000" dirty="0"/>
          </a:p>
        </p:txBody>
      </p:sp>
      <p:sp>
        <p:nvSpPr>
          <p:cNvPr id="26" name="Text 23"/>
          <p:cNvSpPr/>
          <p:nvPr/>
        </p:nvSpPr>
        <p:spPr>
          <a:xfrm>
            <a:off x="6464808" y="4489704"/>
            <a:ext cx="2194560" cy="548640"/>
          </a:xfrm>
          <a:prstGeom prst="rect">
            <a:avLst/>
          </a:prstGeom>
          <a:noFill/>
          <a:ln/>
        </p:spPr>
        <p:txBody>
          <a:bodyPr wrap="square" lIns="0" tIns="0" rIns="0" bIns="0" rtlCol="0" anchor="t"/>
          <a:lstStyle/>
          <a:p>
            <a:pPr algn="l" indent="0" marL="0">
              <a:buNone/>
            </a:pPr>
            <a:r>
              <a:rPr lang="en-US" sz="1150" dirty="0">
                <a:solidFill>
                  <a:srgbClr val="6B7891"/>
                </a:solidFill>
                <a:latin typeface="Calibri" pitchFamily="34" charset="0"/>
                <a:ea typeface="Calibri" pitchFamily="34" charset="-122"/>
                <a:cs typeface="Calibri" pitchFamily="34" charset="-120"/>
              </a:rPr>
              <a:t>workflows catalogued and classified</a:t>
            </a:r>
            <a:endParaRPr lang="en-US" sz="1150" dirty="0"/>
          </a:p>
        </p:txBody>
      </p:sp>
      <p:sp>
        <p:nvSpPr>
          <p:cNvPr id="27" name="Text 24"/>
          <p:cNvSpPr/>
          <p:nvPr/>
        </p:nvSpPr>
        <p:spPr>
          <a:xfrm>
            <a:off x="8979408" y="3840480"/>
            <a:ext cx="2651760" cy="685800"/>
          </a:xfrm>
          <a:prstGeom prst="rect">
            <a:avLst/>
          </a:prstGeom>
          <a:noFill/>
          <a:ln/>
        </p:spPr>
        <p:txBody>
          <a:bodyPr wrap="square" lIns="0" tIns="0" rIns="0" bIns="0" rtlCol="0" anchor="ctr"/>
          <a:lstStyle/>
          <a:p>
            <a:pPr algn="l" indent="0" marL="0">
              <a:buNone/>
            </a:pPr>
            <a:r>
              <a:rPr lang="en-US" sz="4000" b="1" dirty="0">
                <a:solidFill>
                  <a:srgbClr val="BE4A3F"/>
                </a:solidFill>
                <a:latin typeface="Cambria" pitchFamily="34" charset="0"/>
                <a:ea typeface="Cambria" pitchFamily="34" charset="-122"/>
                <a:cs typeface="Cambria" pitchFamily="34" charset="-120"/>
              </a:rPr>
              <a:t>2</a:t>
            </a:r>
            <a:endParaRPr lang="en-US" sz="4000" dirty="0"/>
          </a:p>
        </p:txBody>
      </p:sp>
      <p:sp>
        <p:nvSpPr>
          <p:cNvPr id="28" name="Text 25"/>
          <p:cNvSpPr/>
          <p:nvPr/>
        </p:nvSpPr>
        <p:spPr>
          <a:xfrm>
            <a:off x="8979408" y="4489704"/>
            <a:ext cx="2651760" cy="548640"/>
          </a:xfrm>
          <a:prstGeom prst="rect">
            <a:avLst/>
          </a:prstGeom>
          <a:noFill/>
          <a:ln/>
        </p:spPr>
        <p:txBody>
          <a:bodyPr wrap="square" lIns="0" tIns="0" rIns="0" bIns="0" rtlCol="0" anchor="t"/>
          <a:lstStyle/>
          <a:p>
            <a:pPr algn="l" indent="0" marL="0">
              <a:buNone/>
            </a:pPr>
            <a:r>
              <a:rPr lang="en-US" sz="1150" dirty="0">
                <a:solidFill>
                  <a:srgbClr val="6B7891"/>
                </a:solidFill>
                <a:latin typeface="Calibri" pitchFamily="34" charset="0"/>
                <a:ea typeface="Calibri" pitchFamily="34" charset="-122"/>
                <a:cs typeface="Calibri" pitchFamily="34" charset="-120"/>
              </a:rPr>
              <a:t>deployed — the rest are blocked by the org's workflow quota</a:t>
            </a:r>
            <a:endParaRPr lang="en-US" sz="1150" dirty="0"/>
          </a:p>
        </p:txBody>
      </p:sp>
      <p:sp>
        <p:nvSpPr>
          <p:cNvPr id="29" name="Shape 26"/>
          <p:cNvSpPr/>
          <p:nvPr/>
        </p:nvSpPr>
        <p:spPr>
          <a:xfrm>
            <a:off x="566928" y="5029200"/>
            <a:ext cx="11057839" cy="1005840"/>
          </a:xfrm>
          <a:prstGeom prst="roundRect">
            <a:avLst>
              <a:gd name="adj" fmla="val 6364"/>
            </a:avLst>
          </a:prstGeom>
          <a:solidFill>
            <a:srgbClr val="FBEEEB"/>
          </a:solidFill>
          <a:ln w="12700">
            <a:solidFill>
              <a:srgbClr val="BE4A3F"/>
            </a:solidFill>
            <a:prstDash val="solid"/>
          </a:ln>
        </p:spPr>
      </p:sp>
      <p:sp>
        <p:nvSpPr>
          <p:cNvPr id="30" name="Text 27"/>
          <p:cNvSpPr/>
          <p:nvPr/>
        </p:nvSpPr>
        <p:spPr>
          <a:xfrm>
            <a:off x="841248" y="5138928"/>
            <a:ext cx="5486400" cy="274320"/>
          </a:xfrm>
          <a:prstGeom prst="rect">
            <a:avLst/>
          </a:prstGeom>
          <a:noFill/>
          <a:ln/>
        </p:spPr>
        <p:txBody>
          <a:bodyPr wrap="square" lIns="0" tIns="0" rIns="0" bIns="0" rtlCol="0" anchor="ctr"/>
          <a:lstStyle/>
          <a:p>
            <a:pPr indent="0" marL="0">
              <a:buNone/>
            </a:pPr>
            <a:r>
              <a:rPr lang="en-US" sz="1200" b="1" dirty="0">
                <a:solidFill>
                  <a:srgbClr val="BE4A3F"/>
                </a:solidFill>
                <a:latin typeface="Calibri" pitchFamily="34" charset="0"/>
                <a:ea typeface="Calibri" pitchFamily="34" charset="-122"/>
                <a:cs typeface="Calibri" pitchFamily="34" charset="-120"/>
              </a:rPr>
              <a:t>ACT NOW — release the workflow quota</a:t>
            </a:r>
            <a:endParaRPr lang="en-US" sz="1200" dirty="0"/>
          </a:p>
        </p:txBody>
      </p:sp>
      <p:sp>
        <p:nvSpPr>
          <p:cNvPr id="31" name="Text 28"/>
          <p:cNvSpPr/>
          <p:nvPr/>
        </p:nvSpPr>
        <p:spPr>
          <a:xfrm>
            <a:off x="841248" y="5413248"/>
            <a:ext cx="10424160" cy="566928"/>
          </a:xfrm>
          <a:prstGeom prst="rect">
            <a:avLst/>
          </a:prstGeom>
          <a:noFill/>
          <a:ln/>
        </p:spPr>
        <p:txBody>
          <a:bodyPr wrap="square" lIns="0" tIns="0" rIns="0" bIns="0" rtlCol="0" anchor="t"/>
          <a:lstStyle/>
          <a:p>
            <a:pPr indent="0" marL="0">
              <a:buNone/>
            </a:pPr>
            <a:r>
              <a:rPr lang="en-US" sz="1150" dirty="0">
                <a:solidFill>
                  <a:srgbClr val="7A2E24"/>
                </a:solidFill>
                <a:latin typeface="Calibri" pitchFamily="34" charset="0"/>
                <a:ea typeface="Calibri" pitchFamily="34" charset="-122"/>
                <a:cs typeface="Calibri" pitchFamily="34" charset="-120"/>
              </a:rPr>
              <a:t>The plan caps total workflows at roughly 20, and 18 slots are held by workflows from an earlier experiment owned by a different Datadog login — our CI credentials get a 403 deleting them, because of per-resource restriction policies. That login, or an org admin via each workflow's Permissions UI, deletes those 18; we then raise one line in budget.auto.tfvars and the remaining 25 automations deploy. A five-minute task is blocking the catalog.</a:t>
            </a:r>
            <a:endParaRPr lang="en-US" sz="11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2161F"/>
        </a:solidFill>
      </p:bgPr>
    </p:bg>
    <p:spTree>
      <p:nvGrpSpPr>
        <p:cNvPr id="1" name=""/>
        <p:cNvGrpSpPr/>
        <p:nvPr/>
      </p:nvGrpSpPr>
      <p:grpSpPr>
        <a:xfrm>
          <a:off x="0" y="0"/>
          <a:ext cx="0" cy="0"/>
          <a:chOff x="0" y="0"/>
          <a:chExt cx="0" cy="0"/>
        </a:xfrm>
      </p:grpSpPr>
      <p:sp>
        <p:nvSpPr>
          <p:cNvPr id="2" name="Text 0"/>
          <p:cNvSpPr/>
          <p:nvPr/>
        </p:nvSpPr>
        <p:spPr>
          <a:xfrm>
            <a:off x="566928" y="6345936"/>
            <a:ext cx="7315200" cy="274320"/>
          </a:xfrm>
          <a:prstGeom prst="rect">
            <a:avLst/>
          </a:prstGeom>
          <a:noFill/>
          <a:ln/>
        </p:spPr>
        <p:txBody>
          <a:bodyPr wrap="square" lIns="0" tIns="0" rIns="0" bIns="0" rtlCol="0" anchor="ctr"/>
          <a:lstStyle/>
          <a:p>
            <a:pPr indent="0" marL="0">
              <a:buNone/>
            </a:pPr>
            <a:r>
              <a:rPr lang="en-US" sz="900" dirty="0">
                <a:solidFill>
                  <a:srgbClr val="6E7B92"/>
                </a:solidFill>
                <a:latin typeface="Calibri" pitchFamily="34" charset="0"/>
                <a:ea typeface="Calibri" pitchFamily="34" charset="-122"/>
                <a:cs typeface="Calibri" pitchFamily="34" charset="-120"/>
              </a:rPr>
              <a:t>Enterprise Observability  ·  policy-as-data on Datadog</a:t>
            </a:r>
            <a:endParaRPr lang="en-US" sz="900" dirty="0"/>
          </a:p>
        </p:txBody>
      </p:sp>
      <p:sp>
        <p:nvSpPr>
          <p:cNvPr id="3" name="Text 1"/>
          <p:cNvSpPr/>
          <p:nvPr/>
        </p:nvSpPr>
        <p:spPr>
          <a:xfrm>
            <a:off x="10710367" y="6345936"/>
            <a:ext cx="914400" cy="274320"/>
          </a:xfrm>
          <a:prstGeom prst="rect">
            <a:avLst/>
          </a:prstGeom>
          <a:noFill/>
          <a:ln/>
        </p:spPr>
        <p:txBody>
          <a:bodyPr wrap="square" lIns="0" tIns="0" rIns="0" bIns="0" rtlCol="0" anchor="ctr"/>
          <a:lstStyle/>
          <a:p>
            <a:pPr algn="r" indent="0" marL="0">
              <a:buNone/>
            </a:pPr>
            <a:r>
              <a:rPr lang="en-US" sz="900" dirty="0">
                <a:solidFill>
                  <a:srgbClr val="6E7B92"/>
                </a:solidFill>
                <a:latin typeface="Calibri" pitchFamily="34" charset="0"/>
                <a:ea typeface="Calibri" pitchFamily="34" charset="-122"/>
                <a:cs typeface="Calibri" pitchFamily="34" charset="-120"/>
              </a:rPr>
              <a:t>29</a:t>
            </a:r>
            <a:endParaRPr lang="en-US" sz="900" dirty="0"/>
          </a:p>
        </p:txBody>
      </p:sp>
      <p:sp>
        <p:nvSpPr>
          <p:cNvPr id="5" name="Text 2"/>
          <p:cNvSpPr/>
          <p:nvPr/>
        </p:nvSpPr>
        <p:spPr>
          <a:xfrm>
            <a:off x="566928" y="1417320"/>
            <a:ext cx="5486400" cy="457200"/>
          </a:xfrm>
          <a:prstGeom prst="rect">
            <a:avLst/>
          </a:prstGeom>
          <a:noFill/>
          <a:ln/>
        </p:spPr>
        <p:txBody>
          <a:bodyPr wrap="square" lIns="0" tIns="0" rIns="0" bIns="0" rtlCol="0" anchor="ctr"/>
          <a:lstStyle/>
          <a:p>
            <a:pPr indent="0" marL="0">
              <a:buNone/>
            </a:pPr>
            <a:r>
              <a:rPr lang="en-US" sz="1200" b="1" spc="240" kern="0" dirty="0">
                <a:solidFill>
                  <a:srgbClr val="E09A2E"/>
                </a:solidFill>
                <a:latin typeface="Calibri" pitchFamily="34" charset="0"/>
                <a:ea typeface="Calibri" pitchFamily="34" charset="-122"/>
                <a:cs typeface="Calibri" pitchFamily="34" charset="-120"/>
              </a:rPr>
              <a:t>PART FIVE</a:t>
            </a:r>
            <a:endParaRPr lang="en-US" sz="1200" dirty="0"/>
          </a:p>
        </p:txBody>
      </p:sp>
      <p:sp>
        <p:nvSpPr>
          <p:cNvPr id="6" name="Text 3"/>
          <p:cNvSpPr/>
          <p:nvPr/>
        </p:nvSpPr>
        <p:spPr>
          <a:xfrm>
            <a:off x="566928" y="1874520"/>
            <a:ext cx="6766560" cy="173736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Surfaces</a:t>
            </a:r>
            <a:endParaRPr lang="en-US" sz="4000" dirty="0"/>
          </a:p>
          <a:p>
            <a:pPr indent="0" marL="0">
              <a:buNone/>
            </a:pPr>
            <a:r>
              <a:rPr lang="en-US" sz="4000" b="1" dirty="0">
                <a:solidFill>
                  <a:srgbClr val="FFFFFF"/>
                </a:solidFill>
                <a:latin typeface="Cambria" pitchFamily="34" charset="0"/>
                <a:ea typeface="Cambria" pitchFamily="34" charset="-122"/>
                <a:cs typeface="Cambria" pitchFamily="34" charset="-120"/>
              </a:rPr>
              <a:t>and access</a:t>
            </a:r>
            <a:endParaRPr lang="en-US" sz="4000" dirty="0"/>
          </a:p>
        </p:txBody>
      </p:sp>
      <p:sp>
        <p:nvSpPr>
          <p:cNvPr id="7" name="Text 4"/>
          <p:cNvSpPr/>
          <p:nvPr/>
        </p:nvSpPr>
        <p:spPr>
          <a:xfrm>
            <a:off x="566928" y="3749040"/>
            <a:ext cx="6035040" cy="822960"/>
          </a:xfrm>
          <a:prstGeom prst="rect">
            <a:avLst/>
          </a:prstGeom>
          <a:noFill/>
          <a:ln/>
        </p:spPr>
        <p:txBody>
          <a:bodyPr wrap="square" lIns="0" tIns="0" rIns="0" bIns="0" rtlCol="0" anchor="t"/>
          <a:lstStyle/>
          <a:p>
            <a:pPr indent="0" marL="0">
              <a:buNone/>
            </a:pPr>
            <a:r>
              <a:rPr lang="en-US" sz="1400" dirty="0">
                <a:solidFill>
                  <a:srgbClr val="9FADC4"/>
                </a:solidFill>
                <a:latin typeface="Calibri" pitchFamily="34" charset="0"/>
                <a:ea typeface="Calibri" pitchFamily="34" charset="-122"/>
                <a:cs typeface="Calibri" pitchFamily="34" charset="-120"/>
              </a:rPr>
              <a:t>How people who are not on-call engineers get to the platform: reports, dashboards, a conversational interface, and an executive view.</a:t>
            </a:r>
            <a:endParaRPr lang="en-US" sz="1400" dirty="0"/>
          </a:p>
        </p:txBody>
      </p:sp>
      <p:sp>
        <p:nvSpPr>
          <p:cNvPr id="8" name="Shape 5"/>
          <p:cNvSpPr/>
          <p:nvPr/>
        </p:nvSpPr>
        <p:spPr>
          <a:xfrm>
            <a:off x="7360920" y="1371600"/>
            <a:ext cx="4263847" cy="4434840"/>
          </a:xfrm>
          <a:prstGeom prst="roundRect">
            <a:avLst>
              <a:gd name="adj" fmla="val 1501"/>
            </a:avLst>
          </a:prstGeom>
          <a:solidFill>
            <a:srgbClr val="1E2531"/>
          </a:solidFill>
          <a:ln w="12700">
            <a:solidFill>
              <a:srgbClr val="323C4D"/>
            </a:solidFill>
            <a:prstDash val="solid"/>
          </a:ln>
        </p:spPr>
      </p:sp>
      <p:sp>
        <p:nvSpPr>
          <p:cNvPr id="9" name="Text 6"/>
          <p:cNvSpPr/>
          <p:nvPr/>
        </p:nvSpPr>
        <p:spPr>
          <a:xfrm>
            <a:off x="7680960" y="1627632"/>
            <a:ext cx="3840480" cy="274320"/>
          </a:xfrm>
          <a:prstGeom prst="rect">
            <a:avLst/>
          </a:prstGeom>
          <a:noFill/>
          <a:ln/>
        </p:spPr>
        <p:txBody>
          <a:bodyPr wrap="square" lIns="0" tIns="0" rIns="0" bIns="0" rtlCol="0" anchor="ctr"/>
          <a:lstStyle/>
          <a:p>
            <a:pPr indent="0" marL="0">
              <a:buNone/>
            </a:pPr>
            <a:r>
              <a:rPr lang="en-US" sz="950" b="1" spc="160" kern="0" dirty="0">
                <a:solidFill>
                  <a:srgbClr val="E09A2E"/>
                </a:solidFill>
                <a:latin typeface="Calibri" pitchFamily="34" charset="0"/>
                <a:ea typeface="Calibri" pitchFamily="34" charset="-122"/>
                <a:cs typeface="Calibri" pitchFamily="34" charset="-120"/>
              </a:rPr>
              <a:t>TOPICS IN THIS PART</a:t>
            </a:r>
            <a:endParaRPr lang="en-US" sz="950" dirty="0"/>
          </a:p>
        </p:txBody>
      </p:sp>
      <p:sp>
        <p:nvSpPr>
          <p:cNvPr id="10" name="Text 7"/>
          <p:cNvSpPr/>
          <p:nvPr/>
        </p:nvSpPr>
        <p:spPr>
          <a:xfrm>
            <a:off x="7680960" y="1993392"/>
            <a:ext cx="3977640" cy="3566160"/>
          </a:xfrm>
          <a:prstGeom prst="rect">
            <a:avLst/>
          </a:prstGeom>
          <a:noFill/>
          <a:ln/>
        </p:spPr>
        <p:txBody>
          <a:bodyPr wrap="square" lIns="0" tIns="0" rIns="0" bIns="0" rtlCol="0" anchor="t"/>
          <a:lstStyle/>
          <a:p>
            <a:pPr indent="0" marL="0">
              <a:spcAft>
                <a:spcPts val="700"/>
              </a:spcAft>
              <a:buNone/>
            </a:pPr>
            <a:r>
              <a:rPr lang="en-US" sz="1300" dirty="0">
                <a:solidFill>
                  <a:srgbClr val="D3DCE9"/>
                </a:solidFill>
                <a:latin typeface="Calibri" pitchFamily="34" charset="0"/>
                <a:ea typeface="Calibri" pitchFamily="34" charset="-122"/>
                <a:cs typeface="Calibri" pitchFamily="34" charset="-120"/>
              </a:rPr>
              <a:t>22.  Reports</a:t>
            </a:r>
            <a:endParaRPr lang="en-US" sz="1300" dirty="0"/>
          </a:p>
          <a:p>
            <a:pPr indent="0" marL="0">
              <a:spcAft>
                <a:spcPts val="700"/>
              </a:spcAft>
              <a:buNone/>
            </a:pPr>
            <a:r>
              <a:rPr lang="en-US" sz="1300" dirty="0">
                <a:solidFill>
                  <a:srgbClr val="D3DCE9"/>
                </a:solidFill>
                <a:latin typeface="Calibri" pitchFamily="34" charset="0"/>
                <a:ea typeface="Calibri" pitchFamily="34" charset="-122"/>
                <a:cs typeface="Calibri" pitchFamily="34" charset="-120"/>
              </a:rPr>
              <a:t>23.  The minimal dashboard strategy</a:t>
            </a:r>
            <a:endParaRPr lang="en-US" sz="1300" dirty="0"/>
          </a:p>
          <a:p>
            <a:pPr indent="0" marL="0">
              <a:spcAft>
                <a:spcPts val="700"/>
              </a:spcAft>
              <a:buNone/>
            </a:pPr>
            <a:r>
              <a:rPr lang="en-US" sz="1300" dirty="0">
                <a:solidFill>
                  <a:srgbClr val="D3DCE9"/>
                </a:solidFill>
                <a:latin typeface="Calibri" pitchFamily="34" charset="0"/>
                <a:ea typeface="Calibri" pitchFamily="34" charset="-122"/>
                <a:cs typeface="Calibri" pitchFamily="34" charset="-120"/>
              </a:rPr>
              <a:t>24.  MCP — Ask</a:t>
            </a:r>
            <a:endParaRPr lang="en-US" sz="1300" dirty="0"/>
          </a:p>
          <a:p>
            <a:pPr indent="0" marL="0">
              <a:spcAft>
                <a:spcPts val="700"/>
              </a:spcAft>
              <a:buNone/>
            </a:pPr>
            <a:r>
              <a:rPr lang="en-US" sz="1300" dirty="0">
                <a:solidFill>
                  <a:srgbClr val="D3DCE9"/>
                </a:solidFill>
                <a:latin typeface="Calibri" pitchFamily="34" charset="0"/>
                <a:ea typeface="Calibri" pitchFamily="34" charset="-122"/>
                <a:cs typeface="Calibri" pitchFamily="34" charset="-120"/>
              </a:rPr>
              <a:t>25.  MCP — Act</a:t>
            </a:r>
            <a:endParaRPr lang="en-US" sz="1300" dirty="0"/>
          </a:p>
          <a:p>
            <a:pPr indent="0" marL="0">
              <a:spcAft>
                <a:spcPts val="700"/>
              </a:spcAft>
              <a:buNone/>
            </a:pPr>
            <a:r>
              <a:rPr lang="en-US" sz="1300" dirty="0">
                <a:solidFill>
                  <a:srgbClr val="D3DCE9"/>
                </a:solidFill>
                <a:latin typeface="Calibri" pitchFamily="34" charset="0"/>
                <a:ea typeface="Calibri" pitchFamily="34" charset="-122"/>
                <a:cs typeface="Calibri" pitchFamily="34" charset="-120"/>
              </a:rPr>
              <a:t>26.  MCP governance</a:t>
            </a:r>
            <a:endParaRPr lang="en-US" sz="1300" dirty="0"/>
          </a:p>
          <a:p>
            <a:pPr indent="0" marL="0">
              <a:spcAft>
                <a:spcPts val="700"/>
              </a:spcAft>
              <a:buNone/>
            </a:pPr>
            <a:r>
              <a:rPr lang="en-US" sz="1300" dirty="0">
                <a:solidFill>
                  <a:srgbClr val="D3DCE9"/>
                </a:solidFill>
                <a:latin typeface="Calibri" pitchFamily="34" charset="0"/>
                <a:ea typeface="Calibri" pitchFamily="34" charset="-122"/>
                <a:cs typeface="Calibri" pitchFamily="34" charset="-120"/>
              </a:rPr>
              <a:t>27.  The executive portal</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8778240" cy="256032"/>
          </a:xfrm>
          <a:prstGeom prst="rect">
            <a:avLst/>
          </a:prstGeom>
          <a:noFill/>
          <a:ln/>
        </p:spPr>
        <p:txBody>
          <a:bodyPr wrap="square" lIns="0" tIns="0" rIns="0" bIns="0" rtlCol="0" anchor="ctr"/>
          <a:lstStyle/>
          <a:p>
            <a:pPr indent="0" marL="0">
              <a:buNone/>
            </a:pPr>
            <a:r>
              <a:rPr lang="en-US" sz="1050" b="1" spc="160" kern="0" dirty="0">
                <a:solidFill>
                  <a:srgbClr val="B87914"/>
                </a:solidFill>
                <a:latin typeface="Calibri" pitchFamily="34" charset="0"/>
                <a:ea typeface="Calibri" pitchFamily="34" charset="-122"/>
                <a:cs typeface="Calibri" pitchFamily="34" charset="-120"/>
              </a:rPr>
              <a:t>TOPIC 22</a:t>
            </a:r>
            <a:endParaRPr lang="en-US" sz="1050" dirty="0"/>
          </a:p>
        </p:txBody>
      </p:sp>
      <p:sp>
        <p:nvSpPr>
          <p:cNvPr id="3" name="Text 1"/>
          <p:cNvSpPr/>
          <p:nvPr/>
        </p:nvSpPr>
        <p:spPr>
          <a:xfrm>
            <a:off x="566928" y="694944"/>
            <a:ext cx="10424160" cy="786384"/>
          </a:xfrm>
          <a:prstGeom prst="rect">
            <a:avLst/>
          </a:prstGeom>
          <a:noFill/>
          <a:ln/>
        </p:spPr>
        <p:txBody>
          <a:bodyPr wrap="square" lIns="0" tIns="0" rIns="0" bIns="0" rtlCol="0" anchor="ctr"/>
          <a:lstStyle/>
          <a:p>
            <a:pPr indent="0" marL="0">
              <a:buNone/>
            </a:pPr>
            <a:r>
              <a:rPr lang="en-US" sz="3100" b="1" dirty="0">
                <a:solidFill>
                  <a:srgbClr val="161C28"/>
                </a:solidFill>
                <a:latin typeface="Cambria" pitchFamily="34" charset="0"/>
                <a:ea typeface="Cambria" pitchFamily="34" charset="-122"/>
                <a:cs typeface="Cambria" pitchFamily="34" charset="-120"/>
              </a:rPr>
              <a:t>Reports</a:t>
            </a:r>
            <a:endParaRPr lang="en-US" sz="3100" dirty="0"/>
          </a:p>
        </p:txBody>
      </p:sp>
      <p:sp>
        <p:nvSpPr>
          <p:cNvPr id="4" name="Text 2"/>
          <p:cNvSpPr/>
          <p:nvPr/>
        </p:nvSpPr>
        <p:spPr>
          <a:xfrm>
            <a:off x="566928" y="1481328"/>
            <a:ext cx="10698480" cy="457200"/>
          </a:xfrm>
          <a:prstGeom prst="rect">
            <a:avLst/>
          </a:prstGeom>
          <a:noFill/>
          <a:ln/>
        </p:spPr>
        <p:txBody>
          <a:bodyPr wrap="square" lIns="0" tIns="0" rIns="0" bIns="0" rtlCol="0" anchor="t"/>
          <a:lstStyle/>
          <a:p>
            <a:pPr indent="0" marL="0">
              <a:buNone/>
            </a:pPr>
            <a:r>
              <a:rPr lang="en-US" sz="1450" dirty="0">
                <a:solidFill>
                  <a:srgbClr val="3A4557"/>
                </a:solidFill>
                <a:latin typeface="Calibri" pitchFamily="34" charset="0"/>
                <a:ea typeface="Calibri" pitchFamily="34" charset="-122"/>
                <a:cs typeface="Calibri" pitchFamily="34" charset="-120"/>
              </a:rPr>
              <a:t>Four operational reports run today and gate the pipeline. The five audience-facing report families do not exist yet.</a:t>
            </a:r>
            <a:endParaRPr lang="en-US" sz="1450" dirty="0"/>
          </a:p>
        </p:txBody>
      </p:sp>
      <p:sp>
        <p:nvSpPr>
          <p:cNvPr id="5" name="Shape 3"/>
          <p:cNvSpPr/>
          <p:nvPr/>
        </p:nvSpPr>
        <p:spPr>
          <a:xfrm>
            <a:off x="9608515" y="420624"/>
            <a:ext cx="2016252" cy="310896"/>
          </a:xfrm>
          <a:prstGeom prst="roundRect">
            <a:avLst>
              <a:gd name="adj" fmla="val 50000"/>
            </a:avLst>
          </a:prstGeom>
          <a:solidFill>
            <a:srgbClr val="DFE5EE"/>
          </a:solidFill>
          <a:ln w="12700">
            <a:solidFill>
              <a:srgbClr val="DFE5EE"/>
            </a:solidFill>
            <a:prstDash val="solid"/>
          </a:ln>
        </p:spPr>
      </p:sp>
      <p:sp>
        <p:nvSpPr>
          <p:cNvPr id="6" name="Text 4"/>
          <p:cNvSpPr/>
          <p:nvPr/>
        </p:nvSpPr>
        <p:spPr>
          <a:xfrm>
            <a:off x="9608515" y="420624"/>
            <a:ext cx="2016252" cy="310896"/>
          </a:xfrm>
          <a:prstGeom prst="rect">
            <a:avLst/>
          </a:prstGeom>
          <a:noFill/>
          <a:ln/>
        </p:spPr>
        <p:txBody>
          <a:bodyPr wrap="square" lIns="0" tIns="0" rIns="0" bIns="0" rtlCol="0" anchor="ctr"/>
          <a:lstStyle/>
          <a:p>
            <a:pPr algn="ctr" indent="0" marL="0">
              <a:buNone/>
            </a:pPr>
            <a:r>
              <a:rPr lang="en-US" sz="950" b="1" spc="100" kern="0" dirty="0">
                <a:solidFill>
                  <a:srgbClr val="5F7189"/>
                </a:solidFill>
                <a:latin typeface="Calibri" pitchFamily="34" charset="0"/>
                <a:ea typeface="Calibri" pitchFamily="34" charset="-122"/>
                <a:cs typeface="Calibri" pitchFamily="34" charset="-120"/>
              </a:rPr>
              <a:t>ROADMAP · PHASE 6</a:t>
            </a:r>
            <a:endParaRPr lang="en-US" sz="950" dirty="0"/>
          </a:p>
        </p:txBody>
      </p:sp>
      <p:sp>
        <p:nvSpPr>
          <p:cNvPr id="7" name="Text 5"/>
          <p:cNvSpPr/>
          <p:nvPr/>
        </p:nvSpPr>
        <p:spPr>
          <a:xfrm>
            <a:off x="566928" y="6345936"/>
            <a:ext cx="7315200" cy="274320"/>
          </a:xfrm>
          <a:prstGeom prst="rect">
            <a:avLst/>
          </a:prstGeom>
          <a:noFill/>
          <a:ln/>
        </p:spPr>
        <p:txBody>
          <a:bodyPr wrap="square" lIns="0" tIns="0" rIns="0" bIns="0" rtlCol="0" anchor="ctr"/>
          <a:lstStyle/>
          <a:p>
            <a:pPr indent="0" marL="0">
              <a:buNone/>
            </a:pPr>
            <a:r>
              <a:rPr lang="en-US" sz="900" dirty="0">
                <a:solidFill>
                  <a:srgbClr val="6B7891"/>
                </a:solidFill>
                <a:latin typeface="Calibri" pitchFamily="34" charset="0"/>
                <a:ea typeface="Calibri" pitchFamily="34" charset="-122"/>
                <a:cs typeface="Calibri" pitchFamily="34" charset="-120"/>
              </a:rPr>
              <a:t>Enterprise Observability  ·  policy-as-data on Datadog</a:t>
            </a:r>
            <a:endParaRPr lang="en-US" sz="900" dirty="0"/>
          </a:p>
        </p:txBody>
      </p:sp>
      <p:sp>
        <p:nvSpPr>
          <p:cNvPr id="8" name="Text 6"/>
          <p:cNvSpPr/>
          <p:nvPr/>
        </p:nvSpPr>
        <p:spPr>
          <a:xfrm>
            <a:off x="10710367" y="6345936"/>
            <a:ext cx="914400" cy="274320"/>
          </a:xfrm>
          <a:prstGeom prst="rect">
            <a:avLst/>
          </a:prstGeom>
          <a:noFill/>
          <a:ln/>
        </p:spPr>
        <p:txBody>
          <a:bodyPr wrap="square" lIns="0" tIns="0" rIns="0" bIns="0" rtlCol="0" anchor="ctr"/>
          <a:lstStyle/>
          <a:p>
            <a:pPr algn="r" indent="0" marL="0">
              <a:buNone/>
            </a:pPr>
            <a:r>
              <a:rPr lang="en-US" sz="900" dirty="0">
                <a:solidFill>
                  <a:srgbClr val="6B7891"/>
                </a:solidFill>
                <a:latin typeface="Calibri" pitchFamily="34" charset="0"/>
                <a:ea typeface="Calibri" pitchFamily="34" charset="-122"/>
                <a:cs typeface="Calibri" pitchFamily="34" charset="-120"/>
              </a:rPr>
              <a:t>30</a:t>
            </a:r>
            <a:endParaRPr lang="en-US" sz="900" dirty="0"/>
          </a:p>
        </p:txBody>
      </p:sp>
      <p:sp>
        <p:nvSpPr>
          <p:cNvPr id="10" name="Text 7"/>
          <p:cNvSpPr/>
          <p:nvPr/>
        </p:nvSpPr>
        <p:spPr>
          <a:xfrm>
            <a:off x="566928" y="2148840"/>
            <a:ext cx="10607040" cy="292608"/>
          </a:xfrm>
          <a:prstGeom prst="rect">
            <a:avLst/>
          </a:prstGeom>
          <a:noFill/>
          <a:ln/>
        </p:spPr>
        <p:txBody>
          <a:bodyPr wrap="square" lIns="0" tIns="0" rIns="0" bIns="0" rtlCol="0" anchor="ctr"/>
          <a:lstStyle/>
          <a:p>
            <a:pPr indent="0" marL="0">
              <a:buNone/>
            </a:pPr>
            <a:r>
              <a:rPr lang="en-US" sz="1400" b="1" dirty="0">
                <a:solidFill>
                  <a:srgbClr val="161C28"/>
                </a:solidFill>
                <a:latin typeface="Calibri" pitchFamily="34" charset="0"/>
                <a:ea typeface="Calibri" pitchFamily="34" charset="-122"/>
                <a:cs typeface="Calibri" pitchFamily="34" charset="-120"/>
              </a:rPr>
              <a:t>Running today — three of these gate the pipeline</a:t>
            </a:r>
            <a:endParaRPr lang="en-US" sz="1400" dirty="0"/>
          </a:p>
        </p:txBody>
      </p:sp>
      <p:sp>
        <p:nvSpPr>
          <p:cNvPr id="11" name="Shape 8"/>
          <p:cNvSpPr/>
          <p:nvPr/>
        </p:nvSpPr>
        <p:spPr>
          <a:xfrm>
            <a:off x="566928" y="2487168"/>
            <a:ext cx="2586152" cy="1600200"/>
          </a:xfrm>
          <a:prstGeom prst="roundRect">
            <a:avLst>
              <a:gd name="adj" fmla="val 3429"/>
            </a:avLst>
          </a:prstGeom>
          <a:solidFill>
            <a:srgbClr val="EAF3F1"/>
          </a:solidFill>
          <a:ln w="12700">
            <a:solidFill>
              <a:srgbClr val="EAF3F1"/>
            </a:solidFill>
            <a:prstDash val="solid"/>
          </a:ln>
        </p:spPr>
      </p:sp>
      <p:sp>
        <p:nvSpPr>
          <p:cNvPr id="12" name="Text 9"/>
          <p:cNvSpPr/>
          <p:nvPr/>
        </p:nvSpPr>
        <p:spPr>
          <a:xfrm>
            <a:off x="768096" y="2633472"/>
            <a:ext cx="2183816" cy="347472"/>
          </a:xfrm>
          <a:prstGeom prst="rect">
            <a:avLst/>
          </a:prstGeom>
          <a:noFill/>
          <a:ln/>
        </p:spPr>
        <p:txBody>
          <a:bodyPr wrap="square" lIns="0" tIns="0" rIns="0" bIns="0" rtlCol="0" anchor="t"/>
          <a:lstStyle/>
          <a:p>
            <a:pPr indent="0" marL="0">
              <a:buNone/>
            </a:pPr>
            <a:r>
              <a:rPr lang="en-US" sz="1450" b="1" dirty="0">
                <a:solidFill>
                  <a:srgbClr val="1D5C59"/>
                </a:solidFill>
                <a:latin typeface="Calibri" pitchFamily="34" charset="0"/>
                <a:ea typeface="Calibri" pitchFamily="34" charset="-122"/>
                <a:cs typeface="Calibri" pitchFamily="34" charset="-120"/>
              </a:rPr>
              <a:t>Coverage &amp; compliance</a:t>
            </a:r>
            <a:endParaRPr lang="en-US" sz="1450" dirty="0"/>
          </a:p>
        </p:txBody>
      </p:sp>
      <p:sp>
        <p:nvSpPr>
          <p:cNvPr id="13" name="Text 10"/>
          <p:cNvSpPr/>
          <p:nvPr/>
        </p:nvSpPr>
        <p:spPr>
          <a:xfrm>
            <a:off x="768096" y="3017520"/>
            <a:ext cx="2183816" cy="923544"/>
          </a:xfrm>
          <a:prstGeom prst="rect">
            <a:avLst/>
          </a:prstGeom>
          <a:noFill/>
          <a:ln/>
        </p:spPr>
        <p:txBody>
          <a:bodyPr wrap="square" lIns="0" tIns="0" rIns="0" bIns="0" rtlCol="0" anchor="t"/>
          <a:lstStyle/>
          <a:p>
            <a:pPr indent="0" marL="0">
              <a:lnSpc>
                <a:spcPct val="102000"/>
              </a:lnSpc>
              <a:buNone/>
            </a:pPr>
            <a:r>
              <a:rPr lang="en-US" sz="1150" dirty="0">
                <a:solidFill>
                  <a:srgbClr val="1D5C59"/>
                </a:solidFill>
                <a:latin typeface="Calibri" pitchFamily="34" charset="0"/>
                <a:ea typeface="Calibri" pitchFamily="34" charset="-122"/>
                <a:cs typeface="Calibri" pitchFamily="34" charset="-120"/>
              </a:rPr>
              <a:t>17 checks (C1–C17) against the live org. Blocks a production deploy on platform-integrity findings; the nightly run opens an issue.</a:t>
            </a:r>
            <a:endParaRPr lang="en-US" sz="1150" dirty="0"/>
          </a:p>
        </p:txBody>
      </p:sp>
      <p:sp>
        <p:nvSpPr>
          <p:cNvPr id="14" name="Shape 11"/>
          <p:cNvSpPr/>
          <p:nvPr/>
        </p:nvSpPr>
        <p:spPr>
          <a:xfrm>
            <a:off x="3390824" y="2487168"/>
            <a:ext cx="2586152" cy="1600200"/>
          </a:xfrm>
          <a:prstGeom prst="roundRect">
            <a:avLst>
              <a:gd name="adj" fmla="val 3429"/>
            </a:avLst>
          </a:prstGeom>
          <a:solidFill>
            <a:srgbClr val="EAF3F1"/>
          </a:solidFill>
          <a:ln w="12700">
            <a:solidFill>
              <a:srgbClr val="EAF3F1"/>
            </a:solidFill>
            <a:prstDash val="solid"/>
          </a:ln>
        </p:spPr>
      </p:sp>
      <p:sp>
        <p:nvSpPr>
          <p:cNvPr id="15" name="Text 12"/>
          <p:cNvSpPr/>
          <p:nvPr/>
        </p:nvSpPr>
        <p:spPr>
          <a:xfrm>
            <a:off x="3591992" y="2633472"/>
            <a:ext cx="2183816" cy="347472"/>
          </a:xfrm>
          <a:prstGeom prst="rect">
            <a:avLst/>
          </a:prstGeom>
          <a:noFill/>
          <a:ln/>
        </p:spPr>
        <p:txBody>
          <a:bodyPr wrap="square" lIns="0" tIns="0" rIns="0" bIns="0" rtlCol="0" anchor="t"/>
          <a:lstStyle/>
          <a:p>
            <a:pPr indent="0" marL="0">
              <a:buNone/>
            </a:pPr>
            <a:r>
              <a:rPr lang="en-US" sz="1450" b="1" dirty="0">
                <a:solidFill>
                  <a:srgbClr val="1D5C59"/>
                </a:solidFill>
                <a:latin typeface="Calibri" pitchFamily="34" charset="0"/>
                <a:ea typeface="Calibri" pitchFamily="34" charset="-122"/>
                <a:cs typeface="Calibri" pitchFamily="34" charset="-120"/>
              </a:rPr>
              <a:t>Quality scorecard</a:t>
            </a:r>
            <a:endParaRPr lang="en-US" sz="1450" dirty="0"/>
          </a:p>
        </p:txBody>
      </p:sp>
      <p:sp>
        <p:nvSpPr>
          <p:cNvPr id="16" name="Text 13"/>
          <p:cNvSpPr/>
          <p:nvPr/>
        </p:nvSpPr>
        <p:spPr>
          <a:xfrm>
            <a:off x="3591992" y="3017520"/>
            <a:ext cx="2183816" cy="923544"/>
          </a:xfrm>
          <a:prstGeom prst="rect">
            <a:avLst/>
          </a:prstGeom>
          <a:noFill/>
          <a:ln/>
        </p:spPr>
        <p:txBody>
          <a:bodyPr wrap="square" lIns="0" tIns="0" rIns="0" bIns="0" rtlCol="0" anchor="t"/>
          <a:lstStyle/>
          <a:p>
            <a:pPr indent="0" marL="0">
              <a:lnSpc>
                <a:spcPct val="102000"/>
              </a:lnSpc>
              <a:buNone/>
            </a:pPr>
            <a:r>
              <a:rPr lang="en-US" sz="1150" dirty="0">
                <a:solidFill>
                  <a:srgbClr val="1D5C59"/>
                </a:solidFill>
                <a:latin typeface="Calibri" pitchFamily="34" charset="0"/>
                <a:ea typeface="Calibri" pitchFamily="34" charset="-122"/>
                <a:cs typeface="Calibri" pitchFamily="34" charset="-120"/>
              </a:rPr>
              <a:t>Every monitor scored out of 100 across 8 dimensions. CI fails below a fleet average of 85, or on any single failing monitor.</a:t>
            </a:r>
            <a:endParaRPr lang="en-US" sz="1150" dirty="0"/>
          </a:p>
        </p:txBody>
      </p:sp>
      <p:sp>
        <p:nvSpPr>
          <p:cNvPr id="17" name="Shape 14"/>
          <p:cNvSpPr/>
          <p:nvPr/>
        </p:nvSpPr>
        <p:spPr>
          <a:xfrm>
            <a:off x="6214720" y="2487168"/>
            <a:ext cx="2586152" cy="1600200"/>
          </a:xfrm>
          <a:prstGeom prst="roundRect">
            <a:avLst>
              <a:gd name="adj" fmla="val 3429"/>
            </a:avLst>
          </a:prstGeom>
          <a:solidFill>
            <a:srgbClr val="EAF3F1"/>
          </a:solidFill>
          <a:ln w="12700">
            <a:solidFill>
              <a:srgbClr val="EAF3F1"/>
            </a:solidFill>
            <a:prstDash val="solid"/>
          </a:ln>
        </p:spPr>
      </p:sp>
      <p:sp>
        <p:nvSpPr>
          <p:cNvPr id="18" name="Text 15"/>
          <p:cNvSpPr/>
          <p:nvPr/>
        </p:nvSpPr>
        <p:spPr>
          <a:xfrm>
            <a:off x="6415888" y="2633472"/>
            <a:ext cx="2183816" cy="347472"/>
          </a:xfrm>
          <a:prstGeom prst="rect">
            <a:avLst/>
          </a:prstGeom>
          <a:noFill/>
          <a:ln/>
        </p:spPr>
        <p:txBody>
          <a:bodyPr wrap="square" lIns="0" tIns="0" rIns="0" bIns="0" rtlCol="0" anchor="t"/>
          <a:lstStyle/>
          <a:p>
            <a:pPr indent="0" marL="0">
              <a:buNone/>
            </a:pPr>
            <a:r>
              <a:rPr lang="en-US" sz="1450" b="1" dirty="0">
                <a:solidFill>
                  <a:srgbClr val="1D5C59"/>
                </a:solidFill>
                <a:latin typeface="Calibri" pitchFamily="34" charset="0"/>
                <a:ea typeface="Calibri" pitchFamily="34" charset="-122"/>
                <a:cs typeface="Calibri" pitchFamily="34" charset="-120"/>
              </a:rPr>
              <a:t>Monitor reconciliation</a:t>
            </a:r>
            <a:endParaRPr lang="en-US" sz="1450" dirty="0"/>
          </a:p>
        </p:txBody>
      </p:sp>
      <p:sp>
        <p:nvSpPr>
          <p:cNvPr id="19" name="Text 16"/>
          <p:cNvSpPr/>
          <p:nvPr/>
        </p:nvSpPr>
        <p:spPr>
          <a:xfrm>
            <a:off x="6415888" y="3017520"/>
            <a:ext cx="2183816" cy="923544"/>
          </a:xfrm>
          <a:prstGeom prst="rect">
            <a:avLst/>
          </a:prstGeom>
          <a:noFill/>
          <a:ln/>
        </p:spPr>
        <p:txBody>
          <a:bodyPr wrap="square" lIns="0" tIns="0" rIns="0" bIns="0" rtlCol="0" anchor="t"/>
          <a:lstStyle/>
          <a:p>
            <a:pPr indent="0" marL="0">
              <a:lnSpc>
                <a:spcPct val="102000"/>
              </a:lnSpc>
              <a:buNone/>
            </a:pPr>
            <a:r>
              <a:rPr lang="en-US" sz="1150" dirty="0">
                <a:solidFill>
                  <a:srgbClr val="1D5C59"/>
                </a:solidFill>
                <a:latin typeface="Calibri" pitchFamily="34" charset="0"/>
                <a:ea typeface="Calibri" pitchFamily="34" charset="-122"/>
                <a:cs typeface="Calibri" pitchFamily="34" charset="-120"/>
              </a:rPr>
              <a:t>One row per managed monitor: owner, severity, route, escalation policy, runbook, notebook id, SLO, workflow, status.</a:t>
            </a:r>
            <a:endParaRPr lang="en-US" sz="1150" dirty="0"/>
          </a:p>
        </p:txBody>
      </p:sp>
      <p:sp>
        <p:nvSpPr>
          <p:cNvPr id="20" name="Shape 17"/>
          <p:cNvSpPr/>
          <p:nvPr/>
        </p:nvSpPr>
        <p:spPr>
          <a:xfrm>
            <a:off x="9038615" y="2487168"/>
            <a:ext cx="2586152" cy="1600200"/>
          </a:xfrm>
          <a:prstGeom prst="roundRect">
            <a:avLst>
              <a:gd name="adj" fmla="val 3429"/>
            </a:avLst>
          </a:prstGeom>
          <a:solidFill>
            <a:srgbClr val="EAF3F1"/>
          </a:solidFill>
          <a:ln w="12700">
            <a:solidFill>
              <a:srgbClr val="EAF3F1"/>
            </a:solidFill>
            <a:prstDash val="solid"/>
          </a:ln>
        </p:spPr>
      </p:sp>
      <p:sp>
        <p:nvSpPr>
          <p:cNvPr id="21" name="Text 18"/>
          <p:cNvSpPr/>
          <p:nvPr/>
        </p:nvSpPr>
        <p:spPr>
          <a:xfrm>
            <a:off x="9239783" y="2633472"/>
            <a:ext cx="2183816" cy="347472"/>
          </a:xfrm>
          <a:prstGeom prst="rect">
            <a:avLst/>
          </a:prstGeom>
          <a:noFill/>
          <a:ln/>
        </p:spPr>
        <p:txBody>
          <a:bodyPr wrap="square" lIns="0" tIns="0" rIns="0" bIns="0" rtlCol="0" anchor="t"/>
          <a:lstStyle/>
          <a:p>
            <a:pPr indent="0" marL="0">
              <a:buNone/>
            </a:pPr>
            <a:r>
              <a:rPr lang="en-US" sz="1450" b="1" dirty="0">
                <a:solidFill>
                  <a:srgbClr val="1D5C59"/>
                </a:solidFill>
                <a:latin typeface="Calibri" pitchFamily="34" charset="0"/>
                <a:ea typeface="Calibri" pitchFamily="34" charset="-122"/>
                <a:cs typeface="Calibri" pitchFamily="34" charset="-120"/>
              </a:rPr>
              <a:t>Coverage matrix</a:t>
            </a:r>
            <a:endParaRPr lang="en-US" sz="1450" dirty="0"/>
          </a:p>
        </p:txBody>
      </p:sp>
      <p:sp>
        <p:nvSpPr>
          <p:cNvPr id="22" name="Text 19"/>
          <p:cNvSpPr/>
          <p:nvPr/>
        </p:nvSpPr>
        <p:spPr>
          <a:xfrm>
            <a:off x="9239783" y="3017520"/>
            <a:ext cx="2183816" cy="923544"/>
          </a:xfrm>
          <a:prstGeom prst="rect">
            <a:avLst/>
          </a:prstGeom>
          <a:noFill/>
          <a:ln/>
        </p:spPr>
        <p:txBody>
          <a:bodyPr wrap="square" lIns="0" tIns="0" rIns="0" bIns="0" rtlCol="0" anchor="t"/>
          <a:lstStyle/>
          <a:p>
            <a:pPr indent="0" marL="0">
              <a:lnSpc>
                <a:spcPct val="102000"/>
              </a:lnSpc>
              <a:buNone/>
            </a:pPr>
            <a:r>
              <a:rPr lang="en-US" sz="1150" dirty="0">
                <a:solidFill>
                  <a:srgbClr val="1D5C59"/>
                </a:solidFill>
                <a:latin typeface="Calibri" pitchFamily="34" charset="0"/>
                <a:ea typeface="Calibri" pitchFamily="34" charset="-122"/>
                <a:cs typeface="Calibri" pitchFamily="34" charset="-120"/>
              </a:rPr>
              <a:t>Every archetype instance with its detection, environment, band, priority and grouping. Regenerated by CI so it cannot drift.</a:t>
            </a:r>
            <a:endParaRPr lang="en-US" sz="1150" dirty="0"/>
          </a:p>
        </p:txBody>
      </p:sp>
      <p:sp>
        <p:nvSpPr>
          <p:cNvPr id="23" name="Text 20"/>
          <p:cNvSpPr/>
          <p:nvPr/>
        </p:nvSpPr>
        <p:spPr>
          <a:xfrm>
            <a:off x="566928" y="4251960"/>
            <a:ext cx="10607040" cy="292608"/>
          </a:xfrm>
          <a:prstGeom prst="rect">
            <a:avLst/>
          </a:prstGeom>
          <a:noFill/>
          <a:ln/>
        </p:spPr>
        <p:txBody>
          <a:bodyPr wrap="square" lIns="0" tIns="0" rIns="0" bIns="0" rtlCol="0" anchor="ctr"/>
          <a:lstStyle/>
          <a:p>
            <a:pPr indent="0" marL="0">
              <a:buNone/>
            </a:pPr>
            <a:r>
              <a:rPr lang="en-US" sz="1400" b="1" dirty="0">
                <a:solidFill>
                  <a:srgbClr val="5F7189"/>
                </a:solidFill>
                <a:latin typeface="Calibri" pitchFamily="34" charset="0"/>
                <a:ea typeface="Calibri" pitchFamily="34" charset="-122"/>
                <a:cs typeface="Calibri" pitchFamily="34" charset="-120"/>
              </a:rPr>
              <a:t>Not built — the five audience-facing report families</a:t>
            </a:r>
            <a:endParaRPr lang="en-US" sz="1400" dirty="0"/>
          </a:p>
        </p:txBody>
      </p:sp>
      <p:sp>
        <p:nvSpPr>
          <p:cNvPr id="24" name="Shape 21"/>
          <p:cNvSpPr/>
          <p:nvPr/>
        </p:nvSpPr>
        <p:spPr>
          <a:xfrm>
            <a:off x="566928" y="4645152"/>
            <a:ext cx="2057400" cy="685800"/>
          </a:xfrm>
          <a:prstGeom prst="roundRect">
            <a:avLst>
              <a:gd name="adj" fmla="val 6667"/>
            </a:avLst>
          </a:prstGeom>
          <a:solidFill>
            <a:srgbClr val="F3F4F6"/>
          </a:solidFill>
          <a:ln w="12700">
            <a:solidFill>
              <a:srgbClr val="D6DDE6"/>
            </a:solidFill>
            <a:prstDash val="solid"/>
          </a:ln>
        </p:spPr>
      </p:sp>
      <p:sp>
        <p:nvSpPr>
          <p:cNvPr id="25" name="Text 22"/>
          <p:cNvSpPr/>
          <p:nvPr/>
        </p:nvSpPr>
        <p:spPr>
          <a:xfrm>
            <a:off x="676656" y="4645152"/>
            <a:ext cx="1828800" cy="685800"/>
          </a:xfrm>
          <a:prstGeom prst="rect">
            <a:avLst/>
          </a:prstGeom>
          <a:noFill/>
          <a:ln/>
        </p:spPr>
        <p:txBody>
          <a:bodyPr wrap="square" lIns="0" tIns="0" rIns="0" bIns="0" rtlCol="0" anchor="ctr"/>
          <a:lstStyle/>
          <a:p>
            <a:pPr algn="ctr" indent="0" marL="0">
              <a:buNone/>
            </a:pPr>
            <a:r>
              <a:rPr lang="en-US" sz="1200" b="1" dirty="0">
                <a:solidFill>
                  <a:srgbClr val="5F7189"/>
                </a:solidFill>
                <a:latin typeface="Calibri" pitchFamily="34" charset="0"/>
                <a:ea typeface="Calibri" pitchFamily="34" charset="-122"/>
                <a:cs typeface="Calibri" pitchFamily="34" charset="-120"/>
              </a:rPr>
              <a:t>Executive</a:t>
            </a:r>
            <a:endParaRPr lang="en-US" sz="1200" dirty="0"/>
          </a:p>
        </p:txBody>
      </p:sp>
      <p:sp>
        <p:nvSpPr>
          <p:cNvPr id="26" name="Shape 23"/>
          <p:cNvSpPr/>
          <p:nvPr/>
        </p:nvSpPr>
        <p:spPr>
          <a:xfrm>
            <a:off x="2788920" y="4645152"/>
            <a:ext cx="2057400" cy="685800"/>
          </a:xfrm>
          <a:prstGeom prst="roundRect">
            <a:avLst>
              <a:gd name="adj" fmla="val 6667"/>
            </a:avLst>
          </a:prstGeom>
          <a:solidFill>
            <a:srgbClr val="F3F4F6"/>
          </a:solidFill>
          <a:ln w="12700">
            <a:solidFill>
              <a:srgbClr val="D6DDE6"/>
            </a:solidFill>
            <a:prstDash val="solid"/>
          </a:ln>
        </p:spPr>
      </p:sp>
      <p:sp>
        <p:nvSpPr>
          <p:cNvPr id="27" name="Text 24"/>
          <p:cNvSpPr/>
          <p:nvPr/>
        </p:nvSpPr>
        <p:spPr>
          <a:xfrm>
            <a:off x="2898648" y="4645152"/>
            <a:ext cx="1828800" cy="685800"/>
          </a:xfrm>
          <a:prstGeom prst="rect">
            <a:avLst/>
          </a:prstGeom>
          <a:noFill/>
          <a:ln/>
        </p:spPr>
        <p:txBody>
          <a:bodyPr wrap="square" lIns="0" tIns="0" rIns="0" bIns="0" rtlCol="0" anchor="ctr"/>
          <a:lstStyle/>
          <a:p>
            <a:pPr algn="ctr" indent="0" marL="0">
              <a:buNone/>
            </a:pPr>
            <a:r>
              <a:rPr lang="en-US" sz="1200" b="1" dirty="0">
                <a:solidFill>
                  <a:srgbClr val="5F7189"/>
                </a:solidFill>
                <a:latin typeface="Calibri" pitchFamily="34" charset="0"/>
                <a:ea typeface="Calibri" pitchFamily="34" charset="-122"/>
                <a:cs typeface="Calibri" pitchFamily="34" charset="-120"/>
              </a:rPr>
              <a:t>Operations</a:t>
            </a:r>
            <a:endParaRPr lang="en-US" sz="1200" dirty="0"/>
          </a:p>
        </p:txBody>
      </p:sp>
      <p:sp>
        <p:nvSpPr>
          <p:cNvPr id="28" name="Shape 25"/>
          <p:cNvSpPr/>
          <p:nvPr/>
        </p:nvSpPr>
        <p:spPr>
          <a:xfrm>
            <a:off x="5010912" y="4645152"/>
            <a:ext cx="2057400" cy="685800"/>
          </a:xfrm>
          <a:prstGeom prst="roundRect">
            <a:avLst>
              <a:gd name="adj" fmla="val 6667"/>
            </a:avLst>
          </a:prstGeom>
          <a:solidFill>
            <a:srgbClr val="F3F4F6"/>
          </a:solidFill>
          <a:ln w="12700">
            <a:solidFill>
              <a:srgbClr val="D6DDE6"/>
            </a:solidFill>
            <a:prstDash val="solid"/>
          </a:ln>
        </p:spPr>
      </p:sp>
      <p:sp>
        <p:nvSpPr>
          <p:cNvPr id="29" name="Text 26"/>
          <p:cNvSpPr/>
          <p:nvPr/>
        </p:nvSpPr>
        <p:spPr>
          <a:xfrm>
            <a:off x="5120640" y="4645152"/>
            <a:ext cx="1828800" cy="685800"/>
          </a:xfrm>
          <a:prstGeom prst="rect">
            <a:avLst/>
          </a:prstGeom>
          <a:noFill/>
          <a:ln/>
        </p:spPr>
        <p:txBody>
          <a:bodyPr wrap="square" lIns="0" tIns="0" rIns="0" bIns="0" rtlCol="0" anchor="ctr"/>
          <a:lstStyle/>
          <a:p>
            <a:pPr algn="ctr" indent="0" marL="0">
              <a:buNone/>
            </a:pPr>
            <a:r>
              <a:rPr lang="en-US" sz="1200" b="1" dirty="0">
                <a:solidFill>
                  <a:srgbClr val="5F7189"/>
                </a:solidFill>
                <a:latin typeface="Calibri" pitchFamily="34" charset="0"/>
                <a:ea typeface="Calibri" pitchFamily="34" charset="-122"/>
                <a:cs typeface="Calibri" pitchFamily="34" charset="-120"/>
              </a:rPr>
              <a:t>Platform</a:t>
            </a:r>
            <a:endParaRPr lang="en-US" sz="1200" dirty="0"/>
          </a:p>
        </p:txBody>
      </p:sp>
      <p:sp>
        <p:nvSpPr>
          <p:cNvPr id="30" name="Shape 27"/>
          <p:cNvSpPr/>
          <p:nvPr/>
        </p:nvSpPr>
        <p:spPr>
          <a:xfrm>
            <a:off x="7232904" y="4645152"/>
            <a:ext cx="2057400" cy="685800"/>
          </a:xfrm>
          <a:prstGeom prst="roundRect">
            <a:avLst>
              <a:gd name="adj" fmla="val 6667"/>
            </a:avLst>
          </a:prstGeom>
          <a:solidFill>
            <a:srgbClr val="F3F4F6"/>
          </a:solidFill>
          <a:ln w="12700">
            <a:solidFill>
              <a:srgbClr val="D6DDE6"/>
            </a:solidFill>
            <a:prstDash val="solid"/>
          </a:ln>
        </p:spPr>
      </p:sp>
      <p:sp>
        <p:nvSpPr>
          <p:cNvPr id="31" name="Text 28"/>
          <p:cNvSpPr/>
          <p:nvPr/>
        </p:nvSpPr>
        <p:spPr>
          <a:xfrm>
            <a:off x="7342632" y="4645152"/>
            <a:ext cx="1828800" cy="685800"/>
          </a:xfrm>
          <a:prstGeom prst="rect">
            <a:avLst/>
          </a:prstGeom>
          <a:noFill/>
          <a:ln/>
        </p:spPr>
        <p:txBody>
          <a:bodyPr wrap="square" lIns="0" tIns="0" rIns="0" bIns="0" rtlCol="0" anchor="ctr"/>
          <a:lstStyle/>
          <a:p>
            <a:pPr algn="ctr" indent="0" marL="0">
              <a:buNone/>
            </a:pPr>
            <a:r>
              <a:rPr lang="en-US" sz="1200" b="1" dirty="0">
                <a:solidFill>
                  <a:srgbClr val="5F7189"/>
                </a:solidFill>
                <a:latin typeface="Calibri" pitchFamily="34" charset="0"/>
                <a:ea typeface="Calibri" pitchFamily="34" charset="-122"/>
                <a:cs typeface="Calibri" pitchFamily="34" charset="-120"/>
              </a:rPr>
              <a:t>Database</a:t>
            </a:r>
            <a:endParaRPr lang="en-US" sz="1200" dirty="0"/>
          </a:p>
        </p:txBody>
      </p:sp>
      <p:sp>
        <p:nvSpPr>
          <p:cNvPr id="32" name="Shape 29"/>
          <p:cNvSpPr/>
          <p:nvPr/>
        </p:nvSpPr>
        <p:spPr>
          <a:xfrm>
            <a:off x="9454896" y="4645152"/>
            <a:ext cx="2057400" cy="685800"/>
          </a:xfrm>
          <a:prstGeom prst="roundRect">
            <a:avLst>
              <a:gd name="adj" fmla="val 6667"/>
            </a:avLst>
          </a:prstGeom>
          <a:solidFill>
            <a:srgbClr val="F3F4F6"/>
          </a:solidFill>
          <a:ln w="12700">
            <a:solidFill>
              <a:srgbClr val="D6DDE6"/>
            </a:solidFill>
            <a:prstDash val="solid"/>
          </a:ln>
        </p:spPr>
      </p:sp>
      <p:sp>
        <p:nvSpPr>
          <p:cNvPr id="33" name="Text 30"/>
          <p:cNvSpPr/>
          <p:nvPr/>
        </p:nvSpPr>
        <p:spPr>
          <a:xfrm>
            <a:off x="9564624" y="4645152"/>
            <a:ext cx="1828800" cy="685800"/>
          </a:xfrm>
          <a:prstGeom prst="rect">
            <a:avLst/>
          </a:prstGeom>
          <a:noFill/>
          <a:ln/>
        </p:spPr>
        <p:txBody>
          <a:bodyPr wrap="square" lIns="0" tIns="0" rIns="0" bIns="0" rtlCol="0" anchor="ctr"/>
          <a:lstStyle/>
          <a:p>
            <a:pPr algn="ctr" indent="0" marL="0">
              <a:buNone/>
            </a:pPr>
            <a:r>
              <a:rPr lang="en-US" sz="1200" b="1" dirty="0">
                <a:solidFill>
                  <a:srgbClr val="5F7189"/>
                </a:solidFill>
                <a:latin typeface="Calibri" pitchFamily="34" charset="0"/>
                <a:ea typeface="Calibri" pitchFamily="34" charset="-122"/>
                <a:cs typeface="Calibri" pitchFamily="34" charset="-120"/>
              </a:rPr>
              <a:t>Azure / cloud cost</a:t>
            </a:r>
            <a:endParaRPr lang="en-US" sz="1200" dirty="0"/>
          </a:p>
        </p:txBody>
      </p:sp>
      <p:sp>
        <p:nvSpPr>
          <p:cNvPr id="34" name="Text 31"/>
          <p:cNvSpPr/>
          <p:nvPr/>
        </p:nvSpPr>
        <p:spPr>
          <a:xfrm>
            <a:off x="566928" y="5486400"/>
            <a:ext cx="11057839" cy="548640"/>
          </a:xfrm>
          <a:prstGeom prst="rect">
            <a:avLst/>
          </a:prstGeom>
          <a:noFill/>
          <a:ln/>
        </p:spPr>
        <p:txBody>
          <a:bodyPr wrap="square" lIns="0" tIns="0" rIns="0" bIns="0" rtlCol="0" anchor="t"/>
          <a:lstStyle/>
          <a:p>
            <a:pPr indent="0" marL="0">
              <a:buNone/>
            </a:pPr>
            <a:r>
              <a:rPr lang="en-US" sz="1200" dirty="0">
                <a:solidFill>
                  <a:srgbClr val="3A4557"/>
                </a:solidFill>
                <a:latin typeface="Calibri" pitchFamily="34" charset="0"/>
                <a:ea typeface="Calibri" pitchFamily="34" charset="-122"/>
                <a:cs typeface="Calibri" pitchFamily="34" charset="-120"/>
              </a:rPr>
              <a:t>The distinction matters: what exists is engineering instrumentation that happens to be readable. What does not exist is a product that arrives in a named audience's inbox on a schedule. Phase 6 builds the second one, alongside the dashboard consolidation.</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8778240" cy="256032"/>
          </a:xfrm>
          <a:prstGeom prst="rect">
            <a:avLst/>
          </a:prstGeom>
          <a:noFill/>
          <a:ln/>
        </p:spPr>
        <p:txBody>
          <a:bodyPr wrap="square" lIns="0" tIns="0" rIns="0" bIns="0" rtlCol="0" anchor="ctr"/>
          <a:lstStyle/>
          <a:p>
            <a:pPr indent="0" marL="0">
              <a:buNone/>
            </a:pPr>
            <a:r>
              <a:rPr lang="en-US" sz="1050" b="1" spc="160" kern="0" dirty="0">
                <a:solidFill>
                  <a:srgbClr val="B87914"/>
                </a:solidFill>
                <a:latin typeface="Calibri" pitchFamily="34" charset="0"/>
                <a:ea typeface="Calibri" pitchFamily="34" charset="-122"/>
                <a:cs typeface="Calibri" pitchFamily="34" charset="-120"/>
              </a:rPr>
              <a:t>TOPIC 23</a:t>
            </a:r>
            <a:endParaRPr lang="en-US" sz="1050" dirty="0"/>
          </a:p>
        </p:txBody>
      </p:sp>
      <p:sp>
        <p:nvSpPr>
          <p:cNvPr id="3" name="Text 1"/>
          <p:cNvSpPr/>
          <p:nvPr/>
        </p:nvSpPr>
        <p:spPr>
          <a:xfrm>
            <a:off x="566928" y="694944"/>
            <a:ext cx="10424160" cy="786384"/>
          </a:xfrm>
          <a:prstGeom prst="rect">
            <a:avLst/>
          </a:prstGeom>
          <a:noFill/>
          <a:ln/>
        </p:spPr>
        <p:txBody>
          <a:bodyPr wrap="square" lIns="0" tIns="0" rIns="0" bIns="0" rtlCol="0" anchor="ctr"/>
          <a:lstStyle/>
          <a:p>
            <a:pPr indent="0" marL="0">
              <a:buNone/>
            </a:pPr>
            <a:r>
              <a:rPr lang="en-US" sz="3100" b="1" dirty="0">
                <a:solidFill>
                  <a:srgbClr val="161C28"/>
                </a:solidFill>
                <a:latin typeface="Cambria" pitchFamily="34" charset="0"/>
                <a:ea typeface="Cambria" pitchFamily="34" charset="-122"/>
                <a:cs typeface="Cambria" pitchFamily="34" charset="-120"/>
              </a:rPr>
              <a:t>The minimal dashboard strategy</a:t>
            </a:r>
            <a:endParaRPr lang="en-US" sz="3100" dirty="0"/>
          </a:p>
        </p:txBody>
      </p:sp>
      <p:sp>
        <p:nvSpPr>
          <p:cNvPr id="4" name="Text 2"/>
          <p:cNvSpPr/>
          <p:nvPr/>
        </p:nvSpPr>
        <p:spPr>
          <a:xfrm>
            <a:off x="566928" y="1481328"/>
            <a:ext cx="10698480" cy="457200"/>
          </a:xfrm>
          <a:prstGeom prst="rect">
            <a:avLst/>
          </a:prstGeom>
          <a:noFill/>
          <a:ln/>
        </p:spPr>
        <p:txBody>
          <a:bodyPr wrap="square" lIns="0" tIns="0" rIns="0" bIns="0" rtlCol="0" anchor="t"/>
          <a:lstStyle/>
          <a:p>
            <a:pPr indent="0" marL="0">
              <a:buNone/>
            </a:pPr>
            <a:r>
              <a:rPr lang="en-US" sz="1450" dirty="0">
                <a:solidFill>
                  <a:srgbClr val="3A4557"/>
                </a:solidFill>
                <a:latin typeface="Calibri" pitchFamily="34" charset="0"/>
                <a:ea typeface="Calibri" pitchFamily="34" charset="-122"/>
                <a:cs typeface="Calibri" pitchFamily="34" charset="-120"/>
              </a:rPr>
              <a:t>Four boards for the enterprise. Per-service views are Datadog-native and free — a custom dashboard per service at estate scale is unmaintainable and redundant.</a:t>
            </a:r>
            <a:endParaRPr lang="en-US" sz="1450" dirty="0"/>
          </a:p>
        </p:txBody>
      </p:sp>
      <p:sp>
        <p:nvSpPr>
          <p:cNvPr id="5" name="Shape 3"/>
          <p:cNvSpPr/>
          <p:nvPr/>
        </p:nvSpPr>
        <p:spPr>
          <a:xfrm>
            <a:off x="9128455" y="420624"/>
            <a:ext cx="2496312" cy="310896"/>
          </a:xfrm>
          <a:prstGeom prst="roundRect">
            <a:avLst>
              <a:gd name="adj" fmla="val 50000"/>
            </a:avLst>
          </a:prstGeom>
          <a:solidFill>
            <a:srgbClr val="E09A2E"/>
          </a:solidFill>
          <a:ln w="12700">
            <a:solidFill>
              <a:srgbClr val="E09A2E"/>
            </a:solidFill>
            <a:prstDash val="solid"/>
          </a:ln>
        </p:spPr>
      </p:sp>
      <p:sp>
        <p:nvSpPr>
          <p:cNvPr id="6" name="Text 4"/>
          <p:cNvSpPr/>
          <p:nvPr/>
        </p:nvSpPr>
        <p:spPr>
          <a:xfrm>
            <a:off x="9128455" y="420624"/>
            <a:ext cx="2496312" cy="310896"/>
          </a:xfrm>
          <a:prstGeom prst="rect">
            <a:avLst/>
          </a:prstGeom>
          <a:noFill/>
          <a:ln/>
        </p:spPr>
        <p:txBody>
          <a:bodyPr wrap="square" lIns="0" tIns="0" rIns="0" bIns="0" rtlCol="0" anchor="ctr"/>
          <a:lstStyle/>
          <a:p>
            <a:pPr algn="ctr" indent="0" marL="0">
              <a:buNone/>
            </a:pPr>
            <a:r>
              <a:rPr lang="en-US" sz="950" b="1" spc="100" kern="0" dirty="0">
                <a:solidFill>
                  <a:srgbClr val="2A1D06"/>
                </a:solidFill>
                <a:latin typeface="Calibri" pitchFamily="34" charset="0"/>
                <a:ea typeface="Calibri" pitchFamily="34" charset="-122"/>
                <a:cs typeface="Calibri" pitchFamily="34" charset="-120"/>
              </a:rPr>
              <a:t>PARTIAL — 18, TARGET 4</a:t>
            </a:r>
            <a:endParaRPr lang="en-US" sz="950" dirty="0"/>
          </a:p>
        </p:txBody>
      </p:sp>
      <p:sp>
        <p:nvSpPr>
          <p:cNvPr id="7" name="Text 5"/>
          <p:cNvSpPr/>
          <p:nvPr/>
        </p:nvSpPr>
        <p:spPr>
          <a:xfrm>
            <a:off x="566928" y="6345936"/>
            <a:ext cx="7315200" cy="274320"/>
          </a:xfrm>
          <a:prstGeom prst="rect">
            <a:avLst/>
          </a:prstGeom>
          <a:noFill/>
          <a:ln/>
        </p:spPr>
        <p:txBody>
          <a:bodyPr wrap="square" lIns="0" tIns="0" rIns="0" bIns="0" rtlCol="0" anchor="ctr"/>
          <a:lstStyle/>
          <a:p>
            <a:pPr indent="0" marL="0">
              <a:buNone/>
            </a:pPr>
            <a:r>
              <a:rPr lang="en-US" sz="900" dirty="0">
                <a:solidFill>
                  <a:srgbClr val="6B7891"/>
                </a:solidFill>
                <a:latin typeface="Calibri" pitchFamily="34" charset="0"/>
                <a:ea typeface="Calibri" pitchFamily="34" charset="-122"/>
                <a:cs typeface="Calibri" pitchFamily="34" charset="-120"/>
              </a:rPr>
              <a:t>Enterprise Observability  ·  policy-as-data on Datadog</a:t>
            </a:r>
            <a:endParaRPr lang="en-US" sz="900" dirty="0"/>
          </a:p>
        </p:txBody>
      </p:sp>
      <p:sp>
        <p:nvSpPr>
          <p:cNvPr id="8" name="Text 6"/>
          <p:cNvSpPr/>
          <p:nvPr/>
        </p:nvSpPr>
        <p:spPr>
          <a:xfrm>
            <a:off x="10710367" y="6345936"/>
            <a:ext cx="914400" cy="274320"/>
          </a:xfrm>
          <a:prstGeom prst="rect">
            <a:avLst/>
          </a:prstGeom>
          <a:noFill/>
          <a:ln/>
        </p:spPr>
        <p:txBody>
          <a:bodyPr wrap="square" lIns="0" tIns="0" rIns="0" bIns="0" rtlCol="0" anchor="ctr"/>
          <a:lstStyle/>
          <a:p>
            <a:pPr algn="r" indent="0" marL="0">
              <a:buNone/>
            </a:pPr>
            <a:r>
              <a:rPr lang="en-US" sz="900" dirty="0">
                <a:solidFill>
                  <a:srgbClr val="6B7891"/>
                </a:solidFill>
                <a:latin typeface="Calibri" pitchFamily="34" charset="0"/>
                <a:ea typeface="Calibri" pitchFamily="34" charset="-122"/>
                <a:cs typeface="Calibri" pitchFamily="34" charset="-120"/>
              </a:rPr>
              <a:t>31</a:t>
            </a:r>
            <a:endParaRPr lang="en-US" sz="900" dirty="0"/>
          </a:p>
        </p:txBody>
      </p:sp>
      <p:sp>
        <p:nvSpPr>
          <p:cNvPr id="10" name="Shape 7"/>
          <p:cNvSpPr/>
          <p:nvPr/>
        </p:nvSpPr>
        <p:spPr>
          <a:xfrm>
            <a:off x="566928" y="2286000"/>
            <a:ext cx="2586152" cy="1463040"/>
          </a:xfrm>
          <a:prstGeom prst="roundRect">
            <a:avLst>
              <a:gd name="adj" fmla="val 3750"/>
            </a:avLst>
          </a:prstGeom>
          <a:solidFill>
            <a:srgbClr val="EFF2F6"/>
          </a:solidFill>
          <a:ln w="12700">
            <a:solidFill>
              <a:srgbClr val="EFF2F6"/>
            </a:solidFill>
            <a:prstDash val="solid"/>
          </a:ln>
        </p:spPr>
      </p:sp>
      <p:sp>
        <p:nvSpPr>
          <p:cNvPr id="11" name="Text 8"/>
          <p:cNvSpPr/>
          <p:nvPr/>
        </p:nvSpPr>
        <p:spPr>
          <a:xfrm>
            <a:off x="768096" y="2432304"/>
            <a:ext cx="2183816" cy="347472"/>
          </a:xfrm>
          <a:prstGeom prst="rect">
            <a:avLst/>
          </a:prstGeom>
          <a:noFill/>
          <a:ln/>
        </p:spPr>
        <p:txBody>
          <a:bodyPr wrap="square" lIns="0" tIns="0" rIns="0" bIns="0" rtlCol="0" anchor="t"/>
          <a:lstStyle/>
          <a:p>
            <a:pPr indent="0" marL="0">
              <a:buNone/>
            </a:pPr>
            <a:r>
              <a:rPr lang="en-US" sz="1450" b="1" dirty="0">
                <a:solidFill>
                  <a:srgbClr val="161C28"/>
                </a:solidFill>
                <a:latin typeface="Calibri" pitchFamily="34" charset="0"/>
                <a:ea typeface="Calibri" pitchFamily="34" charset="-122"/>
                <a:cs typeface="Calibri" pitchFamily="34" charset="-120"/>
              </a:rPr>
              <a:t>Enterprise overview</a:t>
            </a:r>
            <a:endParaRPr lang="en-US" sz="1450" dirty="0"/>
          </a:p>
        </p:txBody>
      </p:sp>
      <p:sp>
        <p:nvSpPr>
          <p:cNvPr id="12" name="Text 9"/>
          <p:cNvSpPr/>
          <p:nvPr/>
        </p:nvSpPr>
        <p:spPr>
          <a:xfrm>
            <a:off x="768096" y="2816352"/>
            <a:ext cx="2183816" cy="786384"/>
          </a:xfrm>
          <a:prstGeom prst="rect">
            <a:avLst/>
          </a:prstGeom>
          <a:noFill/>
          <a:ln/>
        </p:spPr>
        <p:txBody>
          <a:bodyPr wrap="square" lIns="0" tIns="0" rIns="0" bIns="0" rtlCol="0" anchor="t"/>
          <a:lstStyle/>
          <a:p>
            <a:pPr indent="0" marL="0">
              <a:lnSpc>
                <a:spcPct val="102000"/>
              </a:lnSpc>
              <a:buNone/>
            </a:pPr>
            <a:r>
              <a:rPr lang="en-US" sz="1150" dirty="0">
                <a:solidFill>
                  <a:srgbClr val="3A4557"/>
                </a:solidFill>
                <a:latin typeface="Calibri" pitchFamily="34" charset="0"/>
                <a:ea typeface="Calibri" pitchFamily="34" charset="-122"/>
                <a:cs typeface="Calibri" pitchFamily="34" charset="-120"/>
              </a:rPr>
              <a:t>Estate health by domain, SLO status, error-budget position. The leadership view.</a:t>
            </a:r>
            <a:endParaRPr lang="en-US" sz="1150" dirty="0"/>
          </a:p>
        </p:txBody>
      </p:sp>
      <p:sp>
        <p:nvSpPr>
          <p:cNvPr id="13" name="Shape 10"/>
          <p:cNvSpPr/>
          <p:nvPr/>
        </p:nvSpPr>
        <p:spPr>
          <a:xfrm>
            <a:off x="3390824" y="2286000"/>
            <a:ext cx="2586152" cy="1463040"/>
          </a:xfrm>
          <a:prstGeom prst="roundRect">
            <a:avLst>
              <a:gd name="adj" fmla="val 3750"/>
            </a:avLst>
          </a:prstGeom>
          <a:solidFill>
            <a:srgbClr val="EFF2F6"/>
          </a:solidFill>
          <a:ln w="12700">
            <a:solidFill>
              <a:srgbClr val="EFF2F6"/>
            </a:solidFill>
            <a:prstDash val="solid"/>
          </a:ln>
        </p:spPr>
      </p:sp>
      <p:sp>
        <p:nvSpPr>
          <p:cNvPr id="14" name="Text 11"/>
          <p:cNvSpPr/>
          <p:nvPr/>
        </p:nvSpPr>
        <p:spPr>
          <a:xfrm>
            <a:off x="3591992" y="2432304"/>
            <a:ext cx="2183816" cy="347472"/>
          </a:xfrm>
          <a:prstGeom prst="rect">
            <a:avLst/>
          </a:prstGeom>
          <a:noFill/>
          <a:ln/>
        </p:spPr>
        <p:txBody>
          <a:bodyPr wrap="square" lIns="0" tIns="0" rIns="0" bIns="0" rtlCol="0" anchor="t"/>
          <a:lstStyle/>
          <a:p>
            <a:pPr indent="0" marL="0">
              <a:buNone/>
            </a:pPr>
            <a:r>
              <a:rPr lang="en-US" sz="1450" b="1" dirty="0">
                <a:solidFill>
                  <a:srgbClr val="161C28"/>
                </a:solidFill>
                <a:latin typeface="Calibri" pitchFamily="34" charset="0"/>
                <a:ea typeface="Calibri" pitchFamily="34" charset="-122"/>
                <a:cs typeface="Calibri" pitchFamily="34" charset="-120"/>
              </a:rPr>
              <a:t>Operations overview</a:t>
            </a:r>
            <a:endParaRPr lang="en-US" sz="1450" dirty="0"/>
          </a:p>
        </p:txBody>
      </p:sp>
      <p:sp>
        <p:nvSpPr>
          <p:cNvPr id="15" name="Text 12"/>
          <p:cNvSpPr/>
          <p:nvPr/>
        </p:nvSpPr>
        <p:spPr>
          <a:xfrm>
            <a:off x="3591992" y="2816352"/>
            <a:ext cx="2183816" cy="786384"/>
          </a:xfrm>
          <a:prstGeom prst="rect">
            <a:avLst/>
          </a:prstGeom>
          <a:noFill/>
          <a:ln/>
        </p:spPr>
        <p:txBody>
          <a:bodyPr wrap="square" lIns="0" tIns="0" rIns="0" bIns="0" rtlCol="0" anchor="t"/>
          <a:lstStyle/>
          <a:p>
            <a:pPr indent="0" marL="0">
              <a:lnSpc>
                <a:spcPct val="102000"/>
              </a:lnSpc>
              <a:buNone/>
            </a:pPr>
            <a:r>
              <a:rPr lang="en-US" sz="1150" dirty="0">
                <a:solidFill>
                  <a:srgbClr val="3A4557"/>
                </a:solidFill>
                <a:latin typeface="Calibri" pitchFamily="34" charset="0"/>
                <a:ea typeface="Calibri" pitchFamily="34" charset="-122"/>
                <a:cs typeface="Calibri" pitchFamily="34" charset="-120"/>
              </a:rPr>
              <a:t>What is alerting now, correlation groups, change events, the current storm state.</a:t>
            </a:r>
            <a:endParaRPr lang="en-US" sz="1150" dirty="0"/>
          </a:p>
        </p:txBody>
      </p:sp>
      <p:sp>
        <p:nvSpPr>
          <p:cNvPr id="16" name="Shape 13"/>
          <p:cNvSpPr/>
          <p:nvPr/>
        </p:nvSpPr>
        <p:spPr>
          <a:xfrm>
            <a:off x="6214720" y="2286000"/>
            <a:ext cx="2586152" cy="1463040"/>
          </a:xfrm>
          <a:prstGeom prst="roundRect">
            <a:avLst>
              <a:gd name="adj" fmla="val 3750"/>
            </a:avLst>
          </a:prstGeom>
          <a:solidFill>
            <a:srgbClr val="EFF2F6"/>
          </a:solidFill>
          <a:ln w="12700">
            <a:solidFill>
              <a:srgbClr val="EFF2F6"/>
            </a:solidFill>
            <a:prstDash val="solid"/>
          </a:ln>
        </p:spPr>
      </p:sp>
      <p:sp>
        <p:nvSpPr>
          <p:cNvPr id="17" name="Text 14"/>
          <p:cNvSpPr/>
          <p:nvPr/>
        </p:nvSpPr>
        <p:spPr>
          <a:xfrm>
            <a:off x="6415888" y="2432304"/>
            <a:ext cx="2183816" cy="347472"/>
          </a:xfrm>
          <a:prstGeom prst="rect">
            <a:avLst/>
          </a:prstGeom>
          <a:noFill/>
          <a:ln/>
        </p:spPr>
        <p:txBody>
          <a:bodyPr wrap="square" lIns="0" tIns="0" rIns="0" bIns="0" rtlCol="0" anchor="t"/>
          <a:lstStyle/>
          <a:p>
            <a:pPr indent="0" marL="0">
              <a:buNone/>
            </a:pPr>
            <a:r>
              <a:rPr lang="en-US" sz="1450" b="1" dirty="0">
                <a:solidFill>
                  <a:srgbClr val="161C28"/>
                </a:solidFill>
                <a:latin typeface="Calibri" pitchFamily="34" charset="0"/>
                <a:ea typeface="Calibri" pitchFamily="34" charset="-122"/>
                <a:cs typeface="Calibri" pitchFamily="34" charset="-120"/>
              </a:rPr>
              <a:t>On-call board</a:t>
            </a:r>
            <a:endParaRPr lang="en-US" sz="1450" dirty="0"/>
          </a:p>
        </p:txBody>
      </p:sp>
      <p:sp>
        <p:nvSpPr>
          <p:cNvPr id="18" name="Text 15"/>
          <p:cNvSpPr/>
          <p:nvPr/>
        </p:nvSpPr>
        <p:spPr>
          <a:xfrm>
            <a:off x="6415888" y="2816352"/>
            <a:ext cx="2183816" cy="786384"/>
          </a:xfrm>
          <a:prstGeom prst="rect">
            <a:avLst/>
          </a:prstGeom>
          <a:noFill/>
          <a:ln/>
        </p:spPr>
        <p:txBody>
          <a:bodyPr wrap="square" lIns="0" tIns="0" rIns="0" bIns="0" rtlCol="0" anchor="t"/>
          <a:lstStyle/>
          <a:p>
            <a:pPr indent="0" marL="0">
              <a:lnSpc>
                <a:spcPct val="102000"/>
              </a:lnSpc>
              <a:buNone/>
            </a:pPr>
            <a:r>
              <a:rPr lang="en-US" sz="1150" dirty="0">
                <a:solidFill>
                  <a:srgbClr val="3A4557"/>
                </a:solidFill>
                <a:latin typeface="Calibri" pitchFamily="34" charset="0"/>
                <a:ea typeface="Calibri" pitchFamily="34" charset="-122"/>
                <a:cs typeface="Calibri" pitchFamily="34" charset="-120"/>
              </a:rPr>
              <a:t>One screen for the person holding the pager: active pages, ack state, escalation.</a:t>
            </a:r>
            <a:endParaRPr lang="en-US" sz="1150" dirty="0"/>
          </a:p>
        </p:txBody>
      </p:sp>
      <p:sp>
        <p:nvSpPr>
          <p:cNvPr id="19" name="Shape 16"/>
          <p:cNvSpPr/>
          <p:nvPr/>
        </p:nvSpPr>
        <p:spPr>
          <a:xfrm>
            <a:off x="9038615" y="2286000"/>
            <a:ext cx="2586152" cy="1463040"/>
          </a:xfrm>
          <a:prstGeom prst="roundRect">
            <a:avLst>
              <a:gd name="adj" fmla="val 3750"/>
            </a:avLst>
          </a:prstGeom>
          <a:solidFill>
            <a:srgbClr val="EFF2F6"/>
          </a:solidFill>
          <a:ln w="12700">
            <a:solidFill>
              <a:srgbClr val="EFF2F6"/>
            </a:solidFill>
            <a:prstDash val="solid"/>
          </a:ln>
        </p:spPr>
      </p:sp>
      <p:sp>
        <p:nvSpPr>
          <p:cNvPr id="20" name="Text 17"/>
          <p:cNvSpPr/>
          <p:nvPr/>
        </p:nvSpPr>
        <p:spPr>
          <a:xfrm>
            <a:off x="9239783" y="2432304"/>
            <a:ext cx="2183816" cy="347472"/>
          </a:xfrm>
          <a:prstGeom prst="rect">
            <a:avLst/>
          </a:prstGeom>
          <a:noFill/>
          <a:ln/>
        </p:spPr>
        <p:txBody>
          <a:bodyPr wrap="square" lIns="0" tIns="0" rIns="0" bIns="0" rtlCol="0" anchor="t"/>
          <a:lstStyle/>
          <a:p>
            <a:pPr indent="0" marL="0">
              <a:buNone/>
            </a:pPr>
            <a:r>
              <a:rPr lang="en-US" sz="1450" b="1" dirty="0">
                <a:solidFill>
                  <a:srgbClr val="161C28"/>
                </a:solidFill>
                <a:latin typeface="Calibri" pitchFamily="34" charset="0"/>
                <a:ea typeface="Calibri" pitchFamily="34" charset="-122"/>
                <a:cs typeface="Calibri" pitchFamily="34" charset="-120"/>
              </a:rPr>
              <a:t>Alert quality</a:t>
            </a:r>
            <a:endParaRPr lang="en-US" sz="1450" dirty="0"/>
          </a:p>
        </p:txBody>
      </p:sp>
      <p:sp>
        <p:nvSpPr>
          <p:cNvPr id="21" name="Text 18"/>
          <p:cNvSpPr/>
          <p:nvPr/>
        </p:nvSpPr>
        <p:spPr>
          <a:xfrm>
            <a:off x="9239783" y="2816352"/>
            <a:ext cx="2183816" cy="786384"/>
          </a:xfrm>
          <a:prstGeom prst="rect">
            <a:avLst/>
          </a:prstGeom>
          <a:noFill/>
          <a:ln/>
        </p:spPr>
        <p:txBody>
          <a:bodyPr wrap="square" lIns="0" tIns="0" rIns="0" bIns="0" rtlCol="0" anchor="t"/>
          <a:lstStyle/>
          <a:p>
            <a:pPr indent="0" marL="0">
              <a:lnSpc>
                <a:spcPct val="102000"/>
              </a:lnSpc>
              <a:buNone/>
            </a:pPr>
            <a:r>
              <a:rPr lang="en-US" sz="1150" dirty="0">
                <a:solidFill>
                  <a:srgbClr val="3A4557"/>
                </a:solidFill>
                <a:latin typeface="Calibri" pitchFamily="34" charset="0"/>
                <a:ea typeface="Calibri" pitchFamily="34" charset="-122"/>
                <a:cs typeface="Calibri" pitchFamily="34" charset="-120"/>
              </a:rPr>
              <a:t>Pages per team, the top 20 noisiest monitors, actionability and auto-resolve rates.</a:t>
            </a:r>
            <a:endParaRPr lang="en-US" sz="1150" dirty="0"/>
          </a:p>
        </p:txBody>
      </p:sp>
      <p:sp>
        <p:nvSpPr>
          <p:cNvPr id="22" name="Shape 19"/>
          <p:cNvSpPr/>
          <p:nvPr/>
        </p:nvSpPr>
        <p:spPr>
          <a:xfrm>
            <a:off x="566928" y="3977640"/>
            <a:ext cx="5349240" cy="1325880"/>
          </a:xfrm>
          <a:prstGeom prst="roundRect">
            <a:avLst>
              <a:gd name="adj" fmla="val 4828"/>
            </a:avLst>
          </a:prstGeom>
          <a:solidFill>
            <a:srgbClr val="FBF1E2"/>
          </a:solidFill>
          <a:ln w="12700">
            <a:solidFill>
              <a:srgbClr val="FBF1E2"/>
            </a:solidFill>
            <a:prstDash val="solid"/>
          </a:ln>
        </p:spPr>
      </p:sp>
      <p:sp>
        <p:nvSpPr>
          <p:cNvPr id="23" name="Text 20"/>
          <p:cNvSpPr/>
          <p:nvPr/>
        </p:nvSpPr>
        <p:spPr>
          <a:xfrm>
            <a:off x="841248" y="4133088"/>
            <a:ext cx="4846320" cy="502920"/>
          </a:xfrm>
          <a:prstGeom prst="rect">
            <a:avLst/>
          </a:prstGeom>
          <a:noFill/>
          <a:ln/>
        </p:spPr>
        <p:txBody>
          <a:bodyPr wrap="square" lIns="0" tIns="0" rIns="0" bIns="0" rtlCol="0" anchor="ctr"/>
          <a:lstStyle/>
          <a:p>
            <a:pPr algn="l" indent="0" marL="0">
              <a:buNone/>
            </a:pPr>
            <a:r>
              <a:rPr lang="en-US" sz="2800" b="1" dirty="0">
                <a:solidFill>
                  <a:srgbClr val="5C4514"/>
                </a:solidFill>
                <a:latin typeface="Cambria" pitchFamily="34" charset="0"/>
                <a:ea typeface="Cambria" pitchFamily="34" charset="-122"/>
                <a:cs typeface="Cambria" pitchFamily="34" charset="-120"/>
              </a:rPr>
              <a:t>18 today  →  4</a:t>
            </a:r>
            <a:endParaRPr lang="en-US" sz="2800" dirty="0"/>
          </a:p>
        </p:txBody>
      </p:sp>
      <p:sp>
        <p:nvSpPr>
          <p:cNvPr id="24" name="Text 21"/>
          <p:cNvSpPr/>
          <p:nvPr/>
        </p:nvSpPr>
        <p:spPr>
          <a:xfrm>
            <a:off x="841248" y="4599432"/>
            <a:ext cx="4846320" cy="548640"/>
          </a:xfrm>
          <a:prstGeom prst="rect">
            <a:avLst/>
          </a:prstGeom>
          <a:noFill/>
          <a:ln/>
        </p:spPr>
        <p:txBody>
          <a:bodyPr wrap="square" lIns="0" tIns="0" rIns="0" bIns="0" rtlCol="0" anchor="t"/>
          <a:lstStyle/>
          <a:p>
            <a:pPr algn="l" indent="0" marL="0">
              <a:buNone/>
            </a:pPr>
            <a:r>
              <a:rPr lang="en-US" sz="1100" dirty="0">
                <a:solidFill>
                  <a:srgbClr val="7A5A1E"/>
                </a:solidFill>
                <a:latin typeface="Calibri" pitchFamily="34" charset="0"/>
                <a:ea typeface="Calibri" pitchFamily="34" charset="-122"/>
                <a:cs typeface="Calibri" pitchFamily="34" charset="-120"/>
              </a:rPr>
              <a:t>Four hand-authored boards plus fourteen generated per-domain drill-downs. Phase 6 retires the generator in favour of Datadog's native domain views.</a:t>
            </a:r>
            <a:endParaRPr lang="en-US" sz="1100" dirty="0"/>
          </a:p>
        </p:txBody>
      </p:sp>
      <p:sp>
        <p:nvSpPr>
          <p:cNvPr id="25" name="Shape 22"/>
          <p:cNvSpPr/>
          <p:nvPr/>
        </p:nvSpPr>
        <p:spPr>
          <a:xfrm>
            <a:off x="6281928" y="3977640"/>
            <a:ext cx="5349240" cy="1325880"/>
          </a:xfrm>
          <a:prstGeom prst="roundRect">
            <a:avLst>
              <a:gd name="adj" fmla="val 4828"/>
            </a:avLst>
          </a:prstGeom>
          <a:solidFill>
            <a:srgbClr val="12161F"/>
          </a:solidFill>
          <a:ln w="12700">
            <a:solidFill>
              <a:srgbClr val="12161F"/>
            </a:solidFill>
            <a:prstDash val="solid"/>
          </a:ln>
        </p:spPr>
      </p:sp>
      <p:sp>
        <p:nvSpPr>
          <p:cNvPr id="26" name="Text 23"/>
          <p:cNvSpPr/>
          <p:nvPr/>
        </p:nvSpPr>
        <p:spPr>
          <a:xfrm>
            <a:off x="6537960" y="4114800"/>
            <a:ext cx="4846320" cy="274320"/>
          </a:xfrm>
          <a:prstGeom prst="rect">
            <a:avLst/>
          </a:prstGeom>
          <a:noFill/>
          <a:ln/>
        </p:spPr>
        <p:txBody>
          <a:bodyPr wrap="square" lIns="0" tIns="0" rIns="0" bIns="0" rtlCol="0" anchor="ctr"/>
          <a:lstStyle/>
          <a:p>
            <a:pPr indent="0" marL="0">
              <a:buNone/>
            </a:pPr>
            <a:r>
              <a:rPr lang="en-US" sz="950" b="1" spc="150" kern="0" dirty="0">
                <a:solidFill>
                  <a:srgbClr val="E09A2E"/>
                </a:solidFill>
                <a:latin typeface="Calibri" pitchFamily="34" charset="0"/>
                <a:ea typeface="Calibri" pitchFamily="34" charset="-122"/>
                <a:cs typeface="Calibri" pitchFamily="34" charset="-120"/>
              </a:rPr>
              <a:t>THE RULE TO HOLD US TO</a:t>
            </a:r>
            <a:endParaRPr lang="en-US" sz="950" dirty="0"/>
          </a:p>
        </p:txBody>
      </p:sp>
      <p:sp>
        <p:nvSpPr>
          <p:cNvPr id="27" name="Text 24"/>
          <p:cNvSpPr/>
          <p:nvPr/>
        </p:nvSpPr>
        <p:spPr>
          <a:xfrm>
            <a:off x="6537960" y="4425696"/>
            <a:ext cx="4846320" cy="777240"/>
          </a:xfrm>
          <a:prstGeom prst="rect">
            <a:avLst/>
          </a:prstGeom>
          <a:noFill/>
          <a:ln/>
        </p:spPr>
        <p:txBody>
          <a:bodyPr wrap="square" lIns="0" tIns="0" rIns="0" bIns="0" rtlCol="0" anchor="t"/>
          <a:lstStyle/>
          <a:p>
            <a:pPr indent="0" marL="0">
              <a:buNone/>
            </a:pPr>
            <a:r>
              <a:rPr lang="en-US" sz="1200" dirty="0">
                <a:solidFill>
                  <a:srgbClr val="C6D0DF"/>
                </a:solidFill>
                <a:latin typeface="Calibri" pitchFamily="34" charset="0"/>
                <a:ea typeface="Calibri" pitchFamily="34" charset="-122"/>
                <a:cs typeface="Calibri" pitchFamily="34" charset="-120"/>
              </a:rPr>
              <a:t>A dashboard is not a deliverable. Nobody's reliability improved because a board existed. The four we keep each drive a decision: is the estate healthy, what is on fire, who holds the pager, and is our alerting any good.</a:t>
            </a:r>
            <a:endParaRPr lang="en-US" sz="1200" dirty="0"/>
          </a:p>
        </p:txBody>
      </p:sp>
      <p:sp>
        <p:nvSpPr>
          <p:cNvPr id="28" name="Text 25"/>
          <p:cNvSpPr/>
          <p:nvPr/>
        </p:nvSpPr>
        <p:spPr>
          <a:xfrm>
            <a:off x="566928" y="5468112"/>
            <a:ext cx="11057839" cy="548640"/>
          </a:xfrm>
          <a:prstGeom prst="rect">
            <a:avLst/>
          </a:prstGeom>
          <a:noFill/>
          <a:ln/>
        </p:spPr>
        <p:txBody>
          <a:bodyPr wrap="square" lIns="0" tIns="0" rIns="0" bIns="0" rtlCol="0" anchor="t"/>
          <a:lstStyle/>
          <a:p>
            <a:pPr indent="0" marL="0">
              <a:buNone/>
            </a:pPr>
            <a:r>
              <a:rPr lang="en-US" sz="1200" dirty="0">
                <a:solidFill>
                  <a:srgbClr val="3A4557"/>
                </a:solidFill>
                <a:latin typeface="Calibri" pitchFamily="34" charset="0"/>
                <a:ea typeface="Calibri" pitchFamily="34" charset="-122"/>
                <a:cs typeface="Calibri" pitchFamily="34" charset="-120"/>
              </a:rPr>
              <a:t>Deliberately not built: a dashboard per service. At 100,000 services that is 100,000 boards to maintain, all of them worse than the Service Catalog entry Datadog generates for free.</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8778240" cy="256032"/>
          </a:xfrm>
          <a:prstGeom prst="rect">
            <a:avLst/>
          </a:prstGeom>
          <a:noFill/>
          <a:ln/>
        </p:spPr>
        <p:txBody>
          <a:bodyPr wrap="square" lIns="0" tIns="0" rIns="0" bIns="0" rtlCol="0" anchor="ctr"/>
          <a:lstStyle/>
          <a:p>
            <a:pPr indent="0" marL="0">
              <a:buNone/>
            </a:pPr>
            <a:r>
              <a:rPr lang="en-US" sz="1050" b="1" spc="160" kern="0" dirty="0">
                <a:solidFill>
                  <a:srgbClr val="B87914"/>
                </a:solidFill>
                <a:latin typeface="Calibri" pitchFamily="34" charset="0"/>
                <a:ea typeface="Calibri" pitchFamily="34" charset="-122"/>
                <a:cs typeface="Calibri" pitchFamily="34" charset="-120"/>
              </a:rPr>
              <a:t>TOPIC 24</a:t>
            </a:r>
            <a:endParaRPr lang="en-US" sz="1050" dirty="0"/>
          </a:p>
        </p:txBody>
      </p:sp>
      <p:sp>
        <p:nvSpPr>
          <p:cNvPr id="3" name="Text 1"/>
          <p:cNvSpPr/>
          <p:nvPr/>
        </p:nvSpPr>
        <p:spPr>
          <a:xfrm>
            <a:off x="566928" y="694944"/>
            <a:ext cx="10424160" cy="786384"/>
          </a:xfrm>
          <a:prstGeom prst="rect">
            <a:avLst/>
          </a:prstGeom>
          <a:noFill/>
          <a:ln/>
        </p:spPr>
        <p:txBody>
          <a:bodyPr wrap="square" lIns="0" tIns="0" rIns="0" bIns="0" rtlCol="0" anchor="ctr"/>
          <a:lstStyle/>
          <a:p>
            <a:pPr indent="0" marL="0">
              <a:buNone/>
            </a:pPr>
            <a:r>
              <a:rPr lang="en-US" sz="3100" b="1" dirty="0">
                <a:solidFill>
                  <a:srgbClr val="161C28"/>
                </a:solidFill>
                <a:latin typeface="Cambria" pitchFamily="34" charset="0"/>
                <a:ea typeface="Cambria" pitchFamily="34" charset="-122"/>
                <a:cs typeface="Cambria" pitchFamily="34" charset="-120"/>
              </a:rPr>
              <a:t>MCP — Ask</a:t>
            </a:r>
            <a:endParaRPr lang="en-US" sz="3100" dirty="0"/>
          </a:p>
        </p:txBody>
      </p:sp>
      <p:sp>
        <p:nvSpPr>
          <p:cNvPr id="4" name="Text 2"/>
          <p:cNvSpPr/>
          <p:nvPr/>
        </p:nvSpPr>
        <p:spPr>
          <a:xfrm>
            <a:off x="566928" y="1481328"/>
            <a:ext cx="10698480" cy="457200"/>
          </a:xfrm>
          <a:prstGeom prst="rect">
            <a:avLst/>
          </a:prstGeom>
          <a:noFill/>
          <a:ln/>
        </p:spPr>
        <p:txBody>
          <a:bodyPr wrap="square" lIns="0" tIns="0" rIns="0" bIns="0" rtlCol="0" anchor="t"/>
          <a:lstStyle/>
          <a:p>
            <a:pPr indent="0" marL="0">
              <a:buNone/>
            </a:pPr>
            <a:r>
              <a:rPr lang="en-US" sz="1450" dirty="0">
                <a:solidFill>
                  <a:srgbClr val="3A4557"/>
                </a:solidFill>
                <a:latin typeface="Calibri" pitchFamily="34" charset="0"/>
                <a:ea typeface="Calibri" pitchFamily="34" charset="-122"/>
                <a:cs typeface="Calibri" pitchFamily="34" charset="-120"/>
              </a:rPr>
              <a:t>A conversational interface to the platform's own state, grounded in live data rather than in a model's recollection. Nothing of this exists today.</a:t>
            </a:r>
            <a:endParaRPr lang="en-US" sz="1450" dirty="0"/>
          </a:p>
        </p:txBody>
      </p:sp>
      <p:sp>
        <p:nvSpPr>
          <p:cNvPr id="5" name="Shape 3"/>
          <p:cNvSpPr/>
          <p:nvPr/>
        </p:nvSpPr>
        <p:spPr>
          <a:xfrm>
            <a:off x="9608515" y="420624"/>
            <a:ext cx="2016252" cy="310896"/>
          </a:xfrm>
          <a:prstGeom prst="roundRect">
            <a:avLst>
              <a:gd name="adj" fmla="val 50000"/>
            </a:avLst>
          </a:prstGeom>
          <a:solidFill>
            <a:srgbClr val="DFE5EE"/>
          </a:solidFill>
          <a:ln w="12700">
            <a:solidFill>
              <a:srgbClr val="DFE5EE"/>
            </a:solidFill>
            <a:prstDash val="solid"/>
          </a:ln>
        </p:spPr>
      </p:sp>
      <p:sp>
        <p:nvSpPr>
          <p:cNvPr id="6" name="Text 4"/>
          <p:cNvSpPr/>
          <p:nvPr/>
        </p:nvSpPr>
        <p:spPr>
          <a:xfrm>
            <a:off x="9608515" y="420624"/>
            <a:ext cx="2016252" cy="310896"/>
          </a:xfrm>
          <a:prstGeom prst="rect">
            <a:avLst/>
          </a:prstGeom>
          <a:noFill/>
          <a:ln/>
        </p:spPr>
        <p:txBody>
          <a:bodyPr wrap="square" lIns="0" tIns="0" rIns="0" bIns="0" rtlCol="0" anchor="ctr"/>
          <a:lstStyle/>
          <a:p>
            <a:pPr algn="ctr" indent="0" marL="0">
              <a:buNone/>
            </a:pPr>
            <a:r>
              <a:rPr lang="en-US" sz="950" b="1" spc="100" kern="0" dirty="0">
                <a:solidFill>
                  <a:srgbClr val="5F7189"/>
                </a:solidFill>
                <a:latin typeface="Calibri" pitchFamily="34" charset="0"/>
                <a:ea typeface="Calibri" pitchFamily="34" charset="-122"/>
                <a:cs typeface="Calibri" pitchFamily="34" charset="-120"/>
              </a:rPr>
              <a:t>ROADMAP · PHASE 7</a:t>
            </a:r>
            <a:endParaRPr lang="en-US" sz="950" dirty="0"/>
          </a:p>
        </p:txBody>
      </p:sp>
      <p:sp>
        <p:nvSpPr>
          <p:cNvPr id="7" name="Text 5"/>
          <p:cNvSpPr/>
          <p:nvPr/>
        </p:nvSpPr>
        <p:spPr>
          <a:xfrm>
            <a:off x="566928" y="6345936"/>
            <a:ext cx="7315200" cy="274320"/>
          </a:xfrm>
          <a:prstGeom prst="rect">
            <a:avLst/>
          </a:prstGeom>
          <a:noFill/>
          <a:ln/>
        </p:spPr>
        <p:txBody>
          <a:bodyPr wrap="square" lIns="0" tIns="0" rIns="0" bIns="0" rtlCol="0" anchor="ctr"/>
          <a:lstStyle/>
          <a:p>
            <a:pPr indent="0" marL="0">
              <a:buNone/>
            </a:pPr>
            <a:r>
              <a:rPr lang="en-US" sz="900" dirty="0">
                <a:solidFill>
                  <a:srgbClr val="6B7891"/>
                </a:solidFill>
                <a:latin typeface="Calibri" pitchFamily="34" charset="0"/>
                <a:ea typeface="Calibri" pitchFamily="34" charset="-122"/>
                <a:cs typeface="Calibri" pitchFamily="34" charset="-120"/>
              </a:rPr>
              <a:t>Enterprise Observability  ·  policy-as-data on Datadog</a:t>
            </a:r>
            <a:endParaRPr lang="en-US" sz="900" dirty="0"/>
          </a:p>
        </p:txBody>
      </p:sp>
      <p:sp>
        <p:nvSpPr>
          <p:cNvPr id="8" name="Text 6"/>
          <p:cNvSpPr/>
          <p:nvPr/>
        </p:nvSpPr>
        <p:spPr>
          <a:xfrm>
            <a:off x="10710367" y="6345936"/>
            <a:ext cx="914400" cy="274320"/>
          </a:xfrm>
          <a:prstGeom prst="rect">
            <a:avLst/>
          </a:prstGeom>
          <a:noFill/>
          <a:ln/>
        </p:spPr>
        <p:txBody>
          <a:bodyPr wrap="square" lIns="0" tIns="0" rIns="0" bIns="0" rtlCol="0" anchor="ctr"/>
          <a:lstStyle/>
          <a:p>
            <a:pPr algn="r" indent="0" marL="0">
              <a:buNone/>
            </a:pPr>
            <a:r>
              <a:rPr lang="en-US" sz="900" dirty="0">
                <a:solidFill>
                  <a:srgbClr val="6B7891"/>
                </a:solidFill>
                <a:latin typeface="Calibri" pitchFamily="34" charset="0"/>
                <a:ea typeface="Calibri" pitchFamily="34" charset="-122"/>
                <a:cs typeface="Calibri" pitchFamily="34" charset="-120"/>
              </a:rPr>
              <a:t>32</a:t>
            </a:r>
            <a:endParaRPr lang="en-US" sz="900" dirty="0"/>
          </a:p>
        </p:txBody>
      </p:sp>
      <p:sp>
        <p:nvSpPr>
          <p:cNvPr id="10" name="Shape 7"/>
          <p:cNvSpPr/>
          <p:nvPr/>
        </p:nvSpPr>
        <p:spPr>
          <a:xfrm>
            <a:off x="566928" y="2240280"/>
            <a:ext cx="5349240" cy="3520440"/>
          </a:xfrm>
          <a:prstGeom prst="roundRect">
            <a:avLst>
              <a:gd name="adj" fmla="val 1818"/>
            </a:avLst>
          </a:prstGeom>
          <a:solidFill>
            <a:srgbClr val="12161F"/>
          </a:solidFill>
          <a:ln w="12700">
            <a:solidFill>
              <a:srgbClr val="12161F"/>
            </a:solidFill>
            <a:prstDash val="solid"/>
          </a:ln>
        </p:spPr>
      </p:sp>
      <p:sp>
        <p:nvSpPr>
          <p:cNvPr id="11" name="Text 8"/>
          <p:cNvSpPr/>
          <p:nvPr/>
        </p:nvSpPr>
        <p:spPr>
          <a:xfrm>
            <a:off x="822960" y="2395728"/>
            <a:ext cx="4846320" cy="274320"/>
          </a:xfrm>
          <a:prstGeom prst="rect">
            <a:avLst/>
          </a:prstGeom>
          <a:noFill/>
          <a:ln/>
        </p:spPr>
        <p:txBody>
          <a:bodyPr wrap="square" lIns="0" tIns="0" rIns="0" bIns="0" rtlCol="0" anchor="ctr"/>
          <a:lstStyle/>
          <a:p>
            <a:pPr indent="0" marL="0">
              <a:buNone/>
            </a:pPr>
            <a:r>
              <a:rPr lang="en-US" sz="950" b="1" spc="130" kern="0" dirty="0">
                <a:solidFill>
                  <a:srgbClr val="E09A2E"/>
                </a:solidFill>
                <a:latin typeface="Calibri" pitchFamily="34" charset="0"/>
                <a:ea typeface="Calibri" pitchFamily="34" charset="-122"/>
                <a:cs typeface="Calibri" pitchFamily="34" charset="-120"/>
              </a:rPr>
              <a:t>QUESTIONS IT MUST ANSWER FROM LIVE STATE</a:t>
            </a:r>
            <a:endParaRPr lang="en-US" sz="950" dirty="0"/>
          </a:p>
        </p:txBody>
      </p:sp>
      <p:sp>
        <p:nvSpPr>
          <p:cNvPr id="12" name="Text 9"/>
          <p:cNvSpPr/>
          <p:nvPr/>
        </p:nvSpPr>
        <p:spPr>
          <a:xfrm>
            <a:off x="822960" y="2743200"/>
            <a:ext cx="4846320" cy="2834640"/>
          </a:xfrm>
          <a:prstGeom prst="rect">
            <a:avLst/>
          </a:prstGeom>
          <a:noFill/>
          <a:ln/>
        </p:spPr>
        <p:txBody>
          <a:bodyPr wrap="square" lIns="0" tIns="0" rIns="0" bIns="0" rtlCol="0" anchor="t"/>
          <a:lstStyle/>
          <a:p>
            <a:pPr indent="0" marL="0">
              <a:spcAft>
                <a:spcPts val="900"/>
              </a:spcAft>
              <a:buNone/>
            </a:pPr>
            <a:r>
              <a:rPr lang="en-US" sz="1250" dirty="0">
                <a:solidFill>
                  <a:srgbClr val="D3DCE9"/>
                </a:solidFill>
                <a:latin typeface="Calibri" pitchFamily="34" charset="0"/>
                <a:ea typeface="Calibri" pitchFamily="34" charset="-122"/>
                <a:cs typeface="Calibri" pitchFamily="34" charset="-120"/>
              </a:rPr>
              <a:t>"Which tier0 services have no SLO?"</a:t>
            </a:r>
            <a:endParaRPr lang="en-US" sz="1250" dirty="0"/>
          </a:p>
          <a:p>
            <a:pPr indent="0" marL="0">
              <a:spcAft>
                <a:spcPts val="900"/>
              </a:spcAft>
              <a:buNone/>
            </a:pPr>
            <a:r>
              <a:rPr lang="en-US" sz="1250" dirty="0">
                <a:solidFill>
                  <a:srgbClr val="D3DCE9"/>
                </a:solidFill>
                <a:latin typeface="Calibri" pitchFamily="34" charset="0"/>
                <a:ea typeface="Calibri" pitchFamily="34" charset="-122"/>
                <a:cs typeface="Calibri" pitchFamily="34" charset="-120"/>
              </a:rPr>
              <a:t>"Why did this monitor page me at 3am?"</a:t>
            </a:r>
            <a:endParaRPr lang="en-US" sz="1250" dirty="0"/>
          </a:p>
          <a:p>
            <a:pPr indent="0" marL="0">
              <a:spcAft>
                <a:spcPts val="900"/>
              </a:spcAft>
              <a:buNone/>
            </a:pPr>
            <a:r>
              <a:rPr lang="en-US" sz="1250" dirty="0">
                <a:solidFill>
                  <a:srgbClr val="D3DCE9"/>
                </a:solidFill>
                <a:latin typeface="Calibri" pitchFamily="34" charset="0"/>
                <a:ea typeface="Calibri" pitchFamily="34" charset="-122"/>
                <a:cs typeface="Calibri" pitchFamily="34" charset="-120"/>
              </a:rPr>
              <a:t>"What is the error-budget position for payments this month?"</a:t>
            </a:r>
            <a:endParaRPr lang="en-US" sz="1250" dirty="0"/>
          </a:p>
          <a:p>
            <a:pPr indent="0" marL="0">
              <a:spcAft>
                <a:spcPts val="900"/>
              </a:spcAft>
              <a:buNone/>
            </a:pPr>
            <a:r>
              <a:rPr lang="en-US" sz="1250" dirty="0">
                <a:solidFill>
                  <a:srgbClr val="D3DCE9"/>
                </a:solidFill>
                <a:latin typeface="Calibri" pitchFamily="34" charset="0"/>
                <a:ea typeface="Calibri" pitchFamily="34" charset="-122"/>
                <a:cs typeface="Calibri" pitchFamily="34" charset="-120"/>
              </a:rPr>
              <a:t>"Which resources are unowned, and for how long?"</a:t>
            </a:r>
            <a:endParaRPr lang="en-US" sz="1250" dirty="0"/>
          </a:p>
          <a:p>
            <a:pPr indent="0" marL="0">
              <a:spcAft>
                <a:spcPts val="900"/>
              </a:spcAft>
              <a:buNone/>
            </a:pPr>
            <a:r>
              <a:rPr lang="en-US" sz="1250" dirty="0">
                <a:solidFill>
                  <a:srgbClr val="D3DCE9"/>
                </a:solidFill>
                <a:latin typeface="Calibri" pitchFamily="34" charset="0"/>
                <a:ea typeface="Calibri" pitchFamily="34" charset="-122"/>
                <a:cs typeface="Calibri" pitchFamily="34" charset="-120"/>
              </a:rPr>
              <a:t>"What changed in the thirty minutes before this incident?"</a:t>
            </a:r>
            <a:endParaRPr lang="en-US" sz="1250" dirty="0"/>
          </a:p>
          <a:p>
            <a:pPr indent="0" marL="0">
              <a:spcAft>
                <a:spcPts val="900"/>
              </a:spcAft>
              <a:buNone/>
            </a:pPr>
            <a:r>
              <a:rPr lang="en-US" sz="1250" dirty="0">
                <a:solidFill>
                  <a:srgbClr val="D3DCE9"/>
                </a:solidFill>
                <a:latin typeface="Calibri" pitchFamily="34" charset="0"/>
                <a:ea typeface="Calibri" pitchFamily="34" charset="-122"/>
                <a:cs typeface="Calibri" pitchFamily="34" charset="-120"/>
              </a:rPr>
              <a:t>"Which monitors have fired more than ten times and never been acted on?"</a:t>
            </a:r>
            <a:endParaRPr lang="en-US" sz="1250" dirty="0"/>
          </a:p>
          <a:p>
            <a:pPr indent="0" marL="0">
              <a:spcAft>
                <a:spcPts val="900"/>
              </a:spcAft>
              <a:buNone/>
            </a:pPr>
            <a:r>
              <a:rPr lang="en-US" sz="1250" dirty="0">
                <a:solidFill>
                  <a:srgbClr val="D3DCE9"/>
                </a:solidFill>
                <a:latin typeface="Calibri" pitchFamily="34" charset="0"/>
                <a:ea typeface="Calibri" pitchFamily="34" charset="-122"/>
                <a:cs typeface="Calibri" pitchFamily="34" charset="-120"/>
              </a:rPr>
              <a:t>"What is our agent-fleet compliance by subscription?"</a:t>
            </a:r>
            <a:endParaRPr lang="en-US" sz="1250" dirty="0"/>
          </a:p>
        </p:txBody>
      </p:sp>
      <p:sp>
        <p:nvSpPr>
          <p:cNvPr id="13" name="Shape 10"/>
          <p:cNvSpPr/>
          <p:nvPr/>
        </p:nvSpPr>
        <p:spPr>
          <a:xfrm>
            <a:off x="6281928" y="2240280"/>
            <a:ext cx="2574036" cy="1645920"/>
          </a:xfrm>
          <a:prstGeom prst="roundRect">
            <a:avLst>
              <a:gd name="adj" fmla="val 3333"/>
            </a:avLst>
          </a:prstGeom>
          <a:solidFill>
            <a:srgbClr val="EFF2F6"/>
          </a:solidFill>
          <a:ln w="12700">
            <a:solidFill>
              <a:srgbClr val="EFF2F6"/>
            </a:solidFill>
            <a:prstDash val="solid"/>
          </a:ln>
        </p:spPr>
      </p:sp>
      <p:sp>
        <p:nvSpPr>
          <p:cNvPr id="14" name="Text 11"/>
          <p:cNvSpPr/>
          <p:nvPr/>
        </p:nvSpPr>
        <p:spPr>
          <a:xfrm>
            <a:off x="6483096" y="2386584"/>
            <a:ext cx="2171700" cy="347472"/>
          </a:xfrm>
          <a:prstGeom prst="rect">
            <a:avLst/>
          </a:prstGeom>
          <a:noFill/>
          <a:ln/>
        </p:spPr>
        <p:txBody>
          <a:bodyPr wrap="square" lIns="0" tIns="0" rIns="0" bIns="0" rtlCol="0" anchor="t"/>
          <a:lstStyle/>
          <a:p>
            <a:pPr indent="0" marL="0">
              <a:buNone/>
            </a:pPr>
            <a:r>
              <a:rPr lang="en-US" sz="1300" b="1" dirty="0">
                <a:solidFill>
                  <a:srgbClr val="161C28"/>
                </a:solidFill>
                <a:latin typeface="Calibri" pitchFamily="34" charset="0"/>
                <a:ea typeface="Calibri" pitchFamily="34" charset="-122"/>
                <a:cs typeface="Calibri" pitchFamily="34" charset="-120"/>
              </a:rPr>
              <a:t>Grounded, not generative</a:t>
            </a:r>
            <a:endParaRPr lang="en-US" sz="1300" dirty="0"/>
          </a:p>
        </p:txBody>
      </p:sp>
      <p:sp>
        <p:nvSpPr>
          <p:cNvPr id="15" name="Text 12"/>
          <p:cNvSpPr/>
          <p:nvPr/>
        </p:nvSpPr>
        <p:spPr>
          <a:xfrm>
            <a:off x="6483096" y="2770632"/>
            <a:ext cx="2171700" cy="969264"/>
          </a:xfrm>
          <a:prstGeom prst="rect">
            <a:avLst/>
          </a:prstGeom>
          <a:noFill/>
          <a:ln/>
        </p:spPr>
        <p:txBody>
          <a:bodyPr wrap="square" lIns="0" tIns="0" rIns="0" bIns="0" rtlCol="0" anchor="t"/>
          <a:lstStyle/>
          <a:p>
            <a:pPr indent="0" marL="0">
              <a:lnSpc>
                <a:spcPct val="102000"/>
              </a:lnSpc>
              <a:buNone/>
            </a:pPr>
            <a:r>
              <a:rPr lang="en-US" sz="1050" dirty="0">
                <a:solidFill>
                  <a:srgbClr val="3A4557"/>
                </a:solidFill>
                <a:latin typeface="Calibri" pitchFamily="34" charset="0"/>
                <a:ea typeface="Calibri" pitchFamily="34" charset="-122"/>
                <a:cs typeface="Calibri" pitchFamily="34" charset="-120"/>
              </a:rPr>
              <a:t>Every answer resolves against the live org and the same policy files Terraform reads. The acceptance test is that the query it ran is shown next to the answer.</a:t>
            </a:r>
            <a:endParaRPr lang="en-US" sz="1050" dirty="0"/>
          </a:p>
        </p:txBody>
      </p:sp>
      <p:sp>
        <p:nvSpPr>
          <p:cNvPr id="16" name="Shape 13"/>
          <p:cNvSpPr/>
          <p:nvPr/>
        </p:nvSpPr>
        <p:spPr>
          <a:xfrm>
            <a:off x="9057132" y="2240280"/>
            <a:ext cx="2574036" cy="1645920"/>
          </a:xfrm>
          <a:prstGeom prst="roundRect">
            <a:avLst>
              <a:gd name="adj" fmla="val 3333"/>
            </a:avLst>
          </a:prstGeom>
          <a:solidFill>
            <a:srgbClr val="EFF2F6"/>
          </a:solidFill>
          <a:ln w="12700">
            <a:solidFill>
              <a:srgbClr val="EFF2F6"/>
            </a:solidFill>
            <a:prstDash val="solid"/>
          </a:ln>
        </p:spPr>
      </p:sp>
      <p:sp>
        <p:nvSpPr>
          <p:cNvPr id="17" name="Text 14"/>
          <p:cNvSpPr/>
          <p:nvPr/>
        </p:nvSpPr>
        <p:spPr>
          <a:xfrm>
            <a:off x="9258300" y="2386584"/>
            <a:ext cx="2171700" cy="347472"/>
          </a:xfrm>
          <a:prstGeom prst="rect">
            <a:avLst/>
          </a:prstGeom>
          <a:noFill/>
          <a:ln/>
        </p:spPr>
        <p:txBody>
          <a:bodyPr wrap="square" lIns="0" tIns="0" rIns="0" bIns="0" rtlCol="0" anchor="t"/>
          <a:lstStyle/>
          <a:p>
            <a:pPr indent="0" marL="0">
              <a:buNone/>
            </a:pPr>
            <a:r>
              <a:rPr lang="en-US" sz="1300" b="1" dirty="0">
                <a:solidFill>
                  <a:srgbClr val="161C28"/>
                </a:solidFill>
                <a:latin typeface="Calibri" pitchFamily="34" charset="0"/>
                <a:ea typeface="Calibri" pitchFamily="34" charset="-122"/>
                <a:cs typeface="Calibri" pitchFamily="34" charset="-120"/>
              </a:rPr>
              <a:t>Independent of Bits AI</a:t>
            </a:r>
            <a:endParaRPr lang="en-US" sz="1300" dirty="0"/>
          </a:p>
        </p:txBody>
      </p:sp>
      <p:sp>
        <p:nvSpPr>
          <p:cNvPr id="18" name="Text 15"/>
          <p:cNvSpPr/>
          <p:nvPr/>
        </p:nvSpPr>
        <p:spPr>
          <a:xfrm>
            <a:off x="9258300" y="2770632"/>
            <a:ext cx="2171700" cy="969264"/>
          </a:xfrm>
          <a:prstGeom prst="rect">
            <a:avLst/>
          </a:prstGeom>
          <a:noFill/>
          <a:ln/>
        </p:spPr>
        <p:txBody>
          <a:bodyPr wrap="square" lIns="0" tIns="0" rIns="0" bIns="0" rtlCol="0" anchor="t"/>
          <a:lstStyle/>
          <a:p>
            <a:pPr indent="0" marL="0">
              <a:lnSpc>
                <a:spcPct val="102000"/>
              </a:lnSpc>
              <a:buNone/>
            </a:pPr>
            <a:r>
              <a:rPr lang="en-US" sz="1050" dirty="0">
                <a:solidFill>
                  <a:srgbClr val="3A4557"/>
                </a:solidFill>
                <a:latin typeface="Calibri" pitchFamily="34" charset="0"/>
                <a:ea typeface="Calibri" pitchFamily="34" charset="-122"/>
                <a:cs typeface="Calibri" pitchFamily="34" charset="-120"/>
              </a:rPr>
              <a:t>This is our platform's state, exposed by us, over our own policy engine — not a dependency on a vendor feature roadmap.</a:t>
            </a:r>
            <a:endParaRPr lang="en-US" sz="1050" dirty="0"/>
          </a:p>
        </p:txBody>
      </p:sp>
      <p:sp>
        <p:nvSpPr>
          <p:cNvPr id="19" name="Shape 16"/>
          <p:cNvSpPr/>
          <p:nvPr/>
        </p:nvSpPr>
        <p:spPr>
          <a:xfrm>
            <a:off x="6281928" y="4087368"/>
            <a:ext cx="2574036" cy="1645920"/>
          </a:xfrm>
          <a:prstGeom prst="roundRect">
            <a:avLst>
              <a:gd name="adj" fmla="val 3333"/>
            </a:avLst>
          </a:prstGeom>
          <a:solidFill>
            <a:srgbClr val="EFF2F6"/>
          </a:solidFill>
          <a:ln w="12700">
            <a:solidFill>
              <a:srgbClr val="EFF2F6"/>
            </a:solidFill>
            <a:prstDash val="solid"/>
          </a:ln>
        </p:spPr>
      </p:sp>
      <p:sp>
        <p:nvSpPr>
          <p:cNvPr id="20" name="Text 17"/>
          <p:cNvSpPr/>
          <p:nvPr/>
        </p:nvSpPr>
        <p:spPr>
          <a:xfrm>
            <a:off x="6483096" y="4233672"/>
            <a:ext cx="2171700" cy="347472"/>
          </a:xfrm>
          <a:prstGeom prst="rect">
            <a:avLst/>
          </a:prstGeom>
          <a:noFill/>
          <a:ln/>
        </p:spPr>
        <p:txBody>
          <a:bodyPr wrap="square" lIns="0" tIns="0" rIns="0" bIns="0" rtlCol="0" anchor="t"/>
          <a:lstStyle/>
          <a:p>
            <a:pPr indent="0" marL="0">
              <a:buNone/>
            </a:pPr>
            <a:r>
              <a:rPr lang="en-US" sz="1300" b="1" dirty="0">
                <a:solidFill>
                  <a:srgbClr val="161C28"/>
                </a:solidFill>
                <a:latin typeface="Calibri" pitchFamily="34" charset="0"/>
                <a:ea typeface="Calibri" pitchFamily="34" charset="-122"/>
                <a:cs typeface="Calibri" pitchFamily="34" charset="-120"/>
              </a:rPr>
              <a:t>Read-only, by construction</a:t>
            </a:r>
            <a:endParaRPr lang="en-US" sz="1300" dirty="0"/>
          </a:p>
        </p:txBody>
      </p:sp>
      <p:sp>
        <p:nvSpPr>
          <p:cNvPr id="21" name="Text 18"/>
          <p:cNvSpPr/>
          <p:nvPr/>
        </p:nvSpPr>
        <p:spPr>
          <a:xfrm>
            <a:off x="6483096" y="4617720"/>
            <a:ext cx="2171700" cy="969264"/>
          </a:xfrm>
          <a:prstGeom prst="rect">
            <a:avLst/>
          </a:prstGeom>
          <a:noFill/>
          <a:ln/>
        </p:spPr>
        <p:txBody>
          <a:bodyPr wrap="square" lIns="0" tIns="0" rIns="0" bIns="0" rtlCol="0" anchor="t"/>
          <a:lstStyle/>
          <a:p>
            <a:pPr indent="0" marL="0">
              <a:lnSpc>
                <a:spcPct val="102000"/>
              </a:lnSpc>
              <a:buNone/>
            </a:pPr>
            <a:r>
              <a:rPr lang="en-US" sz="1050" dirty="0">
                <a:solidFill>
                  <a:srgbClr val="3A4557"/>
                </a:solidFill>
                <a:latin typeface="Calibri" pitchFamily="34" charset="0"/>
                <a:ea typeface="Calibri" pitchFamily="34" charset="-122"/>
                <a:cs typeface="Calibri" pitchFamily="34" charset="-120"/>
              </a:rPr>
              <a:t>Ask cannot change anything. Change is a separate mode with a completely different safety model — the next slide.</a:t>
            </a:r>
            <a:endParaRPr lang="en-US" sz="1050" dirty="0"/>
          </a:p>
        </p:txBody>
      </p:sp>
      <p:sp>
        <p:nvSpPr>
          <p:cNvPr id="22" name="Shape 19"/>
          <p:cNvSpPr/>
          <p:nvPr/>
        </p:nvSpPr>
        <p:spPr>
          <a:xfrm>
            <a:off x="9057132" y="4087368"/>
            <a:ext cx="2574036" cy="1645920"/>
          </a:xfrm>
          <a:prstGeom prst="roundRect">
            <a:avLst>
              <a:gd name="adj" fmla="val 3333"/>
            </a:avLst>
          </a:prstGeom>
          <a:solidFill>
            <a:srgbClr val="EFF2F6"/>
          </a:solidFill>
          <a:ln w="12700">
            <a:solidFill>
              <a:srgbClr val="EFF2F6"/>
            </a:solidFill>
            <a:prstDash val="solid"/>
          </a:ln>
        </p:spPr>
      </p:sp>
      <p:sp>
        <p:nvSpPr>
          <p:cNvPr id="23" name="Text 20"/>
          <p:cNvSpPr/>
          <p:nvPr/>
        </p:nvSpPr>
        <p:spPr>
          <a:xfrm>
            <a:off x="9258300" y="4233672"/>
            <a:ext cx="2171700" cy="347472"/>
          </a:xfrm>
          <a:prstGeom prst="rect">
            <a:avLst/>
          </a:prstGeom>
          <a:noFill/>
          <a:ln/>
        </p:spPr>
        <p:txBody>
          <a:bodyPr wrap="square" lIns="0" tIns="0" rIns="0" bIns="0" rtlCol="0" anchor="t"/>
          <a:lstStyle/>
          <a:p>
            <a:pPr indent="0" marL="0">
              <a:buNone/>
            </a:pPr>
            <a:r>
              <a:rPr lang="en-US" sz="1300" b="1" dirty="0">
                <a:solidFill>
                  <a:srgbClr val="161C28"/>
                </a:solidFill>
                <a:latin typeface="Calibri" pitchFamily="34" charset="0"/>
                <a:ea typeface="Calibri" pitchFamily="34" charset="-122"/>
                <a:cs typeface="Calibri" pitchFamily="34" charset="-120"/>
              </a:rPr>
              <a:t>Why it matters</a:t>
            </a:r>
            <a:endParaRPr lang="en-US" sz="1300" dirty="0"/>
          </a:p>
        </p:txBody>
      </p:sp>
      <p:sp>
        <p:nvSpPr>
          <p:cNvPr id="24" name="Text 21"/>
          <p:cNvSpPr/>
          <p:nvPr/>
        </p:nvSpPr>
        <p:spPr>
          <a:xfrm>
            <a:off x="9258300" y="4617720"/>
            <a:ext cx="2171700" cy="969264"/>
          </a:xfrm>
          <a:prstGeom prst="rect">
            <a:avLst/>
          </a:prstGeom>
          <a:noFill/>
          <a:ln/>
        </p:spPr>
        <p:txBody>
          <a:bodyPr wrap="square" lIns="0" tIns="0" rIns="0" bIns="0" rtlCol="0" anchor="t"/>
          <a:lstStyle/>
          <a:p>
            <a:pPr indent="0" marL="0">
              <a:lnSpc>
                <a:spcPct val="102000"/>
              </a:lnSpc>
              <a:buNone/>
            </a:pPr>
            <a:r>
              <a:rPr lang="en-US" sz="1050" dirty="0">
                <a:solidFill>
                  <a:srgbClr val="3A4557"/>
                </a:solidFill>
                <a:latin typeface="Calibri" pitchFamily="34" charset="0"/>
                <a:ea typeface="Calibri" pitchFamily="34" charset="-122"/>
                <a:cs typeface="Calibri" pitchFamily="34" charset="-120"/>
              </a:rPr>
              <a:t>Today, "who owns this alert and why did it page?" needs someone who knows the repository. That person is a bottleneck. This turns platform knowledge into an interface.</a:t>
            </a:r>
            <a:endParaRPr lang="en-US" sz="10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8778240" cy="256032"/>
          </a:xfrm>
          <a:prstGeom prst="rect">
            <a:avLst/>
          </a:prstGeom>
          <a:noFill/>
          <a:ln/>
        </p:spPr>
        <p:txBody>
          <a:bodyPr wrap="square" lIns="0" tIns="0" rIns="0" bIns="0" rtlCol="0" anchor="ctr"/>
          <a:lstStyle/>
          <a:p>
            <a:pPr indent="0" marL="0">
              <a:buNone/>
            </a:pPr>
            <a:r>
              <a:rPr lang="en-US" sz="1050" b="1" spc="160" kern="0" dirty="0">
                <a:solidFill>
                  <a:srgbClr val="B87914"/>
                </a:solidFill>
                <a:latin typeface="Calibri" pitchFamily="34" charset="0"/>
                <a:ea typeface="Calibri" pitchFamily="34" charset="-122"/>
                <a:cs typeface="Calibri" pitchFamily="34" charset="-120"/>
              </a:rPr>
              <a:t>TOPIC 25</a:t>
            </a:r>
            <a:endParaRPr lang="en-US" sz="1050" dirty="0"/>
          </a:p>
        </p:txBody>
      </p:sp>
      <p:sp>
        <p:nvSpPr>
          <p:cNvPr id="3" name="Text 1"/>
          <p:cNvSpPr/>
          <p:nvPr/>
        </p:nvSpPr>
        <p:spPr>
          <a:xfrm>
            <a:off x="566928" y="694944"/>
            <a:ext cx="10424160" cy="786384"/>
          </a:xfrm>
          <a:prstGeom prst="rect">
            <a:avLst/>
          </a:prstGeom>
          <a:noFill/>
          <a:ln/>
        </p:spPr>
        <p:txBody>
          <a:bodyPr wrap="square" lIns="0" tIns="0" rIns="0" bIns="0" rtlCol="0" anchor="ctr"/>
          <a:lstStyle/>
          <a:p>
            <a:pPr indent="0" marL="0">
              <a:buNone/>
            </a:pPr>
            <a:r>
              <a:rPr lang="en-US" sz="3100" b="1" dirty="0">
                <a:solidFill>
                  <a:srgbClr val="161C28"/>
                </a:solidFill>
                <a:latin typeface="Cambria" pitchFamily="34" charset="0"/>
                <a:ea typeface="Cambria" pitchFamily="34" charset="-122"/>
                <a:cs typeface="Cambria" pitchFamily="34" charset="-120"/>
              </a:rPr>
              <a:t>MCP — Act</a:t>
            </a:r>
            <a:endParaRPr lang="en-US" sz="3100" dirty="0"/>
          </a:p>
        </p:txBody>
      </p:sp>
      <p:sp>
        <p:nvSpPr>
          <p:cNvPr id="4" name="Text 2"/>
          <p:cNvSpPr/>
          <p:nvPr/>
        </p:nvSpPr>
        <p:spPr>
          <a:xfrm>
            <a:off x="566928" y="1481328"/>
            <a:ext cx="10698480" cy="457200"/>
          </a:xfrm>
          <a:prstGeom prst="rect">
            <a:avLst/>
          </a:prstGeom>
          <a:noFill/>
          <a:ln/>
        </p:spPr>
        <p:txBody>
          <a:bodyPr wrap="square" lIns="0" tIns="0" rIns="0" bIns="0" rtlCol="0" anchor="t"/>
          <a:lstStyle/>
          <a:p>
            <a:pPr indent="0" marL="0">
              <a:buNone/>
            </a:pPr>
            <a:r>
              <a:rPr lang="en-US" sz="1450" dirty="0">
                <a:solidFill>
                  <a:srgbClr val="3A4557"/>
                </a:solidFill>
                <a:latin typeface="Calibri" pitchFamily="34" charset="0"/>
                <a:ea typeface="Calibri" pitchFamily="34" charset="-122"/>
                <a:cs typeface="Calibri" pitchFamily="34" charset="-120"/>
              </a:rPr>
              <a:t>Act mode never writes to Datadog. It writes YAML, opens a pull request, and lets the existing gate decide — the same path a human takes, at machine speed.</a:t>
            </a:r>
            <a:endParaRPr lang="en-US" sz="1450" dirty="0"/>
          </a:p>
        </p:txBody>
      </p:sp>
      <p:sp>
        <p:nvSpPr>
          <p:cNvPr id="5" name="Shape 3"/>
          <p:cNvSpPr/>
          <p:nvPr/>
        </p:nvSpPr>
        <p:spPr>
          <a:xfrm>
            <a:off x="9608515" y="420624"/>
            <a:ext cx="2016252" cy="310896"/>
          </a:xfrm>
          <a:prstGeom prst="roundRect">
            <a:avLst>
              <a:gd name="adj" fmla="val 50000"/>
            </a:avLst>
          </a:prstGeom>
          <a:solidFill>
            <a:srgbClr val="DFE5EE"/>
          </a:solidFill>
          <a:ln w="12700">
            <a:solidFill>
              <a:srgbClr val="DFE5EE"/>
            </a:solidFill>
            <a:prstDash val="solid"/>
          </a:ln>
        </p:spPr>
      </p:sp>
      <p:sp>
        <p:nvSpPr>
          <p:cNvPr id="6" name="Text 4"/>
          <p:cNvSpPr/>
          <p:nvPr/>
        </p:nvSpPr>
        <p:spPr>
          <a:xfrm>
            <a:off x="9608515" y="420624"/>
            <a:ext cx="2016252" cy="310896"/>
          </a:xfrm>
          <a:prstGeom prst="rect">
            <a:avLst/>
          </a:prstGeom>
          <a:noFill/>
          <a:ln/>
        </p:spPr>
        <p:txBody>
          <a:bodyPr wrap="square" lIns="0" tIns="0" rIns="0" bIns="0" rtlCol="0" anchor="ctr"/>
          <a:lstStyle/>
          <a:p>
            <a:pPr algn="ctr" indent="0" marL="0">
              <a:buNone/>
            </a:pPr>
            <a:r>
              <a:rPr lang="en-US" sz="950" b="1" spc="100" kern="0" dirty="0">
                <a:solidFill>
                  <a:srgbClr val="5F7189"/>
                </a:solidFill>
                <a:latin typeface="Calibri" pitchFamily="34" charset="0"/>
                <a:ea typeface="Calibri" pitchFamily="34" charset="-122"/>
                <a:cs typeface="Calibri" pitchFamily="34" charset="-120"/>
              </a:rPr>
              <a:t>ROADMAP · PHASE 7</a:t>
            </a:r>
            <a:endParaRPr lang="en-US" sz="950" dirty="0"/>
          </a:p>
        </p:txBody>
      </p:sp>
      <p:sp>
        <p:nvSpPr>
          <p:cNvPr id="7" name="Text 5"/>
          <p:cNvSpPr/>
          <p:nvPr/>
        </p:nvSpPr>
        <p:spPr>
          <a:xfrm>
            <a:off x="566928" y="6345936"/>
            <a:ext cx="7315200" cy="274320"/>
          </a:xfrm>
          <a:prstGeom prst="rect">
            <a:avLst/>
          </a:prstGeom>
          <a:noFill/>
          <a:ln/>
        </p:spPr>
        <p:txBody>
          <a:bodyPr wrap="square" lIns="0" tIns="0" rIns="0" bIns="0" rtlCol="0" anchor="ctr"/>
          <a:lstStyle/>
          <a:p>
            <a:pPr indent="0" marL="0">
              <a:buNone/>
            </a:pPr>
            <a:r>
              <a:rPr lang="en-US" sz="900" dirty="0">
                <a:solidFill>
                  <a:srgbClr val="6B7891"/>
                </a:solidFill>
                <a:latin typeface="Calibri" pitchFamily="34" charset="0"/>
                <a:ea typeface="Calibri" pitchFamily="34" charset="-122"/>
                <a:cs typeface="Calibri" pitchFamily="34" charset="-120"/>
              </a:rPr>
              <a:t>Enterprise Observability  ·  policy-as-data on Datadog</a:t>
            </a:r>
            <a:endParaRPr lang="en-US" sz="900" dirty="0"/>
          </a:p>
        </p:txBody>
      </p:sp>
      <p:sp>
        <p:nvSpPr>
          <p:cNvPr id="8" name="Text 6"/>
          <p:cNvSpPr/>
          <p:nvPr/>
        </p:nvSpPr>
        <p:spPr>
          <a:xfrm>
            <a:off x="10710367" y="6345936"/>
            <a:ext cx="914400" cy="274320"/>
          </a:xfrm>
          <a:prstGeom prst="rect">
            <a:avLst/>
          </a:prstGeom>
          <a:noFill/>
          <a:ln/>
        </p:spPr>
        <p:txBody>
          <a:bodyPr wrap="square" lIns="0" tIns="0" rIns="0" bIns="0" rtlCol="0" anchor="ctr"/>
          <a:lstStyle/>
          <a:p>
            <a:pPr algn="r" indent="0" marL="0">
              <a:buNone/>
            </a:pPr>
            <a:r>
              <a:rPr lang="en-US" sz="900" dirty="0">
                <a:solidFill>
                  <a:srgbClr val="6B7891"/>
                </a:solidFill>
                <a:latin typeface="Calibri" pitchFamily="34" charset="0"/>
                <a:ea typeface="Calibri" pitchFamily="34" charset="-122"/>
                <a:cs typeface="Calibri" pitchFamily="34" charset="-120"/>
              </a:rPr>
              <a:t>33</a:t>
            </a:r>
            <a:endParaRPr lang="en-US" sz="900" dirty="0"/>
          </a:p>
        </p:txBody>
      </p:sp>
      <p:sp>
        <p:nvSpPr>
          <p:cNvPr id="10" name="Shape 7"/>
          <p:cNvSpPr/>
          <p:nvPr/>
        </p:nvSpPr>
        <p:spPr>
          <a:xfrm>
            <a:off x="566928" y="2286000"/>
            <a:ext cx="1614373" cy="914400"/>
          </a:xfrm>
          <a:prstGeom prst="roundRect">
            <a:avLst>
              <a:gd name="adj" fmla="val 6000"/>
            </a:avLst>
          </a:prstGeom>
          <a:solidFill>
            <a:srgbClr val="EFF2F6"/>
          </a:solidFill>
          <a:ln w="12700">
            <a:solidFill>
              <a:srgbClr val="EFF2F6"/>
            </a:solidFill>
            <a:prstDash val="solid"/>
          </a:ln>
        </p:spPr>
      </p:sp>
      <p:sp>
        <p:nvSpPr>
          <p:cNvPr id="11" name="Text 8"/>
          <p:cNvSpPr/>
          <p:nvPr/>
        </p:nvSpPr>
        <p:spPr>
          <a:xfrm>
            <a:off x="676656" y="2395728"/>
            <a:ext cx="1394917" cy="694944"/>
          </a:xfrm>
          <a:prstGeom prst="rect">
            <a:avLst/>
          </a:prstGeom>
          <a:noFill/>
          <a:ln/>
        </p:spPr>
        <p:txBody>
          <a:bodyPr wrap="square" lIns="0" tIns="0" rIns="0" bIns="0" rtlCol="0" anchor="ctr"/>
          <a:lstStyle/>
          <a:p>
            <a:pPr algn="ctr" indent="0" marL="0">
              <a:lnSpc>
                <a:spcPct val="100000"/>
              </a:lnSpc>
              <a:buNone/>
            </a:pPr>
            <a:r>
              <a:rPr lang="en-US" sz="1150" b="1" dirty="0">
                <a:solidFill>
                  <a:srgbClr val="161C28"/>
                </a:solidFill>
                <a:latin typeface="Calibri" pitchFamily="34" charset="0"/>
                <a:ea typeface="Calibri" pitchFamily="34" charset="-122"/>
                <a:cs typeface="Calibri" pitchFamily="34" charset="-120"/>
              </a:rPr>
              <a:t>Inspect</a:t>
            </a:r>
            <a:endParaRPr lang="en-US" sz="1150" dirty="0"/>
          </a:p>
          <a:p>
            <a:pPr algn="ctr" indent="0" marL="0">
              <a:lnSpc>
                <a:spcPct val="100000"/>
              </a:lnSpc>
              <a:buNone/>
            </a:pPr>
            <a:r>
              <a:rPr lang="en-US" sz="1150" b="1" dirty="0">
                <a:solidFill>
                  <a:srgbClr val="161C28"/>
                </a:solidFill>
                <a:latin typeface="Calibri" pitchFamily="34" charset="0"/>
                <a:ea typeface="Calibri" pitchFamily="34" charset="-122"/>
                <a:cs typeface="Calibri" pitchFamily="34" charset="-120"/>
              </a:rPr>
              <a:t>current state</a:t>
            </a:r>
            <a:endParaRPr lang="en-US" sz="1150" dirty="0"/>
          </a:p>
        </p:txBody>
      </p:sp>
      <p:sp>
        <p:nvSpPr>
          <p:cNvPr id="12" name="Shape 9"/>
          <p:cNvSpPr/>
          <p:nvPr/>
        </p:nvSpPr>
        <p:spPr>
          <a:xfrm>
            <a:off x="2236165" y="2660904"/>
            <a:ext cx="164592" cy="164592"/>
          </a:xfrm>
          <a:prstGeom prst="rightArrow">
            <a:avLst/>
          </a:prstGeom>
          <a:solidFill>
            <a:srgbClr val="5F7189"/>
          </a:solidFill>
          <a:ln w="12700">
            <a:solidFill>
              <a:srgbClr val="5F7189"/>
            </a:solidFill>
            <a:prstDash val="solid"/>
          </a:ln>
        </p:spPr>
      </p:sp>
      <p:sp>
        <p:nvSpPr>
          <p:cNvPr id="13" name="Shape 10"/>
          <p:cNvSpPr/>
          <p:nvPr/>
        </p:nvSpPr>
        <p:spPr>
          <a:xfrm>
            <a:off x="2455621" y="2286000"/>
            <a:ext cx="1614373" cy="914400"/>
          </a:xfrm>
          <a:prstGeom prst="roundRect">
            <a:avLst>
              <a:gd name="adj" fmla="val 6000"/>
            </a:avLst>
          </a:prstGeom>
          <a:solidFill>
            <a:srgbClr val="EFF2F6"/>
          </a:solidFill>
          <a:ln w="12700">
            <a:solidFill>
              <a:srgbClr val="EFF2F6"/>
            </a:solidFill>
            <a:prstDash val="solid"/>
          </a:ln>
        </p:spPr>
      </p:sp>
      <p:sp>
        <p:nvSpPr>
          <p:cNvPr id="14" name="Text 11"/>
          <p:cNvSpPr/>
          <p:nvPr/>
        </p:nvSpPr>
        <p:spPr>
          <a:xfrm>
            <a:off x="2565349" y="2395728"/>
            <a:ext cx="1394917" cy="694944"/>
          </a:xfrm>
          <a:prstGeom prst="rect">
            <a:avLst/>
          </a:prstGeom>
          <a:noFill/>
          <a:ln/>
        </p:spPr>
        <p:txBody>
          <a:bodyPr wrap="square" lIns="0" tIns="0" rIns="0" bIns="0" rtlCol="0" anchor="ctr"/>
          <a:lstStyle/>
          <a:p>
            <a:pPr algn="ctr" indent="0" marL="0">
              <a:lnSpc>
                <a:spcPct val="100000"/>
              </a:lnSpc>
              <a:buNone/>
            </a:pPr>
            <a:r>
              <a:rPr lang="en-US" sz="1150" b="1" dirty="0">
                <a:solidFill>
                  <a:srgbClr val="161C28"/>
                </a:solidFill>
                <a:latin typeface="Calibri" pitchFamily="34" charset="0"/>
                <a:ea typeface="Calibri" pitchFamily="34" charset="-122"/>
                <a:cs typeface="Calibri" pitchFamily="34" charset="-120"/>
              </a:rPr>
              <a:t>Validate</a:t>
            </a:r>
            <a:endParaRPr lang="en-US" sz="1150" dirty="0"/>
          </a:p>
          <a:p>
            <a:pPr algn="ctr" indent="0" marL="0">
              <a:lnSpc>
                <a:spcPct val="100000"/>
              </a:lnSpc>
              <a:buNone/>
            </a:pPr>
            <a:r>
              <a:rPr lang="en-US" sz="1150" b="1" dirty="0">
                <a:solidFill>
                  <a:srgbClr val="161C28"/>
                </a:solidFill>
                <a:latin typeface="Calibri" pitchFamily="34" charset="0"/>
                <a:ea typeface="Calibri" pitchFamily="34" charset="-122"/>
                <a:cs typeface="Calibri" pitchFamily="34" charset="-120"/>
              </a:rPr>
              <a:t>against policy</a:t>
            </a:r>
            <a:endParaRPr lang="en-US" sz="1150" dirty="0"/>
          </a:p>
        </p:txBody>
      </p:sp>
      <p:sp>
        <p:nvSpPr>
          <p:cNvPr id="15" name="Shape 12"/>
          <p:cNvSpPr/>
          <p:nvPr/>
        </p:nvSpPr>
        <p:spPr>
          <a:xfrm>
            <a:off x="4124858" y="2660904"/>
            <a:ext cx="164592" cy="164592"/>
          </a:xfrm>
          <a:prstGeom prst="rightArrow">
            <a:avLst/>
          </a:prstGeom>
          <a:solidFill>
            <a:srgbClr val="5F7189"/>
          </a:solidFill>
          <a:ln w="12700">
            <a:solidFill>
              <a:srgbClr val="5F7189"/>
            </a:solidFill>
            <a:prstDash val="solid"/>
          </a:ln>
        </p:spPr>
      </p:sp>
      <p:sp>
        <p:nvSpPr>
          <p:cNvPr id="16" name="Shape 13"/>
          <p:cNvSpPr/>
          <p:nvPr/>
        </p:nvSpPr>
        <p:spPr>
          <a:xfrm>
            <a:off x="4344314" y="2286000"/>
            <a:ext cx="1614373" cy="914400"/>
          </a:xfrm>
          <a:prstGeom prst="roundRect">
            <a:avLst>
              <a:gd name="adj" fmla="val 6000"/>
            </a:avLst>
          </a:prstGeom>
          <a:solidFill>
            <a:srgbClr val="EFF2F6"/>
          </a:solidFill>
          <a:ln w="12700">
            <a:solidFill>
              <a:srgbClr val="EFF2F6"/>
            </a:solidFill>
            <a:prstDash val="solid"/>
          </a:ln>
        </p:spPr>
      </p:sp>
      <p:sp>
        <p:nvSpPr>
          <p:cNvPr id="17" name="Text 14"/>
          <p:cNvSpPr/>
          <p:nvPr/>
        </p:nvSpPr>
        <p:spPr>
          <a:xfrm>
            <a:off x="4454042" y="2395728"/>
            <a:ext cx="1394917" cy="694944"/>
          </a:xfrm>
          <a:prstGeom prst="rect">
            <a:avLst/>
          </a:prstGeom>
          <a:noFill/>
          <a:ln/>
        </p:spPr>
        <p:txBody>
          <a:bodyPr wrap="square" lIns="0" tIns="0" rIns="0" bIns="0" rtlCol="0" anchor="ctr"/>
          <a:lstStyle/>
          <a:p>
            <a:pPr algn="ctr" indent="0" marL="0">
              <a:lnSpc>
                <a:spcPct val="100000"/>
              </a:lnSpc>
              <a:buNone/>
            </a:pPr>
            <a:r>
              <a:rPr lang="en-US" sz="1150" b="1" dirty="0">
                <a:solidFill>
                  <a:srgbClr val="161C28"/>
                </a:solidFill>
                <a:latin typeface="Calibri" pitchFamily="34" charset="0"/>
                <a:ea typeface="Calibri" pitchFamily="34" charset="-122"/>
                <a:cs typeface="Calibri" pitchFamily="34" charset="-120"/>
              </a:rPr>
              <a:t>Generate</a:t>
            </a:r>
            <a:endParaRPr lang="en-US" sz="1150" dirty="0"/>
          </a:p>
          <a:p>
            <a:pPr algn="ctr" indent="0" marL="0">
              <a:lnSpc>
                <a:spcPct val="100000"/>
              </a:lnSpc>
              <a:buNone/>
            </a:pPr>
            <a:r>
              <a:rPr lang="en-US" sz="1150" b="1" dirty="0">
                <a:solidFill>
                  <a:srgbClr val="161C28"/>
                </a:solidFill>
                <a:latin typeface="Calibri" pitchFamily="34" charset="0"/>
                <a:ea typeface="Calibri" pitchFamily="34" charset="-122"/>
                <a:cs typeface="Calibri" pitchFamily="34" charset="-120"/>
              </a:rPr>
              <a:t>YAML</a:t>
            </a:r>
            <a:endParaRPr lang="en-US" sz="1150" dirty="0"/>
          </a:p>
        </p:txBody>
      </p:sp>
      <p:sp>
        <p:nvSpPr>
          <p:cNvPr id="18" name="Shape 15"/>
          <p:cNvSpPr/>
          <p:nvPr/>
        </p:nvSpPr>
        <p:spPr>
          <a:xfrm>
            <a:off x="6013552" y="2660904"/>
            <a:ext cx="164592" cy="164592"/>
          </a:xfrm>
          <a:prstGeom prst="rightArrow">
            <a:avLst/>
          </a:prstGeom>
          <a:solidFill>
            <a:srgbClr val="5F7189"/>
          </a:solidFill>
          <a:ln w="12700">
            <a:solidFill>
              <a:srgbClr val="5F7189"/>
            </a:solidFill>
            <a:prstDash val="solid"/>
          </a:ln>
        </p:spPr>
      </p:sp>
      <p:sp>
        <p:nvSpPr>
          <p:cNvPr id="19" name="Shape 16"/>
          <p:cNvSpPr/>
          <p:nvPr/>
        </p:nvSpPr>
        <p:spPr>
          <a:xfrm>
            <a:off x="6233008" y="2286000"/>
            <a:ext cx="1614373" cy="914400"/>
          </a:xfrm>
          <a:prstGeom prst="roundRect">
            <a:avLst>
              <a:gd name="adj" fmla="val 6000"/>
            </a:avLst>
          </a:prstGeom>
          <a:solidFill>
            <a:srgbClr val="12161F"/>
          </a:solidFill>
          <a:ln w="12700">
            <a:solidFill>
              <a:srgbClr val="12161F"/>
            </a:solidFill>
            <a:prstDash val="solid"/>
          </a:ln>
        </p:spPr>
      </p:sp>
      <p:sp>
        <p:nvSpPr>
          <p:cNvPr id="20" name="Text 17"/>
          <p:cNvSpPr/>
          <p:nvPr/>
        </p:nvSpPr>
        <p:spPr>
          <a:xfrm>
            <a:off x="6342736" y="2395728"/>
            <a:ext cx="1394917" cy="694944"/>
          </a:xfrm>
          <a:prstGeom prst="rect">
            <a:avLst/>
          </a:prstGeom>
          <a:noFill/>
          <a:ln/>
        </p:spPr>
        <p:txBody>
          <a:bodyPr wrap="square" lIns="0" tIns="0" rIns="0" bIns="0" rtlCol="0" anchor="ctr"/>
          <a:lstStyle/>
          <a:p>
            <a:pPr algn="ctr" indent="0" marL="0">
              <a:lnSpc>
                <a:spcPct val="100000"/>
              </a:lnSpc>
              <a:buNone/>
            </a:pPr>
            <a:r>
              <a:rPr lang="en-US" sz="1150" b="1" dirty="0">
                <a:solidFill>
                  <a:srgbClr val="E09A2E"/>
                </a:solidFill>
                <a:latin typeface="Calibri" pitchFamily="34" charset="0"/>
                <a:ea typeface="Calibri" pitchFamily="34" charset="-122"/>
                <a:cs typeface="Calibri" pitchFamily="34" charset="-120"/>
              </a:rPr>
              <a:t>Open a</a:t>
            </a:r>
            <a:endParaRPr lang="en-US" sz="1150" dirty="0"/>
          </a:p>
          <a:p>
            <a:pPr algn="ctr" indent="0" marL="0">
              <a:lnSpc>
                <a:spcPct val="100000"/>
              </a:lnSpc>
              <a:buNone/>
            </a:pPr>
            <a:r>
              <a:rPr lang="en-US" sz="1150" b="1" dirty="0">
                <a:solidFill>
                  <a:srgbClr val="E09A2E"/>
                </a:solidFill>
                <a:latin typeface="Calibri" pitchFamily="34" charset="0"/>
                <a:ea typeface="Calibri" pitchFamily="34" charset="-122"/>
                <a:cs typeface="Calibri" pitchFamily="34" charset="-120"/>
              </a:rPr>
              <a:t>pull request</a:t>
            </a:r>
            <a:endParaRPr lang="en-US" sz="1150" dirty="0"/>
          </a:p>
        </p:txBody>
      </p:sp>
      <p:sp>
        <p:nvSpPr>
          <p:cNvPr id="21" name="Shape 18"/>
          <p:cNvSpPr/>
          <p:nvPr/>
        </p:nvSpPr>
        <p:spPr>
          <a:xfrm>
            <a:off x="7902245" y="2660904"/>
            <a:ext cx="164592" cy="164592"/>
          </a:xfrm>
          <a:prstGeom prst="rightArrow">
            <a:avLst/>
          </a:prstGeom>
          <a:solidFill>
            <a:srgbClr val="5F7189"/>
          </a:solidFill>
          <a:ln w="12700">
            <a:solidFill>
              <a:srgbClr val="5F7189"/>
            </a:solidFill>
            <a:prstDash val="solid"/>
          </a:ln>
        </p:spPr>
      </p:sp>
      <p:sp>
        <p:nvSpPr>
          <p:cNvPr id="22" name="Shape 19"/>
          <p:cNvSpPr/>
          <p:nvPr/>
        </p:nvSpPr>
        <p:spPr>
          <a:xfrm>
            <a:off x="8121701" y="2286000"/>
            <a:ext cx="1614373" cy="914400"/>
          </a:xfrm>
          <a:prstGeom prst="roundRect">
            <a:avLst>
              <a:gd name="adj" fmla="val 6000"/>
            </a:avLst>
          </a:prstGeom>
          <a:solidFill>
            <a:srgbClr val="FBF1E2"/>
          </a:solidFill>
          <a:ln w="12700">
            <a:solidFill>
              <a:srgbClr val="FBF1E2"/>
            </a:solidFill>
            <a:prstDash val="solid"/>
          </a:ln>
        </p:spPr>
      </p:sp>
      <p:sp>
        <p:nvSpPr>
          <p:cNvPr id="23" name="Text 20"/>
          <p:cNvSpPr/>
          <p:nvPr/>
        </p:nvSpPr>
        <p:spPr>
          <a:xfrm>
            <a:off x="8231429" y="2395728"/>
            <a:ext cx="1394917" cy="694944"/>
          </a:xfrm>
          <a:prstGeom prst="rect">
            <a:avLst/>
          </a:prstGeom>
          <a:noFill/>
          <a:ln/>
        </p:spPr>
        <p:txBody>
          <a:bodyPr wrap="square" lIns="0" tIns="0" rIns="0" bIns="0" rtlCol="0" anchor="ctr"/>
          <a:lstStyle/>
          <a:p>
            <a:pPr algn="ctr" indent="0" marL="0">
              <a:lnSpc>
                <a:spcPct val="100000"/>
              </a:lnSpc>
              <a:buNone/>
            </a:pPr>
            <a:r>
              <a:rPr lang="en-US" sz="1150" b="1" dirty="0">
                <a:solidFill>
                  <a:srgbClr val="161C28"/>
                </a:solidFill>
                <a:latin typeface="Calibri" pitchFamily="34" charset="0"/>
                <a:ea typeface="Calibri" pitchFamily="34" charset="-122"/>
                <a:cs typeface="Calibri" pitchFamily="34" charset="-120"/>
              </a:rPr>
              <a:t>CI gate</a:t>
            </a:r>
            <a:endParaRPr lang="en-US" sz="1150" dirty="0"/>
          </a:p>
          <a:p>
            <a:pPr algn="ctr" indent="0" marL="0">
              <a:lnSpc>
                <a:spcPct val="100000"/>
              </a:lnSpc>
              <a:buNone/>
            </a:pPr>
            <a:r>
              <a:rPr lang="en-US" sz="1150" b="1" dirty="0">
                <a:solidFill>
                  <a:srgbClr val="161C28"/>
                </a:solidFill>
                <a:latin typeface="Calibri" pitchFamily="34" charset="0"/>
                <a:ea typeface="Calibri" pitchFamily="34" charset="-122"/>
                <a:cs typeface="Calibri" pitchFamily="34" charset="-120"/>
              </a:rPr>
              <a:t>+ human approval</a:t>
            </a:r>
            <a:endParaRPr lang="en-US" sz="1150" dirty="0"/>
          </a:p>
        </p:txBody>
      </p:sp>
      <p:sp>
        <p:nvSpPr>
          <p:cNvPr id="24" name="Shape 21"/>
          <p:cNvSpPr/>
          <p:nvPr/>
        </p:nvSpPr>
        <p:spPr>
          <a:xfrm>
            <a:off x="9790938" y="2660904"/>
            <a:ext cx="164592" cy="164592"/>
          </a:xfrm>
          <a:prstGeom prst="rightArrow">
            <a:avLst/>
          </a:prstGeom>
          <a:solidFill>
            <a:srgbClr val="5F7189"/>
          </a:solidFill>
          <a:ln w="12700">
            <a:solidFill>
              <a:srgbClr val="5F7189"/>
            </a:solidFill>
            <a:prstDash val="solid"/>
          </a:ln>
        </p:spPr>
      </p:sp>
      <p:sp>
        <p:nvSpPr>
          <p:cNvPr id="25" name="Shape 22"/>
          <p:cNvSpPr/>
          <p:nvPr/>
        </p:nvSpPr>
        <p:spPr>
          <a:xfrm>
            <a:off x="10010394" y="2286000"/>
            <a:ext cx="1614373" cy="914400"/>
          </a:xfrm>
          <a:prstGeom prst="roundRect">
            <a:avLst>
              <a:gd name="adj" fmla="val 6000"/>
            </a:avLst>
          </a:prstGeom>
          <a:solidFill>
            <a:srgbClr val="EFF2F6"/>
          </a:solidFill>
          <a:ln w="12700">
            <a:solidFill>
              <a:srgbClr val="EFF2F6"/>
            </a:solidFill>
            <a:prstDash val="solid"/>
          </a:ln>
        </p:spPr>
      </p:sp>
      <p:sp>
        <p:nvSpPr>
          <p:cNvPr id="26" name="Text 23"/>
          <p:cNvSpPr/>
          <p:nvPr/>
        </p:nvSpPr>
        <p:spPr>
          <a:xfrm>
            <a:off x="10120122" y="2395728"/>
            <a:ext cx="1394917" cy="694944"/>
          </a:xfrm>
          <a:prstGeom prst="rect">
            <a:avLst/>
          </a:prstGeom>
          <a:noFill/>
          <a:ln/>
        </p:spPr>
        <p:txBody>
          <a:bodyPr wrap="square" lIns="0" tIns="0" rIns="0" bIns="0" rtlCol="0" anchor="ctr"/>
          <a:lstStyle/>
          <a:p>
            <a:pPr algn="ctr" indent="0" marL="0">
              <a:lnSpc>
                <a:spcPct val="100000"/>
              </a:lnSpc>
              <a:buNone/>
            </a:pPr>
            <a:r>
              <a:rPr lang="en-US" sz="1150" b="1" dirty="0">
                <a:solidFill>
                  <a:srgbClr val="161C28"/>
                </a:solidFill>
                <a:latin typeface="Calibri" pitchFamily="34" charset="0"/>
                <a:ea typeface="Calibri" pitchFamily="34" charset="-122"/>
                <a:cs typeface="Calibri" pitchFamily="34" charset="-120"/>
              </a:rPr>
              <a:t>Terraform</a:t>
            </a:r>
            <a:endParaRPr lang="en-US" sz="1150" dirty="0"/>
          </a:p>
          <a:p>
            <a:pPr algn="ctr" indent="0" marL="0">
              <a:lnSpc>
                <a:spcPct val="100000"/>
              </a:lnSpc>
              <a:buNone/>
            </a:pPr>
            <a:r>
              <a:rPr lang="en-US" sz="1150" b="1" dirty="0">
                <a:solidFill>
                  <a:srgbClr val="161C28"/>
                </a:solidFill>
                <a:latin typeface="Calibri" pitchFamily="34" charset="0"/>
                <a:ea typeface="Calibri" pitchFamily="34" charset="-122"/>
                <a:cs typeface="Calibri" pitchFamily="34" charset="-120"/>
              </a:rPr>
              <a:t>applies</a:t>
            </a:r>
            <a:endParaRPr lang="en-US" sz="1150" dirty="0"/>
          </a:p>
        </p:txBody>
      </p:sp>
      <p:sp>
        <p:nvSpPr>
          <p:cNvPr id="27" name="Shape 24"/>
          <p:cNvSpPr/>
          <p:nvPr/>
        </p:nvSpPr>
        <p:spPr>
          <a:xfrm>
            <a:off x="566928" y="3429000"/>
            <a:ext cx="5349240" cy="2377440"/>
          </a:xfrm>
          <a:prstGeom prst="roundRect">
            <a:avLst>
              <a:gd name="adj" fmla="val 2692"/>
            </a:avLst>
          </a:prstGeom>
          <a:solidFill>
            <a:srgbClr val="EAF3F1"/>
          </a:solidFill>
          <a:ln w="12700">
            <a:solidFill>
              <a:srgbClr val="EAF3F1"/>
            </a:solidFill>
            <a:prstDash val="solid"/>
          </a:ln>
        </p:spPr>
      </p:sp>
      <p:sp>
        <p:nvSpPr>
          <p:cNvPr id="28" name="Text 25"/>
          <p:cNvSpPr/>
          <p:nvPr/>
        </p:nvSpPr>
        <p:spPr>
          <a:xfrm>
            <a:off x="822960" y="3566160"/>
            <a:ext cx="4846320" cy="274320"/>
          </a:xfrm>
          <a:prstGeom prst="rect">
            <a:avLst/>
          </a:prstGeom>
          <a:noFill/>
          <a:ln/>
        </p:spPr>
        <p:txBody>
          <a:bodyPr wrap="square" lIns="0" tIns="0" rIns="0" bIns="0" rtlCol="0" anchor="ctr"/>
          <a:lstStyle/>
          <a:p>
            <a:pPr indent="0" marL="0">
              <a:buNone/>
            </a:pPr>
            <a:r>
              <a:rPr lang="en-US" sz="1000" b="1" spc="150" kern="0" dirty="0">
                <a:solidFill>
                  <a:srgbClr val="1D5C59"/>
                </a:solidFill>
                <a:latin typeface="Calibri" pitchFamily="34" charset="0"/>
                <a:ea typeface="Calibri" pitchFamily="34" charset="-122"/>
                <a:cs typeface="Calibri" pitchFamily="34" charset="-120"/>
              </a:rPr>
              <a:t>WHAT IT WILL DO</a:t>
            </a:r>
            <a:endParaRPr lang="en-US" sz="1000" dirty="0"/>
          </a:p>
        </p:txBody>
      </p:sp>
      <p:sp>
        <p:nvSpPr>
          <p:cNvPr id="29" name="Text 26"/>
          <p:cNvSpPr/>
          <p:nvPr/>
        </p:nvSpPr>
        <p:spPr>
          <a:xfrm>
            <a:off x="822960" y="3877056"/>
            <a:ext cx="4846320" cy="1828800"/>
          </a:xfrm>
          <a:prstGeom prst="rect">
            <a:avLst/>
          </a:prstGeom>
          <a:noFill/>
          <a:ln/>
        </p:spPr>
        <p:txBody>
          <a:bodyPr wrap="square" lIns="0" tIns="0" rIns="0" bIns="0" rtlCol="0" anchor="t"/>
          <a:lstStyle/>
          <a:p>
            <a:pPr marL="342900" indent="-342900">
              <a:spcAft>
                <a:spcPts val="700"/>
              </a:spcAft>
              <a:buSzPct val="100000"/>
              <a:buChar char="•"/>
            </a:pPr>
            <a:r>
              <a:rPr lang="en-US" sz="1150" dirty="0">
                <a:solidFill>
                  <a:srgbClr val="1D5C59"/>
                </a:solidFill>
                <a:latin typeface="Calibri" pitchFamily="34" charset="0"/>
                <a:ea typeface="Calibri" pitchFamily="34" charset="-122"/>
                <a:cs typeface="Calibri" pitchFamily="34" charset="-120"/>
              </a:rPr>
              <a:t>Register a service, or correct its tier and archetype</a:t>
            </a:r>
            <a:endParaRPr lang="en-US" sz="1150" dirty="0"/>
          </a:p>
          <a:p>
            <a:pPr marL="342900" indent="-342900">
              <a:spcAft>
                <a:spcPts val="700"/>
              </a:spcAft>
              <a:buSzPct val="100000"/>
              <a:buChar char="•"/>
            </a:pPr>
            <a:r>
              <a:rPr lang="en-US" sz="1150" dirty="0">
                <a:solidFill>
                  <a:srgbClr val="1D5C59"/>
                </a:solidFill>
                <a:latin typeface="Calibri" pitchFamily="34" charset="0"/>
                <a:ea typeface="Calibri" pitchFamily="34" charset="-122"/>
                <a:cs typeface="Calibri" pitchFamily="34" charset="-120"/>
              </a:rPr>
              <a:t>Draft a self-service monitor from a described symptom</a:t>
            </a:r>
            <a:endParaRPr lang="en-US" sz="1150" dirty="0"/>
          </a:p>
          <a:p>
            <a:pPr marL="342900" indent="-342900">
              <a:spcAft>
                <a:spcPts val="700"/>
              </a:spcAft>
              <a:buSzPct val="100000"/>
              <a:buChar char="•"/>
            </a:pPr>
            <a:r>
              <a:rPr lang="en-US" sz="1150" dirty="0">
                <a:solidFill>
                  <a:srgbClr val="1D5C59"/>
                </a:solidFill>
                <a:latin typeface="Calibri" pitchFamily="34" charset="0"/>
                <a:ea typeface="Calibri" pitchFamily="34" charset="-122"/>
                <a:cs typeface="Calibri" pitchFamily="34" charset="-120"/>
              </a:rPr>
              <a:t>Add a rationale to a fixed threshold that lacks one</a:t>
            </a:r>
            <a:endParaRPr lang="en-US" sz="1150" dirty="0"/>
          </a:p>
          <a:p>
            <a:pPr marL="342900" indent="-342900">
              <a:spcAft>
                <a:spcPts val="700"/>
              </a:spcAft>
              <a:buSzPct val="100000"/>
              <a:buChar char="•"/>
            </a:pPr>
            <a:r>
              <a:rPr lang="en-US" sz="1150" dirty="0">
                <a:solidFill>
                  <a:srgbClr val="1D5C59"/>
                </a:solidFill>
                <a:latin typeface="Calibri" pitchFamily="34" charset="0"/>
                <a:ea typeface="Calibri" pitchFamily="34" charset="-122"/>
                <a:cs typeface="Calibri" pitchFamily="34" charset="-120"/>
              </a:rPr>
              <a:t>File an exception with a reason, approver and expiry</a:t>
            </a:r>
            <a:endParaRPr lang="en-US" sz="1150" dirty="0"/>
          </a:p>
          <a:p>
            <a:pPr marL="342900" indent="-342900">
              <a:spcAft>
                <a:spcPts val="700"/>
              </a:spcAft>
              <a:buSzPct val="100000"/>
              <a:buChar char="•"/>
            </a:pPr>
            <a:r>
              <a:rPr lang="en-US" sz="1150" dirty="0">
                <a:solidFill>
                  <a:srgbClr val="1D5C59"/>
                </a:solidFill>
                <a:latin typeface="Calibri" pitchFamily="34" charset="0"/>
                <a:ea typeface="Calibri" pitchFamily="34" charset="-122"/>
                <a:cs typeface="Calibri" pitchFamily="34" charset="-120"/>
              </a:rPr>
              <a:t>Update team routing or escalation in teams.yaml</a:t>
            </a:r>
            <a:endParaRPr lang="en-US" sz="1150" dirty="0"/>
          </a:p>
        </p:txBody>
      </p:sp>
      <p:sp>
        <p:nvSpPr>
          <p:cNvPr id="30" name="Shape 27"/>
          <p:cNvSpPr/>
          <p:nvPr/>
        </p:nvSpPr>
        <p:spPr>
          <a:xfrm>
            <a:off x="6281928" y="3429000"/>
            <a:ext cx="5349240" cy="2377440"/>
          </a:xfrm>
          <a:prstGeom prst="roundRect">
            <a:avLst>
              <a:gd name="adj" fmla="val 2692"/>
            </a:avLst>
          </a:prstGeom>
          <a:solidFill>
            <a:srgbClr val="FBEEEB"/>
          </a:solidFill>
          <a:ln w="12700">
            <a:solidFill>
              <a:srgbClr val="FBEEEB"/>
            </a:solidFill>
            <a:prstDash val="solid"/>
          </a:ln>
        </p:spPr>
      </p:sp>
      <p:sp>
        <p:nvSpPr>
          <p:cNvPr id="31" name="Text 28"/>
          <p:cNvSpPr/>
          <p:nvPr/>
        </p:nvSpPr>
        <p:spPr>
          <a:xfrm>
            <a:off x="6537960" y="3566160"/>
            <a:ext cx="4846320" cy="274320"/>
          </a:xfrm>
          <a:prstGeom prst="rect">
            <a:avLst/>
          </a:prstGeom>
          <a:noFill/>
          <a:ln/>
        </p:spPr>
        <p:txBody>
          <a:bodyPr wrap="square" lIns="0" tIns="0" rIns="0" bIns="0" rtlCol="0" anchor="ctr"/>
          <a:lstStyle/>
          <a:p>
            <a:pPr indent="0" marL="0">
              <a:buNone/>
            </a:pPr>
            <a:r>
              <a:rPr lang="en-US" sz="1000" b="1" spc="150" kern="0" dirty="0">
                <a:solidFill>
                  <a:srgbClr val="BE4A3F"/>
                </a:solidFill>
                <a:latin typeface="Calibri" pitchFamily="34" charset="0"/>
                <a:ea typeface="Calibri" pitchFamily="34" charset="-122"/>
                <a:cs typeface="Calibri" pitchFamily="34" charset="-120"/>
              </a:rPr>
              <a:t>WHAT IT WILL NEVER DO</a:t>
            </a:r>
            <a:endParaRPr lang="en-US" sz="1000" dirty="0"/>
          </a:p>
        </p:txBody>
      </p:sp>
      <p:sp>
        <p:nvSpPr>
          <p:cNvPr id="32" name="Text 29"/>
          <p:cNvSpPr/>
          <p:nvPr/>
        </p:nvSpPr>
        <p:spPr>
          <a:xfrm>
            <a:off x="6537960" y="3877056"/>
            <a:ext cx="4846320" cy="1828800"/>
          </a:xfrm>
          <a:prstGeom prst="rect">
            <a:avLst/>
          </a:prstGeom>
          <a:noFill/>
          <a:ln/>
        </p:spPr>
        <p:txBody>
          <a:bodyPr wrap="square" lIns="0" tIns="0" rIns="0" bIns="0" rtlCol="0" anchor="t"/>
          <a:lstStyle/>
          <a:p>
            <a:pPr marL="342900" indent="-342900">
              <a:spcAft>
                <a:spcPts val="700"/>
              </a:spcAft>
              <a:buSzPct val="100000"/>
              <a:buChar char="•"/>
            </a:pPr>
            <a:r>
              <a:rPr lang="en-US" sz="1150" dirty="0">
                <a:solidFill>
                  <a:srgbClr val="7A2E24"/>
                </a:solidFill>
                <a:latin typeface="Calibri" pitchFamily="34" charset="0"/>
                <a:ea typeface="Calibri" pitchFamily="34" charset="-122"/>
                <a:cs typeface="Calibri" pitchFamily="34" charset="-120"/>
              </a:rPr>
              <a:t>Write to the Datadog API directly — not once, not in an emergency</a:t>
            </a:r>
            <a:endParaRPr lang="en-US" sz="1150" dirty="0"/>
          </a:p>
          <a:p>
            <a:pPr marL="342900" indent="-342900">
              <a:spcAft>
                <a:spcPts val="700"/>
              </a:spcAft>
              <a:buSzPct val="100000"/>
              <a:buChar char="•"/>
            </a:pPr>
            <a:r>
              <a:rPr lang="en-US" sz="1150" dirty="0">
                <a:solidFill>
                  <a:srgbClr val="7A2E24"/>
                </a:solidFill>
                <a:latin typeface="Calibri" pitchFamily="34" charset="0"/>
                <a:ea typeface="Calibri" pitchFamily="34" charset="-122"/>
                <a:cs typeface="Calibri" pitchFamily="34" charset="-120"/>
              </a:rPr>
              <a:t>Run terraform apply</a:t>
            </a:r>
            <a:endParaRPr lang="en-US" sz="1150" dirty="0"/>
          </a:p>
          <a:p>
            <a:pPr marL="342900" indent="-342900">
              <a:spcAft>
                <a:spcPts val="700"/>
              </a:spcAft>
              <a:buSzPct val="100000"/>
              <a:buChar char="•"/>
            </a:pPr>
            <a:r>
              <a:rPr lang="en-US" sz="1150" dirty="0">
                <a:solidFill>
                  <a:srgbClr val="7A2E24"/>
                </a:solidFill>
                <a:latin typeface="Calibri" pitchFamily="34" charset="0"/>
                <a:ea typeface="Calibri" pitchFamily="34" charset="-122"/>
                <a:cs typeface="Calibri" pitchFamily="34" charset="-120"/>
              </a:rPr>
              <a:t>Bypass the CI gate or self-approve a pull request</a:t>
            </a:r>
            <a:endParaRPr lang="en-US" sz="1150" dirty="0"/>
          </a:p>
          <a:p>
            <a:pPr marL="342900" indent="-342900">
              <a:spcAft>
                <a:spcPts val="700"/>
              </a:spcAft>
              <a:buSzPct val="100000"/>
              <a:buChar char="•"/>
            </a:pPr>
            <a:r>
              <a:rPr lang="en-US" sz="1150" dirty="0">
                <a:solidFill>
                  <a:srgbClr val="7A2E24"/>
                </a:solidFill>
                <a:latin typeface="Calibri" pitchFamily="34" charset="0"/>
                <a:ea typeface="Calibri" pitchFamily="34" charset="-122"/>
                <a:cs typeface="Calibri" pitchFamily="34" charset="-120"/>
              </a:rPr>
              <a:t>Mute a monitor or edit anything in the Datadog UI</a:t>
            </a:r>
            <a:endParaRPr lang="en-US" sz="1150" dirty="0"/>
          </a:p>
          <a:p>
            <a:pPr marL="342900" indent="-342900">
              <a:spcAft>
                <a:spcPts val="700"/>
              </a:spcAft>
              <a:buSzPct val="100000"/>
              <a:buChar char="•"/>
            </a:pPr>
            <a:r>
              <a:rPr lang="en-US" sz="1150" dirty="0">
                <a:solidFill>
                  <a:srgbClr val="7A2E24"/>
                </a:solidFill>
                <a:latin typeface="Calibri" pitchFamily="34" charset="0"/>
                <a:ea typeface="Calibri" pitchFamily="34" charset="-122"/>
                <a:cs typeface="Calibri" pitchFamily="34" charset="-120"/>
              </a:rPr>
              <a:t>Acceptance test: a pull request it opens passes CI unmodified — the same bar as a human contributor</a:t>
            </a:r>
            <a:endParaRPr lang="en-US" sz="11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8778240" cy="256032"/>
          </a:xfrm>
          <a:prstGeom prst="rect">
            <a:avLst/>
          </a:prstGeom>
          <a:noFill/>
          <a:ln/>
        </p:spPr>
        <p:txBody>
          <a:bodyPr wrap="square" lIns="0" tIns="0" rIns="0" bIns="0" rtlCol="0" anchor="ctr"/>
          <a:lstStyle/>
          <a:p>
            <a:pPr indent="0" marL="0">
              <a:buNone/>
            </a:pPr>
            <a:r>
              <a:rPr lang="en-US" sz="1050" b="1" spc="160" kern="0" dirty="0">
                <a:solidFill>
                  <a:srgbClr val="B87914"/>
                </a:solidFill>
                <a:latin typeface="Calibri" pitchFamily="34" charset="0"/>
                <a:ea typeface="Calibri" pitchFamily="34" charset="-122"/>
                <a:cs typeface="Calibri" pitchFamily="34" charset="-120"/>
              </a:rPr>
              <a:t>TOPIC 26</a:t>
            </a:r>
            <a:endParaRPr lang="en-US" sz="1050" dirty="0"/>
          </a:p>
        </p:txBody>
      </p:sp>
      <p:sp>
        <p:nvSpPr>
          <p:cNvPr id="3" name="Text 1"/>
          <p:cNvSpPr/>
          <p:nvPr/>
        </p:nvSpPr>
        <p:spPr>
          <a:xfrm>
            <a:off x="566928" y="694944"/>
            <a:ext cx="10424160" cy="786384"/>
          </a:xfrm>
          <a:prstGeom prst="rect">
            <a:avLst/>
          </a:prstGeom>
          <a:noFill/>
          <a:ln/>
        </p:spPr>
        <p:txBody>
          <a:bodyPr wrap="square" lIns="0" tIns="0" rIns="0" bIns="0" rtlCol="0" anchor="ctr"/>
          <a:lstStyle/>
          <a:p>
            <a:pPr indent="0" marL="0">
              <a:buNone/>
            </a:pPr>
            <a:r>
              <a:rPr lang="en-US" sz="3100" b="1" dirty="0">
                <a:solidFill>
                  <a:srgbClr val="161C28"/>
                </a:solidFill>
                <a:latin typeface="Cambria" pitchFamily="34" charset="0"/>
                <a:ea typeface="Cambria" pitchFamily="34" charset="-122"/>
                <a:cs typeface="Cambria" pitchFamily="34" charset="-120"/>
              </a:rPr>
              <a:t>MCP governance</a:t>
            </a:r>
            <a:endParaRPr lang="en-US" sz="3100" dirty="0"/>
          </a:p>
        </p:txBody>
      </p:sp>
      <p:sp>
        <p:nvSpPr>
          <p:cNvPr id="4" name="Text 2"/>
          <p:cNvSpPr/>
          <p:nvPr/>
        </p:nvSpPr>
        <p:spPr>
          <a:xfrm>
            <a:off x="566928" y="1481328"/>
            <a:ext cx="10698480" cy="457200"/>
          </a:xfrm>
          <a:prstGeom prst="rect">
            <a:avLst/>
          </a:prstGeom>
          <a:noFill/>
          <a:ln/>
        </p:spPr>
        <p:txBody>
          <a:bodyPr wrap="square" lIns="0" tIns="0" rIns="0" bIns="0" rtlCol="0" anchor="t"/>
          <a:lstStyle/>
          <a:p>
            <a:pPr indent="0" marL="0">
              <a:buNone/>
            </a:pPr>
            <a:r>
              <a:rPr lang="en-US" sz="1450" dirty="0">
                <a:solidFill>
                  <a:srgbClr val="3A4557"/>
                </a:solidFill>
                <a:latin typeface="Calibri" pitchFamily="34" charset="0"/>
                <a:ea typeface="Calibri" pitchFamily="34" charset="-122"/>
                <a:cs typeface="Calibri" pitchFamily="34" charset="-120"/>
              </a:rPr>
              <a:t>The safety model is designed before the server is, because an interface that can propose infrastructure changes is an interface that will be asked to do something it should refuse.</a:t>
            </a:r>
            <a:endParaRPr lang="en-US" sz="1450" dirty="0"/>
          </a:p>
        </p:txBody>
      </p:sp>
      <p:sp>
        <p:nvSpPr>
          <p:cNvPr id="5" name="Shape 3"/>
          <p:cNvSpPr/>
          <p:nvPr/>
        </p:nvSpPr>
        <p:spPr>
          <a:xfrm>
            <a:off x="9608515" y="420624"/>
            <a:ext cx="2016252" cy="310896"/>
          </a:xfrm>
          <a:prstGeom prst="roundRect">
            <a:avLst>
              <a:gd name="adj" fmla="val 50000"/>
            </a:avLst>
          </a:prstGeom>
          <a:solidFill>
            <a:srgbClr val="DFE5EE"/>
          </a:solidFill>
          <a:ln w="12700">
            <a:solidFill>
              <a:srgbClr val="DFE5EE"/>
            </a:solidFill>
            <a:prstDash val="solid"/>
          </a:ln>
        </p:spPr>
      </p:sp>
      <p:sp>
        <p:nvSpPr>
          <p:cNvPr id="6" name="Text 4"/>
          <p:cNvSpPr/>
          <p:nvPr/>
        </p:nvSpPr>
        <p:spPr>
          <a:xfrm>
            <a:off x="9608515" y="420624"/>
            <a:ext cx="2016252" cy="310896"/>
          </a:xfrm>
          <a:prstGeom prst="rect">
            <a:avLst/>
          </a:prstGeom>
          <a:noFill/>
          <a:ln/>
        </p:spPr>
        <p:txBody>
          <a:bodyPr wrap="square" lIns="0" tIns="0" rIns="0" bIns="0" rtlCol="0" anchor="ctr"/>
          <a:lstStyle/>
          <a:p>
            <a:pPr algn="ctr" indent="0" marL="0">
              <a:buNone/>
            </a:pPr>
            <a:r>
              <a:rPr lang="en-US" sz="950" b="1" spc="100" kern="0" dirty="0">
                <a:solidFill>
                  <a:srgbClr val="5F7189"/>
                </a:solidFill>
                <a:latin typeface="Calibri" pitchFamily="34" charset="0"/>
                <a:ea typeface="Calibri" pitchFamily="34" charset="-122"/>
                <a:cs typeface="Calibri" pitchFamily="34" charset="-120"/>
              </a:rPr>
              <a:t>ROADMAP · PHASE 7</a:t>
            </a:r>
            <a:endParaRPr lang="en-US" sz="950" dirty="0"/>
          </a:p>
        </p:txBody>
      </p:sp>
      <p:sp>
        <p:nvSpPr>
          <p:cNvPr id="7" name="Text 5"/>
          <p:cNvSpPr/>
          <p:nvPr/>
        </p:nvSpPr>
        <p:spPr>
          <a:xfrm>
            <a:off x="566928" y="6345936"/>
            <a:ext cx="7315200" cy="274320"/>
          </a:xfrm>
          <a:prstGeom prst="rect">
            <a:avLst/>
          </a:prstGeom>
          <a:noFill/>
          <a:ln/>
        </p:spPr>
        <p:txBody>
          <a:bodyPr wrap="square" lIns="0" tIns="0" rIns="0" bIns="0" rtlCol="0" anchor="ctr"/>
          <a:lstStyle/>
          <a:p>
            <a:pPr indent="0" marL="0">
              <a:buNone/>
            </a:pPr>
            <a:r>
              <a:rPr lang="en-US" sz="900" dirty="0">
                <a:solidFill>
                  <a:srgbClr val="6B7891"/>
                </a:solidFill>
                <a:latin typeface="Calibri" pitchFamily="34" charset="0"/>
                <a:ea typeface="Calibri" pitchFamily="34" charset="-122"/>
                <a:cs typeface="Calibri" pitchFamily="34" charset="-120"/>
              </a:rPr>
              <a:t>Enterprise Observability  ·  policy-as-data on Datadog</a:t>
            </a:r>
            <a:endParaRPr lang="en-US" sz="900" dirty="0"/>
          </a:p>
        </p:txBody>
      </p:sp>
      <p:sp>
        <p:nvSpPr>
          <p:cNvPr id="8" name="Text 6"/>
          <p:cNvSpPr/>
          <p:nvPr/>
        </p:nvSpPr>
        <p:spPr>
          <a:xfrm>
            <a:off x="10710367" y="6345936"/>
            <a:ext cx="914400" cy="274320"/>
          </a:xfrm>
          <a:prstGeom prst="rect">
            <a:avLst/>
          </a:prstGeom>
          <a:noFill/>
          <a:ln/>
        </p:spPr>
        <p:txBody>
          <a:bodyPr wrap="square" lIns="0" tIns="0" rIns="0" bIns="0" rtlCol="0" anchor="ctr"/>
          <a:lstStyle/>
          <a:p>
            <a:pPr algn="r" indent="0" marL="0">
              <a:buNone/>
            </a:pPr>
            <a:r>
              <a:rPr lang="en-US" sz="900" dirty="0">
                <a:solidFill>
                  <a:srgbClr val="6B7891"/>
                </a:solidFill>
                <a:latin typeface="Calibri" pitchFamily="34" charset="0"/>
                <a:ea typeface="Calibri" pitchFamily="34" charset="-122"/>
                <a:cs typeface="Calibri" pitchFamily="34" charset="-120"/>
              </a:rPr>
              <a:t>34</a:t>
            </a:r>
            <a:endParaRPr lang="en-US" sz="900" dirty="0"/>
          </a:p>
        </p:txBody>
      </p:sp>
      <p:sp>
        <p:nvSpPr>
          <p:cNvPr id="10" name="Shape 7"/>
          <p:cNvSpPr/>
          <p:nvPr/>
        </p:nvSpPr>
        <p:spPr>
          <a:xfrm>
            <a:off x="566928" y="2377440"/>
            <a:ext cx="2065264" cy="1600200"/>
          </a:xfrm>
          <a:prstGeom prst="roundRect">
            <a:avLst>
              <a:gd name="adj" fmla="val 3429"/>
            </a:avLst>
          </a:prstGeom>
          <a:solidFill>
            <a:srgbClr val="EFF2F6"/>
          </a:solidFill>
          <a:ln w="12700">
            <a:solidFill>
              <a:srgbClr val="EFF2F6"/>
            </a:solidFill>
            <a:prstDash val="solid"/>
          </a:ln>
        </p:spPr>
      </p:sp>
      <p:sp>
        <p:nvSpPr>
          <p:cNvPr id="11" name="Text 8"/>
          <p:cNvSpPr/>
          <p:nvPr/>
        </p:nvSpPr>
        <p:spPr>
          <a:xfrm>
            <a:off x="768096" y="2523744"/>
            <a:ext cx="1662928" cy="347472"/>
          </a:xfrm>
          <a:prstGeom prst="rect">
            <a:avLst/>
          </a:prstGeom>
          <a:noFill/>
          <a:ln/>
        </p:spPr>
        <p:txBody>
          <a:bodyPr wrap="square" lIns="0" tIns="0" rIns="0" bIns="0" rtlCol="0" anchor="t"/>
          <a:lstStyle/>
          <a:p>
            <a:pPr indent="0" marL="0">
              <a:buNone/>
            </a:pPr>
            <a:r>
              <a:rPr lang="en-US" sz="1300" b="1" dirty="0">
                <a:solidFill>
                  <a:srgbClr val="161C28"/>
                </a:solidFill>
                <a:latin typeface="Calibri" pitchFamily="34" charset="0"/>
                <a:ea typeface="Calibri" pitchFamily="34" charset="-122"/>
                <a:cs typeface="Calibri" pitchFamily="34" charset="-120"/>
              </a:rPr>
              <a:t>Authentication</a:t>
            </a:r>
            <a:endParaRPr lang="en-US" sz="1300" dirty="0"/>
          </a:p>
        </p:txBody>
      </p:sp>
      <p:sp>
        <p:nvSpPr>
          <p:cNvPr id="12" name="Text 9"/>
          <p:cNvSpPr/>
          <p:nvPr/>
        </p:nvSpPr>
        <p:spPr>
          <a:xfrm>
            <a:off x="768096" y="2907792"/>
            <a:ext cx="1662928" cy="923544"/>
          </a:xfrm>
          <a:prstGeom prst="rect">
            <a:avLst/>
          </a:prstGeom>
          <a:noFill/>
          <a:ln/>
        </p:spPr>
        <p:txBody>
          <a:bodyPr wrap="square" lIns="0" tIns="0" rIns="0" bIns="0" rtlCol="0" anchor="t"/>
          <a:lstStyle/>
          <a:p>
            <a:pPr indent="0" marL="0">
              <a:lnSpc>
                <a:spcPct val="102000"/>
              </a:lnSpc>
              <a:buNone/>
            </a:pPr>
            <a:r>
              <a:rPr lang="en-US" sz="1050" dirty="0">
                <a:solidFill>
                  <a:srgbClr val="3A4557"/>
                </a:solidFill>
                <a:latin typeface="Calibri" pitchFamily="34" charset="0"/>
                <a:ea typeface="Calibri" pitchFamily="34" charset="-122"/>
                <a:cs typeface="Calibri" pitchFamily="34" charset="-120"/>
              </a:rPr>
              <a:t>Identity from the corporate IdP. No anonymous access, no shared token, every session attributable to a person.</a:t>
            </a:r>
            <a:endParaRPr lang="en-US" sz="1050" dirty="0"/>
          </a:p>
        </p:txBody>
      </p:sp>
      <p:sp>
        <p:nvSpPr>
          <p:cNvPr id="13" name="Shape 10"/>
          <p:cNvSpPr/>
          <p:nvPr/>
        </p:nvSpPr>
        <p:spPr>
          <a:xfrm>
            <a:off x="2815072" y="2377440"/>
            <a:ext cx="2065264" cy="1600200"/>
          </a:xfrm>
          <a:prstGeom prst="roundRect">
            <a:avLst>
              <a:gd name="adj" fmla="val 3429"/>
            </a:avLst>
          </a:prstGeom>
          <a:solidFill>
            <a:srgbClr val="EFF2F6"/>
          </a:solidFill>
          <a:ln w="12700">
            <a:solidFill>
              <a:srgbClr val="EFF2F6"/>
            </a:solidFill>
            <a:prstDash val="solid"/>
          </a:ln>
        </p:spPr>
      </p:sp>
      <p:sp>
        <p:nvSpPr>
          <p:cNvPr id="14" name="Text 11"/>
          <p:cNvSpPr/>
          <p:nvPr/>
        </p:nvSpPr>
        <p:spPr>
          <a:xfrm>
            <a:off x="3016240" y="2523744"/>
            <a:ext cx="1662928" cy="347472"/>
          </a:xfrm>
          <a:prstGeom prst="rect">
            <a:avLst/>
          </a:prstGeom>
          <a:noFill/>
          <a:ln/>
        </p:spPr>
        <p:txBody>
          <a:bodyPr wrap="square" lIns="0" tIns="0" rIns="0" bIns="0" rtlCol="0" anchor="t"/>
          <a:lstStyle/>
          <a:p>
            <a:pPr indent="0" marL="0">
              <a:buNone/>
            </a:pPr>
            <a:r>
              <a:rPr lang="en-US" sz="1300" b="1" dirty="0">
                <a:solidFill>
                  <a:srgbClr val="161C28"/>
                </a:solidFill>
                <a:latin typeface="Calibri" pitchFamily="34" charset="0"/>
                <a:ea typeface="Calibri" pitchFamily="34" charset="-122"/>
                <a:cs typeface="Calibri" pitchFamily="34" charset="-120"/>
              </a:rPr>
              <a:t>Authorisation</a:t>
            </a:r>
            <a:endParaRPr lang="en-US" sz="1300" dirty="0"/>
          </a:p>
        </p:txBody>
      </p:sp>
      <p:sp>
        <p:nvSpPr>
          <p:cNvPr id="15" name="Text 12"/>
          <p:cNvSpPr/>
          <p:nvPr/>
        </p:nvSpPr>
        <p:spPr>
          <a:xfrm>
            <a:off x="3016240" y="2907792"/>
            <a:ext cx="1662928" cy="923544"/>
          </a:xfrm>
          <a:prstGeom prst="rect">
            <a:avLst/>
          </a:prstGeom>
          <a:noFill/>
          <a:ln/>
        </p:spPr>
        <p:txBody>
          <a:bodyPr wrap="square" lIns="0" tIns="0" rIns="0" bIns="0" rtlCol="0" anchor="t"/>
          <a:lstStyle/>
          <a:p>
            <a:pPr indent="0" marL="0">
              <a:lnSpc>
                <a:spcPct val="102000"/>
              </a:lnSpc>
              <a:buNone/>
            </a:pPr>
            <a:r>
              <a:rPr lang="en-US" sz="1050" dirty="0">
                <a:solidFill>
                  <a:srgbClr val="3A4557"/>
                </a:solidFill>
                <a:latin typeface="Calibri" pitchFamily="34" charset="0"/>
                <a:ea typeface="Calibri" pitchFamily="34" charset="-122"/>
                <a:cs typeface="Calibri" pitchFamily="34" charset="-120"/>
              </a:rPr>
              <a:t>The platform's existing RBAC mapped through. The interface never grants more than the person already has in Datadog.</a:t>
            </a:r>
            <a:endParaRPr lang="en-US" sz="1050" dirty="0"/>
          </a:p>
        </p:txBody>
      </p:sp>
      <p:sp>
        <p:nvSpPr>
          <p:cNvPr id="16" name="Shape 13"/>
          <p:cNvSpPr/>
          <p:nvPr/>
        </p:nvSpPr>
        <p:spPr>
          <a:xfrm>
            <a:off x="5063216" y="2377440"/>
            <a:ext cx="2065264" cy="1600200"/>
          </a:xfrm>
          <a:prstGeom prst="roundRect">
            <a:avLst>
              <a:gd name="adj" fmla="val 3429"/>
            </a:avLst>
          </a:prstGeom>
          <a:solidFill>
            <a:srgbClr val="EFF2F6"/>
          </a:solidFill>
          <a:ln w="12700">
            <a:solidFill>
              <a:srgbClr val="EFF2F6"/>
            </a:solidFill>
            <a:prstDash val="solid"/>
          </a:ln>
        </p:spPr>
      </p:sp>
      <p:sp>
        <p:nvSpPr>
          <p:cNvPr id="17" name="Text 14"/>
          <p:cNvSpPr/>
          <p:nvPr/>
        </p:nvSpPr>
        <p:spPr>
          <a:xfrm>
            <a:off x="5264384" y="2523744"/>
            <a:ext cx="1662928" cy="347472"/>
          </a:xfrm>
          <a:prstGeom prst="rect">
            <a:avLst/>
          </a:prstGeom>
          <a:noFill/>
          <a:ln/>
        </p:spPr>
        <p:txBody>
          <a:bodyPr wrap="square" lIns="0" tIns="0" rIns="0" bIns="0" rtlCol="0" anchor="t"/>
          <a:lstStyle/>
          <a:p>
            <a:pPr indent="0" marL="0">
              <a:buNone/>
            </a:pPr>
            <a:r>
              <a:rPr lang="en-US" sz="1300" b="1" dirty="0">
                <a:solidFill>
                  <a:srgbClr val="161C28"/>
                </a:solidFill>
                <a:latin typeface="Calibri" pitchFamily="34" charset="0"/>
                <a:ea typeface="Calibri" pitchFamily="34" charset="-122"/>
                <a:cs typeface="Calibri" pitchFamily="34" charset="-120"/>
              </a:rPr>
              <a:t>Dry run by default</a:t>
            </a:r>
            <a:endParaRPr lang="en-US" sz="1300" dirty="0"/>
          </a:p>
        </p:txBody>
      </p:sp>
      <p:sp>
        <p:nvSpPr>
          <p:cNvPr id="18" name="Text 15"/>
          <p:cNvSpPr/>
          <p:nvPr/>
        </p:nvSpPr>
        <p:spPr>
          <a:xfrm>
            <a:off x="5264384" y="2907792"/>
            <a:ext cx="1662928" cy="923544"/>
          </a:xfrm>
          <a:prstGeom prst="rect">
            <a:avLst/>
          </a:prstGeom>
          <a:noFill/>
          <a:ln/>
        </p:spPr>
        <p:txBody>
          <a:bodyPr wrap="square" lIns="0" tIns="0" rIns="0" bIns="0" rtlCol="0" anchor="t"/>
          <a:lstStyle/>
          <a:p>
            <a:pPr indent="0" marL="0">
              <a:lnSpc>
                <a:spcPct val="102000"/>
              </a:lnSpc>
              <a:buNone/>
            </a:pPr>
            <a:r>
              <a:rPr lang="en-US" sz="1050" dirty="0">
                <a:solidFill>
                  <a:srgbClr val="3A4557"/>
                </a:solidFill>
                <a:latin typeface="Calibri" pitchFamily="34" charset="0"/>
                <a:ea typeface="Calibri" pitchFamily="34" charset="-122"/>
                <a:cs typeface="Calibri" pitchFamily="34" charset="-120"/>
              </a:rPr>
              <a:t>Every write-shaped call returns a plan first. Nothing commits without a second, explicit confirmation naming what changes.</a:t>
            </a:r>
            <a:endParaRPr lang="en-US" sz="1050" dirty="0"/>
          </a:p>
        </p:txBody>
      </p:sp>
      <p:sp>
        <p:nvSpPr>
          <p:cNvPr id="19" name="Shape 16"/>
          <p:cNvSpPr/>
          <p:nvPr/>
        </p:nvSpPr>
        <p:spPr>
          <a:xfrm>
            <a:off x="7311360" y="2377440"/>
            <a:ext cx="2065264" cy="1600200"/>
          </a:xfrm>
          <a:prstGeom prst="roundRect">
            <a:avLst>
              <a:gd name="adj" fmla="val 3429"/>
            </a:avLst>
          </a:prstGeom>
          <a:solidFill>
            <a:srgbClr val="EFF2F6"/>
          </a:solidFill>
          <a:ln w="12700">
            <a:solidFill>
              <a:srgbClr val="EFF2F6"/>
            </a:solidFill>
            <a:prstDash val="solid"/>
          </a:ln>
        </p:spPr>
      </p:sp>
      <p:sp>
        <p:nvSpPr>
          <p:cNvPr id="20" name="Text 17"/>
          <p:cNvSpPr/>
          <p:nvPr/>
        </p:nvSpPr>
        <p:spPr>
          <a:xfrm>
            <a:off x="7512528" y="2523744"/>
            <a:ext cx="1662928" cy="347472"/>
          </a:xfrm>
          <a:prstGeom prst="rect">
            <a:avLst/>
          </a:prstGeom>
          <a:noFill/>
          <a:ln/>
        </p:spPr>
        <p:txBody>
          <a:bodyPr wrap="square" lIns="0" tIns="0" rIns="0" bIns="0" rtlCol="0" anchor="t"/>
          <a:lstStyle/>
          <a:p>
            <a:pPr indent="0" marL="0">
              <a:buNone/>
            </a:pPr>
            <a:r>
              <a:rPr lang="en-US" sz="1300" b="1" dirty="0">
                <a:solidFill>
                  <a:srgbClr val="161C28"/>
                </a:solidFill>
                <a:latin typeface="Calibri" pitchFamily="34" charset="0"/>
                <a:ea typeface="Calibri" pitchFamily="34" charset="-122"/>
                <a:cs typeface="Calibri" pitchFamily="34" charset="-120"/>
              </a:rPr>
              <a:t>Human approval</a:t>
            </a:r>
            <a:endParaRPr lang="en-US" sz="1300" dirty="0"/>
          </a:p>
        </p:txBody>
      </p:sp>
      <p:sp>
        <p:nvSpPr>
          <p:cNvPr id="21" name="Text 18"/>
          <p:cNvSpPr/>
          <p:nvPr/>
        </p:nvSpPr>
        <p:spPr>
          <a:xfrm>
            <a:off x="7512528" y="2907792"/>
            <a:ext cx="1662928" cy="923544"/>
          </a:xfrm>
          <a:prstGeom prst="rect">
            <a:avLst/>
          </a:prstGeom>
          <a:noFill/>
          <a:ln/>
        </p:spPr>
        <p:txBody>
          <a:bodyPr wrap="square" lIns="0" tIns="0" rIns="0" bIns="0" rtlCol="0" anchor="t"/>
          <a:lstStyle/>
          <a:p>
            <a:pPr indent="0" marL="0">
              <a:lnSpc>
                <a:spcPct val="102000"/>
              </a:lnSpc>
              <a:buNone/>
            </a:pPr>
            <a:r>
              <a:rPr lang="en-US" sz="1050" dirty="0">
                <a:solidFill>
                  <a:srgbClr val="3A4557"/>
                </a:solidFill>
                <a:latin typeface="Calibri" pitchFamily="34" charset="0"/>
                <a:ea typeface="Calibri" pitchFamily="34" charset="-122"/>
                <a:cs typeface="Calibri" pitchFamily="34" charset="-120"/>
              </a:rPr>
              <a:t>A person approves the pull request. The server is a contributor — never a reviewer, and never its own approver.</a:t>
            </a:r>
            <a:endParaRPr lang="en-US" sz="1050" dirty="0"/>
          </a:p>
        </p:txBody>
      </p:sp>
      <p:sp>
        <p:nvSpPr>
          <p:cNvPr id="22" name="Shape 19"/>
          <p:cNvSpPr/>
          <p:nvPr/>
        </p:nvSpPr>
        <p:spPr>
          <a:xfrm>
            <a:off x="9559503" y="2377440"/>
            <a:ext cx="2065264" cy="1600200"/>
          </a:xfrm>
          <a:prstGeom prst="roundRect">
            <a:avLst>
              <a:gd name="adj" fmla="val 3429"/>
            </a:avLst>
          </a:prstGeom>
          <a:solidFill>
            <a:srgbClr val="EFF2F6"/>
          </a:solidFill>
          <a:ln w="12700">
            <a:solidFill>
              <a:srgbClr val="EFF2F6"/>
            </a:solidFill>
            <a:prstDash val="solid"/>
          </a:ln>
        </p:spPr>
      </p:sp>
      <p:sp>
        <p:nvSpPr>
          <p:cNvPr id="23" name="Text 20"/>
          <p:cNvSpPr/>
          <p:nvPr/>
        </p:nvSpPr>
        <p:spPr>
          <a:xfrm>
            <a:off x="9760671" y="2523744"/>
            <a:ext cx="1662928" cy="347472"/>
          </a:xfrm>
          <a:prstGeom prst="rect">
            <a:avLst/>
          </a:prstGeom>
          <a:noFill/>
          <a:ln/>
        </p:spPr>
        <p:txBody>
          <a:bodyPr wrap="square" lIns="0" tIns="0" rIns="0" bIns="0" rtlCol="0" anchor="t"/>
          <a:lstStyle/>
          <a:p>
            <a:pPr indent="0" marL="0">
              <a:buNone/>
            </a:pPr>
            <a:r>
              <a:rPr lang="en-US" sz="1300" b="1" dirty="0">
                <a:solidFill>
                  <a:srgbClr val="161C28"/>
                </a:solidFill>
                <a:latin typeface="Calibri" pitchFamily="34" charset="0"/>
                <a:ea typeface="Calibri" pitchFamily="34" charset="-122"/>
                <a:cs typeface="Calibri" pitchFamily="34" charset="-120"/>
              </a:rPr>
              <a:t>Audit</a:t>
            </a:r>
            <a:endParaRPr lang="en-US" sz="1300" dirty="0"/>
          </a:p>
        </p:txBody>
      </p:sp>
      <p:sp>
        <p:nvSpPr>
          <p:cNvPr id="24" name="Text 21"/>
          <p:cNvSpPr/>
          <p:nvPr/>
        </p:nvSpPr>
        <p:spPr>
          <a:xfrm>
            <a:off x="9760671" y="2907792"/>
            <a:ext cx="1662928" cy="923544"/>
          </a:xfrm>
          <a:prstGeom prst="rect">
            <a:avLst/>
          </a:prstGeom>
          <a:noFill/>
          <a:ln/>
        </p:spPr>
        <p:txBody>
          <a:bodyPr wrap="square" lIns="0" tIns="0" rIns="0" bIns="0" rtlCol="0" anchor="t"/>
          <a:lstStyle/>
          <a:p>
            <a:pPr indent="0" marL="0">
              <a:lnSpc>
                <a:spcPct val="102000"/>
              </a:lnSpc>
              <a:buNone/>
            </a:pPr>
            <a:r>
              <a:rPr lang="en-US" sz="1050" dirty="0">
                <a:solidFill>
                  <a:srgbClr val="3A4557"/>
                </a:solidFill>
                <a:latin typeface="Calibri" pitchFamily="34" charset="0"/>
                <a:ea typeface="Calibri" pitchFamily="34" charset="-122"/>
                <a:cs typeface="Calibri" pitchFamily="34" charset="-120"/>
              </a:rPr>
              <a:t>Every call, read and write, logged with identity, arguments, result and resulting PR — and queryable afterwards.</a:t>
            </a:r>
            <a:endParaRPr lang="en-US" sz="1050" dirty="0"/>
          </a:p>
        </p:txBody>
      </p:sp>
      <p:sp>
        <p:nvSpPr>
          <p:cNvPr id="25" name="Shape 22"/>
          <p:cNvSpPr/>
          <p:nvPr/>
        </p:nvSpPr>
        <p:spPr>
          <a:xfrm>
            <a:off x="566928" y="4251960"/>
            <a:ext cx="11057839" cy="1508760"/>
          </a:xfrm>
          <a:prstGeom prst="roundRect">
            <a:avLst>
              <a:gd name="adj" fmla="val 4242"/>
            </a:avLst>
          </a:prstGeom>
          <a:solidFill>
            <a:srgbClr val="12161F"/>
          </a:solidFill>
          <a:ln w="12700">
            <a:solidFill>
              <a:srgbClr val="12161F"/>
            </a:solidFill>
            <a:prstDash val="solid"/>
          </a:ln>
        </p:spPr>
      </p:sp>
      <p:sp>
        <p:nvSpPr>
          <p:cNvPr id="26" name="Text 23"/>
          <p:cNvSpPr/>
          <p:nvPr/>
        </p:nvSpPr>
        <p:spPr>
          <a:xfrm>
            <a:off x="841248" y="4407408"/>
            <a:ext cx="10424160" cy="274320"/>
          </a:xfrm>
          <a:prstGeom prst="rect">
            <a:avLst/>
          </a:prstGeom>
          <a:noFill/>
          <a:ln/>
        </p:spPr>
        <p:txBody>
          <a:bodyPr wrap="square" lIns="0" tIns="0" rIns="0" bIns="0" rtlCol="0" anchor="ctr"/>
          <a:lstStyle/>
          <a:p>
            <a:pPr indent="0" marL="0">
              <a:buNone/>
            </a:pPr>
            <a:r>
              <a:rPr lang="en-US" sz="1000" b="1" spc="150" kern="0" dirty="0">
                <a:solidFill>
                  <a:srgbClr val="E09A2E"/>
                </a:solidFill>
                <a:latin typeface="Calibri" pitchFamily="34" charset="0"/>
                <a:ea typeface="Calibri" pitchFamily="34" charset="-122"/>
                <a:cs typeface="Calibri" pitchFamily="34" charset="-120"/>
              </a:rPr>
              <a:t>THE ACCEPTANCE TESTS ARE THE NEGATIVE ONES</a:t>
            </a:r>
            <a:endParaRPr lang="en-US" sz="1000" dirty="0"/>
          </a:p>
        </p:txBody>
      </p:sp>
      <p:sp>
        <p:nvSpPr>
          <p:cNvPr id="27" name="Text 24"/>
          <p:cNvSpPr/>
          <p:nvPr/>
        </p:nvSpPr>
        <p:spPr>
          <a:xfrm>
            <a:off x="841248" y="4718304"/>
            <a:ext cx="10424160" cy="96012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C6D0DF"/>
                </a:solidFill>
                <a:latin typeface="Calibri" pitchFamily="34" charset="0"/>
                <a:ea typeface="Calibri" pitchFamily="34" charset="-122"/>
                <a:cs typeface="Calibri" pitchFamily="34" charset="-120"/>
              </a:rPr>
              <a:t>An unauthorised write is refused and logged</a:t>
            </a:r>
            <a:endParaRPr lang="en-US" sz="1200" dirty="0"/>
          </a:p>
          <a:p>
            <a:pPr marL="342900" indent="-342900">
              <a:spcAft>
                <a:spcPts val="600"/>
              </a:spcAft>
              <a:buSzPct val="100000"/>
              <a:buChar char="•"/>
            </a:pPr>
            <a:r>
              <a:rPr lang="en-US" sz="1200" dirty="0">
                <a:solidFill>
                  <a:srgbClr val="C6D0DF"/>
                </a:solidFill>
                <a:latin typeface="Calibri" pitchFamily="34" charset="0"/>
                <a:ea typeface="Calibri" pitchFamily="34" charset="-122"/>
                <a:cs typeface="Calibri" pitchFamily="34" charset="-120"/>
              </a:rPr>
              <a:t>A change that violates policy — a P1 on a tier2 service, a banned group-by key, a fixed threshold with no rationale — is rejected by the same linter that rejects a human's pull request, with the same message</a:t>
            </a:r>
            <a:endParaRPr lang="en-US" sz="1200" dirty="0"/>
          </a:p>
          <a:p>
            <a:pPr marL="342900" indent="-342900">
              <a:spcAft>
                <a:spcPts val="600"/>
              </a:spcAft>
              <a:buSzPct val="100000"/>
              <a:buChar char="•"/>
            </a:pPr>
            <a:r>
              <a:rPr lang="en-US" sz="1200" dirty="0">
                <a:solidFill>
                  <a:srgbClr val="C6D0DF"/>
                </a:solidFill>
                <a:latin typeface="Calibri" pitchFamily="34" charset="0"/>
                <a:ea typeface="Calibri" pitchFamily="34" charset="-122"/>
                <a:cs typeface="Calibri" pitchFamily="34" charset="-120"/>
              </a:rPr>
              <a:t>A request to "just apply it directly" has no code path that could satisfy it</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8778240" cy="256032"/>
          </a:xfrm>
          <a:prstGeom prst="rect">
            <a:avLst/>
          </a:prstGeom>
          <a:noFill/>
          <a:ln/>
        </p:spPr>
        <p:txBody>
          <a:bodyPr wrap="square" lIns="0" tIns="0" rIns="0" bIns="0" rtlCol="0" anchor="ctr"/>
          <a:lstStyle/>
          <a:p>
            <a:pPr indent="0" marL="0">
              <a:buNone/>
            </a:pPr>
            <a:r>
              <a:rPr lang="en-US" sz="1050" b="1" spc="160" kern="0" dirty="0">
                <a:solidFill>
                  <a:srgbClr val="B87914"/>
                </a:solidFill>
                <a:latin typeface="Calibri" pitchFamily="34" charset="0"/>
                <a:ea typeface="Calibri" pitchFamily="34" charset="-122"/>
                <a:cs typeface="Calibri" pitchFamily="34" charset="-120"/>
              </a:rPr>
              <a:t>TOPIC 27</a:t>
            </a:r>
            <a:endParaRPr lang="en-US" sz="1050" dirty="0"/>
          </a:p>
        </p:txBody>
      </p:sp>
      <p:sp>
        <p:nvSpPr>
          <p:cNvPr id="3" name="Text 1"/>
          <p:cNvSpPr/>
          <p:nvPr/>
        </p:nvSpPr>
        <p:spPr>
          <a:xfrm>
            <a:off x="566928" y="694944"/>
            <a:ext cx="10424160" cy="786384"/>
          </a:xfrm>
          <a:prstGeom prst="rect">
            <a:avLst/>
          </a:prstGeom>
          <a:noFill/>
          <a:ln/>
        </p:spPr>
        <p:txBody>
          <a:bodyPr wrap="square" lIns="0" tIns="0" rIns="0" bIns="0" rtlCol="0" anchor="ctr"/>
          <a:lstStyle/>
          <a:p>
            <a:pPr indent="0" marL="0">
              <a:buNone/>
            </a:pPr>
            <a:r>
              <a:rPr lang="en-US" sz="3100" b="1" dirty="0">
                <a:solidFill>
                  <a:srgbClr val="161C28"/>
                </a:solidFill>
                <a:latin typeface="Cambria" pitchFamily="34" charset="0"/>
                <a:ea typeface="Cambria" pitchFamily="34" charset="-122"/>
                <a:cs typeface="Cambria" pitchFamily="34" charset="-120"/>
              </a:rPr>
              <a:t>The executive portal</a:t>
            </a:r>
            <a:endParaRPr lang="en-US" sz="3100" dirty="0"/>
          </a:p>
        </p:txBody>
      </p:sp>
      <p:sp>
        <p:nvSpPr>
          <p:cNvPr id="4" name="Text 2"/>
          <p:cNvSpPr/>
          <p:nvPr/>
        </p:nvSpPr>
        <p:spPr>
          <a:xfrm>
            <a:off x="566928" y="1481328"/>
            <a:ext cx="10698480" cy="457200"/>
          </a:xfrm>
          <a:prstGeom prst="rect">
            <a:avLst/>
          </a:prstGeom>
          <a:noFill/>
          <a:ln/>
        </p:spPr>
        <p:txBody>
          <a:bodyPr wrap="square" lIns="0" tIns="0" rIns="0" bIns="0" rtlCol="0" anchor="t"/>
          <a:lstStyle/>
          <a:p>
            <a:pPr indent="0" marL="0">
              <a:buNone/>
            </a:pPr>
            <a:r>
              <a:rPr lang="en-US" sz="1450" dirty="0">
                <a:solidFill>
                  <a:srgbClr val="3A4557"/>
                </a:solidFill>
                <a:latin typeface="Calibri" pitchFamily="34" charset="0"/>
                <a:ea typeface="Calibri" pitchFamily="34" charset="-122"/>
                <a:cs typeface="Calibri" pitchFamily="34" charset="-120"/>
              </a:rPr>
              <a:t>One read-only surface where a non-engineer can see estate health and drill from the enterprise down to a single incident without needing to know Datadog.</a:t>
            </a:r>
            <a:endParaRPr lang="en-US" sz="1450" dirty="0"/>
          </a:p>
        </p:txBody>
      </p:sp>
      <p:sp>
        <p:nvSpPr>
          <p:cNvPr id="5" name="Shape 3"/>
          <p:cNvSpPr/>
          <p:nvPr/>
        </p:nvSpPr>
        <p:spPr>
          <a:xfrm>
            <a:off x="9608515" y="420624"/>
            <a:ext cx="2016252" cy="310896"/>
          </a:xfrm>
          <a:prstGeom prst="roundRect">
            <a:avLst>
              <a:gd name="adj" fmla="val 50000"/>
            </a:avLst>
          </a:prstGeom>
          <a:solidFill>
            <a:srgbClr val="DFE5EE"/>
          </a:solidFill>
          <a:ln w="12700">
            <a:solidFill>
              <a:srgbClr val="DFE5EE"/>
            </a:solidFill>
            <a:prstDash val="solid"/>
          </a:ln>
        </p:spPr>
      </p:sp>
      <p:sp>
        <p:nvSpPr>
          <p:cNvPr id="6" name="Text 4"/>
          <p:cNvSpPr/>
          <p:nvPr/>
        </p:nvSpPr>
        <p:spPr>
          <a:xfrm>
            <a:off x="9608515" y="420624"/>
            <a:ext cx="2016252" cy="310896"/>
          </a:xfrm>
          <a:prstGeom prst="rect">
            <a:avLst/>
          </a:prstGeom>
          <a:noFill/>
          <a:ln/>
        </p:spPr>
        <p:txBody>
          <a:bodyPr wrap="square" lIns="0" tIns="0" rIns="0" bIns="0" rtlCol="0" anchor="ctr"/>
          <a:lstStyle/>
          <a:p>
            <a:pPr algn="ctr" indent="0" marL="0">
              <a:buNone/>
            </a:pPr>
            <a:r>
              <a:rPr lang="en-US" sz="950" b="1" spc="100" kern="0" dirty="0">
                <a:solidFill>
                  <a:srgbClr val="5F7189"/>
                </a:solidFill>
                <a:latin typeface="Calibri" pitchFamily="34" charset="0"/>
                <a:ea typeface="Calibri" pitchFamily="34" charset="-122"/>
                <a:cs typeface="Calibri" pitchFamily="34" charset="-120"/>
              </a:rPr>
              <a:t>ROADMAP · PHASE 8</a:t>
            </a:r>
            <a:endParaRPr lang="en-US" sz="950" dirty="0"/>
          </a:p>
        </p:txBody>
      </p:sp>
      <p:sp>
        <p:nvSpPr>
          <p:cNvPr id="7" name="Text 5"/>
          <p:cNvSpPr/>
          <p:nvPr/>
        </p:nvSpPr>
        <p:spPr>
          <a:xfrm>
            <a:off x="566928" y="6345936"/>
            <a:ext cx="7315200" cy="274320"/>
          </a:xfrm>
          <a:prstGeom prst="rect">
            <a:avLst/>
          </a:prstGeom>
          <a:noFill/>
          <a:ln/>
        </p:spPr>
        <p:txBody>
          <a:bodyPr wrap="square" lIns="0" tIns="0" rIns="0" bIns="0" rtlCol="0" anchor="ctr"/>
          <a:lstStyle/>
          <a:p>
            <a:pPr indent="0" marL="0">
              <a:buNone/>
            </a:pPr>
            <a:r>
              <a:rPr lang="en-US" sz="900" dirty="0">
                <a:solidFill>
                  <a:srgbClr val="6B7891"/>
                </a:solidFill>
                <a:latin typeface="Calibri" pitchFamily="34" charset="0"/>
                <a:ea typeface="Calibri" pitchFamily="34" charset="-122"/>
                <a:cs typeface="Calibri" pitchFamily="34" charset="-120"/>
              </a:rPr>
              <a:t>Enterprise Observability  ·  policy-as-data on Datadog</a:t>
            </a:r>
            <a:endParaRPr lang="en-US" sz="900" dirty="0"/>
          </a:p>
        </p:txBody>
      </p:sp>
      <p:sp>
        <p:nvSpPr>
          <p:cNvPr id="8" name="Text 6"/>
          <p:cNvSpPr/>
          <p:nvPr/>
        </p:nvSpPr>
        <p:spPr>
          <a:xfrm>
            <a:off x="10710367" y="6345936"/>
            <a:ext cx="914400" cy="274320"/>
          </a:xfrm>
          <a:prstGeom prst="rect">
            <a:avLst/>
          </a:prstGeom>
          <a:noFill/>
          <a:ln/>
        </p:spPr>
        <p:txBody>
          <a:bodyPr wrap="square" lIns="0" tIns="0" rIns="0" bIns="0" rtlCol="0" anchor="ctr"/>
          <a:lstStyle/>
          <a:p>
            <a:pPr algn="r" indent="0" marL="0">
              <a:buNone/>
            </a:pPr>
            <a:r>
              <a:rPr lang="en-US" sz="900" dirty="0">
                <a:solidFill>
                  <a:srgbClr val="6B7891"/>
                </a:solidFill>
                <a:latin typeface="Calibri" pitchFamily="34" charset="0"/>
                <a:ea typeface="Calibri" pitchFamily="34" charset="-122"/>
                <a:cs typeface="Calibri" pitchFamily="34" charset="-120"/>
              </a:rPr>
              <a:t>35</a:t>
            </a:r>
            <a:endParaRPr lang="en-US" sz="900" dirty="0"/>
          </a:p>
        </p:txBody>
      </p:sp>
      <p:sp>
        <p:nvSpPr>
          <p:cNvPr id="10" name="Shape 7"/>
          <p:cNvSpPr/>
          <p:nvPr/>
        </p:nvSpPr>
        <p:spPr>
          <a:xfrm>
            <a:off x="566928" y="2286000"/>
            <a:ext cx="2057400" cy="914400"/>
          </a:xfrm>
          <a:prstGeom prst="roundRect">
            <a:avLst>
              <a:gd name="adj" fmla="val 6000"/>
            </a:avLst>
          </a:prstGeom>
          <a:solidFill>
            <a:srgbClr val="12161F"/>
          </a:solidFill>
          <a:ln w="12700">
            <a:solidFill>
              <a:srgbClr val="12161F"/>
            </a:solidFill>
            <a:prstDash val="solid"/>
          </a:ln>
        </p:spPr>
      </p:sp>
      <p:sp>
        <p:nvSpPr>
          <p:cNvPr id="11" name="Text 8"/>
          <p:cNvSpPr/>
          <p:nvPr/>
        </p:nvSpPr>
        <p:spPr>
          <a:xfrm>
            <a:off x="676656" y="2286000"/>
            <a:ext cx="1828800" cy="914400"/>
          </a:xfrm>
          <a:prstGeom prst="rect">
            <a:avLst/>
          </a:prstGeom>
          <a:noFill/>
          <a:ln/>
        </p:spPr>
        <p:txBody>
          <a:bodyPr wrap="square" lIns="0" tIns="0" rIns="0" bIns="0" rtlCol="0" anchor="ctr"/>
          <a:lstStyle/>
          <a:p>
            <a:pPr algn="ctr" indent="0" marL="0">
              <a:buNone/>
            </a:pPr>
            <a:r>
              <a:rPr lang="en-US" sz="1250" b="1" dirty="0">
                <a:solidFill>
                  <a:srgbClr val="E09A2E"/>
                </a:solidFill>
                <a:latin typeface="Calibri" pitchFamily="34" charset="0"/>
                <a:ea typeface="Calibri" pitchFamily="34" charset="-122"/>
                <a:cs typeface="Calibri" pitchFamily="34" charset="-120"/>
              </a:rPr>
              <a:t>Enterprise</a:t>
            </a:r>
            <a:endParaRPr lang="en-US" sz="1250" dirty="0"/>
          </a:p>
        </p:txBody>
      </p:sp>
      <p:sp>
        <p:nvSpPr>
          <p:cNvPr id="12" name="Shape 9"/>
          <p:cNvSpPr/>
          <p:nvPr/>
        </p:nvSpPr>
        <p:spPr>
          <a:xfrm>
            <a:off x="2651760" y="2651760"/>
            <a:ext cx="128016" cy="164592"/>
          </a:xfrm>
          <a:prstGeom prst="rightArrow">
            <a:avLst/>
          </a:prstGeom>
          <a:solidFill>
            <a:srgbClr val="5F7189"/>
          </a:solidFill>
          <a:ln w="12700">
            <a:solidFill>
              <a:srgbClr val="5F7189"/>
            </a:solidFill>
            <a:prstDash val="solid"/>
          </a:ln>
        </p:spPr>
      </p:sp>
      <p:sp>
        <p:nvSpPr>
          <p:cNvPr id="13" name="Shape 10"/>
          <p:cNvSpPr/>
          <p:nvPr/>
        </p:nvSpPr>
        <p:spPr>
          <a:xfrm>
            <a:off x="2788920" y="2286000"/>
            <a:ext cx="2057400" cy="914400"/>
          </a:xfrm>
          <a:prstGeom prst="roundRect">
            <a:avLst>
              <a:gd name="adj" fmla="val 6000"/>
            </a:avLst>
          </a:prstGeom>
          <a:solidFill>
            <a:srgbClr val="EFF2F6"/>
          </a:solidFill>
          <a:ln w="12700">
            <a:solidFill>
              <a:srgbClr val="EFF2F6"/>
            </a:solidFill>
            <a:prstDash val="solid"/>
          </a:ln>
        </p:spPr>
      </p:sp>
      <p:sp>
        <p:nvSpPr>
          <p:cNvPr id="14" name="Text 11"/>
          <p:cNvSpPr/>
          <p:nvPr/>
        </p:nvSpPr>
        <p:spPr>
          <a:xfrm>
            <a:off x="2898648" y="2286000"/>
            <a:ext cx="1828800" cy="914400"/>
          </a:xfrm>
          <a:prstGeom prst="rect">
            <a:avLst/>
          </a:prstGeom>
          <a:noFill/>
          <a:ln/>
        </p:spPr>
        <p:txBody>
          <a:bodyPr wrap="square" lIns="0" tIns="0" rIns="0" bIns="0" rtlCol="0" anchor="ctr"/>
          <a:lstStyle/>
          <a:p>
            <a:pPr algn="ctr" indent="0" marL="0">
              <a:buNone/>
            </a:pPr>
            <a:r>
              <a:rPr lang="en-US" sz="1250" b="1" dirty="0">
                <a:solidFill>
                  <a:srgbClr val="161C28"/>
                </a:solidFill>
                <a:latin typeface="Calibri" pitchFamily="34" charset="0"/>
                <a:ea typeface="Calibri" pitchFamily="34" charset="-122"/>
                <a:cs typeface="Calibri" pitchFamily="34" charset="-120"/>
              </a:rPr>
              <a:t>System</a:t>
            </a:r>
            <a:endParaRPr lang="en-US" sz="1250" dirty="0"/>
          </a:p>
        </p:txBody>
      </p:sp>
      <p:sp>
        <p:nvSpPr>
          <p:cNvPr id="15" name="Shape 12"/>
          <p:cNvSpPr/>
          <p:nvPr/>
        </p:nvSpPr>
        <p:spPr>
          <a:xfrm>
            <a:off x="4873752" y="2651760"/>
            <a:ext cx="128016" cy="164592"/>
          </a:xfrm>
          <a:prstGeom prst="rightArrow">
            <a:avLst/>
          </a:prstGeom>
          <a:solidFill>
            <a:srgbClr val="5F7189"/>
          </a:solidFill>
          <a:ln w="12700">
            <a:solidFill>
              <a:srgbClr val="5F7189"/>
            </a:solidFill>
            <a:prstDash val="solid"/>
          </a:ln>
        </p:spPr>
      </p:sp>
      <p:sp>
        <p:nvSpPr>
          <p:cNvPr id="16" name="Shape 13"/>
          <p:cNvSpPr/>
          <p:nvPr/>
        </p:nvSpPr>
        <p:spPr>
          <a:xfrm>
            <a:off x="5010912" y="2286000"/>
            <a:ext cx="2057400" cy="914400"/>
          </a:xfrm>
          <a:prstGeom prst="roundRect">
            <a:avLst>
              <a:gd name="adj" fmla="val 6000"/>
            </a:avLst>
          </a:prstGeom>
          <a:solidFill>
            <a:srgbClr val="EFF2F6"/>
          </a:solidFill>
          <a:ln w="12700">
            <a:solidFill>
              <a:srgbClr val="EFF2F6"/>
            </a:solidFill>
            <a:prstDash val="solid"/>
          </a:ln>
        </p:spPr>
      </p:sp>
      <p:sp>
        <p:nvSpPr>
          <p:cNvPr id="17" name="Text 14"/>
          <p:cNvSpPr/>
          <p:nvPr/>
        </p:nvSpPr>
        <p:spPr>
          <a:xfrm>
            <a:off x="5120640" y="2286000"/>
            <a:ext cx="1828800" cy="914400"/>
          </a:xfrm>
          <a:prstGeom prst="rect">
            <a:avLst/>
          </a:prstGeom>
          <a:noFill/>
          <a:ln/>
        </p:spPr>
        <p:txBody>
          <a:bodyPr wrap="square" lIns="0" tIns="0" rIns="0" bIns="0" rtlCol="0" anchor="ctr"/>
          <a:lstStyle/>
          <a:p>
            <a:pPr algn="ctr" indent="0" marL="0">
              <a:buNone/>
            </a:pPr>
            <a:r>
              <a:rPr lang="en-US" sz="1250" b="1" dirty="0">
                <a:solidFill>
                  <a:srgbClr val="161C28"/>
                </a:solidFill>
                <a:latin typeface="Calibri" pitchFamily="34" charset="0"/>
                <a:ea typeface="Calibri" pitchFamily="34" charset="-122"/>
                <a:cs typeface="Calibri" pitchFamily="34" charset="-120"/>
              </a:rPr>
              <a:t>Service</a:t>
            </a:r>
            <a:endParaRPr lang="en-US" sz="1250" dirty="0"/>
          </a:p>
        </p:txBody>
      </p:sp>
      <p:sp>
        <p:nvSpPr>
          <p:cNvPr id="18" name="Shape 15"/>
          <p:cNvSpPr/>
          <p:nvPr/>
        </p:nvSpPr>
        <p:spPr>
          <a:xfrm>
            <a:off x="7095744" y="2651760"/>
            <a:ext cx="128016" cy="164592"/>
          </a:xfrm>
          <a:prstGeom prst="rightArrow">
            <a:avLst/>
          </a:prstGeom>
          <a:solidFill>
            <a:srgbClr val="5F7189"/>
          </a:solidFill>
          <a:ln w="12700">
            <a:solidFill>
              <a:srgbClr val="5F7189"/>
            </a:solidFill>
            <a:prstDash val="solid"/>
          </a:ln>
        </p:spPr>
      </p:sp>
      <p:sp>
        <p:nvSpPr>
          <p:cNvPr id="19" name="Shape 16"/>
          <p:cNvSpPr/>
          <p:nvPr/>
        </p:nvSpPr>
        <p:spPr>
          <a:xfrm>
            <a:off x="7232904" y="2286000"/>
            <a:ext cx="2057400" cy="914400"/>
          </a:xfrm>
          <a:prstGeom prst="roundRect">
            <a:avLst>
              <a:gd name="adj" fmla="val 6000"/>
            </a:avLst>
          </a:prstGeom>
          <a:solidFill>
            <a:srgbClr val="EFF2F6"/>
          </a:solidFill>
          <a:ln w="12700">
            <a:solidFill>
              <a:srgbClr val="EFF2F6"/>
            </a:solidFill>
            <a:prstDash val="solid"/>
          </a:ln>
        </p:spPr>
      </p:sp>
      <p:sp>
        <p:nvSpPr>
          <p:cNvPr id="20" name="Text 17"/>
          <p:cNvSpPr/>
          <p:nvPr/>
        </p:nvSpPr>
        <p:spPr>
          <a:xfrm>
            <a:off x="7342632" y="2286000"/>
            <a:ext cx="1828800" cy="914400"/>
          </a:xfrm>
          <a:prstGeom prst="rect">
            <a:avLst/>
          </a:prstGeom>
          <a:noFill/>
          <a:ln/>
        </p:spPr>
        <p:txBody>
          <a:bodyPr wrap="square" lIns="0" tIns="0" rIns="0" bIns="0" rtlCol="0" anchor="ctr"/>
          <a:lstStyle/>
          <a:p>
            <a:pPr algn="ctr" indent="0" marL="0">
              <a:buNone/>
            </a:pPr>
            <a:r>
              <a:rPr lang="en-US" sz="1250" b="1" dirty="0">
                <a:solidFill>
                  <a:srgbClr val="161C28"/>
                </a:solidFill>
                <a:latin typeface="Calibri" pitchFamily="34" charset="0"/>
                <a:ea typeface="Calibri" pitchFamily="34" charset="-122"/>
                <a:cs typeface="Calibri" pitchFamily="34" charset="-120"/>
              </a:rPr>
              <a:t>SLO + error budget</a:t>
            </a:r>
            <a:endParaRPr lang="en-US" sz="1250" dirty="0"/>
          </a:p>
        </p:txBody>
      </p:sp>
      <p:sp>
        <p:nvSpPr>
          <p:cNvPr id="21" name="Shape 18"/>
          <p:cNvSpPr/>
          <p:nvPr/>
        </p:nvSpPr>
        <p:spPr>
          <a:xfrm>
            <a:off x="9317736" y="2651760"/>
            <a:ext cx="128016" cy="164592"/>
          </a:xfrm>
          <a:prstGeom prst="rightArrow">
            <a:avLst/>
          </a:prstGeom>
          <a:solidFill>
            <a:srgbClr val="5F7189"/>
          </a:solidFill>
          <a:ln w="12700">
            <a:solidFill>
              <a:srgbClr val="5F7189"/>
            </a:solidFill>
            <a:prstDash val="solid"/>
          </a:ln>
        </p:spPr>
      </p:sp>
      <p:sp>
        <p:nvSpPr>
          <p:cNvPr id="22" name="Shape 19"/>
          <p:cNvSpPr/>
          <p:nvPr/>
        </p:nvSpPr>
        <p:spPr>
          <a:xfrm>
            <a:off x="9454896" y="2286000"/>
            <a:ext cx="2057400" cy="914400"/>
          </a:xfrm>
          <a:prstGeom prst="roundRect">
            <a:avLst>
              <a:gd name="adj" fmla="val 6000"/>
            </a:avLst>
          </a:prstGeom>
          <a:solidFill>
            <a:srgbClr val="EFF2F6"/>
          </a:solidFill>
          <a:ln w="12700">
            <a:solidFill>
              <a:srgbClr val="EFF2F6"/>
            </a:solidFill>
            <a:prstDash val="solid"/>
          </a:ln>
        </p:spPr>
      </p:sp>
      <p:sp>
        <p:nvSpPr>
          <p:cNvPr id="23" name="Text 20"/>
          <p:cNvSpPr/>
          <p:nvPr/>
        </p:nvSpPr>
        <p:spPr>
          <a:xfrm>
            <a:off x="9564624" y="2286000"/>
            <a:ext cx="1828800" cy="914400"/>
          </a:xfrm>
          <a:prstGeom prst="rect">
            <a:avLst/>
          </a:prstGeom>
          <a:noFill/>
          <a:ln/>
        </p:spPr>
        <p:txBody>
          <a:bodyPr wrap="square" lIns="0" tIns="0" rIns="0" bIns="0" rtlCol="0" anchor="ctr"/>
          <a:lstStyle/>
          <a:p>
            <a:pPr algn="ctr" indent="0" marL="0">
              <a:buNone/>
            </a:pPr>
            <a:r>
              <a:rPr lang="en-US" sz="1250" b="1" dirty="0">
                <a:solidFill>
                  <a:srgbClr val="161C28"/>
                </a:solidFill>
                <a:latin typeface="Calibri" pitchFamily="34" charset="0"/>
                <a:ea typeface="Calibri" pitchFamily="34" charset="-122"/>
                <a:cs typeface="Calibri" pitchFamily="34" charset="-120"/>
              </a:rPr>
              <a:t>Incident</a:t>
            </a:r>
            <a:endParaRPr lang="en-US" sz="1250" dirty="0"/>
          </a:p>
        </p:txBody>
      </p:sp>
      <p:sp>
        <p:nvSpPr>
          <p:cNvPr id="24" name="Text 21"/>
          <p:cNvSpPr/>
          <p:nvPr/>
        </p:nvSpPr>
        <p:spPr>
          <a:xfrm>
            <a:off x="566928" y="3310128"/>
            <a:ext cx="10607040" cy="274320"/>
          </a:xfrm>
          <a:prstGeom prst="rect">
            <a:avLst/>
          </a:prstGeom>
          <a:noFill/>
          <a:ln/>
        </p:spPr>
        <p:txBody>
          <a:bodyPr wrap="square" lIns="0" tIns="0" rIns="0" bIns="0" rtlCol="0" anchor="ctr"/>
          <a:lstStyle/>
          <a:p>
            <a:pPr indent="0" marL="0">
              <a:buNone/>
            </a:pPr>
            <a:r>
              <a:rPr lang="en-US" sz="1200" dirty="0">
                <a:solidFill>
                  <a:srgbClr val="6B7891"/>
                </a:solidFill>
                <a:latin typeface="Calibri" pitchFamily="34" charset="0"/>
                <a:ea typeface="Calibri" pitchFamily="34" charset="-122"/>
                <a:cs typeface="Calibri" pitchFamily="34" charset="-120"/>
              </a:rPr>
              <a:t>Five levels. Each answers one question and offers exactly one way down.</a:t>
            </a:r>
            <a:endParaRPr lang="en-US" sz="1200" dirty="0"/>
          </a:p>
        </p:txBody>
      </p:sp>
      <p:sp>
        <p:nvSpPr>
          <p:cNvPr id="25" name="Shape 22"/>
          <p:cNvSpPr/>
          <p:nvPr/>
        </p:nvSpPr>
        <p:spPr>
          <a:xfrm>
            <a:off x="566928" y="3749040"/>
            <a:ext cx="3527450" cy="1417320"/>
          </a:xfrm>
          <a:prstGeom prst="roundRect">
            <a:avLst>
              <a:gd name="adj" fmla="val 3871"/>
            </a:avLst>
          </a:prstGeom>
          <a:solidFill>
            <a:srgbClr val="EFF2F6"/>
          </a:solidFill>
          <a:ln w="12700">
            <a:solidFill>
              <a:srgbClr val="EFF2F6"/>
            </a:solidFill>
            <a:prstDash val="solid"/>
          </a:ln>
        </p:spPr>
      </p:sp>
      <p:sp>
        <p:nvSpPr>
          <p:cNvPr id="26" name="Text 23"/>
          <p:cNvSpPr/>
          <p:nvPr/>
        </p:nvSpPr>
        <p:spPr>
          <a:xfrm>
            <a:off x="768096" y="3895344"/>
            <a:ext cx="3125114" cy="347472"/>
          </a:xfrm>
          <a:prstGeom prst="rect">
            <a:avLst/>
          </a:prstGeom>
          <a:noFill/>
          <a:ln/>
        </p:spPr>
        <p:txBody>
          <a:bodyPr wrap="square" lIns="0" tIns="0" rIns="0" bIns="0" rtlCol="0" anchor="t"/>
          <a:lstStyle/>
          <a:p>
            <a:pPr indent="0" marL="0">
              <a:buNone/>
            </a:pPr>
            <a:r>
              <a:rPr lang="en-US" sz="1450" b="1" dirty="0">
                <a:solidFill>
                  <a:srgbClr val="161C28"/>
                </a:solidFill>
                <a:latin typeface="Calibri" pitchFamily="34" charset="0"/>
                <a:ea typeface="Calibri" pitchFamily="34" charset="-122"/>
                <a:cs typeface="Calibri" pitchFamily="34" charset="-120"/>
              </a:rPr>
              <a:t>Live, not exported</a:t>
            </a:r>
            <a:endParaRPr lang="en-US" sz="1450" dirty="0"/>
          </a:p>
        </p:txBody>
      </p:sp>
      <p:sp>
        <p:nvSpPr>
          <p:cNvPr id="27" name="Text 24"/>
          <p:cNvSpPr/>
          <p:nvPr/>
        </p:nvSpPr>
        <p:spPr>
          <a:xfrm>
            <a:off x="768096" y="4279392"/>
            <a:ext cx="3125114" cy="740664"/>
          </a:xfrm>
          <a:prstGeom prst="rect">
            <a:avLst/>
          </a:prstGeom>
          <a:noFill/>
          <a:ln/>
        </p:spPr>
        <p:txBody>
          <a:bodyPr wrap="square" lIns="0" tIns="0" rIns="0" bIns="0" rtlCol="0" anchor="t"/>
          <a:lstStyle/>
          <a:p>
            <a:pPr indent="0" marL="0">
              <a:lnSpc>
                <a:spcPct val="102000"/>
              </a:lnSpc>
              <a:buNone/>
            </a:pPr>
            <a:r>
              <a:rPr lang="en-US" sz="1150" dirty="0">
                <a:solidFill>
                  <a:srgbClr val="3A4557"/>
                </a:solidFill>
                <a:latin typeface="Calibri" pitchFamily="34" charset="0"/>
                <a:ea typeface="Calibri" pitchFamily="34" charset="-122"/>
                <a:cs typeface="Calibri" pitchFamily="34" charset="-120"/>
              </a:rPr>
              <a:t>Reads the Datadog APIs directly. No nightly copy that is quietly six hours stale during the one hour it matters.</a:t>
            </a:r>
            <a:endParaRPr lang="en-US" sz="1150" dirty="0"/>
          </a:p>
        </p:txBody>
      </p:sp>
      <p:sp>
        <p:nvSpPr>
          <p:cNvPr id="28" name="Shape 25"/>
          <p:cNvSpPr/>
          <p:nvPr/>
        </p:nvSpPr>
        <p:spPr>
          <a:xfrm>
            <a:off x="4332122" y="3749040"/>
            <a:ext cx="3527450" cy="1417320"/>
          </a:xfrm>
          <a:prstGeom prst="roundRect">
            <a:avLst>
              <a:gd name="adj" fmla="val 3871"/>
            </a:avLst>
          </a:prstGeom>
          <a:solidFill>
            <a:srgbClr val="EFF2F6"/>
          </a:solidFill>
          <a:ln w="12700">
            <a:solidFill>
              <a:srgbClr val="EFF2F6"/>
            </a:solidFill>
            <a:prstDash val="solid"/>
          </a:ln>
        </p:spPr>
      </p:sp>
      <p:sp>
        <p:nvSpPr>
          <p:cNvPr id="29" name="Text 26"/>
          <p:cNvSpPr/>
          <p:nvPr/>
        </p:nvSpPr>
        <p:spPr>
          <a:xfrm>
            <a:off x="4533290" y="3895344"/>
            <a:ext cx="3125114" cy="347472"/>
          </a:xfrm>
          <a:prstGeom prst="rect">
            <a:avLst/>
          </a:prstGeom>
          <a:noFill/>
          <a:ln/>
        </p:spPr>
        <p:txBody>
          <a:bodyPr wrap="square" lIns="0" tIns="0" rIns="0" bIns="0" rtlCol="0" anchor="t"/>
          <a:lstStyle/>
          <a:p>
            <a:pPr indent="0" marL="0">
              <a:buNone/>
            </a:pPr>
            <a:r>
              <a:rPr lang="en-US" sz="1450" b="1" dirty="0">
                <a:solidFill>
                  <a:srgbClr val="161C28"/>
                </a:solidFill>
                <a:latin typeface="Calibri" pitchFamily="34" charset="0"/>
                <a:ea typeface="Calibri" pitchFamily="34" charset="-122"/>
                <a:cs typeface="Calibri" pitchFamily="34" charset="-120"/>
              </a:rPr>
              <a:t>Freshness on every panel</a:t>
            </a:r>
            <a:endParaRPr lang="en-US" sz="1450" dirty="0"/>
          </a:p>
        </p:txBody>
      </p:sp>
      <p:sp>
        <p:nvSpPr>
          <p:cNvPr id="30" name="Text 27"/>
          <p:cNvSpPr/>
          <p:nvPr/>
        </p:nvSpPr>
        <p:spPr>
          <a:xfrm>
            <a:off x="4533290" y="4279392"/>
            <a:ext cx="3125114" cy="740664"/>
          </a:xfrm>
          <a:prstGeom prst="rect">
            <a:avLst/>
          </a:prstGeom>
          <a:noFill/>
          <a:ln/>
        </p:spPr>
        <p:txBody>
          <a:bodyPr wrap="square" lIns="0" tIns="0" rIns="0" bIns="0" rtlCol="0" anchor="t"/>
          <a:lstStyle/>
          <a:p>
            <a:pPr indent="0" marL="0">
              <a:lnSpc>
                <a:spcPct val="102000"/>
              </a:lnSpc>
              <a:buNone/>
            </a:pPr>
            <a:r>
              <a:rPr lang="en-US" sz="1150" dirty="0">
                <a:solidFill>
                  <a:srgbClr val="3A4557"/>
                </a:solidFill>
                <a:latin typeface="Calibri" pitchFamily="34" charset="0"/>
                <a:ea typeface="Calibri" pitchFamily="34" charset="-122"/>
                <a:cs typeface="Calibri" pitchFamily="34" charset="-120"/>
              </a:rPr>
              <a:t>An executive view that silently shows stale numbers during an incident is worse than no view at all.</a:t>
            </a:r>
            <a:endParaRPr lang="en-US" sz="1150" dirty="0"/>
          </a:p>
        </p:txBody>
      </p:sp>
      <p:sp>
        <p:nvSpPr>
          <p:cNvPr id="31" name="Shape 28"/>
          <p:cNvSpPr/>
          <p:nvPr/>
        </p:nvSpPr>
        <p:spPr>
          <a:xfrm>
            <a:off x="8097317" y="3749040"/>
            <a:ext cx="3527450" cy="1417320"/>
          </a:xfrm>
          <a:prstGeom prst="roundRect">
            <a:avLst>
              <a:gd name="adj" fmla="val 3871"/>
            </a:avLst>
          </a:prstGeom>
          <a:solidFill>
            <a:srgbClr val="EFF2F6"/>
          </a:solidFill>
          <a:ln w="12700">
            <a:solidFill>
              <a:srgbClr val="EFF2F6"/>
            </a:solidFill>
            <a:prstDash val="solid"/>
          </a:ln>
        </p:spPr>
      </p:sp>
      <p:sp>
        <p:nvSpPr>
          <p:cNvPr id="32" name="Text 29"/>
          <p:cNvSpPr/>
          <p:nvPr/>
        </p:nvSpPr>
        <p:spPr>
          <a:xfrm>
            <a:off x="8298485" y="3895344"/>
            <a:ext cx="3125114" cy="347472"/>
          </a:xfrm>
          <a:prstGeom prst="rect">
            <a:avLst/>
          </a:prstGeom>
          <a:noFill/>
          <a:ln/>
        </p:spPr>
        <p:txBody>
          <a:bodyPr wrap="square" lIns="0" tIns="0" rIns="0" bIns="0" rtlCol="0" anchor="t"/>
          <a:lstStyle/>
          <a:p>
            <a:pPr indent="0" marL="0">
              <a:buNone/>
            </a:pPr>
            <a:r>
              <a:rPr lang="en-US" sz="1450" b="1" dirty="0">
                <a:solidFill>
                  <a:srgbClr val="161C28"/>
                </a:solidFill>
                <a:latin typeface="Calibri" pitchFamily="34" charset="0"/>
                <a:ea typeface="Calibri" pitchFamily="34" charset="-122"/>
                <a:cs typeface="Calibri" pitchFamily="34" charset="-120"/>
              </a:rPr>
              <a:t>SSO, read-only</a:t>
            </a:r>
            <a:endParaRPr lang="en-US" sz="1450" dirty="0"/>
          </a:p>
        </p:txBody>
      </p:sp>
      <p:sp>
        <p:nvSpPr>
          <p:cNvPr id="33" name="Text 30"/>
          <p:cNvSpPr/>
          <p:nvPr/>
        </p:nvSpPr>
        <p:spPr>
          <a:xfrm>
            <a:off x="8298485" y="4279392"/>
            <a:ext cx="3125114" cy="740664"/>
          </a:xfrm>
          <a:prstGeom prst="rect">
            <a:avLst/>
          </a:prstGeom>
          <a:noFill/>
          <a:ln/>
        </p:spPr>
        <p:txBody>
          <a:bodyPr wrap="square" lIns="0" tIns="0" rIns="0" bIns="0" rtlCol="0" anchor="t"/>
          <a:lstStyle/>
          <a:p>
            <a:pPr indent="0" marL="0">
              <a:lnSpc>
                <a:spcPct val="102000"/>
              </a:lnSpc>
              <a:buNone/>
            </a:pPr>
            <a:r>
              <a:rPr lang="en-US" sz="1150" dirty="0">
                <a:solidFill>
                  <a:srgbClr val="3A4557"/>
                </a:solidFill>
                <a:latin typeface="Calibri" pitchFamily="34" charset="0"/>
                <a:ea typeface="Calibri" pitchFamily="34" charset="-122"/>
                <a:cs typeface="Calibri" pitchFamily="34" charset="-120"/>
              </a:rPr>
              <a:t>Corporate SSO against the Viewer / Auditor role that already exists in the RBAC model — sees everything, changes nothing.</a:t>
            </a:r>
            <a:endParaRPr lang="en-US" sz="1150" dirty="0"/>
          </a:p>
        </p:txBody>
      </p:sp>
      <p:sp>
        <p:nvSpPr>
          <p:cNvPr id="34" name="Shape 31"/>
          <p:cNvSpPr/>
          <p:nvPr/>
        </p:nvSpPr>
        <p:spPr>
          <a:xfrm>
            <a:off x="566928" y="5349240"/>
            <a:ext cx="11057839" cy="685800"/>
          </a:xfrm>
          <a:prstGeom prst="roundRect">
            <a:avLst>
              <a:gd name="adj" fmla="val 8000"/>
            </a:avLst>
          </a:prstGeom>
          <a:solidFill>
            <a:srgbClr val="F3F4F6"/>
          </a:solidFill>
          <a:ln w="12700">
            <a:solidFill>
              <a:srgbClr val="D6DDE6"/>
            </a:solidFill>
            <a:prstDash val="solid"/>
          </a:ln>
        </p:spPr>
      </p:sp>
      <p:sp>
        <p:nvSpPr>
          <p:cNvPr id="35" name="Text 32"/>
          <p:cNvSpPr/>
          <p:nvPr/>
        </p:nvSpPr>
        <p:spPr>
          <a:xfrm>
            <a:off x="841248" y="5349240"/>
            <a:ext cx="10509199" cy="685800"/>
          </a:xfrm>
          <a:prstGeom prst="rect">
            <a:avLst/>
          </a:prstGeom>
          <a:noFill/>
          <a:ln/>
        </p:spPr>
        <p:txBody>
          <a:bodyPr wrap="square" lIns="0" tIns="0" rIns="0" bIns="0" rtlCol="0" anchor="ctr"/>
          <a:lstStyle/>
          <a:p>
            <a:pPr indent="0" marL="0">
              <a:buNone/>
            </a:pPr>
            <a:r>
              <a:rPr lang="en-US" sz="1200" b="1" dirty="0">
                <a:solidFill>
                  <a:srgbClr val="3A4557"/>
                </a:solidFill>
                <a:latin typeface="Calibri" pitchFamily="34" charset="0"/>
                <a:ea typeface="Calibri" pitchFamily="34" charset="-122"/>
                <a:cs typeface="Calibri" pitchFamily="34" charset="-120"/>
              </a:rPr>
              <a:t>Sequenced last on purpose:  </a:t>
            </a:r>
            <a:pPr indent="0" marL="0">
              <a:buNone/>
            </a:pPr>
            <a:r>
              <a:rPr lang="en-US" sz="1200" dirty="0">
                <a:solidFill>
                  <a:srgbClr val="3A4557"/>
                </a:solidFill>
                <a:latin typeface="Calibri" pitchFamily="34" charset="0"/>
                <a:ea typeface="Calibri" pitchFamily="34" charset="-122"/>
                <a:cs typeface="Calibri" pitchFamily="34" charset="-120"/>
              </a:rPr>
              <a:t>a portal over an estate whose telemetry is not yet tagged would render a very convincing picture of nothing. Phases 1–3 make the data true; phase 8 makes it visible to people who will never open Datadog.</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12161F"/>
        </a:solidFill>
      </p:bgPr>
    </p:bg>
    <p:spTree>
      <p:nvGrpSpPr>
        <p:cNvPr id="1" name=""/>
        <p:cNvGrpSpPr/>
        <p:nvPr/>
      </p:nvGrpSpPr>
      <p:grpSpPr>
        <a:xfrm>
          <a:off x="0" y="0"/>
          <a:ext cx="0" cy="0"/>
          <a:chOff x="0" y="0"/>
          <a:chExt cx="0" cy="0"/>
        </a:xfrm>
      </p:grpSpPr>
      <p:sp>
        <p:nvSpPr>
          <p:cNvPr id="2" name="Text 0"/>
          <p:cNvSpPr/>
          <p:nvPr/>
        </p:nvSpPr>
        <p:spPr>
          <a:xfrm>
            <a:off x="566928" y="6345936"/>
            <a:ext cx="7315200" cy="274320"/>
          </a:xfrm>
          <a:prstGeom prst="rect">
            <a:avLst/>
          </a:prstGeom>
          <a:noFill/>
          <a:ln/>
        </p:spPr>
        <p:txBody>
          <a:bodyPr wrap="square" lIns="0" tIns="0" rIns="0" bIns="0" rtlCol="0" anchor="ctr"/>
          <a:lstStyle/>
          <a:p>
            <a:pPr indent="0" marL="0">
              <a:buNone/>
            </a:pPr>
            <a:r>
              <a:rPr lang="en-US" sz="900" dirty="0">
                <a:solidFill>
                  <a:srgbClr val="6E7B92"/>
                </a:solidFill>
                <a:latin typeface="Calibri" pitchFamily="34" charset="0"/>
                <a:ea typeface="Calibri" pitchFamily="34" charset="-122"/>
                <a:cs typeface="Calibri" pitchFamily="34" charset="-120"/>
              </a:rPr>
              <a:t>Enterprise Observability  ·  policy-as-data on Datadog</a:t>
            </a:r>
            <a:endParaRPr lang="en-US" sz="900" dirty="0"/>
          </a:p>
        </p:txBody>
      </p:sp>
      <p:sp>
        <p:nvSpPr>
          <p:cNvPr id="3" name="Text 1"/>
          <p:cNvSpPr/>
          <p:nvPr/>
        </p:nvSpPr>
        <p:spPr>
          <a:xfrm>
            <a:off x="10710367" y="6345936"/>
            <a:ext cx="914400" cy="274320"/>
          </a:xfrm>
          <a:prstGeom prst="rect">
            <a:avLst/>
          </a:prstGeom>
          <a:noFill/>
          <a:ln/>
        </p:spPr>
        <p:txBody>
          <a:bodyPr wrap="square" lIns="0" tIns="0" rIns="0" bIns="0" rtlCol="0" anchor="ctr"/>
          <a:lstStyle/>
          <a:p>
            <a:pPr algn="r" indent="0" marL="0">
              <a:buNone/>
            </a:pPr>
            <a:r>
              <a:rPr lang="en-US" sz="900" dirty="0">
                <a:solidFill>
                  <a:srgbClr val="6E7B92"/>
                </a:solidFill>
                <a:latin typeface="Calibri" pitchFamily="34" charset="0"/>
                <a:ea typeface="Calibri" pitchFamily="34" charset="-122"/>
                <a:cs typeface="Calibri" pitchFamily="34" charset="-120"/>
              </a:rPr>
              <a:t>36</a:t>
            </a:r>
            <a:endParaRPr lang="en-US" sz="900" dirty="0"/>
          </a:p>
        </p:txBody>
      </p:sp>
      <p:sp>
        <p:nvSpPr>
          <p:cNvPr id="5" name="Text 2"/>
          <p:cNvSpPr/>
          <p:nvPr/>
        </p:nvSpPr>
        <p:spPr>
          <a:xfrm>
            <a:off x="566928" y="1417320"/>
            <a:ext cx="5486400" cy="457200"/>
          </a:xfrm>
          <a:prstGeom prst="rect">
            <a:avLst/>
          </a:prstGeom>
          <a:noFill/>
          <a:ln/>
        </p:spPr>
        <p:txBody>
          <a:bodyPr wrap="square" lIns="0" tIns="0" rIns="0" bIns="0" rtlCol="0" anchor="ctr"/>
          <a:lstStyle/>
          <a:p>
            <a:pPr indent="0" marL="0">
              <a:buNone/>
            </a:pPr>
            <a:r>
              <a:rPr lang="en-US" sz="1200" b="1" spc="240" kern="0" dirty="0">
                <a:solidFill>
                  <a:srgbClr val="E09A2E"/>
                </a:solidFill>
                <a:latin typeface="Calibri" pitchFamily="34" charset="0"/>
                <a:ea typeface="Calibri" pitchFamily="34" charset="-122"/>
                <a:cs typeface="Calibri" pitchFamily="34" charset="-120"/>
              </a:rPr>
              <a:t>PART SIX</a:t>
            </a:r>
            <a:endParaRPr lang="en-US" sz="1200" dirty="0"/>
          </a:p>
        </p:txBody>
      </p:sp>
      <p:sp>
        <p:nvSpPr>
          <p:cNvPr id="6" name="Text 3"/>
          <p:cNvSpPr/>
          <p:nvPr/>
        </p:nvSpPr>
        <p:spPr>
          <a:xfrm>
            <a:off x="566928" y="1874520"/>
            <a:ext cx="6766560" cy="173736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Operating it, and</a:t>
            </a:r>
            <a:endParaRPr lang="en-US" sz="4000" dirty="0"/>
          </a:p>
          <a:p>
            <a:pPr indent="0" marL="0">
              <a:buNone/>
            </a:pPr>
            <a:r>
              <a:rPr lang="en-US" sz="4000" b="1" dirty="0">
                <a:solidFill>
                  <a:srgbClr val="FFFFFF"/>
                </a:solidFill>
                <a:latin typeface="Cambria" pitchFamily="34" charset="0"/>
                <a:ea typeface="Cambria" pitchFamily="34" charset="-122"/>
                <a:cs typeface="Cambria" pitchFamily="34" charset="-120"/>
              </a:rPr>
              <a:t>what good looks like</a:t>
            </a:r>
            <a:endParaRPr lang="en-US" sz="4000" dirty="0"/>
          </a:p>
        </p:txBody>
      </p:sp>
      <p:sp>
        <p:nvSpPr>
          <p:cNvPr id="7" name="Text 4"/>
          <p:cNvSpPr/>
          <p:nvPr/>
        </p:nvSpPr>
        <p:spPr>
          <a:xfrm>
            <a:off x="566928" y="3749040"/>
            <a:ext cx="6035040" cy="822960"/>
          </a:xfrm>
          <a:prstGeom prst="rect">
            <a:avLst/>
          </a:prstGeom>
          <a:noFill/>
          <a:ln/>
        </p:spPr>
        <p:txBody>
          <a:bodyPr wrap="square" lIns="0" tIns="0" rIns="0" bIns="0" rtlCol="0" anchor="t"/>
          <a:lstStyle/>
          <a:p>
            <a:pPr indent="0" marL="0">
              <a:buNone/>
            </a:pPr>
            <a:r>
              <a:rPr lang="en-US" sz="1400" dirty="0">
                <a:solidFill>
                  <a:srgbClr val="9FADC4"/>
                </a:solidFill>
                <a:latin typeface="Calibri" pitchFamily="34" charset="0"/>
                <a:ea typeface="Calibri" pitchFamily="34" charset="-122"/>
                <a:cs typeface="Calibri" pitchFamily="34" charset="-120"/>
              </a:rPr>
              <a:t>The two procedures every team will use, the outcomes we expect, and the numbers we will be judged on.</a:t>
            </a:r>
            <a:endParaRPr lang="en-US" sz="1400" dirty="0"/>
          </a:p>
        </p:txBody>
      </p:sp>
      <p:sp>
        <p:nvSpPr>
          <p:cNvPr id="8" name="Shape 5"/>
          <p:cNvSpPr/>
          <p:nvPr/>
        </p:nvSpPr>
        <p:spPr>
          <a:xfrm>
            <a:off x="7360920" y="1371600"/>
            <a:ext cx="4263847" cy="4434840"/>
          </a:xfrm>
          <a:prstGeom prst="roundRect">
            <a:avLst>
              <a:gd name="adj" fmla="val 1501"/>
            </a:avLst>
          </a:prstGeom>
          <a:solidFill>
            <a:srgbClr val="1E2531"/>
          </a:solidFill>
          <a:ln w="12700">
            <a:solidFill>
              <a:srgbClr val="323C4D"/>
            </a:solidFill>
            <a:prstDash val="solid"/>
          </a:ln>
        </p:spPr>
      </p:sp>
      <p:sp>
        <p:nvSpPr>
          <p:cNvPr id="9" name="Text 6"/>
          <p:cNvSpPr/>
          <p:nvPr/>
        </p:nvSpPr>
        <p:spPr>
          <a:xfrm>
            <a:off x="7680960" y="1627632"/>
            <a:ext cx="3840480" cy="274320"/>
          </a:xfrm>
          <a:prstGeom prst="rect">
            <a:avLst/>
          </a:prstGeom>
          <a:noFill/>
          <a:ln/>
        </p:spPr>
        <p:txBody>
          <a:bodyPr wrap="square" lIns="0" tIns="0" rIns="0" bIns="0" rtlCol="0" anchor="ctr"/>
          <a:lstStyle/>
          <a:p>
            <a:pPr indent="0" marL="0">
              <a:buNone/>
            </a:pPr>
            <a:r>
              <a:rPr lang="en-US" sz="950" b="1" spc="160" kern="0" dirty="0">
                <a:solidFill>
                  <a:srgbClr val="E09A2E"/>
                </a:solidFill>
                <a:latin typeface="Calibri" pitchFamily="34" charset="0"/>
                <a:ea typeface="Calibri" pitchFamily="34" charset="-122"/>
                <a:cs typeface="Calibri" pitchFamily="34" charset="-120"/>
              </a:rPr>
              <a:t>TOPICS IN THIS PART</a:t>
            </a:r>
            <a:endParaRPr lang="en-US" sz="950" dirty="0"/>
          </a:p>
        </p:txBody>
      </p:sp>
      <p:sp>
        <p:nvSpPr>
          <p:cNvPr id="10" name="Text 7"/>
          <p:cNvSpPr/>
          <p:nvPr/>
        </p:nvSpPr>
        <p:spPr>
          <a:xfrm>
            <a:off x="7680960" y="1993392"/>
            <a:ext cx="3977640" cy="3566160"/>
          </a:xfrm>
          <a:prstGeom prst="rect">
            <a:avLst/>
          </a:prstGeom>
          <a:noFill/>
          <a:ln/>
        </p:spPr>
        <p:txBody>
          <a:bodyPr wrap="square" lIns="0" tIns="0" rIns="0" bIns="0" rtlCol="0" anchor="t"/>
          <a:lstStyle/>
          <a:p>
            <a:pPr indent="0" marL="0">
              <a:spcAft>
                <a:spcPts val="700"/>
              </a:spcAft>
              <a:buNone/>
            </a:pPr>
            <a:r>
              <a:rPr lang="en-US" sz="1300" dirty="0">
                <a:solidFill>
                  <a:srgbClr val="D3DCE9"/>
                </a:solidFill>
                <a:latin typeface="Calibri" pitchFamily="34" charset="0"/>
                <a:ea typeface="Calibri" pitchFamily="34" charset="-122"/>
                <a:cs typeface="Calibri" pitchFamily="34" charset="-120"/>
              </a:rPr>
              <a:t>28.  How to onboard a new service</a:t>
            </a:r>
            <a:endParaRPr lang="en-US" sz="1300" dirty="0"/>
          </a:p>
          <a:p>
            <a:pPr indent="0" marL="0">
              <a:spcAft>
                <a:spcPts val="700"/>
              </a:spcAft>
              <a:buNone/>
            </a:pPr>
            <a:r>
              <a:rPr lang="en-US" sz="1300" dirty="0">
                <a:solidFill>
                  <a:srgbClr val="D3DCE9"/>
                </a:solidFill>
                <a:latin typeface="Calibri" pitchFamily="34" charset="0"/>
                <a:ea typeface="Calibri" pitchFamily="34" charset="-122"/>
                <a:cs typeface="Calibri" pitchFamily="34" charset="-120"/>
              </a:rPr>
              <a:t>29.  How to add a new monitor</a:t>
            </a:r>
            <a:endParaRPr lang="en-US" sz="1300" dirty="0"/>
          </a:p>
          <a:p>
            <a:pPr indent="0" marL="0">
              <a:spcAft>
                <a:spcPts val="700"/>
              </a:spcAft>
              <a:buNone/>
            </a:pPr>
            <a:r>
              <a:rPr lang="en-US" sz="1300" dirty="0">
                <a:solidFill>
                  <a:srgbClr val="D3DCE9"/>
                </a:solidFill>
                <a:latin typeface="Calibri" pitchFamily="34" charset="0"/>
                <a:ea typeface="Calibri" pitchFamily="34" charset="-122"/>
                <a:cs typeface="Calibri" pitchFamily="34" charset="-120"/>
              </a:rPr>
              <a:t>30.  Expected outcomes</a:t>
            </a:r>
            <a:endParaRPr lang="en-US" sz="1300" dirty="0"/>
          </a:p>
          <a:p>
            <a:pPr indent="0" marL="0">
              <a:spcAft>
                <a:spcPts val="700"/>
              </a:spcAft>
              <a:buNone/>
            </a:pPr>
            <a:r>
              <a:rPr lang="en-US" sz="1300" dirty="0">
                <a:solidFill>
                  <a:srgbClr val="D3DCE9"/>
                </a:solidFill>
                <a:latin typeface="Calibri" pitchFamily="34" charset="0"/>
                <a:ea typeface="Calibri" pitchFamily="34" charset="-122"/>
                <a:cs typeface="Calibri" pitchFamily="34" charset="-120"/>
              </a:rPr>
              <a:t>31.  The adoption model</a:t>
            </a:r>
            <a:endParaRPr lang="en-US" sz="1300" dirty="0"/>
          </a:p>
          <a:p>
            <a:pPr indent="0" marL="0">
              <a:spcAft>
                <a:spcPts val="700"/>
              </a:spcAft>
              <a:buNone/>
            </a:pPr>
            <a:r>
              <a:rPr lang="en-US" sz="1300" dirty="0">
                <a:solidFill>
                  <a:srgbClr val="D3DCE9"/>
                </a:solidFill>
                <a:latin typeface="Calibri" pitchFamily="34" charset="0"/>
                <a:ea typeface="Calibri" pitchFamily="34" charset="-122"/>
                <a:cs typeface="Calibri" pitchFamily="34" charset="-120"/>
              </a:rPr>
              <a:t>32.  Success metrics</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8778240" cy="256032"/>
          </a:xfrm>
          <a:prstGeom prst="rect">
            <a:avLst/>
          </a:prstGeom>
          <a:noFill/>
          <a:ln/>
        </p:spPr>
        <p:txBody>
          <a:bodyPr wrap="square" lIns="0" tIns="0" rIns="0" bIns="0" rtlCol="0" anchor="ctr"/>
          <a:lstStyle/>
          <a:p>
            <a:pPr indent="0" marL="0">
              <a:buNone/>
            </a:pPr>
            <a:r>
              <a:rPr lang="en-US" sz="1050" b="1" spc="160" kern="0" dirty="0">
                <a:solidFill>
                  <a:srgbClr val="B87914"/>
                </a:solidFill>
                <a:latin typeface="Calibri" pitchFamily="34" charset="0"/>
                <a:ea typeface="Calibri" pitchFamily="34" charset="-122"/>
                <a:cs typeface="Calibri" pitchFamily="34" charset="-120"/>
              </a:rPr>
              <a:t>TOPIC 28</a:t>
            </a:r>
            <a:endParaRPr lang="en-US" sz="1050" dirty="0"/>
          </a:p>
        </p:txBody>
      </p:sp>
      <p:sp>
        <p:nvSpPr>
          <p:cNvPr id="3" name="Text 1"/>
          <p:cNvSpPr/>
          <p:nvPr/>
        </p:nvSpPr>
        <p:spPr>
          <a:xfrm>
            <a:off x="566928" y="694944"/>
            <a:ext cx="10424160" cy="786384"/>
          </a:xfrm>
          <a:prstGeom prst="rect">
            <a:avLst/>
          </a:prstGeom>
          <a:noFill/>
          <a:ln/>
        </p:spPr>
        <p:txBody>
          <a:bodyPr wrap="square" lIns="0" tIns="0" rIns="0" bIns="0" rtlCol="0" anchor="ctr"/>
          <a:lstStyle/>
          <a:p>
            <a:pPr indent="0" marL="0">
              <a:buNone/>
            </a:pPr>
            <a:r>
              <a:rPr lang="en-US" sz="3100" b="1" dirty="0">
                <a:solidFill>
                  <a:srgbClr val="161C28"/>
                </a:solidFill>
                <a:latin typeface="Cambria" pitchFamily="34" charset="0"/>
                <a:ea typeface="Cambria" pitchFamily="34" charset="-122"/>
                <a:cs typeface="Cambria" pitchFamily="34" charset="-120"/>
              </a:rPr>
              <a:t>How to onboard a new service</a:t>
            </a:r>
            <a:endParaRPr lang="en-US" sz="3100" dirty="0"/>
          </a:p>
        </p:txBody>
      </p:sp>
      <p:sp>
        <p:nvSpPr>
          <p:cNvPr id="4" name="Text 2"/>
          <p:cNvSpPr/>
          <p:nvPr/>
        </p:nvSpPr>
        <p:spPr>
          <a:xfrm>
            <a:off x="566928" y="1481328"/>
            <a:ext cx="10698480" cy="457200"/>
          </a:xfrm>
          <a:prstGeom prst="rect">
            <a:avLst/>
          </a:prstGeom>
          <a:noFill/>
          <a:ln/>
        </p:spPr>
        <p:txBody>
          <a:bodyPr wrap="square" lIns="0" tIns="0" rIns="0" bIns="0" rtlCol="0" anchor="t"/>
          <a:lstStyle/>
          <a:p>
            <a:pPr indent="0" marL="0">
              <a:buNone/>
            </a:pPr>
            <a:r>
              <a:rPr lang="en-US" sz="1450" dirty="0">
                <a:solidFill>
                  <a:srgbClr val="3A4557"/>
                </a:solidFill>
                <a:latin typeface="Calibri" pitchFamily="34" charset="0"/>
                <a:ea typeface="Calibri" pitchFamily="34" charset="-122"/>
                <a:cs typeface="Calibri" pitchFamily="34" charset="-120"/>
              </a:rPr>
              <a:t>Six steps, one of which is writing a file. Everything after step 3 happens because the platform derives it, not because anyone configures it.</a:t>
            </a:r>
            <a:endParaRPr lang="en-US" sz="1450" dirty="0"/>
          </a:p>
        </p:txBody>
      </p:sp>
      <p:sp>
        <p:nvSpPr>
          <p:cNvPr id="5" name="Shape 3"/>
          <p:cNvSpPr/>
          <p:nvPr/>
        </p:nvSpPr>
        <p:spPr>
          <a:xfrm>
            <a:off x="10568635" y="420624"/>
            <a:ext cx="1056132" cy="310896"/>
          </a:xfrm>
          <a:prstGeom prst="roundRect">
            <a:avLst>
              <a:gd name="adj" fmla="val 50000"/>
            </a:avLst>
          </a:prstGeom>
          <a:solidFill>
            <a:srgbClr val="27807C"/>
          </a:solidFill>
          <a:ln w="12700">
            <a:solidFill>
              <a:srgbClr val="27807C"/>
            </a:solidFill>
            <a:prstDash val="solid"/>
          </a:ln>
        </p:spPr>
      </p:sp>
      <p:sp>
        <p:nvSpPr>
          <p:cNvPr id="6" name="Text 4"/>
          <p:cNvSpPr/>
          <p:nvPr/>
        </p:nvSpPr>
        <p:spPr>
          <a:xfrm>
            <a:off x="10568635" y="420624"/>
            <a:ext cx="1056132" cy="310896"/>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SHIPPED</a:t>
            </a:r>
            <a:endParaRPr lang="en-US" sz="950" dirty="0"/>
          </a:p>
        </p:txBody>
      </p:sp>
      <p:sp>
        <p:nvSpPr>
          <p:cNvPr id="7" name="Text 5"/>
          <p:cNvSpPr/>
          <p:nvPr/>
        </p:nvSpPr>
        <p:spPr>
          <a:xfrm>
            <a:off x="566928" y="6345936"/>
            <a:ext cx="7315200" cy="274320"/>
          </a:xfrm>
          <a:prstGeom prst="rect">
            <a:avLst/>
          </a:prstGeom>
          <a:noFill/>
          <a:ln/>
        </p:spPr>
        <p:txBody>
          <a:bodyPr wrap="square" lIns="0" tIns="0" rIns="0" bIns="0" rtlCol="0" anchor="ctr"/>
          <a:lstStyle/>
          <a:p>
            <a:pPr indent="0" marL="0">
              <a:buNone/>
            </a:pPr>
            <a:r>
              <a:rPr lang="en-US" sz="900" dirty="0">
                <a:solidFill>
                  <a:srgbClr val="6B7891"/>
                </a:solidFill>
                <a:latin typeface="Calibri" pitchFamily="34" charset="0"/>
                <a:ea typeface="Calibri" pitchFamily="34" charset="-122"/>
                <a:cs typeface="Calibri" pitchFamily="34" charset="-120"/>
              </a:rPr>
              <a:t>Enterprise Observability  ·  policy-as-data on Datadog</a:t>
            </a:r>
            <a:endParaRPr lang="en-US" sz="900" dirty="0"/>
          </a:p>
        </p:txBody>
      </p:sp>
      <p:sp>
        <p:nvSpPr>
          <p:cNvPr id="8" name="Text 6"/>
          <p:cNvSpPr/>
          <p:nvPr/>
        </p:nvSpPr>
        <p:spPr>
          <a:xfrm>
            <a:off x="10710367" y="6345936"/>
            <a:ext cx="914400" cy="274320"/>
          </a:xfrm>
          <a:prstGeom prst="rect">
            <a:avLst/>
          </a:prstGeom>
          <a:noFill/>
          <a:ln/>
        </p:spPr>
        <p:txBody>
          <a:bodyPr wrap="square" lIns="0" tIns="0" rIns="0" bIns="0" rtlCol="0" anchor="ctr"/>
          <a:lstStyle/>
          <a:p>
            <a:pPr algn="r" indent="0" marL="0">
              <a:buNone/>
            </a:pPr>
            <a:r>
              <a:rPr lang="en-US" sz="900" dirty="0">
                <a:solidFill>
                  <a:srgbClr val="6B7891"/>
                </a:solidFill>
                <a:latin typeface="Calibri" pitchFamily="34" charset="0"/>
                <a:ea typeface="Calibri" pitchFamily="34" charset="-122"/>
                <a:cs typeface="Calibri" pitchFamily="34" charset="-120"/>
              </a:rPr>
              <a:t>37</a:t>
            </a:r>
            <a:endParaRPr lang="en-US" sz="900" dirty="0"/>
          </a:p>
        </p:txBody>
      </p:sp>
      <p:sp>
        <p:nvSpPr>
          <p:cNvPr id="10" name="Shape 7"/>
          <p:cNvSpPr/>
          <p:nvPr/>
        </p:nvSpPr>
        <p:spPr>
          <a:xfrm>
            <a:off x="566928" y="2286000"/>
            <a:ext cx="3527450" cy="1508760"/>
          </a:xfrm>
          <a:prstGeom prst="roundRect">
            <a:avLst>
              <a:gd name="adj" fmla="val 3636"/>
            </a:avLst>
          </a:prstGeom>
          <a:solidFill>
            <a:srgbClr val="EFF2F6"/>
          </a:solidFill>
          <a:ln w="12700">
            <a:solidFill>
              <a:srgbClr val="EFF2F6"/>
            </a:solidFill>
            <a:prstDash val="solid"/>
          </a:ln>
        </p:spPr>
      </p:sp>
      <p:sp>
        <p:nvSpPr>
          <p:cNvPr id="11" name="Text 8"/>
          <p:cNvSpPr/>
          <p:nvPr/>
        </p:nvSpPr>
        <p:spPr>
          <a:xfrm>
            <a:off x="768096" y="2432304"/>
            <a:ext cx="3125114" cy="347472"/>
          </a:xfrm>
          <a:prstGeom prst="rect">
            <a:avLst/>
          </a:prstGeom>
          <a:noFill/>
          <a:ln/>
        </p:spPr>
        <p:txBody>
          <a:bodyPr wrap="square" lIns="0" tIns="0" rIns="0" bIns="0" rtlCol="0" anchor="t"/>
          <a:lstStyle/>
          <a:p>
            <a:pPr indent="0" marL="0">
              <a:buNone/>
            </a:pPr>
            <a:r>
              <a:rPr lang="en-US" sz="1450" b="1" dirty="0">
                <a:solidFill>
                  <a:srgbClr val="161C28"/>
                </a:solidFill>
                <a:latin typeface="Calibri" pitchFamily="34" charset="0"/>
                <a:ea typeface="Calibri" pitchFamily="34" charset="-122"/>
                <a:cs typeface="Calibri" pitchFamily="34" charset="-120"/>
              </a:rPr>
              <a:t>1  Tag the telemetry</a:t>
            </a:r>
            <a:endParaRPr lang="en-US" sz="1450" dirty="0"/>
          </a:p>
        </p:txBody>
      </p:sp>
      <p:sp>
        <p:nvSpPr>
          <p:cNvPr id="12" name="Text 9"/>
          <p:cNvSpPr/>
          <p:nvPr/>
        </p:nvSpPr>
        <p:spPr>
          <a:xfrm>
            <a:off x="768096" y="2816352"/>
            <a:ext cx="3125114" cy="832104"/>
          </a:xfrm>
          <a:prstGeom prst="rect">
            <a:avLst/>
          </a:prstGeom>
          <a:noFill/>
          <a:ln/>
        </p:spPr>
        <p:txBody>
          <a:bodyPr wrap="square" lIns="0" tIns="0" rIns="0" bIns="0" rtlCol="0" anchor="t"/>
          <a:lstStyle/>
          <a:p>
            <a:pPr indent="0" marL="0">
              <a:lnSpc>
                <a:spcPct val="102000"/>
              </a:lnSpc>
              <a:buNone/>
            </a:pPr>
            <a:r>
              <a:rPr lang="en-US" sz="1150" dirty="0">
                <a:solidFill>
                  <a:srgbClr val="3A4557"/>
                </a:solidFill>
                <a:latin typeface="Calibri" pitchFamily="34" charset="0"/>
                <a:ea typeface="Calibri" pitchFamily="34" charset="-122"/>
                <a:cs typeface="Calibri" pitchFamily="34" charset="-120"/>
              </a:rPr>
              <a:t>env · service · team · tier · service_archetype, plus the derived alert_band. Agent config, Azure Policy, K8s labels or DD_TAGS.</a:t>
            </a:r>
            <a:endParaRPr lang="en-US" sz="1150" dirty="0"/>
          </a:p>
        </p:txBody>
      </p:sp>
      <p:sp>
        <p:nvSpPr>
          <p:cNvPr id="13" name="Shape 10"/>
          <p:cNvSpPr/>
          <p:nvPr/>
        </p:nvSpPr>
        <p:spPr>
          <a:xfrm>
            <a:off x="4332122" y="2286000"/>
            <a:ext cx="3527450" cy="1508760"/>
          </a:xfrm>
          <a:prstGeom prst="roundRect">
            <a:avLst>
              <a:gd name="adj" fmla="val 3636"/>
            </a:avLst>
          </a:prstGeom>
          <a:solidFill>
            <a:srgbClr val="EFF2F6"/>
          </a:solidFill>
          <a:ln w="12700">
            <a:solidFill>
              <a:srgbClr val="EFF2F6"/>
            </a:solidFill>
            <a:prstDash val="solid"/>
          </a:ln>
        </p:spPr>
      </p:sp>
      <p:sp>
        <p:nvSpPr>
          <p:cNvPr id="14" name="Text 11"/>
          <p:cNvSpPr/>
          <p:nvPr/>
        </p:nvSpPr>
        <p:spPr>
          <a:xfrm>
            <a:off x="4533290" y="2432304"/>
            <a:ext cx="3125114" cy="347472"/>
          </a:xfrm>
          <a:prstGeom prst="rect">
            <a:avLst/>
          </a:prstGeom>
          <a:noFill/>
          <a:ln/>
        </p:spPr>
        <p:txBody>
          <a:bodyPr wrap="square" lIns="0" tIns="0" rIns="0" bIns="0" rtlCol="0" anchor="t"/>
          <a:lstStyle/>
          <a:p>
            <a:pPr indent="0" marL="0">
              <a:buNone/>
            </a:pPr>
            <a:r>
              <a:rPr lang="en-US" sz="1450" b="1" dirty="0">
                <a:solidFill>
                  <a:srgbClr val="161C28"/>
                </a:solidFill>
                <a:latin typeface="Calibri" pitchFamily="34" charset="0"/>
                <a:ea typeface="Calibri" pitchFamily="34" charset="-122"/>
                <a:cs typeface="Calibri" pitchFamily="34" charset="-120"/>
              </a:rPr>
              <a:t>2  Pick the archetype</a:t>
            </a:r>
            <a:endParaRPr lang="en-US" sz="1450" dirty="0"/>
          </a:p>
        </p:txBody>
      </p:sp>
      <p:sp>
        <p:nvSpPr>
          <p:cNvPr id="15" name="Text 12"/>
          <p:cNvSpPr/>
          <p:nvPr/>
        </p:nvSpPr>
        <p:spPr>
          <a:xfrm>
            <a:off x="4533290" y="2816352"/>
            <a:ext cx="3125114" cy="832104"/>
          </a:xfrm>
          <a:prstGeom prst="rect">
            <a:avLst/>
          </a:prstGeom>
          <a:noFill/>
          <a:ln/>
        </p:spPr>
        <p:txBody>
          <a:bodyPr wrap="square" lIns="0" tIns="0" rIns="0" bIns="0" rtlCol="0" anchor="t"/>
          <a:lstStyle/>
          <a:p>
            <a:pPr indent="0" marL="0">
              <a:lnSpc>
                <a:spcPct val="102000"/>
              </a:lnSpc>
              <a:buNone/>
            </a:pPr>
            <a:r>
              <a:rPr lang="en-US" sz="1150" dirty="0">
                <a:solidFill>
                  <a:srgbClr val="3A4557"/>
                </a:solidFill>
                <a:latin typeface="Calibri" pitchFamily="34" charset="0"/>
                <a:ea typeface="Calibri" pitchFamily="34" charset="-122"/>
                <a:cs typeface="Calibri" pitchFamily="34" charset="-120"/>
              </a:rPr>
              <a:t>By what the thing IS, not what it is written in. A Java service behind HTTP is api; the same code consuming a queue is event_consumer.</a:t>
            </a:r>
            <a:endParaRPr lang="en-US" sz="1150" dirty="0"/>
          </a:p>
        </p:txBody>
      </p:sp>
      <p:sp>
        <p:nvSpPr>
          <p:cNvPr id="16" name="Shape 13"/>
          <p:cNvSpPr/>
          <p:nvPr/>
        </p:nvSpPr>
        <p:spPr>
          <a:xfrm>
            <a:off x="8097317" y="2286000"/>
            <a:ext cx="3527450" cy="1508760"/>
          </a:xfrm>
          <a:prstGeom prst="roundRect">
            <a:avLst>
              <a:gd name="adj" fmla="val 3636"/>
            </a:avLst>
          </a:prstGeom>
          <a:solidFill>
            <a:srgbClr val="EFF2F6"/>
          </a:solidFill>
          <a:ln w="12700">
            <a:solidFill>
              <a:srgbClr val="EFF2F6"/>
            </a:solidFill>
            <a:prstDash val="solid"/>
          </a:ln>
        </p:spPr>
      </p:sp>
      <p:sp>
        <p:nvSpPr>
          <p:cNvPr id="17" name="Text 14"/>
          <p:cNvSpPr/>
          <p:nvPr/>
        </p:nvSpPr>
        <p:spPr>
          <a:xfrm>
            <a:off x="8298485" y="2432304"/>
            <a:ext cx="3125114" cy="347472"/>
          </a:xfrm>
          <a:prstGeom prst="rect">
            <a:avLst/>
          </a:prstGeom>
          <a:noFill/>
          <a:ln/>
        </p:spPr>
        <p:txBody>
          <a:bodyPr wrap="square" lIns="0" tIns="0" rIns="0" bIns="0" rtlCol="0" anchor="t"/>
          <a:lstStyle/>
          <a:p>
            <a:pPr indent="0" marL="0">
              <a:buNone/>
            </a:pPr>
            <a:r>
              <a:rPr lang="en-US" sz="1450" b="1" dirty="0">
                <a:solidFill>
                  <a:srgbClr val="161C28"/>
                </a:solidFill>
                <a:latin typeface="Calibri" pitchFamily="34" charset="0"/>
                <a:ea typeface="Calibri" pitchFamily="34" charset="-122"/>
                <a:cs typeface="Calibri" pitchFamily="34" charset="-120"/>
              </a:rPr>
              <a:t>3  Register — one file</a:t>
            </a:r>
            <a:endParaRPr lang="en-US" sz="1450" dirty="0"/>
          </a:p>
        </p:txBody>
      </p:sp>
      <p:sp>
        <p:nvSpPr>
          <p:cNvPr id="18" name="Text 15"/>
          <p:cNvSpPr/>
          <p:nvPr/>
        </p:nvSpPr>
        <p:spPr>
          <a:xfrm>
            <a:off x="8298485" y="2816352"/>
            <a:ext cx="3125114" cy="832104"/>
          </a:xfrm>
          <a:prstGeom prst="rect">
            <a:avLst/>
          </a:prstGeom>
          <a:noFill/>
          <a:ln/>
        </p:spPr>
        <p:txBody>
          <a:bodyPr wrap="square" lIns="0" tIns="0" rIns="0" bIns="0" rtlCol="0" anchor="t"/>
          <a:lstStyle/>
          <a:p>
            <a:pPr indent="0" marL="0">
              <a:lnSpc>
                <a:spcPct val="102000"/>
              </a:lnSpc>
              <a:buNone/>
            </a:pPr>
            <a:r>
              <a:rPr lang="en-US" sz="1150" dirty="0">
                <a:solidFill>
                  <a:srgbClr val="3A4557"/>
                </a:solidFill>
                <a:latin typeface="Calibri" pitchFamily="34" charset="0"/>
                <a:ea typeface="Calibri" pitchFamily="34" charset="-122"/>
                <a:cs typeface="Calibri" pitchFamily="34" charset="-120"/>
              </a:rPr>
              <a:t>Five fields in platform/services/&lt;name&gt;.yaml. Open a pull request; CI validates schema, tier, routing and SLO association.</a:t>
            </a:r>
            <a:endParaRPr lang="en-US" sz="1150" dirty="0"/>
          </a:p>
        </p:txBody>
      </p:sp>
      <p:sp>
        <p:nvSpPr>
          <p:cNvPr id="19" name="Shape 16"/>
          <p:cNvSpPr/>
          <p:nvPr/>
        </p:nvSpPr>
        <p:spPr>
          <a:xfrm>
            <a:off x="566928" y="4050792"/>
            <a:ext cx="3527450" cy="1508760"/>
          </a:xfrm>
          <a:prstGeom prst="roundRect">
            <a:avLst>
              <a:gd name="adj" fmla="val 3636"/>
            </a:avLst>
          </a:prstGeom>
          <a:solidFill>
            <a:srgbClr val="EFF2F6"/>
          </a:solidFill>
          <a:ln w="12700">
            <a:solidFill>
              <a:srgbClr val="EFF2F6"/>
            </a:solidFill>
            <a:prstDash val="solid"/>
          </a:ln>
        </p:spPr>
      </p:sp>
      <p:sp>
        <p:nvSpPr>
          <p:cNvPr id="20" name="Text 17"/>
          <p:cNvSpPr/>
          <p:nvPr/>
        </p:nvSpPr>
        <p:spPr>
          <a:xfrm>
            <a:off x="768096" y="4197096"/>
            <a:ext cx="3125114" cy="347472"/>
          </a:xfrm>
          <a:prstGeom prst="rect">
            <a:avLst/>
          </a:prstGeom>
          <a:noFill/>
          <a:ln/>
        </p:spPr>
        <p:txBody>
          <a:bodyPr wrap="square" lIns="0" tIns="0" rIns="0" bIns="0" rtlCol="0" anchor="t"/>
          <a:lstStyle/>
          <a:p>
            <a:pPr indent="0" marL="0">
              <a:buNone/>
            </a:pPr>
            <a:r>
              <a:rPr lang="en-US" sz="1450" b="1" dirty="0">
                <a:solidFill>
                  <a:srgbClr val="161C28"/>
                </a:solidFill>
                <a:latin typeface="Calibri" pitchFamily="34" charset="0"/>
                <a:ea typeface="Calibri" pitchFamily="34" charset="-122"/>
                <a:cs typeface="Calibri" pitchFamily="34" charset="-120"/>
              </a:rPr>
              <a:t>4  Merge</a:t>
            </a:r>
            <a:endParaRPr lang="en-US" sz="1450" dirty="0"/>
          </a:p>
        </p:txBody>
      </p:sp>
      <p:sp>
        <p:nvSpPr>
          <p:cNvPr id="21" name="Text 18"/>
          <p:cNvSpPr/>
          <p:nvPr/>
        </p:nvSpPr>
        <p:spPr>
          <a:xfrm>
            <a:off x="768096" y="4581144"/>
            <a:ext cx="3125114" cy="832104"/>
          </a:xfrm>
          <a:prstGeom prst="rect">
            <a:avLst/>
          </a:prstGeom>
          <a:noFill/>
          <a:ln/>
        </p:spPr>
        <p:txBody>
          <a:bodyPr wrap="square" lIns="0" tIns="0" rIns="0" bIns="0" rtlCol="0" anchor="t"/>
          <a:lstStyle/>
          <a:p>
            <a:pPr indent="0" marL="0">
              <a:lnSpc>
                <a:spcPct val="102000"/>
              </a:lnSpc>
              <a:buNone/>
            </a:pPr>
            <a:r>
              <a:rPr lang="en-US" sz="1150" dirty="0">
                <a:solidFill>
                  <a:srgbClr val="3A4557"/>
                </a:solidFill>
                <a:latin typeface="Calibri" pitchFamily="34" charset="0"/>
                <a:ea typeface="Calibri" pitchFamily="34" charset="-122"/>
                <a:cs typeface="Calibri" pitchFamily="34" charset="-120"/>
              </a:rPr>
              <a:t>qa and stage apply automatically. Production is an explicit dispatch behind the approval environment.</a:t>
            </a:r>
            <a:endParaRPr lang="en-US" sz="1150" dirty="0"/>
          </a:p>
        </p:txBody>
      </p:sp>
      <p:sp>
        <p:nvSpPr>
          <p:cNvPr id="22" name="Shape 19"/>
          <p:cNvSpPr/>
          <p:nvPr/>
        </p:nvSpPr>
        <p:spPr>
          <a:xfrm>
            <a:off x="4332122" y="4050792"/>
            <a:ext cx="3527450" cy="1508760"/>
          </a:xfrm>
          <a:prstGeom prst="roundRect">
            <a:avLst>
              <a:gd name="adj" fmla="val 3636"/>
            </a:avLst>
          </a:prstGeom>
          <a:solidFill>
            <a:srgbClr val="EFF2F6"/>
          </a:solidFill>
          <a:ln w="12700">
            <a:solidFill>
              <a:srgbClr val="EFF2F6"/>
            </a:solidFill>
            <a:prstDash val="solid"/>
          </a:ln>
        </p:spPr>
      </p:sp>
      <p:sp>
        <p:nvSpPr>
          <p:cNvPr id="23" name="Text 20"/>
          <p:cNvSpPr/>
          <p:nvPr/>
        </p:nvSpPr>
        <p:spPr>
          <a:xfrm>
            <a:off x="4533290" y="4197096"/>
            <a:ext cx="3125114" cy="347472"/>
          </a:xfrm>
          <a:prstGeom prst="rect">
            <a:avLst/>
          </a:prstGeom>
          <a:noFill/>
          <a:ln/>
        </p:spPr>
        <p:txBody>
          <a:bodyPr wrap="square" lIns="0" tIns="0" rIns="0" bIns="0" rtlCol="0" anchor="t"/>
          <a:lstStyle/>
          <a:p>
            <a:pPr indent="0" marL="0">
              <a:buNone/>
            </a:pPr>
            <a:r>
              <a:rPr lang="en-US" sz="1450" b="1" dirty="0">
                <a:solidFill>
                  <a:srgbClr val="161C28"/>
                </a:solidFill>
                <a:latin typeface="Calibri" pitchFamily="34" charset="0"/>
                <a:ea typeface="Calibri" pitchFamily="34" charset="-122"/>
                <a:cs typeface="Calibri" pitchFamily="34" charset="-120"/>
              </a:rPr>
              <a:t>5  Verify</a:t>
            </a:r>
            <a:endParaRPr lang="en-US" sz="1450" dirty="0"/>
          </a:p>
        </p:txBody>
      </p:sp>
      <p:sp>
        <p:nvSpPr>
          <p:cNvPr id="24" name="Text 21"/>
          <p:cNvSpPr/>
          <p:nvPr/>
        </p:nvSpPr>
        <p:spPr>
          <a:xfrm>
            <a:off x="4533290" y="4581144"/>
            <a:ext cx="3125114" cy="832104"/>
          </a:xfrm>
          <a:prstGeom prst="rect">
            <a:avLst/>
          </a:prstGeom>
          <a:noFill/>
          <a:ln/>
        </p:spPr>
        <p:txBody>
          <a:bodyPr wrap="square" lIns="0" tIns="0" rIns="0" bIns="0" rtlCol="0" anchor="t"/>
          <a:lstStyle/>
          <a:p>
            <a:pPr indent="0" marL="0">
              <a:lnSpc>
                <a:spcPct val="102000"/>
              </a:lnSpc>
              <a:buNone/>
            </a:pPr>
            <a:r>
              <a:rPr lang="en-US" sz="1150" dirty="0">
                <a:solidFill>
                  <a:srgbClr val="3A4557"/>
                </a:solidFill>
                <a:latin typeface="Calibri" pitchFamily="34" charset="0"/>
                <a:ea typeface="Calibri" pitchFamily="34" charset="-122"/>
                <a:cs typeface="Calibri" pitchFamily="34" charset="-120"/>
              </a:rPr>
              <a:t>The coverage report shows the service as owned instead of a C2 violation, and the catalog entry carries your team.</a:t>
            </a:r>
            <a:endParaRPr lang="en-US" sz="1150" dirty="0"/>
          </a:p>
        </p:txBody>
      </p:sp>
      <p:sp>
        <p:nvSpPr>
          <p:cNvPr id="25" name="Shape 22"/>
          <p:cNvSpPr/>
          <p:nvPr/>
        </p:nvSpPr>
        <p:spPr>
          <a:xfrm>
            <a:off x="8097317" y="4050792"/>
            <a:ext cx="3527450" cy="1508760"/>
          </a:xfrm>
          <a:prstGeom prst="roundRect">
            <a:avLst>
              <a:gd name="adj" fmla="val 3636"/>
            </a:avLst>
          </a:prstGeom>
          <a:solidFill>
            <a:srgbClr val="EFF2F6"/>
          </a:solidFill>
          <a:ln w="12700">
            <a:solidFill>
              <a:srgbClr val="EFF2F6"/>
            </a:solidFill>
            <a:prstDash val="solid"/>
          </a:ln>
        </p:spPr>
      </p:sp>
      <p:sp>
        <p:nvSpPr>
          <p:cNvPr id="26" name="Text 23"/>
          <p:cNvSpPr/>
          <p:nvPr/>
        </p:nvSpPr>
        <p:spPr>
          <a:xfrm>
            <a:off x="8298485" y="4197096"/>
            <a:ext cx="3125114" cy="347472"/>
          </a:xfrm>
          <a:prstGeom prst="rect">
            <a:avLst/>
          </a:prstGeom>
          <a:noFill/>
          <a:ln/>
        </p:spPr>
        <p:txBody>
          <a:bodyPr wrap="square" lIns="0" tIns="0" rIns="0" bIns="0" rtlCol="0" anchor="t"/>
          <a:lstStyle/>
          <a:p>
            <a:pPr indent="0" marL="0">
              <a:buNone/>
            </a:pPr>
            <a:r>
              <a:rPr lang="en-US" sz="1450" b="1" dirty="0">
                <a:solidFill>
                  <a:srgbClr val="161C28"/>
                </a:solidFill>
                <a:latin typeface="Calibri" pitchFamily="34" charset="0"/>
                <a:ea typeface="Calibri" pitchFamily="34" charset="-122"/>
                <a:cs typeface="Calibri" pitchFamily="34" charset="-120"/>
              </a:rPr>
              <a:t>6  Fill in the runbook</a:t>
            </a:r>
            <a:endParaRPr lang="en-US" sz="1450" dirty="0"/>
          </a:p>
        </p:txBody>
      </p:sp>
      <p:sp>
        <p:nvSpPr>
          <p:cNvPr id="27" name="Text 24"/>
          <p:cNvSpPr/>
          <p:nvPr/>
        </p:nvSpPr>
        <p:spPr>
          <a:xfrm>
            <a:off x="8298485" y="4581144"/>
            <a:ext cx="3125114" cy="832104"/>
          </a:xfrm>
          <a:prstGeom prst="rect">
            <a:avLst/>
          </a:prstGeom>
          <a:noFill/>
          <a:ln/>
        </p:spPr>
        <p:txBody>
          <a:bodyPr wrap="square" lIns="0" tIns="0" rIns="0" bIns="0" rtlCol="0" anchor="t"/>
          <a:lstStyle/>
          <a:p>
            <a:pPr indent="0" marL="0">
              <a:lnSpc>
                <a:spcPct val="102000"/>
              </a:lnSpc>
              <a:buNone/>
            </a:pPr>
            <a:r>
              <a:rPr lang="en-US" sz="1150" dirty="0">
                <a:solidFill>
                  <a:srgbClr val="3A4557"/>
                </a:solidFill>
                <a:latin typeface="Calibri" pitchFamily="34" charset="0"/>
                <a:ea typeface="Calibri" pitchFamily="34" charset="-122"/>
                <a:cs typeface="Calibri" pitchFamily="34" charset="-120"/>
              </a:rPr>
              <a:t>The only ongoing obligation — and the difference between an alert that helps at 3am and one that just wakes someone.</a:t>
            </a:r>
            <a:endParaRPr lang="en-US" sz="1150" dirty="0"/>
          </a:p>
        </p:txBody>
      </p:sp>
      <p:sp>
        <p:nvSpPr>
          <p:cNvPr id="28" name="Shape 25"/>
          <p:cNvSpPr/>
          <p:nvPr/>
        </p:nvSpPr>
        <p:spPr>
          <a:xfrm>
            <a:off x="566928" y="5486400"/>
            <a:ext cx="11057839" cy="566928"/>
          </a:xfrm>
          <a:prstGeom prst="roundRect">
            <a:avLst>
              <a:gd name="adj" fmla="val 9677"/>
            </a:avLst>
          </a:prstGeom>
          <a:solidFill>
            <a:srgbClr val="12161F"/>
          </a:solidFill>
          <a:ln w="12700">
            <a:solidFill>
              <a:srgbClr val="12161F"/>
            </a:solidFill>
            <a:prstDash val="solid"/>
          </a:ln>
        </p:spPr>
      </p:sp>
      <p:sp>
        <p:nvSpPr>
          <p:cNvPr id="29" name="Text 26"/>
          <p:cNvSpPr/>
          <p:nvPr/>
        </p:nvSpPr>
        <p:spPr>
          <a:xfrm>
            <a:off x="841248" y="5486400"/>
            <a:ext cx="10509199" cy="566928"/>
          </a:xfrm>
          <a:prstGeom prst="rect">
            <a:avLst/>
          </a:prstGeom>
          <a:noFill/>
          <a:ln/>
        </p:spPr>
        <p:txBody>
          <a:bodyPr wrap="square" lIns="0" tIns="0" rIns="0" bIns="0" rtlCol="0" anchor="ctr"/>
          <a:lstStyle/>
          <a:p>
            <a:pPr indent="0" marL="0">
              <a:buNone/>
            </a:pPr>
            <a:r>
              <a:rPr lang="en-US" sz="1200" b="1" dirty="0">
                <a:solidFill>
                  <a:srgbClr val="E09A2E"/>
                </a:solidFill>
                <a:latin typeface="Calibri" pitchFamily="34" charset="0"/>
                <a:ea typeface="Calibri" pitchFamily="34" charset="-122"/>
                <a:cs typeface="Calibri" pitchFamily="34" charset="-120"/>
              </a:rPr>
              <a:t>You never write:  </a:t>
            </a:r>
            <a:pPr indent="0" marL="0">
              <a:buNone/>
            </a:pPr>
            <a:r>
              <a:rPr lang="en-US" sz="1200" dirty="0">
                <a:solidFill>
                  <a:srgbClr val="C6D0DF"/>
                </a:solidFill>
                <a:latin typeface="Calibri" pitchFamily="34" charset="0"/>
                <a:ea typeface="Calibri" pitchFamily="34" charset="-122"/>
                <a:cs typeface="Calibri" pitchFamily="34" charset="-120"/>
              </a:rPr>
              <a:t>Terraform · a Datadog notification handle · a monitor definition · a threshold · a routing rule · an escalation policy. All of it is derived from two declarations: your tier and your service archetype.</a:t>
            </a:r>
            <a:endParaRPr lang="en-US" sz="12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8778240" cy="256032"/>
          </a:xfrm>
          <a:prstGeom prst="rect">
            <a:avLst/>
          </a:prstGeom>
          <a:noFill/>
          <a:ln/>
        </p:spPr>
        <p:txBody>
          <a:bodyPr wrap="square" lIns="0" tIns="0" rIns="0" bIns="0" rtlCol="0" anchor="ctr"/>
          <a:lstStyle/>
          <a:p>
            <a:pPr indent="0" marL="0">
              <a:buNone/>
            </a:pPr>
            <a:r>
              <a:rPr lang="en-US" sz="1050" b="1" spc="160" kern="0" dirty="0">
                <a:solidFill>
                  <a:srgbClr val="B87914"/>
                </a:solidFill>
                <a:latin typeface="Calibri" pitchFamily="34" charset="0"/>
                <a:ea typeface="Calibri" pitchFamily="34" charset="-122"/>
                <a:cs typeface="Calibri" pitchFamily="34" charset="-120"/>
              </a:rPr>
              <a:t>TOPIC 29</a:t>
            </a:r>
            <a:endParaRPr lang="en-US" sz="1050" dirty="0"/>
          </a:p>
        </p:txBody>
      </p:sp>
      <p:sp>
        <p:nvSpPr>
          <p:cNvPr id="3" name="Text 1"/>
          <p:cNvSpPr/>
          <p:nvPr/>
        </p:nvSpPr>
        <p:spPr>
          <a:xfrm>
            <a:off x="566928" y="694944"/>
            <a:ext cx="10424160" cy="786384"/>
          </a:xfrm>
          <a:prstGeom prst="rect">
            <a:avLst/>
          </a:prstGeom>
          <a:noFill/>
          <a:ln/>
        </p:spPr>
        <p:txBody>
          <a:bodyPr wrap="square" lIns="0" tIns="0" rIns="0" bIns="0" rtlCol="0" anchor="ctr"/>
          <a:lstStyle/>
          <a:p>
            <a:pPr indent="0" marL="0">
              <a:buNone/>
            </a:pPr>
            <a:r>
              <a:rPr lang="en-US" sz="3100" b="1" dirty="0">
                <a:solidFill>
                  <a:srgbClr val="161C28"/>
                </a:solidFill>
                <a:latin typeface="Cambria" pitchFamily="34" charset="0"/>
                <a:ea typeface="Cambria" pitchFamily="34" charset="-122"/>
                <a:cs typeface="Cambria" pitchFamily="34" charset="-120"/>
              </a:rPr>
              <a:t>How to add a new monitor</a:t>
            </a:r>
            <a:endParaRPr lang="en-US" sz="3100" dirty="0"/>
          </a:p>
        </p:txBody>
      </p:sp>
      <p:sp>
        <p:nvSpPr>
          <p:cNvPr id="4" name="Text 2"/>
          <p:cNvSpPr/>
          <p:nvPr/>
        </p:nvSpPr>
        <p:spPr>
          <a:xfrm>
            <a:off x="566928" y="1481328"/>
            <a:ext cx="10698480" cy="457200"/>
          </a:xfrm>
          <a:prstGeom prst="rect">
            <a:avLst/>
          </a:prstGeom>
          <a:noFill/>
          <a:ln/>
        </p:spPr>
        <p:txBody>
          <a:bodyPr wrap="square" lIns="0" tIns="0" rIns="0" bIns="0" rtlCol="0" anchor="t"/>
          <a:lstStyle/>
          <a:p>
            <a:pPr indent="0" marL="0">
              <a:buNone/>
            </a:pPr>
            <a:r>
              <a:rPr lang="en-US" sz="1450" dirty="0">
                <a:solidFill>
                  <a:srgbClr val="3A4557"/>
                </a:solidFill>
                <a:latin typeface="Calibri" pitchFamily="34" charset="0"/>
                <a:ea typeface="Calibri" pitchFamily="34" charset="-122"/>
                <a:cs typeface="Calibri" pitchFamily="34" charset="-120"/>
              </a:rPr>
              <a:t>For a pattern everyone needs, one archetype. For a genuinely unique requirement, one manifest of about fifteen lines. You delete the monitor by deleting the file.</a:t>
            </a:r>
            <a:endParaRPr lang="en-US" sz="1450" dirty="0"/>
          </a:p>
        </p:txBody>
      </p:sp>
      <p:sp>
        <p:nvSpPr>
          <p:cNvPr id="5" name="Shape 3"/>
          <p:cNvSpPr/>
          <p:nvPr/>
        </p:nvSpPr>
        <p:spPr>
          <a:xfrm>
            <a:off x="10568635" y="420624"/>
            <a:ext cx="1056132" cy="310896"/>
          </a:xfrm>
          <a:prstGeom prst="roundRect">
            <a:avLst>
              <a:gd name="adj" fmla="val 50000"/>
            </a:avLst>
          </a:prstGeom>
          <a:solidFill>
            <a:srgbClr val="27807C"/>
          </a:solidFill>
          <a:ln w="12700">
            <a:solidFill>
              <a:srgbClr val="27807C"/>
            </a:solidFill>
            <a:prstDash val="solid"/>
          </a:ln>
        </p:spPr>
      </p:sp>
      <p:sp>
        <p:nvSpPr>
          <p:cNvPr id="6" name="Text 4"/>
          <p:cNvSpPr/>
          <p:nvPr/>
        </p:nvSpPr>
        <p:spPr>
          <a:xfrm>
            <a:off x="10568635" y="420624"/>
            <a:ext cx="1056132" cy="310896"/>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SHIPPED</a:t>
            </a:r>
            <a:endParaRPr lang="en-US" sz="950" dirty="0"/>
          </a:p>
        </p:txBody>
      </p:sp>
      <p:sp>
        <p:nvSpPr>
          <p:cNvPr id="7" name="Text 5"/>
          <p:cNvSpPr/>
          <p:nvPr/>
        </p:nvSpPr>
        <p:spPr>
          <a:xfrm>
            <a:off x="566928" y="6345936"/>
            <a:ext cx="7315200" cy="274320"/>
          </a:xfrm>
          <a:prstGeom prst="rect">
            <a:avLst/>
          </a:prstGeom>
          <a:noFill/>
          <a:ln/>
        </p:spPr>
        <p:txBody>
          <a:bodyPr wrap="square" lIns="0" tIns="0" rIns="0" bIns="0" rtlCol="0" anchor="ctr"/>
          <a:lstStyle/>
          <a:p>
            <a:pPr indent="0" marL="0">
              <a:buNone/>
            </a:pPr>
            <a:r>
              <a:rPr lang="en-US" sz="900" dirty="0">
                <a:solidFill>
                  <a:srgbClr val="6B7891"/>
                </a:solidFill>
                <a:latin typeface="Calibri" pitchFamily="34" charset="0"/>
                <a:ea typeface="Calibri" pitchFamily="34" charset="-122"/>
                <a:cs typeface="Calibri" pitchFamily="34" charset="-120"/>
              </a:rPr>
              <a:t>Enterprise Observability  ·  policy-as-data on Datadog</a:t>
            </a:r>
            <a:endParaRPr lang="en-US" sz="900" dirty="0"/>
          </a:p>
        </p:txBody>
      </p:sp>
      <p:sp>
        <p:nvSpPr>
          <p:cNvPr id="8" name="Text 6"/>
          <p:cNvSpPr/>
          <p:nvPr/>
        </p:nvSpPr>
        <p:spPr>
          <a:xfrm>
            <a:off x="10710367" y="6345936"/>
            <a:ext cx="914400" cy="274320"/>
          </a:xfrm>
          <a:prstGeom prst="rect">
            <a:avLst/>
          </a:prstGeom>
          <a:noFill/>
          <a:ln/>
        </p:spPr>
        <p:txBody>
          <a:bodyPr wrap="square" lIns="0" tIns="0" rIns="0" bIns="0" rtlCol="0" anchor="ctr"/>
          <a:lstStyle/>
          <a:p>
            <a:pPr algn="r" indent="0" marL="0">
              <a:buNone/>
            </a:pPr>
            <a:r>
              <a:rPr lang="en-US" sz="900" dirty="0">
                <a:solidFill>
                  <a:srgbClr val="6B7891"/>
                </a:solidFill>
                <a:latin typeface="Calibri" pitchFamily="34" charset="0"/>
                <a:ea typeface="Calibri" pitchFamily="34" charset="-122"/>
                <a:cs typeface="Calibri" pitchFamily="34" charset="-120"/>
              </a:rPr>
              <a:t>38</a:t>
            </a:r>
            <a:endParaRPr lang="en-US" sz="900" dirty="0"/>
          </a:p>
        </p:txBody>
      </p:sp>
      <p:sp>
        <p:nvSpPr>
          <p:cNvPr id="10" name="Shape 7"/>
          <p:cNvSpPr/>
          <p:nvPr/>
        </p:nvSpPr>
        <p:spPr>
          <a:xfrm>
            <a:off x="566928" y="2286000"/>
            <a:ext cx="5349240" cy="1234440"/>
          </a:xfrm>
          <a:prstGeom prst="roundRect">
            <a:avLst>
              <a:gd name="adj" fmla="val 5185"/>
            </a:avLst>
          </a:prstGeom>
          <a:solidFill>
            <a:srgbClr val="EFF2F6"/>
          </a:solidFill>
          <a:ln w="12700">
            <a:solidFill>
              <a:srgbClr val="EFF2F6"/>
            </a:solidFill>
            <a:prstDash val="solid"/>
          </a:ln>
        </p:spPr>
      </p:sp>
      <p:sp>
        <p:nvSpPr>
          <p:cNvPr id="11" name="Text 8"/>
          <p:cNvSpPr/>
          <p:nvPr/>
        </p:nvSpPr>
        <p:spPr>
          <a:xfrm>
            <a:off x="822960" y="2414016"/>
            <a:ext cx="4846320" cy="274320"/>
          </a:xfrm>
          <a:prstGeom prst="rect">
            <a:avLst/>
          </a:prstGeom>
          <a:noFill/>
          <a:ln/>
        </p:spPr>
        <p:txBody>
          <a:bodyPr wrap="square" lIns="0" tIns="0" rIns="0" bIns="0" rtlCol="0" anchor="ctr"/>
          <a:lstStyle/>
          <a:p>
            <a:pPr indent="0" marL="0">
              <a:buNone/>
            </a:pPr>
            <a:r>
              <a:rPr lang="en-US" sz="1000" b="1" spc="130" kern="0" dirty="0">
                <a:solidFill>
                  <a:srgbClr val="B87914"/>
                </a:solidFill>
                <a:latin typeface="Calibri" pitchFamily="34" charset="0"/>
                <a:ea typeface="Calibri" pitchFamily="34" charset="-122"/>
                <a:cs typeface="Calibri" pitchFamily="34" charset="-120"/>
              </a:rPr>
              <a:t>A PATTERN EVERYONE NEEDS  →  ONE ARCHETYPE</a:t>
            </a:r>
            <a:endParaRPr lang="en-US" sz="1000" dirty="0"/>
          </a:p>
        </p:txBody>
      </p:sp>
      <p:sp>
        <p:nvSpPr>
          <p:cNvPr id="12" name="Text 9"/>
          <p:cNvSpPr/>
          <p:nvPr/>
        </p:nvSpPr>
        <p:spPr>
          <a:xfrm>
            <a:off x="822960" y="2724912"/>
            <a:ext cx="4846320" cy="685800"/>
          </a:xfrm>
          <a:prstGeom prst="rect">
            <a:avLst/>
          </a:prstGeom>
          <a:noFill/>
          <a:ln/>
        </p:spPr>
        <p:txBody>
          <a:bodyPr wrap="square" lIns="0" tIns="0" rIns="0" bIns="0" rtlCol="0" anchor="t"/>
          <a:lstStyle/>
          <a:p>
            <a:pPr indent="0" marL="0">
              <a:buNone/>
            </a:pPr>
            <a:r>
              <a:rPr lang="en-US" sz="1200" dirty="0">
                <a:solidFill>
                  <a:srgbClr val="3A4557"/>
                </a:solidFill>
                <a:latin typeface="Calibri" pitchFamily="34" charset="0"/>
                <a:ea typeface="Calibri" pitchFamily="34" charset="-122"/>
                <a:cs typeface="Calibri" pitchFamily="34" charset="-120"/>
              </a:rPr>
              <a:t>A pull request against platform/policy/archetypes/. Every service with that archetype gets the coverage — which is why a pattern must never be solved with a per-service monitor.</a:t>
            </a:r>
            <a:endParaRPr lang="en-US" sz="1200" dirty="0"/>
          </a:p>
        </p:txBody>
      </p:sp>
      <p:sp>
        <p:nvSpPr>
          <p:cNvPr id="13" name="Shape 10"/>
          <p:cNvSpPr/>
          <p:nvPr/>
        </p:nvSpPr>
        <p:spPr>
          <a:xfrm>
            <a:off x="6281928" y="2286000"/>
            <a:ext cx="5349240" cy="1234440"/>
          </a:xfrm>
          <a:prstGeom prst="roundRect">
            <a:avLst>
              <a:gd name="adj" fmla="val 5185"/>
            </a:avLst>
          </a:prstGeom>
          <a:solidFill>
            <a:srgbClr val="12161F"/>
          </a:solidFill>
          <a:ln w="12700">
            <a:solidFill>
              <a:srgbClr val="12161F"/>
            </a:solidFill>
            <a:prstDash val="solid"/>
          </a:ln>
        </p:spPr>
      </p:sp>
      <p:sp>
        <p:nvSpPr>
          <p:cNvPr id="14" name="Text 11"/>
          <p:cNvSpPr/>
          <p:nvPr/>
        </p:nvSpPr>
        <p:spPr>
          <a:xfrm>
            <a:off x="6537960" y="2414016"/>
            <a:ext cx="4846320" cy="274320"/>
          </a:xfrm>
          <a:prstGeom prst="rect">
            <a:avLst/>
          </a:prstGeom>
          <a:noFill/>
          <a:ln/>
        </p:spPr>
        <p:txBody>
          <a:bodyPr wrap="square" lIns="0" tIns="0" rIns="0" bIns="0" rtlCol="0" anchor="ctr"/>
          <a:lstStyle/>
          <a:p>
            <a:pPr indent="0" marL="0">
              <a:buNone/>
            </a:pPr>
            <a:r>
              <a:rPr lang="en-US" sz="1000" b="1" spc="130" kern="0" dirty="0">
                <a:solidFill>
                  <a:srgbClr val="E09A2E"/>
                </a:solidFill>
                <a:latin typeface="Calibri" pitchFamily="34" charset="0"/>
                <a:ea typeface="Calibri" pitchFamily="34" charset="-122"/>
                <a:cs typeface="Calibri" pitchFamily="34" charset="-120"/>
              </a:rPr>
              <a:t>GENUINELY UNIQUE  →  ONE MANIFEST</a:t>
            </a:r>
            <a:endParaRPr lang="en-US" sz="1000" dirty="0"/>
          </a:p>
        </p:txBody>
      </p:sp>
      <p:sp>
        <p:nvSpPr>
          <p:cNvPr id="15" name="Text 12"/>
          <p:cNvSpPr/>
          <p:nvPr/>
        </p:nvSpPr>
        <p:spPr>
          <a:xfrm>
            <a:off x="6537960" y="2724912"/>
            <a:ext cx="4846320" cy="685800"/>
          </a:xfrm>
          <a:prstGeom prst="rect">
            <a:avLst/>
          </a:prstGeom>
          <a:noFill/>
          <a:ln/>
        </p:spPr>
        <p:txBody>
          <a:bodyPr wrap="square" lIns="0" tIns="0" rIns="0" bIns="0" rtlCol="0" anchor="t"/>
          <a:lstStyle/>
          <a:p>
            <a:pPr indent="0" marL="0">
              <a:buNone/>
            </a:pPr>
            <a:r>
              <a:rPr lang="en-US" sz="1200" dirty="0">
                <a:solidFill>
                  <a:srgbClr val="AEBACD"/>
                </a:solidFill>
                <a:latin typeface="Calibri" pitchFamily="34" charset="0"/>
                <a:ea typeface="Calibri" pitchFamily="34" charset="-122"/>
                <a:cs typeface="Calibri" pitchFamily="34" charset="-120"/>
              </a:rPr>
              <a:t>About fifteen lines in platform/monitors/. The requesting team owns it; the platform team reviews only exceptions. You delete the monitor by deleting the file.</a:t>
            </a:r>
            <a:endParaRPr lang="en-US" sz="1200" dirty="0"/>
          </a:p>
        </p:txBody>
      </p:sp>
      <p:sp>
        <p:nvSpPr>
          <p:cNvPr id="16" name="Text 13"/>
          <p:cNvSpPr/>
          <p:nvPr/>
        </p:nvSpPr>
        <p:spPr>
          <a:xfrm>
            <a:off x="566928" y="3657600"/>
            <a:ext cx="10607040" cy="292608"/>
          </a:xfrm>
          <a:prstGeom prst="rect">
            <a:avLst/>
          </a:prstGeom>
          <a:noFill/>
          <a:ln/>
        </p:spPr>
        <p:txBody>
          <a:bodyPr wrap="square" lIns="0" tIns="0" rIns="0" bIns="0" rtlCol="0" anchor="ctr"/>
          <a:lstStyle/>
          <a:p>
            <a:pPr indent="0" marL="0">
              <a:buNone/>
            </a:pPr>
            <a:r>
              <a:rPr lang="en-US" sz="1400" b="1" dirty="0">
                <a:solidFill>
                  <a:srgbClr val="161C28"/>
                </a:solidFill>
                <a:latin typeface="Calibri" pitchFamily="34" charset="0"/>
                <a:ea typeface="Calibri" pitchFamily="34" charset="-122"/>
                <a:cs typeface="Calibri" pitchFamily="34" charset="-120"/>
              </a:rPr>
              <a:t>The same gate runs either way</a:t>
            </a:r>
            <a:endParaRPr lang="en-US" sz="1400" dirty="0"/>
          </a:p>
        </p:txBody>
      </p:sp>
      <p:sp>
        <p:nvSpPr>
          <p:cNvPr id="17" name="Shape 14"/>
          <p:cNvSpPr/>
          <p:nvPr/>
        </p:nvSpPr>
        <p:spPr>
          <a:xfrm>
            <a:off x="566928" y="4041648"/>
            <a:ext cx="1737360" cy="384048"/>
          </a:xfrm>
          <a:prstGeom prst="roundRect">
            <a:avLst>
              <a:gd name="adj" fmla="val 11905"/>
            </a:avLst>
          </a:prstGeom>
          <a:solidFill>
            <a:srgbClr val="EAF3F1"/>
          </a:solidFill>
          <a:ln w="12700">
            <a:solidFill>
              <a:srgbClr val="EAF3F1"/>
            </a:solidFill>
            <a:prstDash val="solid"/>
          </a:ln>
        </p:spPr>
      </p:sp>
      <p:sp>
        <p:nvSpPr>
          <p:cNvPr id="18" name="Text 15"/>
          <p:cNvSpPr/>
          <p:nvPr/>
        </p:nvSpPr>
        <p:spPr>
          <a:xfrm>
            <a:off x="640080" y="4041648"/>
            <a:ext cx="1591056" cy="384048"/>
          </a:xfrm>
          <a:prstGeom prst="rect">
            <a:avLst/>
          </a:prstGeom>
          <a:noFill/>
          <a:ln/>
        </p:spPr>
        <p:txBody>
          <a:bodyPr wrap="square" lIns="0" tIns="0" rIns="0" bIns="0" rtlCol="0" anchor="ctr"/>
          <a:lstStyle/>
          <a:p>
            <a:pPr algn="ctr" indent="0" marL="0">
              <a:buNone/>
            </a:pPr>
            <a:r>
              <a:rPr lang="en-US" sz="950" dirty="0">
                <a:solidFill>
                  <a:srgbClr val="1D5C59"/>
                </a:solidFill>
                <a:latin typeface="Calibri" pitchFamily="34" charset="0"/>
                <a:ea typeface="Calibri" pitchFamily="34" charset="-122"/>
                <a:cs typeface="Calibri" pitchFamily="34" charset="-120"/>
              </a:rPr>
              <a:t>JSON schema</a:t>
            </a:r>
            <a:endParaRPr lang="en-US" sz="950" dirty="0"/>
          </a:p>
        </p:txBody>
      </p:sp>
      <p:sp>
        <p:nvSpPr>
          <p:cNvPr id="19" name="Shape 16"/>
          <p:cNvSpPr/>
          <p:nvPr/>
        </p:nvSpPr>
        <p:spPr>
          <a:xfrm>
            <a:off x="2423160" y="4041648"/>
            <a:ext cx="1737360" cy="384048"/>
          </a:xfrm>
          <a:prstGeom prst="roundRect">
            <a:avLst>
              <a:gd name="adj" fmla="val 11905"/>
            </a:avLst>
          </a:prstGeom>
          <a:solidFill>
            <a:srgbClr val="EAF3F1"/>
          </a:solidFill>
          <a:ln w="12700">
            <a:solidFill>
              <a:srgbClr val="EAF3F1"/>
            </a:solidFill>
            <a:prstDash val="solid"/>
          </a:ln>
        </p:spPr>
      </p:sp>
      <p:sp>
        <p:nvSpPr>
          <p:cNvPr id="20" name="Text 17"/>
          <p:cNvSpPr/>
          <p:nvPr/>
        </p:nvSpPr>
        <p:spPr>
          <a:xfrm>
            <a:off x="2496312" y="4041648"/>
            <a:ext cx="1591056" cy="384048"/>
          </a:xfrm>
          <a:prstGeom prst="rect">
            <a:avLst/>
          </a:prstGeom>
          <a:noFill/>
          <a:ln/>
        </p:spPr>
        <p:txBody>
          <a:bodyPr wrap="square" lIns="0" tIns="0" rIns="0" bIns="0" rtlCol="0" anchor="ctr"/>
          <a:lstStyle/>
          <a:p>
            <a:pPr algn="ctr" indent="0" marL="0">
              <a:buNone/>
            </a:pPr>
            <a:r>
              <a:rPr lang="en-US" sz="950" dirty="0">
                <a:solidFill>
                  <a:srgbClr val="1D5C59"/>
                </a:solidFill>
                <a:latin typeface="Calibri" pitchFamily="34" charset="0"/>
                <a:ea typeface="Calibri" pitchFamily="34" charset="-122"/>
                <a:cs typeface="Calibri" pitchFamily="34" charset="-120"/>
              </a:rPr>
              <a:t>Policy lint · 12 families</a:t>
            </a:r>
            <a:endParaRPr lang="en-US" sz="950" dirty="0"/>
          </a:p>
        </p:txBody>
      </p:sp>
      <p:sp>
        <p:nvSpPr>
          <p:cNvPr id="21" name="Shape 18"/>
          <p:cNvSpPr/>
          <p:nvPr/>
        </p:nvSpPr>
        <p:spPr>
          <a:xfrm>
            <a:off x="4279392" y="4041648"/>
            <a:ext cx="1737360" cy="384048"/>
          </a:xfrm>
          <a:prstGeom prst="roundRect">
            <a:avLst>
              <a:gd name="adj" fmla="val 11905"/>
            </a:avLst>
          </a:prstGeom>
          <a:solidFill>
            <a:srgbClr val="EAF3F1"/>
          </a:solidFill>
          <a:ln w="12700">
            <a:solidFill>
              <a:srgbClr val="EAF3F1"/>
            </a:solidFill>
            <a:prstDash val="solid"/>
          </a:ln>
        </p:spPr>
      </p:sp>
      <p:sp>
        <p:nvSpPr>
          <p:cNvPr id="22" name="Text 19"/>
          <p:cNvSpPr/>
          <p:nvPr/>
        </p:nvSpPr>
        <p:spPr>
          <a:xfrm>
            <a:off x="4352544" y="4041648"/>
            <a:ext cx="1591056" cy="384048"/>
          </a:xfrm>
          <a:prstGeom prst="rect">
            <a:avLst/>
          </a:prstGeom>
          <a:noFill/>
          <a:ln/>
        </p:spPr>
        <p:txBody>
          <a:bodyPr wrap="square" lIns="0" tIns="0" rIns="0" bIns="0" rtlCol="0" anchor="ctr"/>
          <a:lstStyle/>
          <a:p>
            <a:pPr algn="ctr" indent="0" marL="0">
              <a:buNone/>
            </a:pPr>
            <a:r>
              <a:rPr lang="en-US" sz="950" dirty="0">
                <a:solidFill>
                  <a:srgbClr val="1D5C59"/>
                </a:solidFill>
                <a:latin typeface="Calibri" pitchFamily="34" charset="0"/>
                <a:ea typeface="Calibri" pitchFamily="34" charset="-122"/>
                <a:cs typeface="Calibri" pitchFamily="34" charset="-120"/>
              </a:rPr>
              <a:t>Duplicate detection</a:t>
            </a:r>
            <a:endParaRPr lang="en-US" sz="950" dirty="0"/>
          </a:p>
        </p:txBody>
      </p:sp>
      <p:sp>
        <p:nvSpPr>
          <p:cNvPr id="23" name="Shape 20"/>
          <p:cNvSpPr/>
          <p:nvPr/>
        </p:nvSpPr>
        <p:spPr>
          <a:xfrm>
            <a:off x="6135624" y="4041648"/>
            <a:ext cx="1737360" cy="384048"/>
          </a:xfrm>
          <a:prstGeom prst="roundRect">
            <a:avLst>
              <a:gd name="adj" fmla="val 11905"/>
            </a:avLst>
          </a:prstGeom>
          <a:solidFill>
            <a:srgbClr val="EAF3F1"/>
          </a:solidFill>
          <a:ln w="12700">
            <a:solidFill>
              <a:srgbClr val="EAF3F1"/>
            </a:solidFill>
            <a:prstDash val="solid"/>
          </a:ln>
        </p:spPr>
      </p:sp>
      <p:sp>
        <p:nvSpPr>
          <p:cNvPr id="24" name="Text 21"/>
          <p:cNvSpPr/>
          <p:nvPr/>
        </p:nvSpPr>
        <p:spPr>
          <a:xfrm>
            <a:off x="6208776" y="4041648"/>
            <a:ext cx="1591056" cy="384048"/>
          </a:xfrm>
          <a:prstGeom prst="rect">
            <a:avLst/>
          </a:prstGeom>
          <a:noFill/>
          <a:ln/>
        </p:spPr>
        <p:txBody>
          <a:bodyPr wrap="square" lIns="0" tIns="0" rIns="0" bIns="0" rtlCol="0" anchor="ctr"/>
          <a:lstStyle/>
          <a:p>
            <a:pPr algn="ctr" indent="0" marL="0">
              <a:buNone/>
            </a:pPr>
            <a:r>
              <a:rPr lang="en-US" sz="950" dirty="0">
                <a:solidFill>
                  <a:srgbClr val="1D5C59"/>
                </a:solidFill>
                <a:latin typeface="Calibri" pitchFamily="34" charset="0"/>
                <a:ea typeface="Calibri" pitchFamily="34" charset="-122"/>
                <a:cs typeface="Calibri" pitchFamily="34" charset="-120"/>
              </a:rPr>
              <a:t>Cardinality limits</a:t>
            </a:r>
            <a:endParaRPr lang="en-US" sz="950" dirty="0"/>
          </a:p>
        </p:txBody>
      </p:sp>
      <p:sp>
        <p:nvSpPr>
          <p:cNvPr id="25" name="Shape 22"/>
          <p:cNvSpPr/>
          <p:nvPr/>
        </p:nvSpPr>
        <p:spPr>
          <a:xfrm>
            <a:off x="7991856" y="4041648"/>
            <a:ext cx="1737360" cy="384048"/>
          </a:xfrm>
          <a:prstGeom prst="roundRect">
            <a:avLst>
              <a:gd name="adj" fmla="val 11905"/>
            </a:avLst>
          </a:prstGeom>
          <a:solidFill>
            <a:srgbClr val="EAF3F1"/>
          </a:solidFill>
          <a:ln w="12700">
            <a:solidFill>
              <a:srgbClr val="EAF3F1"/>
            </a:solidFill>
            <a:prstDash val="solid"/>
          </a:ln>
        </p:spPr>
      </p:sp>
      <p:sp>
        <p:nvSpPr>
          <p:cNvPr id="26" name="Text 23"/>
          <p:cNvSpPr/>
          <p:nvPr/>
        </p:nvSpPr>
        <p:spPr>
          <a:xfrm>
            <a:off x="8065008" y="4041648"/>
            <a:ext cx="1591056" cy="384048"/>
          </a:xfrm>
          <a:prstGeom prst="rect">
            <a:avLst/>
          </a:prstGeom>
          <a:noFill/>
          <a:ln/>
        </p:spPr>
        <p:txBody>
          <a:bodyPr wrap="square" lIns="0" tIns="0" rIns="0" bIns="0" rtlCol="0" anchor="ctr"/>
          <a:lstStyle/>
          <a:p>
            <a:pPr algn="ctr" indent="0" marL="0">
              <a:buNone/>
            </a:pPr>
            <a:r>
              <a:rPr lang="en-US" sz="950" dirty="0">
                <a:solidFill>
                  <a:srgbClr val="1D5C59"/>
                </a:solidFill>
                <a:latin typeface="Calibri" pitchFamily="34" charset="0"/>
                <a:ea typeface="Calibri" pitchFamily="34" charset="-122"/>
                <a:cs typeface="Calibri" pitchFamily="34" charset="-120"/>
              </a:rPr>
              <a:t>Scope validation</a:t>
            </a:r>
            <a:endParaRPr lang="en-US" sz="950" dirty="0"/>
          </a:p>
        </p:txBody>
      </p:sp>
      <p:sp>
        <p:nvSpPr>
          <p:cNvPr id="27" name="Shape 24"/>
          <p:cNvSpPr/>
          <p:nvPr/>
        </p:nvSpPr>
        <p:spPr>
          <a:xfrm>
            <a:off x="9848088" y="4041648"/>
            <a:ext cx="1737360" cy="384048"/>
          </a:xfrm>
          <a:prstGeom prst="roundRect">
            <a:avLst>
              <a:gd name="adj" fmla="val 11905"/>
            </a:avLst>
          </a:prstGeom>
          <a:solidFill>
            <a:srgbClr val="EAF3F1"/>
          </a:solidFill>
          <a:ln w="12700">
            <a:solidFill>
              <a:srgbClr val="EAF3F1"/>
            </a:solidFill>
            <a:prstDash val="solid"/>
          </a:ln>
        </p:spPr>
      </p:sp>
      <p:sp>
        <p:nvSpPr>
          <p:cNvPr id="28" name="Text 25"/>
          <p:cNvSpPr/>
          <p:nvPr/>
        </p:nvSpPr>
        <p:spPr>
          <a:xfrm>
            <a:off x="9921240" y="4041648"/>
            <a:ext cx="1591056" cy="384048"/>
          </a:xfrm>
          <a:prstGeom prst="rect">
            <a:avLst/>
          </a:prstGeom>
          <a:noFill/>
          <a:ln/>
        </p:spPr>
        <p:txBody>
          <a:bodyPr wrap="square" lIns="0" tIns="0" rIns="0" bIns="0" rtlCol="0" anchor="ctr"/>
          <a:lstStyle/>
          <a:p>
            <a:pPr algn="ctr" indent="0" marL="0">
              <a:buNone/>
            </a:pPr>
            <a:r>
              <a:rPr lang="en-US" sz="950" dirty="0">
                <a:solidFill>
                  <a:srgbClr val="1D5C59"/>
                </a:solidFill>
                <a:latin typeface="Calibri" pitchFamily="34" charset="0"/>
                <a:ea typeface="Calibri" pitchFamily="34" charset="-122"/>
                <a:cs typeface="Calibri" pitchFamily="34" charset="-120"/>
              </a:rPr>
              <a:t>Routing resolution</a:t>
            </a:r>
            <a:endParaRPr lang="en-US" sz="950" dirty="0"/>
          </a:p>
        </p:txBody>
      </p:sp>
      <p:sp>
        <p:nvSpPr>
          <p:cNvPr id="29" name="Shape 26"/>
          <p:cNvSpPr/>
          <p:nvPr/>
        </p:nvSpPr>
        <p:spPr>
          <a:xfrm>
            <a:off x="566928" y="4498848"/>
            <a:ext cx="1737360" cy="384048"/>
          </a:xfrm>
          <a:prstGeom prst="roundRect">
            <a:avLst>
              <a:gd name="adj" fmla="val 11905"/>
            </a:avLst>
          </a:prstGeom>
          <a:solidFill>
            <a:srgbClr val="EAF3F1"/>
          </a:solidFill>
          <a:ln w="12700">
            <a:solidFill>
              <a:srgbClr val="EAF3F1"/>
            </a:solidFill>
            <a:prstDash val="solid"/>
          </a:ln>
        </p:spPr>
      </p:sp>
      <p:sp>
        <p:nvSpPr>
          <p:cNvPr id="30" name="Text 27"/>
          <p:cNvSpPr/>
          <p:nvPr/>
        </p:nvSpPr>
        <p:spPr>
          <a:xfrm>
            <a:off x="640080" y="4498848"/>
            <a:ext cx="1591056" cy="384048"/>
          </a:xfrm>
          <a:prstGeom prst="rect">
            <a:avLst/>
          </a:prstGeom>
          <a:noFill/>
          <a:ln/>
        </p:spPr>
        <p:txBody>
          <a:bodyPr wrap="square" lIns="0" tIns="0" rIns="0" bIns="0" rtlCol="0" anchor="ctr"/>
          <a:lstStyle/>
          <a:p>
            <a:pPr algn="ctr" indent="0" marL="0">
              <a:buNone/>
            </a:pPr>
            <a:r>
              <a:rPr lang="en-US" sz="950" dirty="0">
                <a:solidFill>
                  <a:srgbClr val="1D5C59"/>
                </a:solidFill>
                <a:latin typeface="Calibri" pitchFamily="34" charset="0"/>
                <a:ea typeface="Calibri" pitchFamily="34" charset="-122"/>
                <a:cs typeface="Calibri" pitchFamily="34" charset="-120"/>
              </a:rPr>
              <a:t>SLO association</a:t>
            </a:r>
            <a:endParaRPr lang="en-US" sz="950" dirty="0"/>
          </a:p>
        </p:txBody>
      </p:sp>
      <p:sp>
        <p:nvSpPr>
          <p:cNvPr id="31" name="Shape 28"/>
          <p:cNvSpPr/>
          <p:nvPr/>
        </p:nvSpPr>
        <p:spPr>
          <a:xfrm>
            <a:off x="2423160" y="4498848"/>
            <a:ext cx="1737360" cy="384048"/>
          </a:xfrm>
          <a:prstGeom prst="roundRect">
            <a:avLst>
              <a:gd name="adj" fmla="val 11905"/>
            </a:avLst>
          </a:prstGeom>
          <a:solidFill>
            <a:srgbClr val="EAF3F1"/>
          </a:solidFill>
          <a:ln w="12700">
            <a:solidFill>
              <a:srgbClr val="EAF3F1"/>
            </a:solidFill>
            <a:prstDash val="solid"/>
          </a:ln>
        </p:spPr>
      </p:sp>
      <p:sp>
        <p:nvSpPr>
          <p:cNvPr id="32" name="Text 29"/>
          <p:cNvSpPr/>
          <p:nvPr/>
        </p:nvSpPr>
        <p:spPr>
          <a:xfrm>
            <a:off x="2496312" y="4498848"/>
            <a:ext cx="1591056" cy="384048"/>
          </a:xfrm>
          <a:prstGeom prst="rect">
            <a:avLst/>
          </a:prstGeom>
          <a:noFill/>
          <a:ln/>
        </p:spPr>
        <p:txBody>
          <a:bodyPr wrap="square" lIns="0" tIns="0" rIns="0" bIns="0" rtlCol="0" anchor="ctr"/>
          <a:lstStyle/>
          <a:p>
            <a:pPr algn="ctr" indent="0" marL="0">
              <a:buNone/>
            </a:pPr>
            <a:r>
              <a:rPr lang="en-US" sz="950" dirty="0">
                <a:solidFill>
                  <a:srgbClr val="1D5C59"/>
                </a:solidFill>
                <a:latin typeface="Calibri" pitchFamily="34" charset="0"/>
                <a:ea typeface="Calibri" pitchFamily="34" charset="-122"/>
                <a:cs typeface="Calibri" pitchFamily="34" charset="-120"/>
              </a:rPr>
              <a:t>Runbook presence</a:t>
            </a:r>
            <a:endParaRPr lang="en-US" sz="950" dirty="0"/>
          </a:p>
        </p:txBody>
      </p:sp>
      <p:sp>
        <p:nvSpPr>
          <p:cNvPr id="33" name="Shape 30"/>
          <p:cNvSpPr/>
          <p:nvPr/>
        </p:nvSpPr>
        <p:spPr>
          <a:xfrm>
            <a:off x="4279392" y="4498848"/>
            <a:ext cx="1737360" cy="384048"/>
          </a:xfrm>
          <a:prstGeom prst="roundRect">
            <a:avLst>
              <a:gd name="adj" fmla="val 11905"/>
            </a:avLst>
          </a:prstGeom>
          <a:solidFill>
            <a:srgbClr val="EAF3F1"/>
          </a:solidFill>
          <a:ln w="12700">
            <a:solidFill>
              <a:srgbClr val="EAF3F1"/>
            </a:solidFill>
            <a:prstDash val="solid"/>
          </a:ln>
        </p:spPr>
      </p:sp>
      <p:sp>
        <p:nvSpPr>
          <p:cNvPr id="34" name="Text 31"/>
          <p:cNvSpPr/>
          <p:nvPr/>
        </p:nvSpPr>
        <p:spPr>
          <a:xfrm>
            <a:off x="4352544" y="4498848"/>
            <a:ext cx="1591056" cy="384048"/>
          </a:xfrm>
          <a:prstGeom prst="rect">
            <a:avLst/>
          </a:prstGeom>
          <a:noFill/>
          <a:ln/>
        </p:spPr>
        <p:txBody>
          <a:bodyPr wrap="square" lIns="0" tIns="0" rIns="0" bIns="0" rtlCol="0" anchor="ctr"/>
          <a:lstStyle/>
          <a:p>
            <a:pPr algn="ctr" indent="0" marL="0">
              <a:buNone/>
            </a:pPr>
            <a:r>
              <a:rPr lang="en-US" sz="950" dirty="0">
                <a:solidFill>
                  <a:srgbClr val="1D5C59"/>
                </a:solidFill>
                <a:latin typeface="Calibri" pitchFamily="34" charset="0"/>
                <a:ea typeface="Calibri" pitchFamily="34" charset="-122"/>
                <a:cs typeface="Calibri" pitchFamily="34" charset="-120"/>
              </a:rPr>
              <a:t>Quality score</a:t>
            </a:r>
            <a:endParaRPr lang="en-US" sz="950" dirty="0"/>
          </a:p>
        </p:txBody>
      </p:sp>
      <p:sp>
        <p:nvSpPr>
          <p:cNvPr id="35" name="Shape 32"/>
          <p:cNvSpPr/>
          <p:nvPr/>
        </p:nvSpPr>
        <p:spPr>
          <a:xfrm>
            <a:off x="6135624" y="4498848"/>
            <a:ext cx="1737360" cy="384048"/>
          </a:xfrm>
          <a:prstGeom prst="roundRect">
            <a:avLst>
              <a:gd name="adj" fmla="val 11905"/>
            </a:avLst>
          </a:prstGeom>
          <a:solidFill>
            <a:srgbClr val="EAF3F1"/>
          </a:solidFill>
          <a:ln w="12700">
            <a:solidFill>
              <a:srgbClr val="EAF3F1"/>
            </a:solidFill>
            <a:prstDash val="solid"/>
          </a:ln>
        </p:spPr>
      </p:sp>
      <p:sp>
        <p:nvSpPr>
          <p:cNvPr id="36" name="Text 33"/>
          <p:cNvSpPr/>
          <p:nvPr/>
        </p:nvSpPr>
        <p:spPr>
          <a:xfrm>
            <a:off x="6208776" y="4498848"/>
            <a:ext cx="1591056" cy="384048"/>
          </a:xfrm>
          <a:prstGeom prst="rect">
            <a:avLst/>
          </a:prstGeom>
          <a:noFill/>
          <a:ln/>
        </p:spPr>
        <p:txBody>
          <a:bodyPr wrap="square" lIns="0" tIns="0" rIns="0" bIns="0" rtlCol="0" anchor="ctr"/>
          <a:lstStyle/>
          <a:p>
            <a:pPr algn="ctr" indent="0" marL="0">
              <a:buNone/>
            </a:pPr>
            <a:r>
              <a:rPr lang="en-US" sz="950" dirty="0">
                <a:solidFill>
                  <a:srgbClr val="1D5C59"/>
                </a:solidFill>
                <a:latin typeface="Calibri" pitchFamily="34" charset="0"/>
                <a:ea typeface="Calibri" pitchFamily="34" charset="-122"/>
                <a:cs typeface="Calibri" pitchFamily="34" charset="-120"/>
              </a:rPr>
              <a:t>Plan preconditions</a:t>
            </a:r>
            <a:endParaRPr lang="en-US" sz="950" dirty="0"/>
          </a:p>
        </p:txBody>
      </p:sp>
      <p:sp>
        <p:nvSpPr>
          <p:cNvPr id="37" name="Shape 34"/>
          <p:cNvSpPr/>
          <p:nvPr/>
        </p:nvSpPr>
        <p:spPr>
          <a:xfrm>
            <a:off x="7991856" y="4498848"/>
            <a:ext cx="1737360" cy="384048"/>
          </a:xfrm>
          <a:prstGeom prst="roundRect">
            <a:avLst>
              <a:gd name="adj" fmla="val 11905"/>
            </a:avLst>
          </a:prstGeom>
          <a:solidFill>
            <a:srgbClr val="EAF3F1"/>
          </a:solidFill>
          <a:ln w="12700">
            <a:solidFill>
              <a:srgbClr val="EAF3F1"/>
            </a:solidFill>
            <a:prstDash val="solid"/>
          </a:ln>
        </p:spPr>
      </p:sp>
      <p:sp>
        <p:nvSpPr>
          <p:cNvPr id="38" name="Text 35"/>
          <p:cNvSpPr/>
          <p:nvPr/>
        </p:nvSpPr>
        <p:spPr>
          <a:xfrm>
            <a:off x="8065008" y="4498848"/>
            <a:ext cx="1591056" cy="384048"/>
          </a:xfrm>
          <a:prstGeom prst="rect">
            <a:avLst/>
          </a:prstGeom>
          <a:noFill/>
          <a:ln/>
        </p:spPr>
        <p:txBody>
          <a:bodyPr wrap="square" lIns="0" tIns="0" rIns="0" bIns="0" rtlCol="0" anchor="ctr"/>
          <a:lstStyle/>
          <a:p>
            <a:pPr algn="ctr" indent="0" marL="0">
              <a:buNone/>
            </a:pPr>
            <a:r>
              <a:rPr lang="en-US" sz="950" dirty="0">
                <a:solidFill>
                  <a:srgbClr val="1D5C59"/>
                </a:solidFill>
                <a:latin typeface="Calibri" pitchFamily="34" charset="0"/>
                <a:ea typeface="Calibri" pitchFamily="34" charset="-122"/>
                <a:cs typeface="Calibri" pitchFamily="34" charset="-120"/>
              </a:rPr>
              <a:t>Budget checks</a:t>
            </a:r>
            <a:endParaRPr lang="en-US" sz="950" dirty="0"/>
          </a:p>
        </p:txBody>
      </p:sp>
      <p:sp>
        <p:nvSpPr>
          <p:cNvPr id="39" name="Shape 36"/>
          <p:cNvSpPr/>
          <p:nvPr/>
        </p:nvSpPr>
        <p:spPr>
          <a:xfrm>
            <a:off x="9848088" y="4498848"/>
            <a:ext cx="1737360" cy="384048"/>
          </a:xfrm>
          <a:prstGeom prst="roundRect">
            <a:avLst>
              <a:gd name="adj" fmla="val 11905"/>
            </a:avLst>
          </a:prstGeom>
          <a:solidFill>
            <a:srgbClr val="EAF3F1"/>
          </a:solidFill>
          <a:ln w="12700">
            <a:solidFill>
              <a:srgbClr val="EAF3F1"/>
            </a:solidFill>
            <a:prstDash val="solid"/>
          </a:ln>
        </p:spPr>
      </p:sp>
      <p:sp>
        <p:nvSpPr>
          <p:cNvPr id="40" name="Text 37"/>
          <p:cNvSpPr/>
          <p:nvPr/>
        </p:nvSpPr>
        <p:spPr>
          <a:xfrm>
            <a:off x="9921240" y="4498848"/>
            <a:ext cx="1591056" cy="384048"/>
          </a:xfrm>
          <a:prstGeom prst="rect">
            <a:avLst/>
          </a:prstGeom>
          <a:noFill/>
          <a:ln/>
        </p:spPr>
        <p:txBody>
          <a:bodyPr wrap="square" lIns="0" tIns="0" rIns="0" bIns="0" rtlCol="0" anchor="ctr"/>
          <a:lstStyle/>
          <a:p>
            <a:pPr algn="ctr" indent="0" marL="0">
              <a:buNone/>
            </a:pPr>
            <a:r>
              <a:rPr lang="en-US" sz="950" dirty="0">
                <a:solidFill>
                  <a:srgbClr val="1D5C59"/>
                </a:solidFill>
                <a:latin typeface="Calibri" pitchFamily="34" charset="0"/>
                <a:ea typeface="Calibri" pitchFamily="34" charset="-122"/>
                <a:cs typeface="Calibri" pitchFamily="34" charset="-120"/>
              </a:rPr>
              <a:t>Datadog's validation API</a:t>
            </a:r>
            <a:endParaRPr lang="en-US" sz="950" dirty="0"/>
          </a:p>
        </p:txBody>
      </p:sp>
      <p:sp>
        <p:nvSpPr>
          <p:cNvPr id="41" name="Shape 38"/>
          <p:cNvSpPr/>
          <p:nvPr/>
        </p:nvSpPr>
        <p:spPr>
          <a:xfrm>
            <a:off x="475488" y="5074920"/>
            <a:ext cx="11240719" cy="384048"/>
          </a:xfrm>
          <a:prstGeom prst="rect">
            <a:avLst/>
          </a:prstGeom>
          <a:solidFill>
            <a:srgbClr val="F5F7FA"/>
          </a:solidFill>
          <a:ln w="12700">
            <a:solidFill>
              <a:srgbClr val="F5F7FA"/>
            </a:solidFill>
            <a:prstDash val="solid"/>
          </a:ln>
        </p:spPr>
      </p:sp>
      <p:sp>
        <p:nvSpPr>
          <p:cNvPr id="42" name="Text 39"/>
          <p:cNvSpPr/>
          <p:nvPr/>
        </p:nvSpPr>
        <p:spPr>
          <a:xfrm>
            <a:off x="566928" y="5074920"/>
            <a:ext cx="3291840" cy="384048"/>
          </a:xfrm>
          <a:prstGeom prst="rect">
            <a:avLst/>
          </a:prstGeom>
          <a:noFill/>
          <a:ln/>
        </p:spPr>
        <p:txBody>
          <a:bodyPr wrap="square" lIns="0" tIns="0" rIns="0" bIns="0" rtlCol="0" anchor="ctr"/>
          <a:lstStyle/>
          <a:p>
            <a:pPr indent="0" marL="0">
              <a:buNone/>
            </a:pPr>
            <a:r>
              <a:rPr lang="en-US" sz="1150" b="1" dirty="0">
                <a:solidFill>
                  <a:srgbClr val="161C28"/>
                </a:solidFill>
                <a:latin typeface="Calibri" pitchFamily="34" charset="0"/>
                <a:ea typeface="Calibri" pitchFamily="34" charset="-122"/>
                <a:cs typeface="Calibri" pitchFamily="34" charset="-120"/>
              </a:rPr>
              <a:t>Thresholds are per archetype</a:t>
            </a:r>
            <a:endParaRPr lang="en-US" sz="1150" dirty="0"/>
          </a:p>
        </p:txBody>
      </p:sp>
      <p:sp>
        <p:nvSpPr>
          <p:cNvPr id="43" name="Text 40"/>
          <p:cNvSpPr/>
          <p:nvPr/>
        </p:nvSpPr>
        <p:spPr>
          <a:xfrm>
            <a:off x="4041648" y="5074920"/>
            <a:ext cx="7583119" cy="384048"/>
          </a:xfrm>
          <a:prstGeom prst="rect">
            <a:avLst/>
          </a:prstGeom>
          <a:noFill/>
          <a:ln/>
        </p:spPr>
        <p:txBody>
          <a:bodyPr wrap="square" lIns="0" tIns="0" rIns="0" bIns="0" rtlCol="0" anchor="ctr"/>
          <a:lstStyle/>
          <a:p>
            <a:pPr indent="0" marL="0">
              <a:buNone/>
            </a:pPr>
            <a:r>
              <a:rPr lang="en-US" sz="1150" dirty="0">
                <a:solidFill>
                  <a:srgbClr val="3A4557"/>
                </a:solidFill>
                <a:latin typeface="Calibri" pitchFamily="34" charset="0"/>
                <a:ea typeface="Calibri" pitchFamily="34" charset="-122"/>
                <a:cs typeface="Calibri" pitchFamily="34" charset="-120"/>
              </a:rPr>
              <a:t>never per host. If a host is genuinely special it needs its own service identity — see ADR-014</a:t>
            </a:r>
            <a:endParaRPr lang="en-US" sz="1150" dirty="0"/>
          </a:p>
        </p:txBody>
      </p:sp>
      <p:sp>
        <p:nvSpPr>
          <p:cNvPr id="44" name="Text 41"/>
          <p:cNvSpPr/>
          <p:nvPr/>
        </p:nvSpPr>
        <p:spPr>
          <a:xfrm>
            <a:off x="566928" y="5458968"/>
            <a:ext cx="3291840" cy="384048"/>
          </a:xfrm>
          <a:prstGeom prst="rect">
            <a:avLst/>
          </a:prstGeom>
          <a:noFill/>
          <a:ln/>
        </p:spPr>
        <p:txBody>
          <a:bodyPr wrap="square" lIns="0" tIns="0" rIns="0" bIns="0" rtlCol="0" anchor="ctr"/>
          <a:lstStyle/>
          <a:p>
            <a:pPr indent="0" marL="0">
              <a:buNone/>
            </a:pPr>
            <a:r>
              <a:rPr lang="en-US" sz="1150" b="1" dirty="0">
                <a:solidFill>
                  <a:srgbClr val="161C28"/>
                </a:solidFill>
                <a:latin typeface="Calibri" pitchFamily="34" charset="0"/>
                <a:ea typeface="Calibri" pitchFamily="34" charset="-122"/>
                <a:cs typeface="Calibri" pitchFamily="34" charset="-120"/>
              </a:rPr>
              <a:t>You cannot self-raise priority</a:t>
            </a:r>
            <a:endParaRPr lang="en-US" sz="1150" dirty="0"/>
          </a:p>
        </p:txBody>
      </p:sp>
      <p:sp>
        <p:nvSpPr>
          <p:cNvPr id="45" name="Text 42"/>
          <p:cNvSpPr/>
          <p:nvPr/>
        </p:nvSpPr>
        <p:spPr>
          <a:xfrm>
            <a:off x="4041648" y="5458968"/>
            <a:ext cx="7583119" cy="384048"/>
          </a:xfrm>
          <a:prstGeom prst="rect">
            <a:avLst/>
          </a:prstGeom>
          <a:noFill/>
          <a:ln/>
        </p:spPr>
        <p:txBody>
          <a:bodyPr wrap="square" lIns="0" tIns="0" rIns="0" bIns="0" rtlCol="0" anchor="ctr"/>
          <a:lstStyle/>
          <a:p>
            <a:pPr indent="0" marL="0">
              <a:buNone/>
            </a:pPr>
            <a:r>
              <a:rPr lang="en-US" sz="1150" dirty="0">
                <a:solidFill>
                  <a:srgbClr val="3A4557"/>
                </a:solidFill>
                <a:latin typeface="Calibri" pitchFamily="34" charset="0"/>
                <a:ea typeface="Calibri" pitchFamily="34" charset="-122"/>
                <a:cs typeface="Calibri" pitchFamily="34" charset="-120"/>
              </a:rPr>
              <a:t>priority derives from tier; the validator rejects a P1 on a tier2 service and says so</a:t>
            </a:r>
            <a:endParaRPr lang="en-US" sz="1150" dirty="0"/>
          </a:p>
        </p:txBody>
      </p:sp>
      <p:sp>
        <p:nvSpPr>
          <p:cNvPr id="46" name="Shape 43"/>
          <p:cNvSpPr/>
          <p:nvPr/>
        </p:nvSpPr>
        <p:spPr>
          <a:xfrm>
            <a:off x="475488" y="5843016"/>
            <a:ext cx="11240719" cy="384048"/>
          </a:xfrm>
          <a:prstGeom prst="rect">
            <a:avLst/>
          </a:prstGeom>
          <a:solidFill>
            <a:srgbClr val="F5F7FA"/>
          </a:solidFill>
          <a:ln w="12700">
            <a:solidFill>
              <a:srgbClr val="F5F7FA"/>
            </a:solidFill>
            <a:prstDash val="solid"/>
          </a:ln>
        </p:spPr>
      </p:sp>
      <p:sp>
        <p:nvSpPr>
          <p:cNvPr id="47" name="Text 44"/>
          <p:cNvSpPr/>
          <p:nvPr/>
        </p:nvSpPr>
        <p:spPr>
          <a:xfrm>
            <a:off x="566928" y="5843016"/>
            <a:ext cx="3291840" cy="384048"/>
          </a:xfrm>
          <a:prstGeom prst="rect">
            <a:avLst/>
          </a:prstGeom>
          <a:noFill/>
          <a:ln/>
        </p:spPr>
        <p:txBody>
          <a:bodyPr wrap="square" lIns="0" tIns="0" rIns="0" bIns="0" rtlCol="0" anchor="ctr"/>
          <a:lstStyle/>
          <a:p>
            <a:pPr indent="0" marL="0">
              <a:buNone/>
            </a:pPr>
            <a:r>
              <a:rPr lang="en-US" sz="1150" b="1" dirty="0">
                <a:solidFill>
                  <a:srgbClr val="161C28"/>
                </a:solidFill>
                <a:latin typeface="Calibri" pitchFamily="34" charset="0"/>
                <a:ea typeface="Calibri" pitchFamily="34" charset="-122"/>
                <a:cs typeface="Calibri" pitchFamily="34" charset="-120"/>
              </a:rPr>
              <a:t>Noise is a defect with an owner</a:t>
            </a:r>
            <a:endParaRPr lang="en-US" sz="1150" dirty="0"/>
          </a:p>
        </p:txBody>
      </p:sp>
      <p:sp>
        <p:nvSpPr>
          <p:cNvPr id="48" name="Text 45"/>
          <p:cNvSpPr/>
          <p:nvPr/>
        </p:nvSpPr>
        <p:spPr>
          <a:xfrm>
            <a:off x="4041648" y="5843016"/>
            <a:ext cx="7583119" cy="384048"/>
          </a:xfrm>
          <a:prstGeom prst="rect">
            <a:avLst/>
          </a:prstGeom>
          <a:noFill/>
          <a:ln/>
        </p:spPr>
        <p:txBody>
          <a:bodyPr wrap="square" lIns="0" tIns="0" rIns="0" bIns="0" rtlCol="0" anchor="ctr"/>
          <a:lstStyle/>
          <a:p>
            <a:pPr indent="0" marL="0">
              <a:buNone/>
            </a:pPr>
            <a:r>
              <a:rPr lang="en-US" sz="1150" dirty="0">
                <a:solidFill>
                  <a:srgbClr val="3A4557"/>
                </a:solidFill>
                <a:latin typeface="Calibri" pitchFamily="34" charset="0"/>
                <a:ea typeface="Calibri" pitchFamily="34" charset="-122"/>
                <a:cs typeface="Calibri" pitchFamily="34" charset="-120"/>
              </a:rPr>
              <a:t>fix the archetype so everyone benefits, or file an exception with a reason, approver and expiry. Never mute</a:t>
            </a:r>
            <a:endParaRPr lang="en-US" sz="11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8778240" cy="256032"/>
          </a:xfrm>
          <a:prstGeom prst="rect">
            <a:avLst/>
          </a:prstGeom>
          <a:noFill/>
          <a:ln/>
        </p:spPr>
        <p:txBody>
          <a:bodyPr wrap="square" lIns="0" tIns="0" rIns="0" bIns="0" rtlCol="0" anchor="ctr"/>
          <a:lstStyle/>
          <a:p>
            <a:pPr indent="0" marL="0">
              <a:buNone/>
            </a:pPr>
            <a:r>
              <a:rPr lang="en-US" sz="1050" b="1" spc="160" kern="0" dirty="0">
                <a:solidFill>
                  <a:srgbClr val="B87914"/>
                </a:solidFill>
                <a:latin typeface="Calibri" pitchFamily="34" charset="0"/>
                <a:ea typeface="Calibri" pitchFamily="34" charset="-122"/>
                <a:cs typeface="Calibri" pitchFamily="34" charset="-120"/>
              </a:rPr>
              <a:t>TOPIC 30</a:t>
            </a:r>
            <a:endParaRPr lang="en-US" sz="1050" dirty="0"/>
          </a:p>
        </p:txBody>
      </p:sp>
      <p:sp>
        <p:nvSpPr>
          <p:cNvPr id="3" name="Text 1"/>
          <p:cNvSpPr/>
          <p:nvPr/>
        </p:nvSpPr>
        <p:spPr>
          <a:xfrm>
            <a:off x="566928" y="694944"/>
            <a:ext cx="10424160" cy="786384"/>
          </a:xfrm>
          <a:prstGeom prst="rect">
            <a:avLst/>
          </a:prstGeom>
          <a:noFill/>
          <a:ln/>
        </p:spPr>
        <p:txBody>
          <a:bodyPr wrap="square" lIns="0" tIns="0" rIns="0" bIns="0" rtlCol="0" anchor="ctr"/>
          <a:lstStyle/>
          <a:p>
            <a:pPr indent="0" marL="0">
              <a:buNone/>
            </a:pPr>
            <a:r>
              <a:rPr lang="en-US" sz="3100" b="1" dirty="0">
                <a:solidFill>
                  <a:srgbClr val="161C28"/>
                </a:solidFill>
                <a:latin typeface="Cambria" pitchFamily="34" charset="0"/>
                <a:ea typeface="Cambria" pitchFamily="34" charset="-122"/>
                <a:cs typeface="Cambria" pitchFamily="34" charset="-120"/>
              </a:rPr>
              <a:t>Expected outcomes</a:t>
            </a:r>
            <a:endParaRPr lang="en-US" sz="3100" dirty="0"/>
          </a:p>
        </p:txBody>
      </p:sp>
      <p:sp>
        <p:nvSpPr>
          <p:cNvPr id="4" name="Text 2"/>
          <p:cNvSpPr/>
          <p:nvPr/>
        </p:nvSpPr>
        <p:spPr>
          <a:xfrm>
            <a:off x="566928" y="1481328"/>
            <a:ext cx="10698480" cy="457200"/>
          </a:xfrm>
          <a:prstGeom prst="rect">
            <a:avLst/>
          </a:prstGeom>
          <a:noFill/>
          <a:ln/>
        </p:spPr>
        <p:txBody>
          <a:bodyPr wrap="square" lIns="0" tIns="0" rIns="0" bIns="0" rtlCol="0" anchor="t"/>
          <a:lstStyle/>
          <a:p>
            <a:pPr indent="0" marL="0">
              <a:buNone/>
            </a:pPr>
            <a:r>
              <a:rPr lang="en-US" sz="1450" dirty="0">
                <a:solidFill>
                  <a:srgbClr val="3A4557"/>
                </a:solidFill>
                <a:latin typeface="Calibri" pitchFamily="34" charset="0"/>
                <a:ea typeface="Calibri" pitchFamily="34" charset="-122"/>
                <a:cs typeface="Calibri" pitchFamily="34" charset="-120"/>
              </a:rPr>
              <a:t>The structural outcomes are real and verifiable today. The behavioural outcomes — noise, MTTA, MTTR — cannot be claimed until the telemetry carries the tags.</a:t>
            </a:r>
            <a:endParaRPr lang="en-US" sz="1450" dirty="0"/>
          </a:p>
        </p:txBody>
      </p:sp>
      <p:sp>
        <p:nvSpPr>
          <p:cNvPr id="5" name="Shape 3"/>
          <p:cNvSpPr/>
          <p:nvPr/>
        </p:nvSpPr>
        <p:spPr>
          <a:xfrm>
            <a:off x="7592263" y="420624"/>
            <a:ext cx="4032504" cy="310896"/>
          </a:xfrm>
          <a:prstGeom prst="roundRect">
            <a:avLst>
              <a:gd name="adj" fmla="val 50000"/>
            </a:avLst>
          </a:prstGeom>
          <a:solidFill>
            <a:srgbClr val="E09A2E"/>
          </a:solidFill>
          <a:ln w="12700">
            <a:solidFill>
              <a:srgbClr val="E09A2E"/>
            </a:solidFill>
            <a:prstDash val="solid"/>
          </a:ln>
        </p:spPr>
      </p:sp>
      <p:sp>
        <p:nvSpPr>
          <p:cNvPr id="6" name="Text 4"/>
          <p:cNvSpPr/>
          <p:nvPr/>
        </p:nvSpPr>
        <p:spPr>
          <a:xfrm>
            <a:off x="7592263" y="420624"/>
            <a:ext cx="4032504" cy="310896"/>
          </a:xfrm>
          <a:prstGeom prst="rect">
            <a:avLst/>
          </a:prstGeom>
          <a:noFill/>
          <a:ln/>
        </p:spPr>
        <p:txBody>
          <a:bodyPr wrap="square" lIns="0" tIns="0" rIns="0" bIns="0" rtlCol="0" anchor="ctr"/>
          <a:lstStyle/>
          <a:p>
            <a:pPr algn="ctr" indent="0" marL="0">
              <a:buNone/>
            </a:pPr>
            <a:r>
              <a:rPr lang="en-US" sz="950" b="1" spc="100" kern="0" dirty="0">
                <a:solidFill>
                  <a:srgbClr val="2A1D06"/>
                </a:solidFill>
                <a:latin typeface="Calibri" pitchFamily="34" charset="0"/>
                <a:ea typeface="Calibri" pitchFamily="34" charset="-122"/>
                <a:cs typeface="Calibri" pitchFamily="34" charset="-120"/>
              </a:rPr>
              <a:t>PARTIAL — STRUCTURAL, NOT YET MEASURED</a:t>
            </a:r>
            <a:endParaRPr lang="en-US" sz="950" dirty="0"/>
          </a:p>
        </p:txBody>
      </p:sp>
      <p:sp>
        <p:nvSpPr>
          <p:cNvPr id="7" name="Text 5"/>
          <p:cNvSpPr/>
          <p:nvPr/>
        </p:nvSpPr>
        <p:spPr>
          <a:xfrm>
            <a:off x="566928" y="6345936"/>
            <a:ext cx="7315200" cy="274320"/>
          </a:xfrm>
          <a:prstGeom prst="rect">
            <a:avLst/>
          </a:prstGeom>
          <a:noFill/>
          <a:ln/>
        </p:spPr>
        <p:txBody>
          <a:bodyPr wrap="square" lIns="0" tIns="0" rIns="0" bIns="0" rtlCol="0" anchor="ctr"/>
          <a:lstStyle/>
          <a:p>
            <a:pPr indent="0" marL="0">
              <a:buNone/>
            </a:pPr>
            <a:r>
              <a:rPr lang="en-US" sz="900" dirty="0">
                <a:solidFill>
                  <a:srgbClr val="6B7891"/>
                </a:solidFill>
                <a:latin typeface="Calibri" pitchFamily="34" charset="0"/>
                <a:ea typeface="Calibri" pitchFamily="34" charset="-122"/>
                <a:cs typeface="Calibri" pitchFamily="34" charset="-120"/>
              </a:rPr>
              <a:t>Enterprise Observability  ·  policy-as-data on Datadog</a:t>
            </a:r>
            <a:endParaRPr lang="en-US" sz="900" dirty="0"/>
          </a:p>
        </p:txBody>
      </p:sp>
      <p:sp>
        <p:nvSpPr>
          <p:cNvPr id="8" name="Text 6"/>
          <p:cNvSpPr/>
          <p:nvPr/>
        </p:nvSpPr>
        <p:spPr>
          <a:xfrm>
            <a:off x="10710367" y="6345936"/>
            <a:ext cx="914400" cy="274320"/>
          </a:xfrm>
          <a:prstGeom prst="rect">
            <a:avLst/>
          </a:prstGeom>
          <a:noFill/>
          <a:ln/>
        </p:spPr>
        <p:txBody>
          <a:bodyPr wrap="square" lIns="0" tIns="0" rIns="0" bIns="0" rtlCol="0" anchor="ctr"/>
          <a:lstStyle/>
          <a:p>
            <a:pPr algn="r" indent="0" marL="0">
              <a:buNone/>
            </a:pPr>
            <a:r>
              <a:rPr lang="en-US" sz="900" dirty="0">
                <a:solidFill>
                  <a:srgbClr val="6B7891"/>
                </a:solidFill>
                <a:latin typeface="Calibri" pitchFamily="34" charset="0"/>
                <a:ea typeface="Calibri" pitchFamily="34" charset="-122"/>
                <a:cs typeface="Calibri" pitchFamily="34" charset="-120"/>
              </a:rPr>
              <a:t>39</a:t>
            </a:r>
            <a:endParaRPr lang="en-US" sz="900" dirty="0"/>
          </a:p>
        </p:txBody>
      </p:sp>
      <p:sp>
        <p:nvSpPr>
          <p:cNvPr id="10" name="Text 7"/>
          <p:cNvSpPr/>
          <p:nvPr/>
        </p:nvSpPr>
        <p:spPr>
          <a:xfrm>
            <a:off x="566928" y="2148840"/>
            <a:ext cx="10607040" cy="292608"/>
          </a:xfrm>
          <a:prstGeom prst="rect">
            <a:avLst/>
          </a:prstGeom>
          <a:noFill/>
          <a:ln/>
        </p:spPr>
        <p:txBody>
          <a:bodyPr wrap="square" lIns="0" tIns="0" rIns="0" bIns="0" rtlCol="0" anchor="ctr"/>
          <a:lstStyle/>
          <a:p>
            <a:pPr indent="0" marL="0">
              <a:buNone/>
            </a:pPr>
            <a:r>
              <a:rPr lang="en-US" sz="1400" b="1" dirty="0">
                <a:solidFill>
                  <a:srgbClr val="1D5C59"/>
                </a:solidFill>
                <a:latin typeface="Calibri" pitchFamily="34" charset="0"/>
                <a:ea typeface="Calibri" pitchFamily="34" charset="-122"/>
                <a:cs typeface="Calibri" pitchFamily="34" charset="-120"/>
              </a:rPr>
              <a:t>Structural — true today, and independently verifiable</a:t>
            </a:r>
            <a:endParaRPr lang="en-US" sz="1400" dirty="0"/>
          </a:p>
        </p:txBody>
      </p:sp>
      <p:sp>
        <p:nvSpPr>
          <p:cNvPr id="11" name="Shape 8"/>
          <p:cNvSpPr/>
          <p:nvPr/>
        </p:nvSpPr>
        <p:spPr>
          <a:xfrm>
            <a:off x="566928" y="2542032"/>
            <a:ext cx="3538728" cy="914400"/>
          </a:xfrm>
          <a:prstGeom prst="roundRect">
            <a:avLst>
              <a:gd name="adj" fmla="val 6000"/>
            </a:avLst>
          </a:prstGeom>
          <a:solidFill>
            <a:srgbClr val="EAF3F1"/>
          </a:solidFill>
          <a:ln w="12700">
            <a:solidFill>
              <a:srgbClr val="EAF3F1"/>
            </a:solidFill>
            <a:prstDash val="solid"/>
          </a:ln>
        </p:spPr>
      </p:sp>
      <p:sp>
        <p:nvSpPr>
          <p:cNvPr id="12" name="Text 9"/>
          <p:cNvSpPr/>
          <p:nvPr/>
        </p:nvSpPr>
        <p:spPr>
          <a:xfrm>
            <a:off x="786384" y="2615184"/>
            <a:ext cx="1371600" cy="548640"/>
          </a:xfrm>
          <a:prstGeom prst="rect">
            <a:avLst/>
          </a:prstGeom>
          <a:noFill/>
          <a:ln/>
        </p:spPr>
        <p:txBody>
          <a:bodyPr wrap="square" lIns="0" tIns="0" rIns="0" bIns="0" rtlCol="0" anchor="ctr"/>
          <a:lstStyle/>
          <a:p>
            <a:pPr indent="0" marL="0">
              <a:buNone/>
            </a:pPr>
            <a:r>
              <a:rPr lang="en-US" sz="3000" b="1" dirty="0">
                <a:solidFill>
                  <a:srgbClr val="1D5C59"/>
                </a:solidFill>
                <a:latin typeface="Cambria" pitchFamily="34" charset="0"/>
                <a:ea typeface="Cambria" pitchFamily="34" charset="-122"/>
                <a:cs typeface="Cambria" pitchFamily="34" charset="-120"/>
              </a:rPr>
              <a:t>651</a:t>
            </a:r>
            <a:endParaRPr lang="en-US" sz="3000" dirty="0"/>
          </a:p>
        </p:txBody>
      </p:sp>
      <p:sp>
        <p:nvSpPr>
          <p:cNvPr id="13" name="Text 10"/>
          <p:cNvSpPr/>
          <p:nvPr/>
        </p:nvSpPr>
        <p:spPr>
          <a:xfrm>
            <a:off x="2212848" y="2615184"/>
            <a:ext cx="1737360" cy="768096"/>
          </a:xfrm>
          <a:prstGeom prst="rect">
            <a:avLst/>
          </a:prstGeom>
          <a:noFill/>
          <a:ln/>
        </p:spPr>
        <p:txBody>
          <a:bodyPr wrap="square" lIns="0" tIns="0" rIns="0" bIns="0" rtlCol="0" anchor="ctr"/>
          <a:lstStyle/>
          <a:p>
            <a:pPr indent="0" marL="0">
              <a:buNone/>
            </a:pPr>
            <a:r>
              <a:rPr lang="en-US" sz="1050" dirty="0">
                <a:solidFill>
                  <a:srgbClr val="1D5C59"/>
                </a:solidFill>
                <a:latin typeface="Calibri" pitchFamily="34" charset="0"/>
                <a:ea typeface="Calibri" pitchFamily="34" charset="-122"/>
                <a:cs typeface="Calibri" pitchFamily="34" charset="-120"/>
              </a:rPr>
              <a:t>monitors vs ~8,000,000 in the naive model</a:t>
            </a:r>
            <a:endParaRPr lang="en-US" sz="1050" dirty="0"/>
          </a:p>
        </p:txBody>
      </p:sp>
      <p:sp>
        <p:nvSpPr>
          <p:cNvPr id="14" name="Shape 11"/>
          <p:cNvSpPr/>
          <p:nvPr/>
        </p:nvSpPr>
        <p:spPr>
          <a:xfrm>
            <a:off x="4315968" y="2542032"/>
            <a:ext cx="3538728" cy="914400"/>
          </a:xfrm>
          <a:prstGeom prst="roundRect">
            <a:avLst>
              <a:gd name="adj" fmla="val 6000"/>
            </a:avLst>
          </a:prstGeom>
          <a:solidFill>
            <a:srgbClr val="EAF3F1"/>
          </a:solidFill>
          <a:ln w="12700">
            <a:solidFill>
              <a:srgbClr val="EAF3F1"/>
            </a:solidFill>
            <a:prstDash val="solid"/>
          </a:ln>
        </p:spPr>
      </p:sp>
      <p:sp>
        <p:nvSpPr>
          <p:cNvPr id="15" name="Text 12"/>
          <p:cNvSpPr/>
          <p:nvPr/>
        </p:nvSpPr>
        <p:spPr>
          <a:xfrm>
            <a:off x="4535424" y="2615184"/>
            <a:ext cx="1371600" cy="548640"/>
          </a:xfrm>
          <a:prstGeom prst="rect">
            <a:avLst/>
          </a:prstGeom>
          <a:noFill/>
          <a:ln/>
        </p:spPr>
        <p:txBody>
          <a:bodyPr wrap="square" lIns="0" tIns="0" rIns="0" bIns="0" rtlCol="0" anchor="ctr"/>
          <a:lstStyle/>
          <a:p>
            <a:pPr indent="0" marL="0">
              <a:buNone/>
            </a:pPr>
            <a:r>
              <a:rPr lang="en-US" sz="3000" b="1" dirty="0">
                <a:solidFill>
                  <a:srgbClr val="1D5C59"/>
                </a:solidFill>
                <a:latin typeface="Cambria" pitchFamily="34" charset="0"/>
                <a:ea typeface="Cambria" pitchFamily="34" charset="-122"/>
                <a:cs typeface="Cambria" pitchFamily="34" charset="-120"/>
              </a:rPr>
              <a:t>0</a:t>
            </a:r>
            <a:endParaRPr lang="en-US" sz="3000" dirty="0"/>
          </a:p>
        </p:txBody>
      </p:sp>
      <p:sp>
        <p:nvSpPr>
          <p:cNvPr id="16" name="Text 13"/>
          <p:cNvSpPr/>
          <p:nvPr/>
        </p:nvSpPr>
        <p:spPr>
          <a:xfrm>
            <a:off x="5961888" y="2615184"/>
            <a:ext cx="1737360" cy="768096"/>
          </a:xfrm>
          <a:prstGeom prst="rect">
            <a:avLst/>
          </a:prstGeom>
          <a:noFill/>
          <a:ln/>
        </p:spPr>
        <p:txBody>
          <a:bodyPr wrap="square" lIns="0" tIns="0" rIns="0" bIns="0" rtlCol="0" anchor="ctr"/>
          <a:lstStyle/>
          <a:p>
            <a:pPr indent="0" marL="0">
              <a:buNone/>
            </a:pPr>
            <a:r>
              <a:rPr lang="en-US" sz="1050" dirty="0">
                <a:solidFill>
                  <a:srgbClr val="1D5C59"/>
                </a:solidFill>
                <a:latin typeface="Calibri" pitchFamily="34" charset="0"/>
                <a:ea typeface="Calibri" pitchFamily="34" charset="-122"/>
                <a:cs typeface="Calibri" pitchFamily="34" charset="-120"/>
              </a:rPr>
              <a:t>new objects when 50,000 services are added</a:t>
            </a:r>
            <a:endParaRPr lang="en-US" sz="1050" dirty="0"/>
          </a:p>
        </p:txBody>
      </p:sp>
      <p:sp>
        <p:nvSpPr>
          <p:cNvPr id="17" name="Shape 14"/>
          <p:cNvSpPr/>
          <p:nvPr/>
        </p:nvSpPr>
        <p:spPr>
          <a:xfrm>
            <a:off x="8065008" y="2542032"/>
            <a:ext cx="3538728" cy="914400"/>
          </a:xfrm>
          <a:prstGeom prst="roundRect">
            <a:avLst>
              <a:gd name="adj" fmla="val 6000"/>
            </a:avLst>
          </a:prstGeom>
          <a:solidFill>
            <a:srgbClr val="EAF3F1"/>
          </a:solidFill>
          <a:ln w="12700">
            <a:solidFill>
              <a:srgbClr val="EAF3F1"/>
            </a:solidFill>
            <a:prstDash val="solid"/>
          </a:ln>
        </p:spPr>
      </p:sp>
      <p:sp>
        <p:nvSpPr>
          <p:cNvPr id="18" name="Text 15"/>
          <p:cNvSpPr/>
          <p:nvPr/>
        </p:nvSpPr>
        <p:spPr>
          <a:xfrm>
            <a:off x="8284464" y="2615184"/>
            <a:ext cx="1371600" cy="548640"/>
          </a:xfrm>
          <a:prstGeom prst="rect">
            <a:avLst/>
          </a:prstGeom>
          <a:noFill/>
          <a:ln/>
        </p:spPr>
        <p:txBody>
          <a:bodyPr wrap="square" lIns="0" tIns="0" rIns="0" bIns="0" rtlCol="0" anchor="ctr"/>
          <a:lstStyle/>
          <a:p>
            <a:pPr indent="0" marL="0">
              <a:buNone/>
            </a:pPr>
            <a:r>
              <a:rPr lang="en-US" sz="3000" b="1" dirty="0">
                <a:solidFill>
                  <a:srgbClr val="1D5C59"/>
                </a:solidFill>
                <a:latin typeface="Cambria" pitchFamily="34" charset="0"/>
                <a:ea typeface="Cambria" pitchFamily="34" charset="-122"/>
                <a:cs typeface="Cambria" pitchFamily="34" charset="-120"/>
              </a:rPr>
              <a:t>11%</a:t>
            </a:r>
            <a:endParaRPr lang="en-US" sz="3000" dirty="0"/>
          </a:p>
        </p:txBody>
      </p:sp>
      <p:sp>
        <p:nvSpPr>
          <p:cNvPr id="19" name="Text 16"/>
          <p:cNvSpPr/>
          <p:nvPr/>
        </p:nvSpPr>
        <p:spPr>
          <a:xfrm>
            <a:off x="9710928" y="2615184"/>
            <a:ext cx="1737360" cy="768096"/>
          </a:xfrm>
          <a:prstGeom prst="rect">
            <a:avLst/>
          </a:prstGeom>
          <a:noFill/>
          <a:ln/>
        </p:spPr>
        <p:txBody>
          <a:bodyPr wrap="square" lIns="0" tIns="0" rIns="0" bIns="0" rtlCol="0" anchor="ctr"/>
          <a:lstStyle/>
          <a:p>
            <a:pPr indent="0" marL="0">
              <a:buNone/>
            </a:pPr>
            <a:r>
              <a:rPr lang="en-US" sz="1050" dirty="0">
                <a:solidFill>
                  <a:srgbClr val="1D5C59"/>
                </a:solidFill>
                <a:latin typeface="Calibri" pitchFamily="34" charset="0"/>
                <a:ea typeface="Calibri" pitchFamily="34" charset="-122"/>
                <a:cs typeface="Calibri" pitchFamily="34" charset="-120"/>
              </a:rPr>
              <a:t>of monitors may page — 70 of 651</a:t>
            </a:r>
            <a:endParaRPr lang="en-US" sz="1050" dirty="0"/>
          </a:p>
        </p:txBody>
      </p:sp>
      <p:sp>
        <p:nvSpPr>
          <p:cNvPr id="20" name="Shape 17"/>
          <p:cNvSpPr/>
          <p:nvPr/>
        </p:nvSpPr>
        <p:spPr>
          <a:xfrm>
            <a:off x="566928" y="3566160"/>
            <a:ext cx="3538728" cy="914400"/>
          </a:xfrm>
          <a:prstGeom prst="roundRect">
            <a:avLst>
              <a:gd name="adj" fmla="val 6000"/>
            </a:avLst>
          </a:prstGeom>
          <a:solidFill>
            <a:srgbClr val="EAF3F1"/>
          </a:solidFill>
          <a:ln w="12700">
            <a:solidFill>
              <a:srgbClr val="EAF3F1"/>
            </a:solidFill>
            <a:prstDash val="solid"/>
          </a:ln>
        </p:spPr>
      </p:sp>
      <p:sp>
        <p:nvSpPr>
          <p:cNvPr id="21" name="Text 18"/>
          <p:cNvSpPr/>
          <p:nvPr/>
        </p:nvSpPr>
        <p:spPr>
          <a:xfrm>
            <a:off x="786384" y="3639312"/>
            <a:ext cx="1371600" cy="548640"/>
          </a:xfrm>
          <a:prstGeom prst="rect">
            <a:avLst/>
          </a:prstGeom>
          <a:noFill/>
          <a:ln/>
        </p:spPr>
        <p:txBody>
          <a:bodyPr wrap="square" lIns="0" tIns="0" rIns="0" bIns="0" rtlCol="0" anchor="ctr"/>
          <a:lstStyle/>
          <a:p>
            <a:pPr indent="0" marL="0">
              <a:buNone/>
            </a:pPr>
            <a:r>
              <a:rPr lang="en-US" sz="3000" b="1" dirty="0">
                <a:solidFill>
                  <a:srgbClr val="1D5C59"/>
                </a:solidFill>
                <a:latin typeface="Cambria" pitchFamily="34" charset="0"/>
                <a:ea typeface="Cambria" pitchFamily="34" charset="-122"/>
                <a:cs typeface="Cambria" pitchFamily="34" charset="-120"/>
              </a:rPr>
              <a:t>0</a:t>
            </a:r>
            <a:endParaRPr lang="en-US" sz="3000" dirty="0"/>
          </a:p>
        </p:txBody>
      </p:sp>
      <p:sp>
        <p:nvSpPr>
          <p:cNvPr id="22" name="Text 19"/>
          <p:cNvSpPr/>
          <p:nvPr/>
        </p:nvSpPr>
        <p:spPr>
          <a:xfrm>
            <a:off x="2212848" y="3639312"/>
            <a:ext cx="1737360" cy="768096"/>
          </a:xfrm>
          <a:prstGeom prst="rect">
            <a:avLst/>
          </a:prstGeom>
          <a:noFill/>
          <a:ln/>
        </p:spPr>
        <p:txBody>
          <a:bodyPr wrap="square" lIns="0" tIns="0" rIns="0" bIns="0" rtlCol="0" anchor="ctr"/>
          <a:lstStyle/>
          <a:p>
            <a:pPr indent="0" marL="0">
              <a:buNone/>
            </a:pPr>
            <a:r>
              <a:rPr lang="en-US" sz="1050" dirty="0">
                <a:solidFill>
                  <a:srgbClr val="1D5C59"/>
                </a:solidFill>
                <a:latin typeface="Calibri" pitchFamily="34" charset="0"/>
                <a:ea typeface="Calibri" pitchFamily="34" charset="-122"/>
                <a:cs typeface="Calibri" pitchFamily="34" charset="-120"/>
              </a:rPr>
              <a:t>monitors missing a runbook, SLO, automation or routing</a:t>
            </a:r>
            <a:endParaRPr lang="en-US" sz="1050" dirty="0"/>
          </a:p>
        </p:txBody>
      </p:sp>
      <p:sp>
        <p:nvSpPr>
          <p:cNvPr id="23" name="Shape 20"/>
          <p:cNvSpPr/>
          <p:nvPr/>
        </p:nvSpPr>
        <p:spPr>
          <a:xfrm>
            <a:off x="4315968" y="3566160"/>
            <a:ext cx="3538728" cy="914400"/>
          </a:xfrm>
          <a:prstGeom prst="roundRect">
            <a:avLst>
              <a:gd name="adj" fmla="val 6000"/>
            </a:avLst>
          </a:prstGeom>
          <a:solidFill>
            <a:srgbClr val="EAF3F1"/>
          </a:solidFill>
          <a:ln w="12700">
            <a:solidFill>
              <a:srgbClr val="EAF3F1"/>
            </a:solidFill>
            <a:prstDash val="solid"/>
          </a:ln>
        </p:spPr>
      </p:sp>
      <p:sp>
        <p:nvSpPr>
          <p:cNvPr id="24" name="Text 21"/>
          <p:cNvSpPr/>
          <p:nvPr/>
        </p:nvSpPr>
        <p:spPr>
          <a:xfrm>
            <a:off x="4535424" y="3639312"/>
            <a:ext cx="1371600" cy="548640"/>
          </a:xfrm>
          <a:prstGeom prst="rect">
            <a:avLst/>
          </a:prstGeom>
          <a:noFill/>
          <a:ln/>
        </p:spPr>
        <p:txBody>
          <a:bodyPr wrap="square" lIns="0" tIns="0" rIns="0" bIns="0" rtlCol="0" anchor="ctr"/>
          <a:lstStyle/>
          <a:p>
            <a:pPr indent="0" marL="0">
              <a:buNone/>
            </a:pPr>
            <a:r>
              <a:rPr lang="en-US" sz="3000" b="1" dirty="0">
                <a:solidFill>
                  <a:srgbClr val="1D5C59"/>
                </a:solidFill>
                <a:latin typeface="Cambria" pitchFamily="34" charset="0"/>
                <a:ea typeface="Cambria" pitchFamily="34" charset="-122"/>
                <a:cs typeface="Cambria" pitchFamily="34" charset="-120"/>
              </a:rPr>
              <a:t>0</a:t>
            </a:r>
            <a:endParaRPr lang="en-US" sz="3000" dirty="0"/>
          </a:p>
        </p:txBody>
      </p:sp>
      <p:sp>
        <p:nvSpPr>
          <p:cNvPr id="25" name="Text 22"/>
          <p:cNvSpPr/>
          <p:nvPr/>
        </p:nvSpPr>
        <p:spPr>
          <a:xfrm>
            <a:off x="5961888" y="3639312"/>
            <a:ext cx="1737360" cy="768096"/>
          </a:xfrm>
          <a:prstGeom prst="rect">
            <a:avLst/>
          </a:prstGeom>
          <a:noFill/>
          <a:ln/>
        </p:spPr>
        <p:txBody>
          <a:bodyPr wrap="square" lIns="0" tIns="0" rIns="0" bIns="0" rtlCol="0" anchor="ctr"/>
          <a:lstStyle/>
          <a:p>
            <a:pPr indent="0" marL="0">
              <a:buNone/>
            </a:pPr>
            <a:r>
              <a:rPr lang="en-US" sz="1050" dirty="0">
                <a:solidFill>
                  <a:srgbClr val="1D5C59"/>
                </a:solidFill>
                <a:latin typeface="Calibri" pitchFamily="34" charset="0"/>
                <a:ea typeface="Calibri" pitchFamily="34" charset="-122"/>
                <a:cs typeface="Calibri" pitchFamily="34" charset="-120"/>
              </a:rPr>
              <a:t>fixed thresholds without a written rationale</a:t>
            </a:r>
            <a:endParaRPr lang="en-US" sz="1050" dirty="0"/>
          </a:p>
        </p:txBody>
      </p:sp>
      <p:sp>
        <p:nvSpPr>
          <p:cNvPr id="26" name="Shape 23"/>
          <p:cNvSpPr/>
          <p:nvPr/>
        </p:nvSpPr>
        <p:spPr>
          <a:xfrm>
            <a:off x="8065008" y="3566160"/>
            <a:ext cx="3538728" cy="914400"/>
          </a:xfrm>
          <a:prstGeom prst="roundRect">
            <a:avLst>
              <a:gd name="adj" fmla="val 6000"/>
            </a:avLst>
          </a:prstGeom>
          <a:solidFill>
            <a:srgbClr val="EAF3F1"/>
          </a:solidFill>
          <a:ln w="12700">
            <a:solidFill>
              <a:srgbClr val="EAF3F1"/>
            </a:solidFill>
            <a:prstDash val="solid"/>
          </a:ln>
        </p:spPr>
      </p:sp>
      <p:sp>
        <p:nvSpPr>
          <p:cNvPr id="27" name="Text 24"/>
          <p:cNvSpPr/>
          <p:nvPr/>
        </p:nvSpPr>
        <p:spPr>
          <a:xfrm>
            <a:off x="8284464" y="3639312"/>
            <a:ext cx="1371600" cy="548640"/>
          </a:xfrm>
          <a:prstGeom prst="rect">
            <a:avLst/>
          </a:prstGeom>
          <a:noFill/>
          <a:ln/>
        </p:spPr>
        <p:txBody>
          <a:bodyPr wrap="square" lIns="0" tIns="0" rIns="0" bIns="0" rtlCol="0" anchor="ctr"/>
          <a:lstStyle/>
          <a:p>
            <a:pPr indent="0" marL="0">
              <a:buNone/>
            </a:pPr>
            <a:r>
              <a:rPr lang="en-US" sz="3000" b="1" dirty="0">
                <a:solidFill>
                  <a:srgbClr val="1D5C59"/>
                </a:solidFill>
                <a:latin typeface="Cambria" pitchFamily="34" charset="0"/>
                <a:ea typeface="Cambria" pitchFamily="34" charset="-122"/>
                <a:cs typeface="Cambria" pitchFamily="34" charset="-120"/>
              </a:rPr>
              <a:t>100%</a:t>
            </a:r>
            <a:endParaRPr lang="en-US" sz="3000" dirty="0"/>
          </a:p>
        </p:txBody>
      </p:sp>
      <p:sp>
        <p:nvSpPr>
          <p:cNvPr id="28" name="Text 25"/>
          <p:cNvSpPr/>
          <p:nvPr/>
        </p:nvSpPr>
        <p:spPr>
          <a:xfrm>
            <a:off x="9710928" y="3639312"/>
            <a:ext cx="1737360" cy="768096"/>
          </a:xfrm>
          <a:prstGeom prst="rect">
            <a:avLst/>
          </a:prstGeom>
          <a:noFill/>
          <a:ln/>
        </p:spPr>
        <p:txBody>
          <a:bodyPr wrap="square" lIns="0" tIns="0" rIns="0" bIns="0" rtlCol="0" anchor="ctr"/>
          <a:lstStyle/>
          <a:p>
            <a:pPr indent="0" marL="0">
              <a:buNone/>
            </a:pPr>
            <a:r>
              <a:rPr lang="en-US" sz="1050" dirty="0">
                <a:solidFill>
                  <a:srgbClr val="1D5C59"/>
                </a:solidFill>
                <a:latin typeface="Calibri" pitchFamily="34" charset="0"/>
                <a:ea typeface="Calibri" pitchFamily="34" charset="-122"/>
                <a:cs typeface="Calibri" pitchFamily="34" charset="-120"/>
              </a:rPr>
              <a:t>of the alertable estate covered</a:t>
            </a:r>
            <a:endParaRPr lang="en-US" sz="1050" dirty="0"/>
          </a:p>
        </p:txBody>
      </p:sp>
      <p:sp>
        <p:nvSpPr>
          <p:cNvPr id="29" name="Shape 26"/>
          <p:cNvSpPr/>
          <p:nvPr/>
        </p:nvSpPr>
        <p:spPr>
          <a:xfrm>
            <a:off x="566928" y="4709160"/>
            <a:ext cx="11057839" cy="1325880"/>
          </a:xfrm>
          <a:prstGeom prst="roundRect">
            <a:avLst>
              <a:gd name="adj" fmla="val 4828"/>
            </a:avLst>
          </a:prstGeom>
          <a:solidFill>
            <a:srgbClr val="12161F"/>
          </a:solidFill>
          <a:ln w="12700">
            <a:solidFill>
              <a:srgbClr val="12161F"/>
            </a:solidFill>
            <a:prstDash val="solid"/>
          </a:ln>
        </p:spPr>
      </p:sp>
      <p:sp>
        <p:nvSpPr>
          <p:cNvPr id="30" name="Text 27"/>
          <p:cNvSpPr/>
          <p:nvPr/>
        </p:nvSpPr>
        <p:spPr>
          <a:xfrm>
            <a:off x="841248" y="4846320"/>
            <a:ext cx="10424160" cy="274320"/>
          </a:xfrm>
          <a:prstGeom prst="rect">
            <a:avLst/>
          </a:prstGeom>
          <a:noFill/>
          <a:ln/>
        </p:spPr>
        <p:txBody>
          <a:bodyPr wrap="square" lIns="0" tIns="0" rIns="0" bIns="0" rtlCol="0" anchor="ctr"/>
          <a:lstStyle/>
          <a:p>
            <a:pPr indent="0" marL="0">
              <a:buNone/>
            </a:pPr>
            <a:r>
              <a:rPr lang="en-US" sz="1000" b="1" spc="150" kern="0" dirty="0">
                <a:solidFill>
                  <a:srgbClr val="E09A2E"/>
                </a:solidFill>
                <a:latin typeface="Calibri" pitchFamily="34" charset="0"/>
                <a:ea typeface="Calibri" pitchFamily="34" charset="-122"/>
                <a:cs typeface="Calibri" pitchFamily="34" charset="-120"/>
              </a:rPr>
              <a:t>BEHAVIOURAL — NOT YET CLAIMED, AND HERE IS WHY</a:t>
            </a:r>
            <a:endParaRPr lang="en-US" sz="1000" dirty="0"/>
          </a:p>
        </p:txBody>
      </p:sp>
      <p:sp>
        <p:nvSpPr>
          <p:cNvPr id="31" name="Text 28"/>
          <p:cNvSpPr/>
          <p:nvPr/>
        </p:nvSpPr>
        <p:spPr>
          <a:xfrm>
            <a:off x="841248" y="5157216"/>
            <a:ext cx="10424160" cy="777240"/>
          </a:xfrm>
          <a:prstGeom prst="rect">
            <a:avLst/>
          </a:prstGeom>
          <a:noFill/>
          <a:ln/>
        </p:spPr>
        <p:txBody>
          <a:bodyPr wrap="square" lIns="0" tIns="0" rIns="0" bIns="0" rtlCol="0" anchor="t"/>
          <a:lstStyle/>
          <a:p>
            <a:pPr indent="0" marL="0">
              <a:buNone/>
            </a:pPr>
            <a:r>
              <a:rPr lang="en-US" sz="1200" dirty="0">
                <a:solidFill>
                  <a:srgbClr val="C6D0DF"/>
                </a:solidFill>
                <a:latin typeface="Calibri" pitchFamily="34" charset="0"/>
                <a:ea typeface="Calibri" pitchFamily="34" charset="-122"/>
                <a:cs typeface="Calibri" pitchFamily="34" charset="-120"/>
              </a:rPr>
              <a:t>Pages per engineer per week · time to acknowledge · time to resolve · the proportion of alerts nobody acts on. There is no trustworthy baseline from the previous model, and — more honestly — the monitors are not receiving data yet, so any noise number shown today would be zero, and zero would be a lie by omission. The deal: structural outcomes now, behavioural outcomes measured and published from the month after the tagging lands.</a:t>
            </a:r>
            <a:endParaRPr lang="en-US" sz="12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8778240" cy="256032"/>
          </a:xfrm>
          <a:prstGeom prst="rect">
            <a:avLst/>
          </a:prstGeom>
          <a:noFill/>
          <a:ln/>
        </p:spPr>
        <p:txBody>
          <a:bodyPr wrap="square" lIns="0" tIns="0" rIns="0" bIns="0" rtlCol="0" anchor="ctr"/>
          <a:lstStyle/>
          <a:p>
            <a:pPr indent="0" marL="0">
              <a:buNone/>
            </a:pPr>
            <a:r>
              <a:rPr lang="en-US" sz="1050" b="1" spc="160" kern="0" dirty="0">
                <a:solidFill>
                  <a:srgbClr val="B87914"/>
                </a:solidFill>
                <a:latin typeface="Calibri" pitchFamily="34" charset="0"/>
                <a:ea typeface="Calibri" pitchFamily="34" charset="-122"/>
                <a:cs typeface="Calibri" pitchFamily="34" charset="-120"/>
              </a:rPr>
              <a:t>TOPIC 31</a:t>
            </a:r>
            <a:endParaRPr lang="en-US" sz="1050" dirty="0"/>
          </a:p>
        </p:txBody>
      </p:sp>
      <p:sp>
        <p:nvSpPr>
          <p:cNvPr id="3" name="Text 1"/>
          <p:cNvSpPr/>
          <p:nvPr/>
        </p:nvSpPr>
        <p:spPr>
          <a:xfrm>
            <a:off x="566928" y="694944"/>
            <a:ext cx="10424160" cy="786384"/>
          </a:xfrm>
          <a:prstGeom prst="rect">
            <a:avLst/>
          </a:prstGeom>
          <a:noFill/>
          <a:ln/>
        </p:spPr>
        <p:txBody>
          <a:bodyPr wrap="square" lIns="0" tIns="0" rIns="0" bIns="0" rtlCol="0" anchor="ctr"/>
          <a:lstStyle/>
          <a:p>
            <a:pPr indent="0" marL="0">
              <a:buNone/>
            </a:pPr>
            <a:r>
              <a:rPr lang="en-US" sz="3100" b="1" dirty="0">
                <a:solidFill>
                  <a:srgbClr val="161C28"/>
                </a:solidFill>
                <a:latin typeface="Cambria" pitchFamily="34" charset="0"/>
                <a:ea typeface="Cambria" pitchFamily="34" charset="-122"/>
                <a:cs typeface="Cambria" pitchFamily="34" charset="-120"/>
              </a:rPr>
              <a:t>The adoption model</a:t>
            </a:r>
            <a:endParaRPr lang="en-US" sz="3100" dirty="0"/>
          </a:p>
        </p:txBody>
      </p:sp>
      <p:sp>
        <p:nvSpPr>
          <p:cNvPr id="4" name="Text 2"/>
          <p:cNvSpPr/>
          <p:nvPr/>
        </p:nvSpPr>
        <p:spPr>
          <a:xfrm>
            <a:off x="566928" y="1481328"/>
            <a:ext cx="10698480" cy="457200"/>
          </a:xfrm>
          <a:prstGeom prst="rect">
            <a:avLst/>
          </a:prstGeom>
          <a:noFill/>
          <a:ln/>
        </p:spPr>
        <p:txBody>
          <a:bodyPr wrap="square" lIns="0" tIns="0" rIns="0" bIns="0" rtlCol="0" anchor="t"/>
          <a:lstStyle/>
          <a:p>
            <a:pPr indent="0" marL="0">
              <a:buNone/>
            </a:pPr>
            <a:r>
              <a:rPr lang="en-US" sz="1450" dirty="0">
                <a:solidFill>
                  <a:srgbClr val="3A4557"/>
                </a:solidFill>
                <a:latin typeface="Calibri" pitchFamily="34" charset="0"/>
                <a:ea typeface="Calibri" pitchFamily="34" charset="-122"/>
                <a:cs typeface="Calibri" pitchFamily="34" charset="-120"/>
              </a:rPr>
              <a:t>The platform is deployed. Adoption is a tagging campaign, and tagging is always the project — every other step is small by comparison.</a:t>
            </a:r>
            <a:endParaRPr lang="en-US" sz="1450" dirty="0"/>
          </a:p>
        </p:txBody>
      </p:sp>
      <p:sp>
        <p:nvSpPr>
          <p:cNvPr id="5" name="Shape 3"/>
          <p:cNvSpPr/>
          <p:nvPr/>
        </p:nvSpPr>
        <p:spPr>
          <a:xfrm>
            <a:off x="9128455" y="420624"/>
            <a:ext cx="2496312" cy="310896"/>
          </a:xfrm>
          <a:prstGeom prst="roundRect">
            <a:avLst>
              <a:gd name="adj" fmla="val 50000"/>
            </a:avLst>
          </a:prstGeom>
          <a:solidFill>
            <a:srgbClr val="27807C"/>
          </a:solidFill>
          <a:ln w="12700">
            <a:solidFill>
              <a:srgbClr val="27807C"/>
            </a:solidFill>
            <a:prstDash val="solid"/>
          </a:ln>
        </p:spPr>
      </p:sp>
      <p:sp>
        <p:nvSpPr>
          <p:cNvPr id="6" name="Text 4"/>
          <p:cNvSpPr/>
          <p:nvPr/>
        </p:nvSpPr>
        <p:spPr>
          <a:xfrm>
            <a:off x="9128455" y="420624"/>
            <a:ext cx="2496312" cy="310896"/>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SHIPPED — THE PLATFORM</a:t>
            </a:r>
            <a:endParaRPr lang="en-US" sz="950" dirty="0"/>
          </a:p>
        </p:txBody>
      </p:sp>
      <p:sp>
        <p:nvSpPr>
          <p:cNvPr id="7" name="Text 5"/>
          <p:cNvSpPr/>
          <p:nvPr/>
        </p:nvSpPr>
        <p:spPr>
          <a:xfrm>
            <a:off x="566928" y="6345936"/>
            <a:ext cx="7315200" cy="274320"/>
          </a:xfrm>
          <a:prstGeom prst="rect">
            <a:avLst/>
          </a:prstGeom>
          <a:noFill/>
          <a:ln/>
        </p:spPr>
        <p:txBody>
          <a:bodyPr wrap="square" lIns="0" tIns="0" rIns="0" bIns="0" rtlCol="0" anchor="ctr"/>
          <a:lstStyle/>
          <a:p>
            <a:pPr indent="0" marL="0">
              <a:buNone/>
            </a:pPr>
            <a:r>
              <a:rPr lang="en-US" sz="900" dirty="0">
                <a:solidFill>
                  <a:srgbClr val="6B7891"/>
                </a:solidFill>
                <a:latin typeface="Calibri" pitchFamily="34" charset="0"/>
                <a:ea typeface="Calibri" pitchFamily="34" charset="-122"/>
                <a:cs typeface="Calibri" pitchFamily="34" charset="-120"/>
              </a:rPr>
              <a:t>Enterprise Observability  ·  policy-as-data on Datadog</a:t>
            </a:r>
            <a:endParaRPr lang="en-US" sz="900" dirty="0"/>
          </a:p>
        </p:txBody>
      </p:sp>
      <p:sp>
        <p:nvSpPr>
          <p:cNvPr id="8" name="Text 6"/>
          <p:cNvSpPr/>
          <p:nvPr/>
        </p:nvSpPr>
        <p:spPr>
          <a:xfrm>
            <a:off x="10710367" y="6345936"/>
            <a:ext cx="914400" cy="274320"/>
          </a:xfrm>
          <a:prstGeom prst="rect">
            <a:avLst/>
          </a:prstGeom>
          <a:noFill/>
          <a:ln/>
        </p:spPr>
        <p:txBody>
          <a:bodyPr wrap="square" lIns="0" tIns="0" rIns="0" bIns="0" rtlCol="0" anchor="ctr"/>
          <a:lstStyle/>
          <a:p>
            <a:pPr algn="r" indent="0" marL="0">
              <a:buNone/>
            </a:pPr>
            <a:r>
              <a:rPr lang="en-US" sz="900" dirty="0">
                <a:solidFill>
                  <a:srgbClr val="6B7891"/>
                </a:solidFill>
                <a:latin typeface="Calibri" pitchFamily="34" charset="0"/>
                <a:ea typeface="Calibri" pitchFamily="34" charset="-122"/>
                <a:cs typeface="Calibri" pitchFamily="34" charset="-120"/>
              </a:rPr>
              <a:t>40</a:t>
            </a:r>
            <a:endParaRPr lang="en-US" sz="900" dirty="0"/>
          </a:p>
        </p:txBody>
      </p:sp>
      <p:sp>
        <p:nvSpPr>
          <p:cNvPr id="10" name="Shape 7"/>
          <p:cNvSpPr/>
          <p:nvPr/>
        </p:nvSpPr>
        <p:spPr>
          <a:xfrm>
            <a:off x="566928" y="2286000"/>
            <a:ext cx="2065264" cy="1508760"/>
          </a:xfrm>
          <a:prstGeom prst="roundRect">
            <a:avLst>
              <a:gd name="adj" fmla="val 3636"/>
            </a:avLst>
          </a:prstGeom>
          <a:solidFill>
            <a:srgbClr val="EAF3F1"/>
          </a:solidFill>
          <a:ln w="12700">
            <a:solidFill>
              <a:srgbClr val="EAF3F1"/>
            </a:solidFill>
            <a:prstDash val="solid"/>
          </a:ln>
        </p:spPr>
      </p:sp>
      <p:sp>
        <p:nvSpPr>
          <p:cNvPr id="11" name="Text 8"/>
          <p:cNvSpPr/>
          <p:nvPr/>
        </p:nvSpPr>
        <p:spPr>
          <a:xfrm>
            <a:off x="768096" y="2432304"/>
            <a:ext cx="1662928" cy="347472"/>
          </a:xfrm>
          <a:prstGeom prst="rect">
            <a:avLst/>
          </a:prstGeom>
          <a:noFill/>
          <a:ln/>
        </p:spPr>
        <p:txBody>
          <a:bodyPr wrap="square" lIns="0" tIns="0" rIns="0" bIns="0" rtlCol="0" anchor="t"/>
          <a:lstStyle/>
          <a:p>
            <a:pPr indent="0" marL="0">
              <a:buNone/>
            </a:pPr>
            <a:r>
              <a:rPr lang="en-US" sz="1300" b="1" dirty="0">
                <a:solidFill>
                  <a:srgbClr val="1D5C59"/>
                </a:solidFill>
                <a:latin typeface="Calibri" pitchFamily="34" charset="0"/>
                <a:ea typeface="Calibri" pitchFamily="34" charset="-122"/>
                <a:cs typeface="Calibri" pitchFamily="34" charset="-120"/>
              </a:rPr>
              <a:t>1 · Platform lands</a:t>
            </a:r>
            <a:endParaRPr lang="en-US" sz="1300" dirty="0"/>
          </a:p>
        </p:txBody>
      </p:sp>
      <p:sp>
        <p:nvSpPr>
          <p:cNvPr id="12" name="Text 9"/>
          <p:cNvSpPr/>
          <p:nvPr/>
        </p:nvSpPr>
        <p:spPr>
          <a:xfrm>
            <a:off x="768096" y="2816352"/>
            <a:ext cx="1662928" cy="832104"/>
          </a:xfrm>
          <a:prstGeom prst="rect">
            <a:avLst/>
          </a:prstGeom>
          <a:noFill/>
          <a:ln/>
        </p:spPr>
        <p:txBody>
          <a:bodyPr wrap="square" lIns="0" tIns="0" rIns="0" bIns="0" rtlCol="0" anchor="t"/>
          <a:lstStyle/>
          <a:p>
            <a:pPr indent="0" marL="0">
              <a:lnSpc>
                <a:spcPct val="102000"/>
              </a:lnSpc>
              <a:buNone/>
            </a:pPr>
            <a:r>
              <a:rPr lang="en-US" sz="1050" dirty="0">
                <a:solidFill>
                  <a:srgbClr val="1D5C59"/>
                </a:solidFill>
                <a:latin typeface="Calibri" pitchFamily="34" charset="0"/>
                <a:ea typeface="Calibri" pitchFamily="34" charset="-122"/>
                <a:cs typeface="Calibri" pitchFamily="34" charset="-120"/>
              </a:rPr>
              <a:t>Done. First full promotion green across qa, stage and production, with the evidence artifact attached to the run.</a:t>
            </a:r>
            <a:endParaRPr lang="en-US" sz="1050" dirty="0"/>
          </a:p>
        </p:txBody>
      </p:sp>
      <p:sp>
        <p:nvSpPr>
          <p:cNvPr id="13" name="Shape 10"/>
          <p:cNvSpPr/>
          <p:nvPr/>
        </p:nvSpPr>
        <p:spPr>
          <a:xfrm>
            <a:off x="2815072" y="2286000"/>
            <a:ext cx="2065264" cy="1508760"/>
          </a:xfrm>
          <a:prstGeom prst="roundRect">
            <a:avLst>
              <a:gd name="adj" fmla="val 3636"/>
            </a:avLst>
          </a:prstGeom>
          <a:solidFill>
            <a:srgbClr val="FBEEEB"/>
          </a:solidFill>
          <a:ln w="12700">
            <a:solidFill>
              <a:srgbClr val="FBEEEB"/>
            </a:solidFill>
            <a:prstDash val="solid"/>
          </a:ln>
        </p:spPr>
      </p:sp>
      <p:sp>
        <p:nvSpPr>
          <p:cNvPr id="14" name="Text 11"/>
          <p:cNvSpPr/>
          <p:nvPr/>
        </p:nvSpPr>
        <p:spPr>
          <a:xfrm>
            <a:off x="3016240" y="2432304"/>
            <a:ext cx="1662928" cy="347472"/>
          </a:xfrm>
          <a:prstGeom prst="rect">
            <a:avLst/>
          </a:prstGeom>
          <a:noFill/>
          <a:ln/>
        </p:spPr>
        <p:txBody>
          <a:bodyPr wrap="square" lIns="0" tIns="0" rIns="0" bIns="0" rtlCol="0" anchor="t"/>
          <a:lstStyle/>
          <a:p>
            <a:pPr indent="0" marL="0">
              <a:buNone/>
            </a:pPr>
            <a:r>
              <a:rPr lang="en-US" sz="1300" b="1" dirty="0">
                <a:solidFill>
                  <a:srgbClr val="7A2E24"/>
                </a:solidFill>
                <a:latin typeface="Calibri" pitchFamily="34" charset="0"/>
                <a:ea typeface="Calibri" pitchFamily="34" charset="-122"/>
                <a:cs typeface="Calibri" pitchFamily="34" charset="-120"/>
              </a:rPr>
              <a:t>2 · Tag the estate</a:t>
            </a:r>
            <a:endParaRPr lang="en-US" sz="1300" dirty="0"/>
          </a:p>
        </p:txBody>
      </p:sp>
      <p:sp>
        <p:nvSpPr>
          <p:cNvPr id="15" name="Text 12"/>
          <p:cNvSpPr/>
          <p:nvPr/>
        </p:nvSpPr>
        <p:spPr>
          <a:xfrm>
            <a:off x="3016240" y="2816352"/>
            <a:ext cx="1662928" cy="832104"/>
          </a:xfrm>
          <a:prstGeom prst="rect">
            <a:avLst/>
          </a:prstGeom>
          <a:noFill/>
          <a:ln/>
        </p:spPr>
        <p:txBody>
          <a:bodyPr wrap="square" lIns="0" tIns="0" rIns="0" bIns="0" rtlCol="0" anchor="t"/>
          <a:lstStyle/>
          <a:p>
            <a:pPr indent="0" marL="0">
              <a:lnSpc>
                <a:spcPct val="102000"/>
              </a:lnSpc>
              <a:buNone/>
            </a:pPr>
            <a:r>
              <a:rPr lang="en-US" sz="1050" dirty="0">
                <a:solidFill>
                  <a:srgbClr val="7A2E24"/>
                </a:solidFill>
                <a:latin typeface="Calibri" pitchFamily="34" charset="0"/>
                <a:ea typeface="Calibri" pitchFamily="34" charset="-122"/>
                <a:cs typeface="Calibri" pitchFamily="34" charset="-120"/>
              </a:rPr>
              <a:t>The project. Azure Policy modify on resource groups, agent config, K8s labels, DD_TAGS and DD_VERSION in pipelines.</a:t>
            </a:r>
            <a:endParaRPr lang="en-US" sz="1050" dirty="0"/>
          </a:p>
        </p:txBody>
      </p:sp>
      <p:sp>
        <p:nvSpPr>
          <p:cNvPr id="16" name="Shape 13"/>
          <p:cNvSpPr/>
          <p:nvPr/>
        </p:nvSpPr>
        <p:spPr>
          <a:xfrm>
            <a:off x="5063216" y="2286000"/>
            <a:ext cx="2065264" cy="1508760"/>
          </a:xfrm>
          <a:prstGeom prst="roundRect">
            <a:avLst>
              <a:gd name="adj" fmla="val 3636"/>
            </a:avLst>
          </a:prstGeom>
          <a:solidFill>
            <a:srgbClr val="FBEEEB"/>
          </a:solidFill>
          <a:ln w="12700">
            <a:solidFill>
              <a:srgbClr val="FBEEEB"/>
            </a:solidFill>
            <a:prstDash val="solid"/>
          </a:ln>
        </p:spPr>
      </p:sp>
      <p:sp>
        <p:nvSpPr>
          <p:cNvPr id="17" name="Text 14"/>
          <p:cNvSpPr/>
          <p:nvPr/>
        </p:nvSpPr>
        <p:spPr>
          <a:xfrm>
            <a:off x="5264384" y="2432304"/>
            <a:ext cx="1662928" cy="347472"/>
          </a:xfrm>
          <a:prstGeom prst="rect">
            <a:avLst/>
          </a:prstGeom>
          <a:noFill/>
          <a:ln/>
        </p:spPr>
        <p:txBody>
          <a:bodyPr wrap="square" lIns="0" tIns="0" rIns="0" bIns="0" rtlCol="0" anchor="t"/>
          <a:lstStyle/>
          <a:p>
            <a:pPr indent="0" marL="0">
              <a:buNone/>
            </a:pPr>
            <a:r>
              <a:rPr lang="en-US" sz="1300" b="1" dirty="0">
                <a:solidFill>
                  <a:srgbClr val="7A2E24"/>
                </a:solidFill>
                <a:latin typeface="Calibri" pitchFamily="34" charset="0"/>
                <a:ea typeface="Calibri" pitchFamily="34" charset="-122"/>
                <a:cs typeface="Calibri" pitchFamily="34" charset="-120"/>
              </a:rPr>
              <a:t>3 · Rosters</a:t>
            </a:r>
            <a:endParaRPr lang="en-US" sz="1300" dirty="0"/>
          </a:p>
        </p:txBody>
      </p:sp>
      <p:sp>
        <p:nvSpPr>
          <p:cNvPr id="18" name="Text 15"/>
          <p:cNvSpPr/>
          <p:nvPr/>
        </p:nvSpPr>
        <p:spPr>
          <a:xfrm>
            <a:off x="5264384" y="2816352"/>
            <a:ext cx="1662928" cy="832104"/>
          </a:xfrm>
          <a:prstGeom prst="rect">
            <a:avLst/>
          </a:prstGeom>
          <a:noFill/>
          <a:ln/>
        </p:spPr>
        <p:txBody>
          <a:bodyPr wrap="square" lIns="0" tIns="0" rIns="0" bIns="0" rtlCol="0" anchor="t"/>
          <a:lstStyle/>
          <a:p>
            <a:pPr indent="0" marL="0">
              <a:lnSpc>
                <a:spcPct val="102000"/>
              </a:lnSpc>
              <a:buNone/>
            </a:pPr>
            <a:r>
              <a:rPr lang="en-US" sz="1050" dirty="0">
                <a:solidFill>
                  <a:srgbClr val="7A2E24"/>
                </a:solidFill>
                <a:latin typeface="Calibri" pitchFamily="34" charset="0"/>
                <a:ea typeface="Calibri" pitchFamily="34" charset="-122"/>
                <a:cs typeface="Calibri" pitchFamily="34" charset="-120"/>
              </a:rPr>
              <a:t>Each team names a primary and a secondary and confirms its channels and ServiceNow group.</a:t>
            </a:r>
            <a:endParaRPr lang="en-US" sz="1050" dirty="0"/>
          </a:p>
        </p:txBody>
      </p:sp>
      <p:sp>
        <p:nvSpPr>
          <p:cNvPr id="19" name="Shape 16"/>
          <p:cNvSpPr/>
          <p:nvPr/>
        </p:nvSpPr>
        <p:spPr>
          <a:xfrm>
            <a:off x="7311360" y="2286000"/>
            <a:ext cx="2065264" cy="1508760"/>
          </a:xfrm>
          <a:prstGeom prst="roundRect">
            <a:avLst>
              <a:gd name="adj" fmla="val 3636"/>
            </a:avLst>
          </a:prstGeom>
          <a:solidFill>
            <a:srgbClr val="EFF2F6"/>
          </a:solidFill>
          <a:ln w="12700">
            <a:solidFill>
              <a:srgbClr val="EFF2F6"/>
            </a:solidFill>
            <a:prstDash val="solid"/>
          </a:ln>
        </p:spPr>
      </p:sp>
      <p:sp>
        <p:nvSpPr>
          <p:cNvPr id="20" name="Text 17"/>
          <p:cNvSpPr/>
          <p:nvPr/>
        </p:nvSpPr>
        <p:spPr>
          <a:xfrm>
            <a:off x="7512528" y="2432304"/>
            <a:ext cx="1662928" cy="347472"/>
          </a:xfrm>
          <a:prstGeom prst="rect">
            <a:avLst/>
          </a:prstGeom>
          <a:noFill/>
          <a:ln/>
        </p:spPr>
        <p:txBody>
          <a:bodyPr wrap="square" lIns="0" tIns="0" rIns="0" bIns="0" rtlCol="0" anchor="t"/>
          <a:lstStyle/>
          <a:p>
            <a:pPr indent="0" marL="0">
              <a:buNone/>
            </a:pPr>
            <a:r>
              <a:rPr lang="en-US" sz="1300" b="1" dirty="0">
                <a:solidFill>
                  <a:srgbClr val="161C28"/>
                </a:solidFill>
                <a:latin typeface="Calibri" pitchFamily="34" charset="0"/>
                <a:ea typeface="Calibri" pitchFamily="34" charset="-122"/>
                <a:cs typeface="Calibri" pitchFamily="34" charset="-120"/>
              </a:rPr>
              <a:t>4 · Team onboarding</a:t>
            </a:r>
            <a:endParaRPr lang="en-US" sz="1300" dirty="0"/>
          </a:p>
        </p:txBody>
      </p:sp>
      <p:sp>
        <p:nvSpPr>
          <p:cNvPr id="21" name="Text 18"/>
          <p:cNvSpPr/>
          <p:nvPr/>
        </p:nvSpPr>
        <p:spPr>
          <a:xfrm>
            <a:off x="7512528" y="2816352"/>
            <a:ext cx="1662928" cy="832104"/>
          </a:xfrm>
          <a:prstGeom prst="rect">
            <a:avLst/>
          </a:prstGeom>
          <a:noFill/>
          <a:ln/>
        </p:spPr>
        <p:txBody>
          <a:bodyPr wrap="square" lIns="0" tIns="0" rIns="0" bIns="0" rtlCol="0" anchor="t"/>
          <a:lstStyle/>
          <a:p>
            <a:pPr indent="0" marL="0">
              <a:lnSpc>
                <a:spcPct val="102000"/>
              </a:lnSpc>
              <a:buNone/>
            </a:pPr>
            <a:r>
              <a:rPr lang="en-US" sz="1050" dirty="0">
                <a:solidFill>
                  <a:srgbClr val="3A4557"/>
                </a:solidFill>
                <a:latin typeface="Calibri" pitchFamily="34" charset="0"/>
                <a:ea typeface="Calibri" pitchFamily="34" charset="-122"/>
                <a:cs typeface="Calibri" pitchFamily="34" charset="-120"/>
              </a:rPr>
              <a:t>Register services, choose tiers deliberately, fill in the runbook sections you own.</a:t>
            </a:r>
            <a:endParaRPr lang="en-US" sz="1050" dirty="0"/>
          </a:p>
        </p:txBody>
      </p:sp>
      <p:sp>
        <p:nvSpPr>
          <p:cNvPr id="22" name="Shape 19"/>
          <p:cNvSpPr/>
          <p:nvPr/>
        </p:nvSpPr>
        <p:spPr>
          <a:xfrm>
            <a:off x="9559503" y="2286000"/>
            <a:ext cx="2065264" cy="1508760"/>
          </a:xfrm>
          <a:prstGeom prst="roundRect">
            <a:avLst>
              <a:gd name="adj" fmla="val 3636"/>
            </a:avLst>
          </a:prstGeom>
          <a:solidFill>
            <a:srgbClr val="EFF2F6"/>
          </a:solidFill>
          <a:ln w="12700">
            <a:solidFill>
              <a:srgbClr val="EFF2F6"/>
            </a:solidFill>
            <a:prstDash val="solid"/>
          </a:ln>
        </p:spPr>
      </p:sp>
      <p:sp>
        <p:nvSpPr>
          <p:cNvPr id="23" name="Text 20"/>
          <p:cNvSpPr/>
          <p:nvPr/>
        </p:nvSpPr>
        <p:spPr>
          <a:xfrm>
            <a:off x="9760671" y="2432304"/>
            <a:ext cx="1662928" cy="347472"/>
          </a:xfrm>
          <a:prstGeom prst="rect">
            <a:avLst/>
          </a:prstGeom>
          <a:noFill/>
          <a:ln/>
        </p:spPr>
        <p:txBody>
          <a:bodyPr wrap="square" lIns="0" tIns="0" rIns="0" bIns="0" rtlCol="0" anchor="t"/>
          <a:lstStyle/>
          <a:p>
            <a:pPr indent="0" marL="0">
              <a:buNone/>
            </a:pPr>
            <a:r>
              <a:rPr lang="en-US" sz="1300" b="1" dirty="0">
                <a:solidFill>
                  <a:srgbClr val="161C28"/>
                </a:solidFill>
                <a:latin typeface="Calibri" pitchFamily="34" charset="0"/>
                <a:ea typeface="Calibri" pitchFamily="34" charset="-122"/>
                <a:cs typeface="Calibri" pitchFamily="34" charset="-120"/>
              </a:rPr>
              <a:t>5 · Surfaces</a:t>
            </a:r>
            <a:endParaRPr lang="en-US" sz="1300" dirty="0"/>
          </a:p>
        </p:txBody>
      </p:sp>
      <p:sp>
        <p:nvSpPr>
          <p:cNvPr id="24" name="Text 21"/>
          <p:cNvSpPr/>
          <p:nvPr/>
        </p:nvSpPr>
        <p:spPr>
          <a:xfrm>
            <a:off x="9760671" y="2816352"/>
            <a:ext cx="1662928" cy="832104"/>
          </a:xfrm>
          <a:prstGeom prst="rect">
            <a:avLst/>
          </a:prstGeom>
          <a:noFill/>
          <a:ln/>
        </p:spPr>
        <p:txBody>
          <a:bodyPr wrap="square" lIns="0" tIns="0" rIns="0" bIns="0" rtlCol="0" anchor="t"/>
          <a:lstStyle/>
          <a:p>
            <a:pPr indent="0" marL="0">
              <a:lnSpc>
                <a:spcPct val="102000"/>
              </a:lnSpc>
              <a:buNone/>
            </a:pPr>
            <a:r>
              <a:rPr lang="en-US" sz="1050" dirty="0">
                <a:solidFill>
                  <a:srgbClr val="3A4557"/>
                </a:solidFill>
                <a:latin typeface="Calibri" pitchFamily="34" charset="0"/>
                <a:ea typeface="Calibri" pitchFamily="34" charset="-122"/>
                <a:cs typeface="Calibri" pitchFamily="34" charset="-120"/>
              </a:rPr>
              <a:t>Reports, then MCP Ask and Act, then the executive portal — once the data underneath is true.</a:t>
            </a:r>
            <a:endParaRPr lang="en-US" sz="1050" dirty="0"/>
          </a:p>
        </p:txBody>
      </p:sp>
      <p:sp>
        <p:nvSpPr>
          <p:cNvPr id="25" name="Shape 22"/>
          <p:cNvSpPr/>
          <p:nvPr/>
        </p:nvSpPr>
        <p:spPr>
          <a:xfrm>
            <a:off x="566928" y="4023360"/>
            <a:ext cx="5349240" cy="1737360"/>
          </a:xfrm>
          <a:prstGeom prst="roundRect">
            <a:avLst>
              <a:gd name="adj" fmla="val 3684"/>
            </a:avLst>
          </a:prstGeom>
          <a:solidFill>
            <a:srgbClr val="F3F4F6"/>
          </a:solidFill>
          <a:ln w="12700">
            <a:solidFill>
              <a:srgbClr val="D6DDE6"/>
            </a:solidFill>
            <a:prstDash val="solid"/>
          </a:ln>
        </p:spPr>
      </p:sp>
      <p:sp>
        <p:nvSpPr>
          <p:cNvPr id="26" name="Text 23"/>
          <p:cNvSpPr/>
          <p:nvPr/>
        </p:nvSpPr>
        <p:spPr>
          <a:xfrm>
            <a:off x="822960" y="4160520"/>
            <a:ext cx="4846320" cy="274320"/>
          </a:xfrm>
          <a:prstGeom prst="rect">
            <a:avLst/>
          </a:prstGeom>
          <a:noFill/>
          <a:ln/>
        </p:spPr>
        <p:txBody>
          <a:bodyPr wrap="square" lIns="0" tIns="0" rIns="0" bIns="0" rtlCol="0" anchor="ctr"/>
          <a:lstStyle/>
          <a:p>
            <a:pPr indent="0" marL="0">
              <a:buNone/>
            </a:pPr>
            <a:r>
              <a:rPr lang="en-US" sz="1000" b="1" spc="150" kern="0" dirty="0">
                <a:solidFill>
                  <a:srgbClr val="5F7189"/>
                </a:solidFill>
                <a:latin typeface="Calibri" pitchFamily="34" charset="0"/>
                <a:ea typeface="Calibri" pitchFamily="34" charset="-122"/>
                <a:cs typeface="Calibri" pitchFamily="34" charset="-120"/>
              </a:rPr>
              <a:t>DELIBERATELY NOT IN THE PLAN</a:t>
            </a:r>
            <a:endParaRPr lang="en-US" sz="1000" dirty="0"/>
          </a:p>
        </p:txBody>
      </p:sp>
      <p:sp>
        <p:nvSpPr>
          <p:cNvPr id="27" name="Text 24"/>
          <p:cNvSpPr/>
          <p:nvPr/>
        </p:nvSpPr>
        <p:spPr>
          <a:xfrm>
            <a:off x="822960" y="4471416"/>
            <a:ext cx="4846320" cy="1188720"/>
          </a:xfrm>
          <a:prstGeom prst="rect">
            <a:avLst/>
          </a:prstGeom>
          <a:noFill/>
          <a:ln/>
        </p:spPr>
        <p:txBody>
          <a:bodyPr wrap="square" lIns="0" tIns="0" rIns="0" bIns="0" rtlCol="0" anchor="t"/>
          <a:lstStyle/>
          <a:p>
            <a:pPr marL="342900" indent="-342900">
              <a:spcAft>
                <a:spcPts val="500"/>
              </a:spcAft>
              <a:buSzPct val="100000"/>
              <a:buChar char="•"/>
            </a:pPr>
            <a:r>
              <a:rPr lang="en-US" sz="1150" dirty="0">
                <a:solidFill>
                  <a:srgbClr val="3A4557"/>
                </a:solidFill>
                <a:latin typeface="Calibri" pitchFamily="34" charset="0"/>
                <a:ea typeface="Calibri" pitchFamily="34" charset="-122"/>
                <a:cs typeface="Calibri" pitchFamily="34" charset="-120"/>
              </a:rPr>
              <a:t>No request for teams to write monitors</a:t>
            </a:r>
            <a:endParaRPr lang="en-US" sz="1150" dirty="0"/>
          </a:p>
          <a:p>
            <a:pPr marL="342900" indent="-342900">
              <a:spcAft>
                <a:spcPts val="500"/>
              </a:spcAft>
              <a:buSzPct val="100000"/>
              <a:buChar char="•"/>
            </a:pPr>
            <a:r>
              <a:rPr lang="en-US" sz="1150" dirty="0">
                <a:solidFill>
                  <a:srgbClr val="3A4557"/>
                </a:solidFill>
                <a:latin typeface="Calibri" pitchFamily="34" charset="0"/>
                <a:ea typeface="Calibri" pitchFamily="34" charset="-122"/>
                <a:cs typeface="Calibri" pitchFamily="34" charset="-120"/>
              </a:rPr>
              <a:t>No migration of existing monitors — the monitors already exist; a team joins them by being tagged</a:t>
            </a:r>
            <a:endParaRPr lang="en-US" sz="1150" dirty="0"/>
          </a:p>
          <a:p>
            <a:pPr marL="342900" indent="-342900">
              <a:spcAft>
                <a:spcPts val="500"/>
              </a:spcAft>
              <a:buSzPct val="100000"/>
              <a:buChar char="•"/>
            </a:pPr>
            <a:r>
              <a:rPr lang="en-US" sz="1150" dirty="0">
                <a:solidFill>
                  <a:srgbClr val="3A4557"/>
                </a:solidFill>
                <a:latin typeface="Calibri" pitchFamily="34" charset="0"/>
                <a:ea typeface="Calibri" pitchFamily="34" charset="-122"/>
                <a:cs typeface="Calibri" pitchFamily="34" charset="-120"/>
              </a:rPr>
              <a:t>No cutover event and no freeze</a:t>
            </a:r>
            <a:endParaRPr lang="en-US" sz="1150" dirty="0"/>
          </a:p>
          <a:p>
            <a:pPr marL="342900" indent="-342900">
              <a:spcAft>
                <a:spcPts val="500"/>
              </a:spcAft>
              <a:buSzPct val="100000"/>
              <a:buChar char="•"/>
            </a:pPr>
            <a:r>
              <a:rPr lang="en-US" sz="1150" dirty="0">
                <a:solidFill>
                  <a:srgbClr val="3A4557"/>
                </a:solidFill>
                <a:latin typeface="Calibri" pitchFamily="34" charset="0"/>
                <a:ea typeface="Calibri" pitchFamily="34" charset="-122"/>
                <a:cs typeface="Calibri" pitchFamily="34" charset="-120"/>
              </a:rPr>
              <a:t>The adoption unit is a team, not a service. Seven teams. A team that already tags cleanly is done in a day</a:t>
            </a:r>
            <a:endParaRPr lang="en-US" sz="1150" dirty="0"/>
          </a:p>
        </p:txBody>
      </p:sp>
      <p:sp>
        <p:nvSpPr>
          <p:cNvPr id="28" name="Shape 25"/>
          <p:cNvSpPr/>
          <p:nvPr/>
        </p:nvSpPr>
        <p:spPr>
          <a:xfrm>
            <a:off x="6281928" y="4023360"/>
            <a:ext cx="5349240" cy="1737360"/>
          </a:xfrm>
          <a:prstGeom prst="roundRect">
            <a:avLst>
              <a:gd name="adj" fmla="val 3684"/>
            </a:avLst>
          </a:prstGeom>
          <a:solidFill>
            <a:srgbClr val="12161F"/>
          </a:solidFill>
          <a:ln w="12700">
            <a:solidFill>
              <a:srgbClr val="12161F"/>
            </a:solidFill>
            <a:prstDash val="solid"/>
          </a:ln>
        </p:spPr>
      </p:sp>
      <p:sp>
        <p:nvSpPr>
          <p:cNvPr id="29" name="Text 26"/>
          <p:cNvSpPr/>
          <p:nvPr/>
        </p:nvSpPr>
        <p:spPr>
          <a:xfrm>
            <a:off x="6537960" y="4160520"/>
            <a:ext cx="4846320" cy="274320"/>
          </a:xfrm>
          <a:prstGeom prst="rect">
            <a:avLst/>
          </a:prstGeom>
          <a:noFill/>
          <a:ln/>
        </p:spPr>
        <p:txBody>
          <a:bodyPr wrap="square" lIns="0" tIns="0" rIns="0" bIns="0" rtlCol="0" anchor="ctr"/>
          <a:lstStyle/>
          <a:p>
            <a:pPr indent="0" marL="0">
              <a:buNone/>
            </a:pPr>
            <a:r>
              <a:rPr lang="en-US" sz="1000" b="1" spc="150" kern="0" dirty="0">
                <a:solidFill>
                  <a:srgbClr val="E09A2E"/>
                </a:solidFill>
                <a:latin typeface="Calibri" pitchFamily="34" charset="0"/>
                <a:ea typeface="Calibri" pitchFamily="34" charset="-122"/>
                <a:cs typeface="Calibri" pitchFamily="34" charset="-120"/>
              </a:rPr>
              <a:t>WHAT WE NEED FROM THIS ROOM</a:t>
            </a:r>
            <a:endParaRPr lang="en-US" sz="1000" dirty="0"/>
          </a:p>
        </p:txBody>
      </p:sp>
      <p:sp>
        <p:nvSpPr>
          <p:cNvPr id="30" name="Text 27"/>
          <p:cNvSpPr/>
          <p:nvPr/>
        </p:nvSpPr>
        <p:spPr>
          <a:xfrm>
            <a:off x="6537960" y="4471416"/>
            <a:ext cx="4846320" cy="1188720"/>
          </a:xfrm>
          <a:prstGeom prst="rect">
            <a:avLst/>
          </a:prstGeom>
          <a:noFill/>
          <a:ln/>
        </p:spPr>
        <p:txBody>
          <a:bodyPr wrap="square" lIns="0" tIns="0" rIns="0" bIns="0" rtlCol="0" anchor="t"/>
          <a:lstStyle/>
          <a:p>
            <a:pPr marL="342900" indent="-342900">
              <a:spcAft>
                <a:spcPts val="500"/>
              </a:spcAft>
              <a:buSzPct val="100000"/>
              <a:buChar char="•"/>
            </a:pPr>
            <a:r>
              <a:rPr lang="en-US" sz="1150" dirty="0">
                <a:solidFill>
                  <a:srgbClr val="C6D0DF"/>
                </a:solidFill>
                <a:latin typeface="Calibri" pitchFamily="34" charset="0"/>
                <a:ea typeface="Calibri" pitchFamily="34" charset="-122"/>
                <a:cs typeface="Calibri" pitchFamily="34" charset="-120"/>
              </a:rPr>
              <a:t>An owner and a date for the Azure Policy tagging work</a:t>
            </a:r>
            <a:endParaRPr lang="en-US" sz="1150" dirty="0"/>
          </a:p>
          <a:p>
            <a:pPr marL="342900" indent="-342900">
              <a:spcAft>
                <a:spcPts val="500"/>
              </a:spcAft>
              <a:buSzPct val="100000"/>
              <a:buChar char="•"/>
            </a:pPr>
            <a:r>
              <a:rPr lang="en-US" sz="1150" dirty="0">
                <a:solidFill>
                  <a:srgbClr val="C6D0DF"/>
                </a:solidFill>
                <a:latin typeface="Calibri" pitchFamily="34" charset="0"/>
                <a:ea typeface="Calibri" pitchFamily="34" charset="-122"/>
                <a:cs typeface="Calibri" pitchFamily="34" charset="-120"/>
              </a:rPr>
              <a:t>Seven on-call rosters named, or the IdP group sync switched on</a:t>
            </a:r>
            <a:endParaRPr lang="en-US" sz="1150" dirty="0"/>
          </a:p>
          <a:p>
            <a:pPr marL="342900" indent="-342900">
              <a:spcAft>
                <a:spcPts val="500"/>
              </a:spcAft>
              <a:buSzPct val="100000"/>
              <a:buChar char="•"/>
            </a:pPr>
            <a:r>
              <a:rPr lang="en-US" sz="1150" dirty="0">
                <a:solidFill>
                  <a:srgbClr val="C6D0DF"/>
                </a:solidFill>
                <a:latin typeface="Calibri" pitchFamily="34" charset="0"/>
                <a:ea typeface="Calibri" pitchFamily="34" charset="-122"/>
                <a:cs typeface="Calibri" pitchFamily="34" charset="-120"/>
              </a:rPr>
              <a:t>The 18 legacy workflows deleted so the quota releases</a:t>
            </a:r>
            <a:endParaRPr lang="en-US" sz="1150" dirty="0"/>
          </a:p>
          <a:p>
            <a:pPr marL="342900" indent="-342900">
              <a:spcAft>
                <a:spcPts val="500"/>
              </a:spcAft>
              <a:buSzPct val="100000"/>
              <a:buChar char="•"/>
            </a:pPr>
            <a:r>
              <a:rPr lang="en-US" sz="1150" dirty="0">
                <a:solidFill>
                  <a:srgbClr val="C6D0DF"/>
                </a:solidFill>
                <a:latin typeface="Calibri" pitchFamily="34" charset="0"/>
                <a:ea typeface="Calibri" pitchFamily="34" charset="-122"/>
                <a:cs typeface="Calibri" pitchFamily="34" charset="-120"/>
              </a:rPr>
              <a:t>A decision on alert_band versus tier scoping — either is defensible; undecided is not</a:t>
            </a:r>
            <a:endParaRPr lang="en-US" sz="11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8778240" cy="256032"/>
          </a:xfrm>
          <a:prstGeom prst="rect">
            <a:avLst/>
          </a:prstGeom>
          <a:noFill/>
          <a:ln/>
        </p:spPr>
        <p:txBody>
          <a:bodyPr wrap="square" lIns="0" tIns="0" rIns="0" bIns="0" rtlCol="0" anchor="ctr"/>
          <a:lstStyle/>
          <a:p>
            <a:pPr indent="0" marL="0">
              <a:buNone/>
            </a:pPr>
            <a:r>
              <a:rPr lang="en-US" sz="1050" b="1" spc="160" kern="0" dirty="0">
                <a:solidFill>
                  <a:srgbClr val="B87914"/>
                </a:solidFill>
                <a:latin typeface="Calibri" pitchFamily="34" charset="0"/>
                <a:ea typeface="Calibri" pitchFamily="34" charset="-122"/>
                <a:cs typeface="Calibri" pitchFamily="34" charset="-120"/>
              </a:rPr>
              <a:t>TOPIC 32</a:t>
            </a:r>
            <a:endParaRPr lang="en-US" sz="1050" dirty="0"/>
          </a:p>
        </p:txBody>
      </p:sp>
      <p:sp>
        <p:nvSpPr>
          <p:cNvPr id="3" name="Text 1"/>
          <p:cNvSpPr/>
          <p:nvPr/>
        </p:nvSpPr>
        <p:spPr>
          <a:xfrm>
            <a:off x="566928" y="694944"/>
            <a:ext cx="10424160" cy="786384"/>
          </a:xfrm>
          <a:prstGeom prst="rect">
            <a:avLst/>
          </a:prstGeom>
          <a:noFill/>
          <a:ln/>
        </p:spPr>
        <p:txBody>
          <a:bodyPr wrap="square" lIns="0" tIns="0" rIns="0" bIns="0" rtlCol="0" anchor="ctr"/>
          <a:lstStyle/>
          <a:p>
            <a:pPr indent="0" marL="0">
              <a:buNone/>
            </a:pPr>
            <a:r>
              <a:rPr lang="en-US" sz="3100" b="1" dirty="0">
                <a:solidFill>
                  <a:srgbClr val="161C28"/>
                </a:solidFill>
                <a:latin typeface="Cambria" pitchFamily="34" charset="0"/>
                <a:ea typeface="Cambria" pitchFamily="34" charset="-122"/>
                <a:cs typeface="Cambria" pitchFamily="34" charset="-120"/>
              </a:rPr>
              <a:t>Success metrics</a:t>
            </a:r>
            <a:endParaRPr lang="en-US" sz="3100" dirty="0"/>
          </a:p>
        </p:txBody>
      </p:sp>
      <p:sp>
        <p:nvSpPr>
          <p:cNvPr id="4" name="Text 2"/>
          <p:cNvSpPr/>
          <p:nvPr/>
        </p:nvSpPr>
        <p:spPr>
          <a:xfrm>
            <a:off x="566928" y="1481328"/>
            <a:ext cx="10698480" cy="457200"/>
          </a:xfrm>
          <a:prstGeom prst="rect">
            <a:avLst/>
          </a:prstGeom>
          <a:noFill/>
          <a:ln/>
        </p:spPr>
        <p:txBody>
          <a:bodyPr wrap="square" lIns="0" tIns="0" rIns="0" bIns="0" rtlCol="0" anchor="t"/>
          <a:lstStyle/>
          <a:p>
            <a:pPr indent="0" marL="0">
              <a:buNone/>
            </a:pPr>
            <a:r>
              <a:rPr lang="en-US" sz="1450" dirty="0">
                <a:solidFill>
                  <a:srgbClr val="3A4557"/>
                </a:solidFill>
                <a:latin typeface="Calibri" pitchFamily="34" charset="0"/>
                <a:ea typeface="Calibri" pitchFamily="34" charset="-122"/>
                <a:cs typeface="Calibri" pitchFamily="34" charset="-120"/>
              </a:rPr>
              <a:t>Nine numbers, published monthly. Four can be reported today; five need the telemetry to carry the tags first.</a:t>
            </a:r>
            <a:endParaRPr lang="en-US" sz="1450" dirty="0"/>
          </a:p>
        </p:txBody>
      </p:sp>
      <p:sp>
        <p:nvSpPr>
          <p:cNvPr id="5" name="Shape 3"/>
          <p:cNvSpPr/>
          <p:nvPr/>
        </p:nvSpPr>
        <p:spPr>
          <a:xfrm>
            <a:off x="7688275" y="420624"/>
            <a:ext cx="3936492" cy="310896"/>
          </a:xfrm>
          <a:prstGeom prst="roundRect">
            <a:avLst>
              <a:gd name="adj" fmla="val 50000"/>
            </a:avLst>
          </a:prstGeom>
          <a:solidFill>
            <a:srgbClr val="E09A2E"/>
          </a:solidFill>
          <a:ln w="12700">
            <a:solidFill>
              <a:srgbClr val="E09A2E"/>
            </a:solidFill>
            <a:prstDash val="solid"/>
          </a:ln>
        </p:spPr>
      </p:sp>
      <p:sp>
        <p:nvSpPr>
          <p:cNvPr id="6" name="Text 4"/>
          <p:cNvSpPr/>
          <p:nvPr/>
        </p:nvSpPr>
        <p:spPr>
          <a:xfrm>
            <a:off x="7688275" y="420624"/>
            <a:ext cx="3936492" cy="310896"/>
          </a:xfrm>
          <a:prstGeom prst="rect">
            <a:avLst/>
          </a:prstGeom>
          <a:noFill/>
          <a:ln/>
        </p:spPr>
        <p:txBody>
          <a:bodyPr wrap="square" lIns="0" tIns="0" rIns="0" bIns="0" rtlCol="0" anchor="ctr"/>
          <a:lstStyle/>
          <a:p>
            <a:pPr algn="ctr" indent="0" marL="0">
              <a:buNone/>
            </a:pPr>
            <a:r>
              <a:rPr lang="en-US" sz="950" b="1" spc="100" kern="0" dirty="0">
                <a:solidFill>
                  <a:srgbClr val="2A1D06"/>
                </a:solidFill>
                <a:latin typeface="Calibri" pitchFamily="34" charset="0"/>
                <a:ea typeface="Calibri" pitchFamily="34" charset="-122"/>
                <a:cs typeface="Calibri" pitchFamily="34" charset="-120"/>
              </a:rPr>
              <a:t>PARTIAL — HALF ARE BLOCKED ON TAGGING</a:t>
            </a:r>
            <a:endParaRPr lang="en-US" sz="950" dirty="0"/>
          </a:p>
        </p:txBody>
      </p:sp>
      <p:sp>
        <p:nvSpPr>
          <p:cNvPr id="7" name="Text 5"/>
          <p:cNvSpPr/>
          <p:nvPr/>
        </p:nvSpPr>
        <p:spPr>
          <a:xfrm>
            <a:off x="566928" y="6345936"/>
            <a:ext cx="7315200" cy="274320"/>
          </a:xfrm>
          <a:prstGeom prst="rect">
            <a:avLst/>
          </a:prstGeom>
          <a:noFill/>
          <a:ln/>
        </p:spPr>
        <p:txBody>
          <a:bodyPr wrap="square" lIns="0" tIns="0" rIns="0" bIns="0" rtlCol="0" anchor="ctr"/>
          <a:lstStyle/>
          <a:p>
            <a:pPr indent="0" marL="0">
              <a:buNone/>
            </a:pPr>
            <a:r>
              <a:rPr lang="en-US" sz="900" dirty="0">
                <a:solidFill>
                  <a:srgbClr val="6B7891"/>
                </a:solidFill>
                <a:latin typeface="Calibri" pitchFamily="34" charset="0"/>
                <a:ea typeface="Calibri" pitchFamily="34" charset="-122"/>
                <a:cs typeface="Calibri" pitchFamily="34" charset="-120"/>
              </a:rPr>
              <a:t>Enterprise Observability  ·  policy-as-data on Datadog</a:t>
            </a:r>
            <a:endParaRPr lang="en-US" sz="900" dirty="0"/>
          </a:p>
        </p:txBody>
      </p:sp>
      <p:sp>
        <p:nvSpPr>
          <p:cNvPr id="8" name="Text 6"/>
          <p:cNvSpPr/>
          <p:nvPr/>
        </p:nvSpPr>
        <p:spPr>
          <a:xfrm>
            <a:off x="10710367" y="6345936"/>
            <a:ext cx="914400" cy="274320"/>
          </a:xfrm>
          <a:prstGeom prst="rect">
            <a:avLst/>
          </a:prstGeom>
          <a:noFill/>
          <a:ln/>
        </p:spPr>
        <p:txBody>
          <a:bodyPr wrap="square" lIns="0" tIns="0" rIns="0" bIns="0" rtlCol="0" anchor="ctr"/>
          <a:lstStyle/>
          <a:p>
            <a:pPr algn="r" indent="0" marL="0">
              <a:buNone/>
            </a:pPr>
            <a:r>
              <a:rPr lang="en-US" sz="900" dirty="0">
                <a:solidFill>
                  <a:srgbClr val="6B7891"/>
                </a:solidFill>
                <a:latin typeface="Calibri" pitchFamily="34" charset="0"/>
                <a:ea typeface="Calibri" pitchFamily="34" charset="-122"/>
                <a:cs typeface="Calibri" pitchFamily="34" charset="-120"/>
              </a:rPr>
              <a:t>41</a:t>
            </a:r>
            <a:endParaRPr lang="en-US" sz="900" dirty="0"/>
          </a:p>
        </p:txBody>
      </p:sp>
      <p:sp>
        <p:nvSpPr>
          <p:cNvPr id="10" name="Text 7"/>
          <p:cNvSpPr/>
          <p:nvPr/>
        </p:nvSpPr>
        <p:spPr>
          <a:xfrm>
            <a:off x="566928" y="2148840"/>
            <a:ext cx="5349240" cy="292608"/>
          </a:xfrm>
          <a:prstGeom prst="rect">
            <a:avLst/>
          </a:prstGeom>
          <a:noFill/>
          <a:ln/>
        </p:spPr>
        <p:txBody>
          <a:bodyPr wrap="square" lIns="0" tIns="0" rIns="0" bIns="0" rtlCol="0" anchor="ctr"/>
          <a:lstStyle/>
          <a:p>
            <a:pPr indent="0" marL="0">
              <a:buNone/>
            </a:pPr>
            <a:r>
              <a:rPr lang="en-US" sz="1400" b="1" dirty="0">
                <a:solidFill>
                  <a:srgbClr val="1D5C59"/>
                </a:solidFill>
                <a:latin typeface="Calibri" pitchFamily="34" charset="0"/>
                <a:ea typeface="Calibri" pitchFamily="34" charset="-122"/>
                <a:cs typeface="Calibri" pitchFamily="34" charset="-120"/>
              </a:rPr>
              <a:t>Reportable today</a:t>
            </a:r>
            <a:endParaRPr lang="en-US" sz="1400" dirty="0"/>
          </a:p>
        </p:txBody>
      </p:sp>
      <p:sp>
        <p:nvSpPr>
          <p:cNvPr id="11" name="Shape 8"/>
          <p:cNvSpPr/>
          <p:nvPr/>
        </p:nvSpPr>
        <p:spPr>
          <a:xfrm>
            <a:off x="566928" y="2505456"/>
            <a:ext cx="5349240" cy="566928"/>
          </a:xfrm>
          <a:prstGeom prst="roundRect">
            <a:avLst>
              <a:gd name="adj" fmla="val 8065"/>
            </a:avLst>
          </a:prstGeom>
          <a:solidFill>
            <a:srgbClr val="EAF3F1"/>
          </a:solidFill>
          <a:ln w="12700">
            <a:solidFill>
              <a:srgbClr val="EAF3F1"/>
            </a:solidFill>
            <a:prstDash val="solid"/>
          </a:ln>
        </p:spPr>
      </p:sp>
      <p:sp>
        <p:nvSpPr>
          <p:cNvPr id="12" name="Text 9"/>
          <p:cNvSpPr/>
          <p:nvPr/>
        </p:nvSpPr>
        <p:spPr>
          <a:xfrm>
            <a:off x="749808" y="2532888"/>
            <a:ext cx="5029200" cy="256032"/>
          </a:xfrm>
          <a:prstGeom prst="rect">
            <a:avLst/>
          </a:prstGeom>
          <a:noFill/>
          <a:ln/>
        </p:spPr>
        <p:txBody>
          <a:bodyPr wrap="square" lIns="0" tIns="0" rIns="0" bIns="0" rtlCol="0" anchor="ctr"/>
          <a:lstStyle/>
          <a:p>
            <a:pPr indent="0" marL="0">
              <a:buNone/>
            </a:pPr>
            <a:r>
              <a:rPr lang="en-US" sz="1200" b="1" dirty="0">
                <a:solidFill>
                  <a:srgbClr val="1D5C59"/>
                </a:solidFill>
                <a:latin typeface="Calibri" pitchFamily="34" charset="0"/>
                <a:ea typeface="Calibri" pitchFamily="34" charset="-122"/>
                <a:cs typeface="Calibri" pitchFamily="34" charset="-120"/>
              </a:rPr>
              <a:t>Tag conformance</a:t>
            </a:r>
            <a:endParaRPr lang="en-US" sz="1200" dirty="0"/>
          </a:p>
        </p:txBody>
      </p:sp>
      <p:sp>
        <p:nvSpPr>
          <p:cNvPr id="13" name="Text 10"/>
          <p:cNvSpPr/>
          <p:nvPr/>
        </p:nvSpPr>
        <p:spPr>
          <a:xfrm>
            <a:off x="749808" y="2779776"/>
            <a:ext cx="5029200" cy="256032"/>
          </a:xfrm>
          <a:prstGeom prst="rect">
            <a:avLst/>
          </a:prstGeom>
          <a:noFill/>
          <a:ln/>
        </p:spPr>
        <p:txBody>
          <a:bodyPr wrap="square" lIns="0" tIns="0" rIns="0" bIns="0" rtlCol="0" anchor="ctr"/>
          <a:lstStyle/>
          <a:p>
            <a:pPr indent="0" marL="0">
              <a:buNone/>
            </a:pPr>
            <a:r>
              <a:rPr lang="en-US" sz="1050" dirty="0">
                <a:solidFill>
                  <a:srgbClr val="2C6F6B"/>
                </a:solidFill>
                <a:latin typeface="Calibri" pitchFamily="34" charset="0"/>
                <a:ea typeface="Calibri" pitchFamily="34" charset="-122"/>
                <a:cs typeface="Calibri" pitchFamily="34" charset="-120"/>
              </a:rPr>
              <a:t>% of resources carrying all six identity tags — the campaign's progress bar</a:t>
            </a:r>
            <a:endParaRPr lang="en-US" sz="1050" dirty="0"/>
          </a:p>
        </p:txBody>
      </p:sp>
      <p:sp>
        <p:nvSpPr>
          <p:cNvPr id="14" name="Shape 11"/>
          <p:cNvSpPr/>
          <p:nvPr/>
        </p:nvSpPr>
        <p:spPr>
          <a:xfrm>
            <a:off x="566928" y="3108960"/>
            <a:ext cx="5349240" cy="566928"/>
          </a:xfrm>
          <a:prstGeom prst="roundRect">
            <a:avLst>
              <a:gd name="adj" fmla="val 8065"/>
            </a:avLst>
          </a:prstGeom>
          <a:solidFill>
            <a:srgbClr val="EAF3F1"/>
          </a:solidFill>
          <a:ln w="12700">
            <a:solidFill>
              <a:srgbClr val="EAF3F1"/>
            </a:solidFill>
            <a:prstDash val="solid"/>
          </a:ln>
        </p:spPr>
      </p:sp>
      <p:sp>
        <p:nvSpPr>
          <p:cNvPr id="15" name="Text 12"/>
          <p:cNvSpPr/>
          <p:nvPr/>
        </p:nvSpPr>
        <p:spPr>
          <a:xfrm>
            <a:off x="749808" y="3136392"/>
            <a:ext cx="5029200" cy="256032"/>
          </a:xfrm>
          <a:prstGeom prst="rect">
            <a:avLst/>
          </a:prstGeom>
          <a:noFill/>
          <a:ln/>
        </p:spPr>
        <p:txBody>
          <a:bodyPr wrap="square" lIns="0" tIns="0" rIns="0" bIns="0" rtlCol="0" anchor="ctr"/>
          <a:lstStyle/>
          <a:p>
            <a:pPr indent="0" marL="0">
              <a:buNone/>
            </a:pPr>
            <a:r>
              <a:rPr lang="en-US" sz="1200" b="1" dirty="0">
                <a:solidFill>
                  <a:srgbClr val="1D5C59"/>
                </a:solidFill>
                <a:latin typeface="Calibri" pitchFamily="34" charset="0"/>
                <a:ea typeface="Calibri" pitchFamily="34" charset="-122"/>
                <a:cs typeface="Calibri" pitchFamily="34" charset="-120"/>
              </a:rPr>
              <a:t>Coverage</a:t>
            </a:r>
            <a:endParaRPr lang="en-US" sz="1200" dirty="0"/>
          </a:p>
        </p:txBody>
      </p:sp>
      <p:sp>
        <p:nvSpPr>
          <p:cNvPr id="16" name="Text 13"/>
          <p:cNvSpPr/>
          <p:nvPr/>
        </p:nvSpPr>
        <p:spPr>
          <a:xfrm>
            <a:off x="749808" y="3383280"/>
            <a:ext cx="5029200" cy="256032"/>
          </a:xfrm>
          <a:prstGeom prst="rect">
            <a:avLst/>
          </a:prstGeom>
          <a:noFill/>
          <a:ln/>
        </p:spPr>
        <p:txBody>
          <a:bodyPr wrap="square" lIns="0" tIns="0" rIns="0" bIns="0" rtlCol="0" anchor="ctr"/>
          <a:lstStyle/>
          <a:p>
            <a:pPr indent="0" marL="0">
              <a:buNone/>
            </a:pPr>
            <a:r>
              <a:rPr lang="en-US" sz="1050" dirty="0">
                <a:solidFill>
                  <a:srgbClr val="2C6F6B"/>
                </a:solidFill>
                <a:latin typeface="Calibri" pitchFamily="34" charset="0"/>
                <a:ea typeface="Calibri" pitchFamily="34" charset="-122"/>
                <a:cs typeface="Calibri" pitchFamily="34" charset="-120"/>
              </a:rPr>
              <a:t>% of the alertable estate inside a monitor pack — 100% today</a:t>
            </a:r>
            <a:endParaRPr lang="en-US" sz="1050" dirty="0"/>
          </a:p>
        </p:txBody>
      </p:sp>
      <p:sp>
        <p:nvSpPr>
          <p:cNvPr id="17" name="Shape 14"/>
          <p:cNvSpPr/>
          <p:nvPr/>
        </p:nvSpPr>
        <p:spPr>
          <a:xfrm>
            <a:off x="566928" y="3712464"/>
            <a:ext cx="5349240" cy="566928"/>
          </a:xfrm>
          <a:prstGeom prst="roundRect">
            <a:avLst>
              <a:gd name="adj" fmla="val 8065"/>
            </a:avLst>
          </a:prstGeom>
          <a:solidFill>
            <a:srgbClr val="EAF3F1"/>
          </a:solidFill>
          <a:ln w="12700">
            <a:solidFill>
              <a:srgbClr val="EAF3F1"/>
            </a:solidFill>
            <a:prstDash val="solid"/>
          </a:ln>
        </p:spPr>
      </p:sp>
      <p:sp>
        <p:nvSpPr>
          <p:cNvPr id="18" name="Text 15"/>
          <p:cNvSpPr/>
          <p:nvPr/>
        </p:nvSpPr>
        <p:spPr>
          <a:xfrm>
            <a:off x="749808" y="3739896"/>
            <a:ext cx="5029200" cy="256032"/>
          </a:xfrm>
          <a:prstGeom prst="rect">
            <a:avLst/>
          </a:prstGeom>
          <a:noFill/>
          <a:ln/>
        </p:spPr>
        <p:txBody>
          <a:bodyPr wrap="square" lIns="0" tIns="0" rIns="0" bIns="0" rtlCol="0" anchor="ctr"/>
          <a:lstStyle/>
          <a:p>
            <a:pPr indent="0" marL="0">
              <a:buNone/>
            </a:pPr>
            <a:r>
              <a:rPr lang="en-US" sz="1200" b="1" dirty="0">
                <a:solidFill>
                  <a:srgbClr val="1D5C59"/>
                </a:solidFill>
                <a:latin typeface="Calibri" pitchFamily="34" charset="0"/>
                <a:ea typeface="Calibri" pitchFamily="34" charset="-122"/>
                <a:cs typeface="Calibri" pitchFamily="34" charset="-120"/>
              </a:rPr>
              <a:t>Monitor quality</a:t>
            </a:r>
            <a:endParaRPr lang="en-US" sz="1200" dirty="0"/>
          </a:p>
        </p:txBody>
      </p:sp>
      <p:sp>
        <p:nvSpPr>
          <p:cNvPr id="19" name="Text 16"/>
          <p:cNvSpPr/>
          <p:nvPr/>
        </p:nvSpPr>
        <p:spPr>
          <a:xfrm>
            <a:off x="749808" y="3986784"/>
            <a:ext cx="5029200" cy="256032"/>
          </a:xfrm>
          <a:prstGeom prst="rect">
            <a:avLst/>
          </a:prstGeom>
          <a:noFill/>
          <a:ln/>
        </p:spPr>
        <p:txBody>
          <a:bodyPr wrap="square" lIns="0" tIns="0" rIns="0" bIns="0" rtlCol="0" anchor="ctr"/>
          <a:lstStyle/>
          <a:p>
            <a:pPr indent="0" marL="0">
              <a:buNone/>
            </a:pPr>
            <a:r>
              <a:rPr lang="en-US" sz="1050" dirty="0">
                <a:solidFill>
                  <a:srgbClr val="2C6F6B"/>
                </a:solidFill>
                <a:latin typeface="Calibri" pitchFamily="34" charset="0"/>
                <a:ea typeface="Calibri" pitchFamily="34" charset="-122"/>
                <a:cs typeface="Calibri" pitchFamily="34" charset="-120"/>
              </a:rPr>
              <a:t>fleet scorecard average, gated at ≥ 85 with zero failing monitors</a:t>
            </a:r>
            <a:endParaRPr lang="en-US" sz="1050" dirty="0"/>
          </a:p>
        </p:txBody>
      </p:sp>
      <p:sp>
        <p:nvSpPr>
          <p:cNvPr id="20" name="Shape 17"/>
          <p:cNvSpPr/>
          <p:nvPr/>
        </p:nvSpPr>
        <p:spPr>
          <a:xfrm>
            <a:off x="566928" y="4315968"/>
            <a:ext cx="5349240" cy="566928"/>
          </a:xfrm>
          <a:prstGeom prst="roundRect">
            <a:avLst>
              <a:gd name="adj" fmla="val 8065"/>
            </a:avLst>
          </a:prstGeom>
          <a:solidFill>
            <a:srgbClr val="EAF3F1"/>
          </a:solidFill>
          <a:ln w="12700">
            <a:solidFill>
              <a:srgbClr val="EAF3F1"/>
            </a:solidFill>
            <a:prstDash val="solid"/>
          </a:ln>
        </p:spPr>
      </p:sp>
      <p:sp>
        <p:nvSpPr>
          <p:cNvPr id="21" name="Text 18"/>
          <p:cNvSpPr/>
          <p:nvPr/>
        </p:nvSpPr>
        <p:spPr>
          <a:xfrm>
            <a:off x="749808" y="4343400"/>
            <a:ext cx="5029200" cy="256032"/>
          </a:xfrm>
          <a:prstGeom prst="rect">
            <a:avLst/>
          </a:prstGeom>
          <a:noFill/>
          <a:ln/>
        </p:spPr>
        <p:txBody>
          <a:bodyPr wrap="square" lIns="0" tIns="0" rIns="0" bIns="0" rtlCol="0" anchor="ctr"/>
          <a:lstStyle/>
          <a:p>
            <a:pPr indent="0" marL="0">
              <a:buNone/>
            </a:pPr>
            <a:r>
              <a:rPr lang="en-US" sz="1200" b="1" dirty="0">
                <a:solidFill>
                  <a:srgbClr val="1D5C59"/>
                </a:solidFill>
                <a:latin typeface="Calibri" pitchFamily="34" charset="0"/>
                <a:ea typeface="Calibri" pitchFamily="34" charset="-122"/>
                <a:cs typeface="Calibri" pitchFamily="34" charset="-120"/>
              </a:rPr>
              <a:t>Governance findings</a:t>
            </a:r>
            <a:endParaRPr lang="en-US" sz="1200" dirty="0"/>
          </a:p>
        </p:txBody>
      </p:sp>
      <p:sp>
        <p:nvSpPr>
          <p:cNvPr id="22" name="Text 19"/>
          <p:cNvSpPr/>
          <p:nvPr/>
        </p:nvSpPr>
        <p:spPr>
          <a:xfrm>
            <a:off x="749808" y="4590288"/>
            <a:ext cx="5029200" cy="256032"/>
          </a:xfrm>
          <a:prstGeom prst="rect">
            <a:avLst/>
          </a:prstGeom>
          <a:noFill/>
          <a:ln/>
        </p:spPr>
        <p:txBody>
          <a:bodyPr wrap="square" lIns="0" tIns="0" rIns="0" bIns="0" rtlCol="0" anchor="ctr"/>
          <a:lstStyle/>
          <a:p>
            <a:pPr indent="0" marL="0">
              <a:buNone/>
            </a:pPr>
            <a:r>
              <a:rPr lang="en-US" sz="1050" dirty="0">
                <a:solidFill>
                  <a:srgbClr val="2C6F6B"/>
                </a:solidFill>
                <a:latin typeface="Calibri" pitchFamily="34" charset="0"/>
                <a:ea typeface="Calibri" pitchFamily="34" charset="-122"/>
                <a:cs typeface="Calibri" pitchFamily="34" charset="-120"/>
              </a:rPr>
              <a:t>open C1–C17 items and the age of the oldest</a:t>
            </a:r>
            <a:endParaRPr lang="en-US" sz="1050" dirty="0"/>
          </a:p>
        </p:txBody>
      </p:sp>
      <p:sp>
        <p:nvSpPr>
          <p:cNvPr id="23" name="Text 20"/>
          <p:cNvSpPr/>
          <p:nvPr/>
        </p:nvSpPr>
        <p:spPr>
          <a:xfrm>
            <a:off x="6281928" y="2148840"/>
            <a:ext cx="5349240" cy="292608"/>
          </a:xfrm>
          <a:prstGeom prst="rect">
            <a:avLst/>
          </a:prstGeom>
          <a:noFill/>
          <a:ln/>
        </p:spPr>
        <p:txBody>
          <a:bodyPr wrap="square" lIns="0" tIns="0" rIns="0" bIns="0" rtlCol="0" anchor="ctr"/>
          <a:lstStyle/>
          <a:p>
            <a:pPr indent="0" marL="0">
              <a:buNone/>
            </a:pPr>
            <a:r>
              <a:rPr lang="en-US" sz="1400" b="1" dirty="0">
                <a:solidFill>
                  <a:srgbClr val="BE4A3F"/>
                </a:solidFill>
                <a:latin typeface="Calibri" pitchFamily="34" charset="0"/>
                <a:ea typeface="Calibri" pitchFamily="34" charset="-122"/>
                <a:cs typeface="Calibri" pitchFamily="34" charset="-120"/>
              </a:rPr>
              <a:t>Blocked until the telemetry carries the tags</a:t>
            </a:r>
            <a:endParaRPr lang="en-US" sz="1400" dirty="0"/>
          </a:p>
        </p:txBody>
      </p:sp>
      <p:sp>
        <p:nvSpPr>
          <p:cNvPr id="24" name="Shape 21"/>
          <p:cNvSpPr/>
          <p:nvPr/>
        </p:nvSpPr>
        <p:spPr>
          <a:xfrm>
            <a:off x="6281928" y="2505456"/>
            <a:ext cx="5349240" cy="566928"/>
          </a:xfrm>
          <a:prstGeom prst="roundRect">
            <a:avLst>
              <a:gd name="adj" fmla="val 8065"/>
            </a:avLst>
          </a:prstGeom>
          <a:solidFill>
            <a:srgbClr val="FBEEEB"/>
          </a:solidFill>
          <a:ln w="12700">
            <a:solidFill>
              <a:srgbClr val="FBEEEB"/>
            </a:solidFill>
            <a:prstDash val="solid"/>
          </a:ln>
        </p:spPr>
      </p:sp>
      <p:sp>
        <p:nvSpPr>
          <p:cNvPr id="25" name="Text 22"/>
          <p:cNvSpPr/>
          <p:nvPr/>
        </p:nvSpPr>
        <p:spPr>
          <a:xfrm>
            <a:off x="6464808" y="2532888"/>
            <a:ext cx="5029200" cy="256032"/>
          </a:xfrm>
          <a:prstGeom prst="rect">
            <a:avLst/>
          </a:prstGeom>
          <a:noFill/>
          <a:ln/>
        </p:spPr>
        <p:txBody>
          <a:bodyPr wrap="square" lIns="0" tIns="0" rIns="0" bIns="0" rtlCol="0" anchor="ctr"/>
          <a:lstStyle/>
          <a:p>
            <a:pPr indent="0" marL="0">
              <a:buNone/>
            </a:pPr>
            <a:r>
              <a:rPr lang="en-US" sz="1200" b="1" dirty="0">
                <a:solidFill>
                  <a:srgbClr val="7A2E24"/>
                </a:solidFill>
                <a:latin typeface="Calibri" pitchFamily="34" charset="0"/>
                <a:ea typeface="Calibri" pitchFamily="34" charset="-122"/>
                <a:cs typeface="Calibri" pitchFamily="34" charset="-120"/>
              </a:rPr>
              <a:t>Pages per engineer per week</a:t>
            </a:r>
            <a:endParaRPr lang="en-US" sz="1200" dirty="0"/>
          </a:p>
        </p:txBody>
      </p:sp>
      <p:sp>
        <p:nvSpPr>
          <p:cNvPr id="26" name="Text 23"/>
          <p:cNvSpPr/>
          <p:nvPr/>
        </p:nvSpPr>
        <p:spPr>
          <a:xfrm>
            <a:off x="6464808" y="2779776"/>
            <a:ext cx="5029200" cy="256032"/>
          </a:xfrm>
          <a:prstGeom prst="rect">
            <a:avLst/>
          </a:prstGeom>
          <a:noFill/>
          <a:ln/>
        </p:spPr>
        <p:txBody>
          <a:bodyPr wrap="square" lIns="0" tIns="0" rIns="0" bIns="0" rtlCol="0" anchor="ctr"/>
          <a:lstStyle/>
          <a:p>
            <a:pPr indent="0" marL="0">
              <a:buNone/>
            </a:pPr>
            <a:r>
              <a:rPr lang="en-US" sz="1050" dirty="0">
                <a:solidFill>
                  <a:srgbClr val="97564C"/>
                </a:solidFill>
                <a:latin typeface="Calibri" pitchFamily="34" charset="0"/>
                <a:ea typeface="Calibri" pitchFamily="34" charset="-122"/>
                <a:cs typeface="Calibri" pitchFamily="34" charset="-120"/>
              </a:rPr>
              <a:t>the single best proxy for whether on-call is sustainable</a:t>
            </a:r>
            <a:endParaRPr lang="en-US" sz="1050" dirty="0"/>
          </a:p>
        </p:txBody>
      </p:sp>
      <p:sp>
        <p:nvSpPr>
          <p:cNvPr id="27" name="Shape 24"/>
          <p:cNvSpPr/>
          <p:nvPr/>
        </p:nvSpPr>
        <p:spPr>
          <a:xfrm>
            <a:off x="6281928" y="3108960"/>
            <a:ext cx="5349240" cy="566928"/>
          </a:xfrm>
          <a:prstGeom prst="roundRect">
            <a:avLst>
              <a:gd name="adj" fmla="val 8065"/>
            </a:avLst>
          </a:prstGeom>
          <a:solidFill>
            <a:srgbClr val="FBEEEB"/>
          </a:solidFill>
          <a:ln w="12700">
            <a:solidFill>
              <a:srgbClr val="FBEEEB"/>
            </a:solidFill>
            <a:prstDash val="solid"/>
          </a:ln>
        </p:spPr>
      </p:sp>
      <p:sp>
        <p:nvSpPr>
          <p:cNvPr id="28" name="Text 25"/>
          <p:cNvSpPr/>
          <p:nvPr/>
        </p:nvSpPr>
        <p:spPr>
          <a:xfrm>
            <a:off x="6464808" y="3136392"/>
            <a:ext cx="5029200" cy="256032"/>
          </a:xfrm>
          <a:prstGeom prst="rect">
            <a:avLst/>
          </a:prstGeom>
          <a:noFill/>
          <a:ln/>
        </p:spPr>
        <p:txBody>
          <a:bodyPr wrap="square" lIns="0" tIns="0" rIns="0" bIns="0" rtlCol="0" anchor="ctr"/>
          <a:lstStyle/>
          <a:p>
            <a:pPr indent="0" marL="0">
              <a:buNone/>
            </a:pPr>
            <a:r>
              <a:rPr lang="en-US" sz="1200" b="1" dirty="0">
                <a:solidFill>
                  <a:srgbClr val="7A2E24"/>
                </a:solidFill>
                <a:latin typeface="Calibri" pitchFamily="34" charset="0"/>
                <a:ea typeface="Calibri" pitchFamily="34" charset="-122"/>
                <a:cs typeface="Calibri" pitchFamily="34" charset="-120"/>
              </a:rPr>
              <a:t>Actionability</a:t>
            </a:r>
            <a:endParaRPr lang="en-US" sz="1200" dirty="0"/>
          </a:p>
        </p:txBody>
      </p:sp>
      <p:sp>
        <p:nvSpPr>
          <p:cNvPr id="29" name="Text 26"/>
          <p:cNvSpPr/>
          <p:nvPr/>
        </p:nvSpPr>
        <p:spPr>
          <a:xfrm>
            <a:off x="6464808" y="3383280"/>
            <a:ext cx="5029200" cy="256032"/>
          </a:xfrm>
          <a:prstGeom prst="rect">
            <a:avLst/>
          </a:prstGeom>
          <a:noFill/>
          <a:ln/>
        </p:spPr>
        <p:txBody>
          <a:bodyPr wrap="square" lIns="0" tIns="0" rIns="0" bIns="0" rtlCol="0" anchor="ctr"/>
          <a:lstStyle/>
          <a:p>
            <a:pPr indent="0" marL="0">
              <a:buNone/>
            </a:pPr>
            <a:r>
              <a:rPr lang="en-US" sz="1050" dirty="0">
                <a:solidFill>
                  <a:srgbClr val="97564C"/>
                </a:solidFill>
                <a:latin typeface="Calibri" pitchFamily="34" charset="0"/>
                <a:ea typeface="Calibri" pitchFamily="34" charset="-122"/>
                <a:cs typeface="Calibri" pitchFamily="34" charset="-120"/>
              </a:rPr>
              <a:t>% of pages that led to an action, not an ack and a shrug</a:t>
            </a:r>
            <a:endParaRPr lang="en-US" sz="1050" dirty="0"/>
          </a:p>
        </p:txBody>
      </p:sp>
      <p:sp>
        <p:nvSpPr>
          <p:cNvPr id="30" name="Shape 27"/>
          <p:cNvSpPr/>
          <p:nvPr/>
        </p:nvSpPr>
        <p:spPr>
          <a:xfrm>
            <a:off x="6281928" y="3712464"/>
            <a:ext cx="5349240" cy="566928"/>
          </a:xfrm>
          <a:prstGeom prst="roundRect">
            <a:avLst>
              <a:gd name="adj" fmla="val 8065"/>
            </a:avLst>
          </a:prstGeom>
          <a:solidFill>
            <a:srgbClr val="FBEEEB"/>
          </a:solidFill>
          <a:ln w="12700">
            <a:solidFill>
              <a:srgbClr val="FBEEEB"/>
            </a:solidFill>
            <a:prstDash val="solid"/>
          </a:ln>
        </p:spPr>
      </p:sp>
      <p:sp>
        <p:nvSpPr>
          <p:cNvPr id="31" name="Text 28"/>
          <p:cNvSpPr/>
          <p:nvPr/>
        </p:nvSpPr>
        <p:spPr>
          <a:xfrm>
            <a:off x="6464808" y="3739896"/>
            <a:ext cx="5029200" cy="256032"/>
          </a:xfrm>
          <a:prstGeom prst="rect">
            <a:avLst/>
          </a:prstGeom>
          <a:noFill/>
          <a:ln/>
        </p:spPr>
        <p:txBody>
          <a:bodyPr wrap="square" lIns="0" tIns="0" rIns="0" bIns="0" rtlCol="0" anchor="ctr"/>
          <a:lstStyle/>
          <a:p>
            <a:pPr indent="0" marL="0">
              <a:buNone/>
            </a:pPr>
            <a:r>
              <a:rPr lang="en-US" sz="1200" b="1" dirty="0">
                <a:solidFill>
                  <a:srgbClr val="7A2E24"/>
                </a:solidFill>
                <a:latin typeface="Calibri" pitchFamily="34" charset="0"/>
                <a:ea typeface="Calibri" pitchFamily="34" charset="-122"/>
                <a:cs typeface="Calibri" pitchFamily="34" charset="-120"/>
              </a:rPr>
              <a:t>MTTA / MTTR for P1</a:t>
            </a:r>
            <a:endParaRPr lang="en-US" sz="1200" dirty="0"/>
          </a:p>
        </p:txBody>
      </p:sp>
      <p:sp>
        <p:nvSpPr>
          <p:cNvPr id="32" name="Text 29"/>
          <p:cNvSpPr/>
          <p:nvPr/>
        </p:nvSpPr>
        <p:spPr>
          <a:xfrm>
            <a:off x="6464808" y="3986784"/>
            <a:ext cx="5029200" cy="256032"/>
          </a:xfrm>
          <a:prstGeom prst="rect">
            <a:avLst/>
          </a:prstGeom>
          <a:noFill/>
          <a:ln/>
        </p:spPr>
        <p:txBody>
          <a:bodyPr wrap="square" lIns="0" tIns="0" rIns="0" bIns="0" rtlCol="0" anchor="ctr"/>
          <a:lstStyle/>
          <a:p>
            <a:pPr indent="0" marL="0">
              <a:buNone/>
            </a:pPr>
            <a:r>
              <a:rPr lang="en-US" sz="1050" dirty="0">
                <a:solidFill>
                  <a:srgbClr val="97564C"/>
                </a:solidFill>
                <a:latin typeface="Calibri" pitchFamily="34" charset="0"/>
                <a:ea typeface="Calibri" pitchFamily="34" charset="-122"/>
                <a:cs typeface="Calibri" pitchFamily="34" charset="-120"/>
              </a:rPr>
              <a:t>acknowledged in 5 minutes, resolved — measured, not assumed</a:t>
            </a:r>
            <a:endParaRPr lang="en-US" sz="1050" dirty="0"/>
          </a:p>
        </p:txBody>
      </p:sp>
      <p:sp>
        <p:nvSpPr>
          <p:cNvPr id="33" name="Shape 30"/>
          <p:cNvSpPr/>
          <p:nvPr/>
        </p:nvSpPr>
        <p:spPr>
          <a:xfrm>
            <a:off x="6281928" y="4315968"/>
            <a:ext cx="5349240" cy="566928"/>
          </a:xfrm>
          <a:prstGeom prst="roundRect">
            <a:avLst>
              <a:gd name="adj" fmla="val 8065"/>
            </a:avLst>
          </a:prstGeom>
          <a:solidFill>
            <a:srgbClr val="FBEEEB"/>
          </a:solidFill>
          <a:ln w="12700">
            <a:solidFill>
              <a:srgbClr val="FBEEEB"/>
            </a:solidFill>
            <a:prstDash val="solid"/>
          </a:ln>
        </p:spPr>
      </p:sp>
      <p:sp>
        <p:nvSpPr>
          <p:cNvPr id="34" name="Text 31"/>
          <p:cNvSpPr/>
          <p:nvPr/>
        </p:nvSpPr>
        <p:spPr>
          <a:xfrm>
            <a:off x="6464808" y="4343400"/>
            <a:ext cx="5029200" cy="256032"/>
          </a:xfrm>
          <a:prstGeom prst="rect">
            <a:avLst/>
          </a:prstGeom>
          <a:noFill/>
          <a:ln/>
        </p:spPr>
        <p:txBody>
          <a:bodyPr wrap="square" lIns="0" tIns="0" rIns="0" bIns="0" rtlCol="0" anchor="ctr"/>
          <a:lstStyle/>
          <a:p>
            <a:pPr indent="0" marL="0">
              <a:buNone/>
            </a:pPr>
            <a:r>
              <a:rPr lang="en-US" sz="1200" b="1" dirty="0">
                <a:solidFill>
                  <a:srgbClr val="7A2E24"/>
                </a:solidFill>
                <a:latin typeface="Calibri" pitchFamily="34" charset="0"/>
                <a:ea typeface="Calibri" pitchFamily="34" charset="-122"/>
                <a:cs typeface="Calibri" pitchFamily="34" charset="-120"/>
              </a:rPr>
              <a:t>Error-budget consumption</a:t>
            </a:r>
            <a:endParaRPr lang="en-US" sz="1200" dirty="0"/>
          </a:p>
        </p:txBody>
      </p:sp>
      <p:sp>
        <p:nvSpPr>
          <p:cNvPr id="35" name="Text 32"/>
          <p:cNvSpPr/>
          <p:nvPr/>
        </p:nvSpPr>
        <p:spPr>
          <a:xfrm>
            <a:off x="6464808" y="4590288"/>
            <a:ext cx="5029200" cy="256032"/>
          </a:xfrm>
          <a:prstGeom prst="rect">
            <a:avLst/>
          </a:prstGeom>
          <a:noFill/>
          <a:ln/>
        </p:spPr>
        <p:txBody>
          <a:bodyPr wrap="square" lIns="0" tIns="0" rIns="0" bIns="0" rtlCol="0" anchor="ctr"/>
          <a:lstStyle/>
          <a:p>
            <a:pPr indent="0" marL="0">
              <a:buNone/>
            </a:pPr>
            <a:r>
              <a:rPr lang="en-US" sz="1050" dirty="0">
                <a:solidFill>
                  <a:srgbClr val="97564C"/>
                </a:solidFill>
                <a:latin typeface="Calibri" pitchFamily="34" charset="0"/>
                <a:ea typeface="Calibri" pitchFamily="34" charset="-122"/>
                <a:cs typeface="Calibri" pitchFamily="34" charset="-120"/>
              </a:rPr>
              <a:t>by tier, trended — the chart that makes reliability arithmetic</a:t>
            </a:r>
            <a:endParaRPr lang="en-US" sz="1050" dirty="0"/>
          </a:p>
        </p:txBody>
      </p:sp>
      <p:sp>
        <p:nvSpPr>
          <p:cNvPr id="36" name="Shape 33"/>
          <p:cNvSpPr/>
          <p:nvPr/>
        </p:nvSpPr>
        <p:spPr>
          <a:xfrm>
            <a:off x="6281928" y="4919472"/>
            <a:ext cx="5349240" cy="566928"/>
          </a:xfrm>
          <a:prstGeom prst="roundRect">
            <a:avLst>
              <a:gd name="adj" fmla="val 8065"/>
            </a:avLst>
          </a:prstGeom>
          <a:solidFill>
            <a:srgbClr val="FBEEEB"/>
          </a:solidFill>
          <a:ln w="12700">
            <a:solidFill>
              <a:srgbClr val="FBEEEB"/>
            </a:solidFill>
            <a:prstDash val="solid"/>
          </a:ln>
        </p:spPr>
      </p:sp>
      <p:sp>
        <p:nvSpPr>
          <p:cNvPr id="37" name="Text 34"/>
          <p:cNvSpPr/>
          <p:nvPr/>
        </p:nvSpPr>
        <p:spPr>
          <a:xfrm>
            <a:off x="6464808" y="4946904"/>
            <a:ext cx="5029200" cy="256032"/>
          </a:xfrm>
          <a:prstGeom prst="rect">
            <a:avLst/>
          </a:prstGeom>
          <a:noFill/>
          <a:ln/>
        </p:spPr>
        <p:txBody>
          <a:bodyPr wrap="square" lIns="0" tIns="0" rIns="0" bIns="0" rtlCol="0" anchor="ctr"/>
          <a:lstStyle/>
          <a:p>
            <a:pPr indent="0" marL="0">
              <a:buNone/>
            </a:pPr>
            <a:r>
              <a:rPr lang="en-US" sz="1200" b="1" dirty="0">
                <a:solidFill>
                  <a:srgbClr val="7A2E24"/>
                </a:solidFill>
                <a:latin typeface="Calibri" pitchFamily="34" charset="0"/>
                <a:ea typeface="Calibri" pitchFamily="34" charset="-122"/>
                <a:cs typeface="Calibri" pitchFamily="34" charset="-120"/>
              </a:rPr>
              <a:t>Fleet compliance</a:t>
            </a:r>
            <a:endParaRPr lang="en-US" sz="1200" dirty="0"/>
          </a:p>
        </p:txBody>
      </p:sp>
      <p:sp>
        <p:nvSpPr>
          <p:cNvPr id="38" name="Text 35"/>
          <p:cNvSpPr/>
          <p:nvPr/>
        </p:nvSpPr>
        <p:spPr>
          <a:xfrm>
            <a:off x="6464808" y="5193792"/>
            <a:ext cx="5029200" cy="256032"/>
          </a:xfrm>
          <a:prstGeom prst="rect">
            <a:avLst/>
          </a:prstGeom>
          <a:noFill/>
          <a:ln/>
        </p:spPr>
        <p:txBody>
          <a:bodyPr wrap="square" lIns="0" tIns="0" rIns="0" bIns="0" rtlCol="0" anchor="ctr"/>
          <a:lstStyle/>
          <a:p>
            <a:pPr indent="0" marL="0">
              <a:buNone/>
            </a:pPr>
            <a:r>
              <a:rPr lang="en-US" sz="1050" dirty="0">
                <a:solidFill>
                  <a:srgbClr val="97564C"/>
                </a:solidFill>
                <a:latin typeface="Calibri" pitchFamily="34" charset="0"/>
                <a:ea typeface="Calibri" pitchFamily="34" charset="-122"/>
                <a:cs typeface="Calibri" pitchFamily="34" charset="-120"/>
              </a:rPr>
              <a:t>% of hosts that should carry an agent and do — also needs phase 3</a:t>
            </a:r>
            <a:endParaRPr lang="en-US" sz="1050" dirty="0"/>
          </a:p>
        </p:txBody>
      </p:sp>
      <p:sp>
        <p:nvSpPr>
          <p:cNvPr id="39" name="Text 36"/>
          <p:cNvSpPr/>
          <p:nvPr/>
        </p:nvSpPr>
        <p:spPr>
          <a:xfrm>
            <a:off x="566928" y="5577840"/>
            <a:ext cx="11057839" cy="502920"/>
          </a:xfrm>
          <a:prstGeom prst="rect">
            <a:avLst/>
          </a:prstGeom>
          <a:noFill/>
          <a:ln/>
        </p:spPr>
        <p:txBody>
          <a:bodyPr wrap="square" lIns="0" tIns="0" rIns="0" bIns="0" rtlCol="0" anchor="t"/>
          <a:lstStyle/>
          <a:p>
            <a:pPr indent="0" marL="0">
              <a:buNone/>
            </a:pPr>
            <a:r>
              <a:rPr lang="en-US" sz="1200" dirty="0">
                <a:solidFill>
                  <a:srgbClr val="3A4557"/>
                </a:solidFill>
                <a:latin typeface="Calibri" pitchFamily="34" charset="0"/>
                <a:ea typeface="Calibri" pitchFamily="34" charset="-122"/>
                <a:cs typeface="Calibri" pitchFamily="34" charset="-120"/>
              </a:rPr>
              <a:t>The first four measure whether the platform is built correctly. The last five measure whether it is working. Forum: the monthly alert-quality review, which already exists in the operating model.</a:t>
            </a:r>
            <a:endParaRPr lang="en-US" sz="12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12161F"/>
        </a:solidFill>
      </p:bgPr>
    </p:bg>
    <p:spTree>
      <p:nvGrpSpPr>
        <p:cNvPr id="1" name=""/>
        <p:cNvGrpSpPr/>
        <p:nvPr/>
      </p:nvGrpSpPr>
      <p:grpSpPr>
        <a:xfrm>
          <a:off x="0" y="0"/>
          <a:ext cx="0" cy="0"/>
          <a:chOff x="0" y="0"/>
          <a:chExt cx="0" cy="0"/>
        </a:xfrm>
      </p:grpSpPr>
      <p:sp>
        <p:nvSpPr>
          <p:cNvPr id="2" name="Text 0"/>
          <p:cNvSpPr/>
          <p:nvPr/>
        </p:nvSpPr>
        <p:spPr>
          <a:xfrm>
            <a:off x="566928" y="402336"/>
            <a:ext cx="8778240" cy="256032"/>
          </a:xfrm>
          <a:prstGeom prst="rect">
            <a:avLst/>
          </a:prstGeom>
          <a:noFill/>
          <a:ln/>
        </p:spPr>
        <p:txBody>
          <a:bodyPr wrap="square" lIns="0" tIns="0" rIns="0" bIns="0" rtlCol="0" anchor="ctr"/>
          <a:lstStyle/>
          <a:p>
            <a:pPr indent="0" marL="0">
              <a:buNone/>
            </a:pPr>
            <a:r>
              <a:rPr lang="en-US" sz="1050" b="1" spc="160" kern="0" dirty="0">
                <a:solidFill>
                  <a:srgbClr val="E09A2E"/>
                </a:solidFill>
                <a:latin typeface="Calibri" pitchFamily="34" charset="0"/>
                <a:ea typeface="Calibri" pitchFamily="34" charset="-122"/>
                <a:cs typeface="Calibri" pitchFamily="34" charset="-120"/>
              </a:rPr>
              <a:t>THE HONEST ROADMAP</a:t>
            </a:r>
            <a:endParaRPr lang="en-US" sz="1050" dirty="0"/>
          </a:p>
        </p:txBody>
      </p:sp>
      <p:sp>
        <p:nvSpPr>
          <p:cNvPr id="3" name="Text 1"/>
          <p:cNvSpPr/>
          <p:nvPr/>
        </p:nvSpPr>
        <p:spPr>
          <a:xfrm>
            <a:off x="566928" y="694944"/>
            <a:ext cx="10424160" cy="786384"/>
          </a:xfrm>
          <a:prstGeom prst="rect">
            <a:avLst/>
          </a:prstGeom>
          <a:noFill/>
          <a:ln/>
        </p:spPr>
        <p:txBody>
          <a:bodyPr wrap="square" lIns="0" tIns="0" rIns="0" bIns="0" rtlCol="0" anchor="ctr"/>
          <a:lstStyle/>
          <a:p>
            <a:pPr indent="0" marL="0">
              <a:buNone/>
            </a:pPr>
            <a:r>
              <a:rPr lang="en-US" sz="3100" b="1" dirty="0">
                <a:solidFill>
                  <a:srgbClr val="FFFFFF"/>
                </a:solidFill>
                <a:latin typeface="Cambria" pitchFamily="34" charset="0"/>
                <a:ea typeface="Cambria" pitchFamily="34" charset="-122"/>
                <a:cs typeface="Cambria" pitchFamily="34" charset="-120"/>
              </a:rPr>
              <a:t>Nine phases, ordered by dependency</a:t>
            </a:r>
            <a:endParaRPr lang="en-US" sz="3100" dirty="0"/>
          </a:p>
        </p:txBody>
      </p:sp>
      <p:sp>
        <p:nvSpPr>
          <p:cNvPr id="4" name="Text 2"/>
          <p:cNvSpPr/>
          <p:nvPr/>
        </p:nvSpPr>
        <p:spPr>
          <a:xfrm>
            <a:off x="566928" y="6345936"/>
            <a:ext cx="7315200" cy="274320"/>
          </a:xfrm>
          <a:prstGeom prst="rect">
            <a:avLst/>
          </a:prstGeom>
          <a:noFill/>
          <a:ln/>
        </p:spPr>
        <p:txBody>
          <a:bodyPr wrap="square" lIns="0" tIns="0" rIns="0" bIns="0" rtlCol="0" anchor="ctr"/>
          <a:lstStyle/>
          <a:p>
            <a:pPr indent="0" marL="0">
              <a:buNone/>
            </a:pPr>
            <a:r>
              <a:rPr lang="en-US" sz="900" dirty="0">
                <a:solidFill>
                  <a:srgbClr val="6E7B92"/>
                </a:solidFill>
                <a:latin typeface="Calibri" pitchFamily="34" charset="0"/>
                <a:ea typeface="Calibri" pitchFamily="34" charset="-122"/>
                <a:cs typeface="Calibri" pitchFamily="34" charset="-120"/>
              </a:rPr>
              <a:t>Enterprise Observability  ·  policy-as-data on Datadog</a:t>
            </a:r>
            <a:endParaRPr lang="en-US" sz="900" dirty="0"/>
          </a:p>
        </p:txBody>
      </p:sp>
      <p:sp>
        <p:nvSpPr>
          <p:cNvPr id="5" name="Text 3"/>
          <p:cNvSpPr/>
          <p:nvPr/>
        </p:nvSpPr>
        <p:spPr>
          <a:xfrm>
            <a:off x="10710367" y="6345936"/>
            <a:ext cx="914400" cy="274320"/>
          </a:xfrm>
          <a:prstGeom prst="rect">
            <a:avLst/>
          </a:prstGeom>
          <a:noFill/>
          <a:ln/>
        </p:spPr>
        <p:txBody>
          <a:bodyPr wrap="square" lIns="0" tIns="0" rIns="0" bIns="0" rtlCol="0" anchor="ctr"/>
          <a:lstStyle/>
          <a:p>
            <a:pPr algn="r" indent="0" marL="0">
              <a:buNone/>
            </a:pPr>
            <a:r>
              <a:rPr lang="en-US" sz="900" dirty="0">
                <a:solidFill>
                  <a:srgbClr val="6E7B92"/>
                </a:solidFill>
                <a:latin typeface="Calibri" pitchFamily="34" charset="0"/>
                <a:ea typeface="Calibri" pitchFamily="34" charset="-122"/>
                <a:cs typeface="Calibri" pitchFamily="34" charset="-120"/>
              </a:rPr>
              <a:t>42</a:t>
            </a:r>
            <a:endParaRPr lang="en-US" sz="900" dirty="0"/>
          </a:p>
        </p:txBody>
      </p:sp>
      <p:sp>
        <p:nvSpPr>
          <p:cNvPr id="7" name="Shape 4"/>
          <p:cNvSpPr/>
          <p:nvPr/>
        </p:nvSpPr>
        <p:spPr>
          <a:xfrm>
            <a:off x="566928" y="1417320"/>
            <a:ext cx="11057839" cy="457200"/>
          </a:xfrm>
          <a:prstGeom prst="roundRect">
            <a:avLst>
              <a:gd name="adj" fmla="val 10000"/>
            </a:avLst>
          </a:prstGeom>
          <a:solidFill>
            <a:srgbClr val="2A1A16"/>
          </a:solidFill>
          <a:ln w="12700">
            <a:solidFill>
              <a:srgbClr val="BE4A3F"/>
            </a:solidFill>
            <a:prstDash val="solid"/>
          </a:ln>
        </p:spPr>
      </p:sp>
      <p:sp>
        <p:nvSpPr>
          <p:cNvPr id="8" name="Shape 5"/>
          <p:cNvSpPr/>
          <p:nvPr/>
        </p:nvSpPr>
        <p:spPr>
          <a:xfrm>
            <a:off x="713232" y="1499616"/>
            <a:ext cx="292608" cy="292608"/>
          </a:xfrm>
          <a:prstGeom prst="ellipse">
            <a:avLst/>
          </a:prstGeom>
          <a:solidFill>
            <a:srgbClr val="BE4A3F"/>
          </a:solidFill>
          <a:ln w="12700">
            <a:solidFill>
              <a:srgbClr val="BE4A3F"/>
            </a:solidFill>
            <a:prstDash val="solid"/>
          </a:ln>
        </p:spPr>
      </p:sp>
      <p:sp>
        <p:nvSpPr>
          <p:cNvPr id="9" name="Text 6"/>
          <p:cNvSpPr/>
          <p:nvPr/>
        </p:nvSpPr>
        <p:spPr>
          <a:xfrm>
            <a:off x="713232" y="1499616"/>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0" name="Text 7"/>
          <p:cNvSpPr/>
          <p:nvPr/>
        </p:nvSpPr>
        <p:spPr>
          <a:xfrm>
            <a:off x="1152144" y="1417320"/>
            <a:ext cx="7863840" cy="457200"/>
          </a:xfrm>
          <a:prstGeom prst="rect">
            <a:avLst/>
          </a:prstGeom>
          <a:noFill/>
          <a:ln/>
        </p:spPr>
        <p:txBody>
          <a:bodyPr wrap="square" lIns="0" tIns="0" rIns="0" bIns="0" rtlCol="0" anchor="ctr"/>
          <a:lstStyle/>
          <a:p>
            <a:pPr indent="0" marL="0">
              <a:buNone/>
            </a:pPr>
            <a:r>
              <a:rPr lang="en-US" sz="1250" dirty="0">
                <a:solidFill>
                  <a:srgbClr val="F3DDD8"/>
                </a:solidFill>
                <a:latin typeface="Calibri" pitchFamily="34" charset="0"/>
                <a:ea typeface="Calibri" pitchFamily="34" charset="-122"/>
                <a:cs typeface="Calibri" pitchFamily="34" charset="-120"/>
              </a:rPr>
              <a:t>Entity model — kind:, resolver, System/Datastore/Queue/API, catalog reconciliation</a:t>
            </a:r>
            <a:endParaRPr lang="en-US" sz="1250" dirty="0"/>
          </a:p>
        </p:txBody>
      </p:sp>
      <p:sp>
        <p:nvSpPr>
          <p:cNvPr id="11" name="Text 8"/>
          <p:cNvSpPr/>
          <p:nvPr/>
        </p:nvSpPr>
        <p:spPr>
          <a:xfrm>
            <a:off x="9070848" y="1417320"/>
            <a:ext cx="2377440" cy="457200"/>
          </a:xfrm>
          <a:prstGeom prst="rect">
            <a:avLst/>
          </a:prstGeom>
          <a:noFill/>
          <a:ln/>
        </p:spPr>
        <p:txBody>
          <a:bodyPr wrap="square" lIns="0" tIns="0" rIns="0" bIns="0" rtlCol="0" anchor="ctr"/>
          <a:lstStyle/>
          <a:p>
            <a:pPr algn="r" indent="0" marL="0">
              <a:buNone/>
            </a:pPr>
            <a:r>
              <a:rPr lang="en-US" sz="900" b="1" spc="120" kern="0" dirty="0">
                <a:solidFill>
                  <a:srgbClr val="BE4A3F"/>
                </a:solidFill>
                <a:latin typeface="Calibri" pitchFamily="34" charset="0"/>
                <a:ea typeface="Calibri" pitchFamily="34" charset="-122"/>
                <a:cs typeface="Calibri" pitchFamily="34" charset="-120"/>
              </a:rPr>
              <a:t>CHANGES WHETHER IT WORKS</a:t>
            </a:r>
            <a:endParaRPr lang="en-US" sz="900" dirty="0"/>
          </a:p>
        </p:txBody>
      </p:sp>
      <p:sp>
        <p:nvSpPr>
          <p:cNvPr id="12" name="Shape 9"/>
          <p:cNvSpPr/>
          <p:nvPr/>
        </p:nvSpPr>
        <p:spPr>
          <a:xfrm>
            <a:off x="566928" y="1901952"/>
            <a:ext cx="11057839" cy="457200"/>
          </a:xfrm>
          <a:prstGeom prst="roundRect">
            <a:avLst>
              <a:gd name="adj" fmla="val 10000"/>
            </a:avLst>
          </a:prstGeom>
          <a:solidFill>
            <a:srgbClr val="2A1A16"/>
          </a:solidFill>
          <a:ln w="12700">
            <a:solidFill>
              <a:srgbClr val="BE4A3F"/>
            </a:solidFill>
            <a:prstDash val="solid"/>
          </a:ln>
        </p:spPr>
      </p:sp>
      <p:sp>
        <p:nvSpPr>
          <p:cNvPr id="13" name="Shape 10"/>
          <p:cNvSpPr/>
          <p:nvPr/>
        </p:nvSpPr>
        <p:spPr>
          <a:xfrm>
            <a:off x="713232" y="1984248"/>
            <a:ext cx="292608" cy="292608"/>
          </a:xfrm>
          <a:prstGeom prst="ellipse">
            <a:avLst/>
          </a:prstGeom>
          <a:solidFill>
            <a:srgbClr val="BE4A3F"/>
          </a:solidFill>
          <a:ln w="12700">
            <a:solidFill>
              <a:srgbClr val="BE4A3F"/>
            </a:solidFill>
            <a:prstDash val="solid"/>
          </a:ln>
        </p:spPr>
      </p:sp>
      <p:sp>
        <p:nvSpPr>
          <p:cNvPr id="14" name="Text 11"/>
          <p:cNvSpPr/>
          <p:nvPr/>
        </p:nvSpPr>
        <p:spPr>
          <a:xfrm>
            <a:off x="713232" y="1984248"/>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5" name="Text 12"/>
          <p:cNvSpPr/>
          <p:nvPr/>
        </p:nvSpPr>
        <p:spPr>
          <a:xfrm>
            <a:off x="1152144" y="1901952"/>
            <a:ext cx="7863840" cy="457200"/>
          </a:xfrm>
          <a:prstGeom prst="rect">
            <a:avLst/>
          </a:prstGeom>
          <a:noFill/>
          <a:ln/>
        </p:spPr>
        <p:txBody>
          <a:bodyPr wrap="square" lIns="0" tIns="0" rIns="0" bIns="0" rtlCol="0" anchor="ctr"/>
          <a:lstStyle/>
          <a:p>
            <a:pPr indent="0" marL="0">
              <a:buNone/>
            </a:pPr>
            <a:r>
              <a:rPr lang="en-US" sz="1250" dirty="0">
                <a:solidFill>
                  <a:srgbClr val="F3DDD8"/>
                </a:solidFill>
                <a:latin typeface="Calibri" pitchFamily="34" charset="0"/>
                <a:ea typeface="Calibri" pitchFamily="34" charset="-122"/>
                <a:cs typeface="Calibri" pitchFamily="34" charset="-120"/>
              </a:rPr>
              <a:t>Telemetry requirements on every archetype + applicability engine</a:t>
            </a:r>
            <a:endParaRPr lang="en-US" sz="1250" dirty="0"/>
          </a:p>
        </p:txBody>
      </p:sp>
      <p:sp>
        <p:nvSpPr>
          <p:cNvPr id="16" name="Text 13"/>
          <p:cNvSpPr/>
          <p:nvPr/>
        </p:nvSpPr>
        <p:spPr>
          <a:xfrm>
            <a:off x="9070848" y="1901952"/>
            <a:ext cx="2377440" cy="457200"/>
          </a:xfrm>
          <a:prstGeom prst="rect">
            <a:avLst/>
          </a:prstGeom>
          <a:noFill/>
          <a:ln/>
        </p:spPr>
        <p:txBody>
          <a:bodyPr wrap="square" lIns="0" tIns="0" rIns="0" bIns="0" rtlCol="0" anchor="ctr"/>
          <a:lstStyle/>
          <a:p>
            <a:pPr algn="r" indent="0" marL="0">
              <a:buNone/>
            </a:pPr>
            <a:r>
              <a:rPr lang="en-US" sz="900" b="1" spc="120" kern="0" dirty="0">
                <a:solidFill>
                  <a:srgbClr val="BE4A3F"/>
                </a:solidFill>
                <a:latin typeface="Calibri" pitchFamily="34" charset="0"/>
                <a:ea typeface="Calibri" pitchFamily="34" charset="-122"/>
                <a:cs typeface="Calibri" pitchFamily="34" charset="-120"/>
              </a:rPr>
              <a:t>CHANGES WHETHER IT WORKS</a:t>
            </a:r>
            <a:endParaRPr lang="en-US" sz="900" dirty="0"/>
          </a:p>
        </p:txBody>
      </p:sp>
      <p:sp>
        <p:nvSpPr>
          <p:cNvPr id="17" name="Shape 14"/>
          <p:cNvSpPr/>
          <p:nvPr/>
        </p:nvSpPr>
        <p:spPr>
          <a:xfrm>
            <a:off x="566928" y="2386584"/>
            <a:ext cx="11057839" cy="457200"/>
          </a:xfrm>
          <a:prstGeom prst="roundRect">
            <a:avLst>
              <a:gd name="adj" fmla="val 10000"/>
            </a:avLst>
          </a:prstGeom>
          <a:solidFill>
            <a:srgbClr val="2A1A16"/>
          </a:solidFill>
          <a:ln w="12700">
            <a:solidFill>
              <a:srgbClr val="BE4A3F"/>
            </a:solidFill>
            <a:prstDash val="solid"/>
          </a:ln>
        </p:spPr>
      </p:sp>
      <p:sp>
        <p:nvSpPr>
          <p:cNvPr id="18" name="Shape 15"/>
          <p:cNvSpPr/>
          <p:nvPr/>
        </p:nvSpPr>
        <p:spPr>
          <a:xfrm>
            <a:off x="713232" y="2468880"/>
            <a:ext cx="292608" cy="292608"/>
          </a:xfrm>
          <a:prstGeom prst="ellipse">
            <a:avLst/>
          </a:prstGeom>
          <a:solidFill>
            <a:srgbClr val="BE4A3F"/>
          </a:solidFill>
          <a:ln w="12700">
            <a:solidFill>
              <a:srgbClr val="BE4A3F"/>
            </a:solidFill>
            <a:prstDash val="solid"/>
          </a:ln>
        </p:spPr>
      </p:sp>
      <p:sp>
        <p:nvSpPr>
          <p:cNvPr id="19" name="Text 16"/>
          <p:cNvSpPr/>
          <p:nvPr/>
        </p:nvSpPr>
        <p:spPr>
          <a:xfrm>
            <a:off x="713232" y="246888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0" name="Text 17"/>
          <p:cNvSpPr/>
          <p:nvPr/>
        </p:nvSpPr>
        <p:spPr>
          <a:xfrm>
            <a:off x="1152144" y="2386584"/>
            <a:ext cx="7863840" cy="457200"/>
          </a:xfrm>
          <a:prstGeom prst="rect">
            <a:avLst/>
          </a:prstGeom>
          <a:noFill/>
          <a:ln/>
        </p:spPr>
        <p:txBody>
          <a:bodyPr wrap="square" lIns="0" tIns="0" rIns="0" bIns="0" rtlCol="0" anchor="ctr"/>
          <a:lstStyle/>
          <a:p>
            <a:pPr indent="0" marL="0">
              <a:buNone/>
            </a:pPr>
            <a:r>
              <a:rPr lang="en-US" sz="1250" dirty="0">
                <a:solidFill>
                  <a:srgbClr val="F3DDD8"/>
                </a:solidFill>
                <a:latin typeface="Calibri" pitchFamily="34" charset="0"/>
                <a:ea typeface="Calibri" pitchFamily="34" charset="-122"/>
                <a:cs typeface="Calibri" pitchFamily="34" charset="-120"/>
              </a:rPr>
              <a:t>Fleet management, agent profiles, deployment metadata (DD_VERSION)</a:t>
            </a:r>
            <a:endParaRPr lang="en-US" sz="1250" dirty="0"/>
          </a:p>
        </p:txBody>
      </p:sp>
      <p:sp>
        <p:nvSpPr>
          <p:cNvPr id="21" name="Text 18"/>
          <p:cNvSpPr/>
          <p:nvPr/>
        </p:nvSpPr>
        <p:spPr>
          <a:xfrm>
            <a:off x="9070848" y="2386584"/>
            <a:ext cx="2377440" cy="457200"/>
          </a:xfrm>
          <a:prstGeom prst="rect">
            <a:avLst/>
          </a:prstGeom>
          <a:noFill/>
          <a:ln/>
        </p:spPr>
        <p:txBody>
          <a:bodyPr wrap="square" lIns="0" tIns="0" rIns="0" bIns="0" rtlCol="0" anchor="ctr"/>
          <a:lstStyle/>
          <a:p>
            <a:pPr algn="r" indent="0" marL="0">
              <a:buNone/>
            </a:pPr>
            <a:r>
              <a:rPr lang="en-US" sz="900" b="1" spc="120" kern="0" dirty="0">
                <a:solidFill>
                  <a:srgbClr val="BE4A3F"/>
                </a:solidFill>
                <a:latin typeface="Calibri" pitchFamily="34" charset="0"/>
                <a:ea typeface="Calibri" pitchFamily="34" charset="-122"/>
                <a:cs typeface="Calibri" pitchFamily="34" charset="-120"/>
              </a:rPr>
              <a:t>CHANGES WHETHER IT WORKS</a:t>
            </a:r>
            <a:endParaRPr lang="en-US" sz="900" dirty="0"/>
          </a:p>
        </p:txBody>
      </p:sp>
      <p:sp>
        <p:nvSpPr>
          <p:cNvPr id="22" name="Shape 19"/>
          <p:cNvSpPr/>
          <p:nvPr/>
        </p:nvSpPr>
        <p:spPr>
          <a:xfrm>
            <a:off x="566928" y="2871216"/>
            <a:ext cx="11057839" cy="457200"/>
          </a:xfrm>
          <a:prstGeom prst="roundRect">
            <a:avLst>
              <a:gd name="adj" fmla="val 10000"/>
            </a:avLst>
          </a:prstGeom>
          <a:solidFill>
            <a:srgbClr val="1E2531"/>
          </a:solidFill>
          <a:ln w="12700">
            <a:solidFill>
              <a:srgbClr val="1E2531"/>
            </a:solidFill>
            <a:prstDash val="solid"/>
          </a:ln>
        </p:spPr>
      </p:sp>
      <p:sp>
        <p:nvSpPr>
          <p:cNvPr id="23" name="Shape 20"/>
          <p:cNvSpPr/>
          <p:nvPr/>
        </p:nvSpPr>
        <p:spPr>
          <a:xfrm>
            <a:off x="713232" y="2953512"/>
            <a:ext cx="292608" cy="292608"/>
          </a:xfrm>
          <a:prstGeom prst="ellipse">
            <a:avLst/>
          </a:prstGeom>
          <a:solidFill>
            <a:srgbClr val="5F7189"/>
          </a:solidFill>
          <a:ln w="12700">
            <a:solidFill>
              <a:srgbClr val="5F7189"/>
            </a:solidFill>
            <a:prstDash val="solid"/>
          </a:ln>
        </p:spPr>
      </p:sp>
      <p:sp>
        <p:nvSpPr>
          <p:cNvPr id="24" name="Text 21"/>
          <p:cNvSpPr/>
          <p:nvPr/>
        </p:nvSpPr>
        <p:spPr>
          <a:xfrm>
            <a:off x="713232" y="2953512"/>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5" name="Text 22"/>
          <p:cNvSpPr/>
          <p:nvPr/>
        </p:nvSpPr>
        <p:spPr>
          <a:xfrm>
            <a:off x="1152144" y="2871216"/>
            <a:ext cx="7863840" cy="457200"/>
          </a:xfrm>
          <a:prstGeom prst="rect">
            <a:avLst/>
          </a:prstGeom>
          <a:noFill/>
          <a:ln/>
        </p:spPr>
        <p:txBody>
          <a:bodyPr wrap="square" lIns="0" tIns="0" rIns="0" bIns="0" rtlCol="0" anchor="ctr"/>
          <a:lstStyle/>
          <a:p>
            <a:pPr indent="0" marL="0">
              <a:buNone/>
            </a:pPr>
            <a:r>
              <a:rPr lang="en-US" sz="1250" dirty="0">
                <a:solidFill>
                  <a:srgbClr val="C6D0DF"/>
                </a:solidFill>
                <a:latin typeface="Calibri" pitchFamily="34" charset="0"/>
                <a:ea typeface="Calibri" pitchFamily="34" charset="-122"/>
                <a:cs typeface="Calibri" pitchFamily="34" charset="-120"/>
              </a:rPr>
              <a:t>SLO profiles and per-service objective overrides</a:t>
            </a:r>
            <a:endParaRPr lang="en-US" sz="1250" dirty="0"/>
          </a:p>
        </p:txBody>
      </p:sp>
      <p:sp>
        <p:nvSpPr>
          <p:cNvPr id="26" name="Shape 23"/>
          <p:cNvSpPr/>
          <p:nvPr/>
        </p:nvSpPr>
        <p:spPr>
          <a:xfrm>
            <a:off x="566928" y="3355848"/>
            <a:ext cx="11057839" cy="457200"/>
          </a:xfrm>
          <a:prstGeom prst="roundRect">
            <a:avLst>
              <a:gd name="adj" fmla="val 10000"/>
            </a:avLst>
          </a:prstGeom>
          <a:solidFill>
            <a:srgbClr val="1E2531"/>
          </a:solidFill>
          <a:ln w="12700">
            <a:solidFill>
              <a:srgbClr val="1E2531"/>
            </a:solidFill>
            <a:prstDash val="solid"/>
          </a:ln>
        </p:spPr>
      </p:sp>
      <p:sp>
        <p:nvSpPr>
          <p:cNvPr id="27" name="Shape 24"/>
          <p:cNvSpPr/>
          <p:nvPr/>
        </p:nvSpPr>
        <p:spPr>
          <a:xfrm>
            <a:off x="713232" y="3438144"/>
            <a:ext cx="292608" cy="292608"/>
          </a:xfrm>
          <a:prstGeom prst="ellipse">
            <a:avLst/>
          </a:prstGeom>
          <a:solidFill>
            <a:srgbClr val="5F7189"/>
          </a:solidFill>
          <a:ln w="12700">
            <a:solidFill>
              <a:srgbClr val="5F7189"/>
            </a:solidFill>
            <a:prstDash val="solid"/>
          </a:ln>
        </p:spPr>
      </p:sp>
      <p:sp>
        <p:nvSpPr>
          <p:cNvPr id="28" name="Text 25"/>
          <p:cNvSpPr/>
          <p:nvPr/>
        </p:nvSpPr>
        <p:spPr>
          <a:xfrm>
            <a:off x="713232" y="3438144"/>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9" name="Text 26"/>
          <p:cNvSpPr/>
          <p:nvPr/>
        </p:nvSpPr>
        <p:spPr>
          <a:xfrm>
            <a:off x="1152144" y="3355848"/>
            <a:ext cx="7863840" cy="457200"/>
          </a:xfrm>
          <a:prstGeom prst="rect">
            <a:avLst/>
          </a:prstGeom>
          <a:noFill/>
          <a:ln/>
        </p:spPr>
        <p:txBody>
          <a:bodyPr wrap="square" lIns="0" tIns="0" rIns="0" bIns="0" rtlCol="0" anchor="ctr"/>
          <a:lstStyle/>
          <a:p>
            <a:pPr indent="0" marL="0">
              <a:buNone/>
            </a:pPr>
            <a:r>
              <a:rPr lang="en-US" sz="1250" dirty="0">
                <a:solidFill>
                  <a:srgbClr val="C6D0DF"/>
                </a:solidFill>
                <a:latin typeface="Calibri" pitchFamily="34" charset="0"/>
                <a:ea typeface="Calibri" pitchFamily="34" charset="-122"/>
                <a:cs typeface="Calibri" pitchFamily="34" charset="-120"/>
              </a:rPr>
              <a:t>Control-M in-flight job monitoring — zero files exist today</a:t>
            </a:r>
            <a:endParaRPr lang="en-US" sz="1250" dirty="0"/>
          </a:p>
        </p:txBody>
      </p:sp>
      <p:sp>
        <p:nvSpPr>
          <p:cNvPr id="30" name="Shape 27"/>
          <p:cNvSpPr/>
          <p:nvPr/>
        </p:nvSpPr>
        <p:spPr>
          <a:xfrm>
            <a:off x="566928" y="3840480"/>
            <a:ext cx="11057839" cy="457200"/>
          </a:xfrm>
          <a:prstGeom prst="roundRect">
            <a:avLst>
              <a:gd name="adj" fmla="val 10000"/>
            </a:avLst>
          </a:prstGeom>
          <a:solidFill>
            <a:srgbClr val="1E2531"/>
          </a:solidFill>
          <a:ln w="12700">
            <a:solidFill>
              <a:srgbClr val="1E2531"/>
            </a:solidFill>
            <a:prstDash val="solid"/>
          </a:ln>
        </p:spPr>
      </p:sp>
      <p:sp>
        <p:nvSpPr>
          <p:cNvPr id="31" name="Shape 28"/>
          <p:cNvSpPr/>
          <p:nvPr/>
        </p:nvSpPr>
        <p:spPr>
          <a:xfrm>
            <a:off x="713232" y="3922776"/>
            <a:ext cx="292608" cy="292608"/>
          </a:xfrm>
          <a:prstGeom prst="ellipse">
            <a:avLst/>
          </a:prstGeom>
          <a:solidFill>
            <a:srgbClr val="5F7189"/>
          </a:solidFill>
          <a:ln w="12700">
            <a:solidFill>
              <a:srgbClr val="5F7189"/>
            </a:solidFill>
            <a:prstDash val="solid"/>
          </a:ln>
        </p:spPr>
      </p:sp>
      <p:sp>
        <p:nvSpPr>
          <p:cNvPr id="32" name="Text 29"/>
          <p:cNvSpPr/>
          <p:nvPr/>
        </p:nvSpPr>
        <p:spPr>
          <a:xfrm>
            <a:off x="713232" y="3922776"/>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33" name="Text 30"/>
          <p:cNvSpPr/>
          <p:nvPr/>
        </p:nvSpPr>
        <p:spPr>
          <a:xfrm>
            <a:off x="1152144" y="3840480"/>
            <a:ext cx="7863840" cy="457200"/>
          </a:xfrm>
          <a:prstGeom prst="rect">
            <a:avLst/>
          </a:prstGeom>
          <a:noFill/>
          <a:ln/>
        </p:spPr>
        <p:txBody>
          <a:bodyPr wrap="square" lIns="0" tIns="0" rIns="0" bIns="0" rtlCol="0" anchor="ctr"/>
          <a:lstStyle/>
          <a:p>
            <a:pPr indent="0" marL="0">
              <a:buNone/>
            </a:pPr>
            <a:r>
              <a:rPr lang="en-US" sz="1250" dirty="0">
                <a:solidFill>
                  <a:srgbClr val="C6D0DF"/>
                </a:solidFill>
                <a:latin typeface="Calibri" pitchFamily="34" charset="0"/>
                <a:ea typeface="Calibri" pitchFamily="34" charset="-122"/>
                <a:cs typeface="Calibri" pitchFamily="34" charset="-120"/>
              </a:rPr>
              <a:t>Reports catalog · dashboard consolidation · survey · entity scorecards</a:t>
            </a:r>
            <a:endParaRPr lang="en-US" sz="1250" dirty="0"/>
          </a:p>
        </p:txBody>
      </p:sp>
      <p:sp>
        <p:nvSpPr>
          <p:cNvPr id="34" name="Shape 31"/>
          <p:cNvSpPr/>
          <p:nvPr/>
        </p:nvSpPr>
        <p:spPr>
          <a:xfrm>
            <a:off x="566928" y="4325112"/>
            <a:ext cx="11057839" cy="457200"/>
          </a:xfrm>
          <a:prstGeom prst="roundRect">
            <a:avLst>
              <a:gd name="adj" fmla="val 10000"/>
            </a:avLst>
          </a:prstGeom>
          <a:solidFill>
            <a:srgbClr val="1E2531"/>
          </a:solidFill>
          <a:ln w="12700">
            <a:solidFill>
              <a:srgbClr val="1E2531"/>
            </a:solidFill>
            <a:prstDash val="solid"/>
          </a:ln>
        </p:spPr>
      </p:sp>
      <p:sp>
        <p:nvSpPr>
          <p:cNvPr id="35" name="Shape 32"/>
          <p:cNvSpPr/>
          <p:nvPr/>
        </p:nvSpPr>
        <p:spPr>
          <a:xfrm>
            <a:off x="713232" y="4407408"/>
            <a:ext cx="292608" cy="292608"/>
          </a:xfrm>
          <a:prstGeom prst="ellipse">
            <a:avLst/>
          </a:prstGeom>
          <a:solidFill>
            <a:srgbClr val="5F7189"/>
          </a:solidFill>
          <a:ln w="12700">
            <a:solidFill>
              <a:srgbClr val="5F7189"/>
            </a:solidFill>
            <a:prstDash val="solid"/>
          </a:ln>
        </p:spPr>
      </p:sp>
      <p:sp>
        <p:nvSpPr>
          <p:cNvPr id="36" name="Text 33"/>
          <p:cNvSpPr/>
          <p:nvPr/>
        </p:nvSpPr>
        <p:spPr>
          <a:xfrm>
            <a:off x="713232" y="4407408"/>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37" name="Text 34"/>
          <p:cNvSpPr/>
          <p:nvPr/>
        </p:nvSpPr>
        <p:spPr>
          <a:xfrm>
            <a:off x="1152144" y="4325112"/>
            <a:ext cx="7863840" cy="457200"/>
          </a:xfrm>
          <a:prstGeom prst="rect">
            <a:avLst/>
          </a:prstGeom>
          <a:noFill/>
          <a:ln/>
        </p:spPr>
        <p:txBody>
          <a:bodyPr wrap="square" lIns="0" tIns="0" rIns="0" bIns="0" rtlCol="0" anchor="ctr"/>
          <a:lstStyle/>
          <a:p>
            <a:pPr indent="0" marL="0">
              <a:buNone/>
            </a:pPr>
            <a:r>
              <a:rPr lang="en-US" sz="1250" dirty="0">
                <a:solidFill>
                  <a:srgbClr val="C6D0DF"/>
                </a:solidFill>
                <a:latin typeface="Calibri" pitchFamily="34" charset="0"/>
                <a:ea typeface="Calibri" pitchFamily="34" charset="-122"/>
                <a:cs typeface="Calibri" pitchFamily="34" charset="-120"/>
              </a:rPr>
              <a:t>MCP server — Ask, then Act, then governance</a:t>
            </a:r>
            <a:endParaRPr lang="en-US" sz="1250" dirty="0"/>
          </a:p>
        </p:txBody>
      </p:sp>
      <p:sp>
        <p:nvSpPr>
          <p:cNvPr id="38" name="Text 35"/>
          <p:cNvSpPr/>
          <p:nvPr/>
        </p:nvSpPr>
        <p:spPr>
          <a:xfrm>
            <a:off x="9070848" y="4325112"/>
            <a:ext cx="2377440" cy="457200"/>
          </a:xfrm>
          <a:prstGeom prst="rect">
            <a:avLst/>
          </a:prstGeom>
          <a:noFill/>
          <a:ln/>
        </p:spPr>
        <p:txBody>
          <a:bodyPr wrap="square" lIns="0" tIns="0" rIns="0" bIns="0" rtlCol="0" anchor="ctr"/>
          <a:lstStyle/>
          <a:p>
            <a:pPr algn="r" indent="0" marL="0">
              <a:buNone/>
            </a:pPr>
            <a:r>
              <a:rPr lang="en-US" sz="900" b="1" spc="120" kern="0" dirty="0">
                <a:solidFill>
                  <a:srgbClr val="5F7189"/>
                </a:solidFill>
                <a:latin typeface="Calibri" pitchFamily="34" charset="0"/>
                <a:ea typeface="Calibri" pitchFamily="34" charset="-122"/>
                <a:cs typeface="Calibri" pitchFamily="34" charset="-120"/>
              </a:rPr>
              <a:t>SURFACE</a:t>
            </a:r>
            <a:endParaRPr lang="en-US" sz="900" dirty="0"/>
          </a:p>
        </p:txBody>
      </p:sp>
      <p:sp>
        <p:nvSpPr>
          <p:cNvPr id="39" name="Shape 36"/>
          <p:cNvSpPr/>
          <p:nvPr/>
        </p:nvSpPr>
        <p:spPr>
          <a:xfrm>
            <a:off x="566928" y="4809744"/>
            <a:ext cx="11057839" cy="457200"/>
          </a:xfrm>
          <a:prstGeom prst="roundRect">
            <a:avLst>
              <a:gd name="adj" fmla="val 10000"/>
            </a:avLst>
          </a:prstGeom>
          <a:solidFill>
            <a:srgbClr val="1E2531"/>
          </a:solidFill>
          <a:ln w="12700">
            <a:solidFill>
              <a:srgbClr val="1E2531"/>
            </a:solidFill>
            <a:prstDash val="solid"/>
          </a:ln>
        </p:spPr>
      </p:sp>
      <p:sp>
        <p:nvSpPr>
          <p:cNvPr id="40" name="Shape 37"/>
          <p:cNvSpPr/>
          <p:nvPr/>
        </p:nvSpPr>
        <p:spPr>
          <a:xfrm>
            <a:off x="713232" y="4892040"/>
            <a:ext cx="292608" cy="292608"/>
          </a:xfrm>
          <a:prstGeom prst="ellipse">
            <a:avLst/>
          </a:prstGeom>
          <a:solidFill>
            <a:srgbClr val="5F7189"/>
          </a:solidFill>
          <a:ln w="12700">
            <a:solidFill>
              <a:srgbClr val="5F7189"/>
            </a:solidFill>
            <a:prstDash val="solid"/>
          </a:ln>
        </p:spPr>
      </p:sp>
      <p:sp>
        <p:nvSpPr>
          <p:cNvPr id="41" name="Text 38"/>
          <p:cNvSpPr/>
          <p:nvPr/>
        </p:nvSpPr>
        <p:spPr>
          <a:xfrm>
            <a:off x="713232" y="489204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42" name="Text 39"/>
          <p:cNvSpPr/>
          <p:nvPr/>
        </p:nvSpPr>
        <p:spPr>
          <a:xfrm>
            <a:off x="1152144" y="4809744"/>
            <a:ext cx="7863840" cy="457200"/>
          </a:xfrm>
          <a:prstGeom prst="rect">
            <a:avLst/>
          </a:prstGeom>
          <a:noFill/>
          <a:ln/>
        </p:spPr>
        <p:txBody>
          <a:bodyPr wrap="square" lIns="0" tIns="0" rIns="0" bIns="0" rtlCol="0" anchor="ctr"/>
          <a:lstStyle/>
          <a:p>
            <a:pPr indent="0" marL="0">
              <a:buNone/>
            </a:pPr>
            <a:r>
              <a:rPr lang="en-US" sz="1250" dirty="0">
                <a:solidFill>
                  <a:srgbClr val="C6D0DF"/>
                </a:solidFill>
                <a:latin typeface="Calibri" pitchFamily="34" charset="0"/>
                <a:ea typeface="Calibri" pitchFamily="34" charset="-122"/>
                <a:cs typeface="Calibri" pitchFamily="34" charset="-120"/>
              </a:rPr>
              <a:t>Executive portal</a:t>
            </a:r>
            <a:endParaRPr lang="en-US" sz="1250" dirty="0"/>
          </a:p>
        </p:txBody>
      </p:sp>
      <p:sp>
        <p:nvSpPr>
          <p:cNvPr id="43" name="Text 40"/>
          <p:cNvSpPr/>
          <p:nvPr/>
        </p:nvSpPr>
        <p:spPr>
          <a:xfrm>
            <a:off x="9070848" y="4809744"/>
            <a:ext cx="2377440" cy="457200"/>
          </a:xfrm>
          <a:prstGeom prst="rect">
            <a:avLst/>
          </a:prstGeom>
          <a:noFill/>
          <a:ln/>
        </p:spPr>
        <p:txBody>
          <a:bodyPr wrap="square" lIns="0" tIns="0" rIns="0" bIns="0" rtlCol="0" anchor="ctr"/>
          <a:lstStyle/>
          <a:p>
            <a:pPr algn="r" indent="0" marL="0">
              <a:buNone/>
            </a:pPr>
            <a:r>
              <a:rPr lang="en-US" sz="900" b="1" spc="120" kern="0" dirty="0">
                <a:solidFill>
                  <a:srgbClr val="5F7189"/>
                </a:solidFill>
                <a:latin typeface="Calibri" pitchFamily="34" charset="0"/>
                <a:ea typeface="Calibri" pitchFamily="34" charset="-122"/>
                <a:cs typeface="Calibri" pitchFamily="34" charset="-120"/>
              </a:rPr>
              <a:t>SURFACE</a:t>
            </a:r>
            <a:endParaRPr lang="en-US" sz="900" dirty="0"/>
          </a:p>
        </p:txBody>
      </p:sp>
      <p:sp>
        <p:nvSpPr>
          <p:cNvPr id="44" name="Shape 41"/>
          <p:cNvSpPr/>
          <p:nvPr/>
        </p:nvSpPr>
        <p:spPr>
          <a:xfrm>
            <a:off x="566928" y="5294376"/>
            <a:ext cx="11057839" cy="457200"/>
          </a:xfrm>
          <a:prstGeom prst="roundRect">
            <a:avLst>
              <a:gd name="adj" fmla="val 10000"/>
            </a:avLst>
          </a:prstGeom>
          <a:solidFill>
            <a:srgbClr val="1E2531"/>
          </a:solidFill>
          <a:ln w="12700">
            <a:solidFill>
              <a:srgbClr val="1E2531"/>
            </a:solidFill>
            <a:prstDash val="solid"/>
          </a:ln>
        </p:spPr>
      </p:sp>
      <p:sp>
        <p:nvSpPr>
          <p:cNvPr id="45" name="Shape 42"/>
          <p:cNvSpPr/>
          <p:nvPr/>
        </p:nvSpPr>
        <p:spPr>
          <a:xfrm>
            <a:off x="713232" y="5376672"/>
            <a:ext cx="292608" cy="292608"/>
          </a:xfrm>
          <a:prstGeom prst="ellipse">
            <a:avLst/>
          </a:prstGeom>
          <a:solidFill>
            <a:srgbClr val="5F7189"/>
          </a:solidFill>
          <a:ln w="12700">
            <a:solidFill>
              <a:srgbClr val="5F7189"/>
            </a:solidFill>
            <a:prstDash val="solid"/>
          </a:ln>
        </p:spPr>
      </p:sp>
      <p:sp>
        <p:nvSpPr>
          <p:cNvPr id="46" name="Text 43"/>
          <p:cNvSpPr/>
          <p:nvPr/>
        </p:nvSpPr>
        <p:spPr>
          <a:xfrm>
            <a:off x="713232" y="5376672"/>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9</a:t>
            </a:r>
            <a:endParaRPr lang="en-US" sz="1100" dirty="0"/>
          </a:p>
        </p:txBody>
      </p:sp>
      <p:sp>
        <p:nvSpPr>
          <p:cNvPr id="47" name="Text 44"/>
          <p:cNvSpPr/>
          <p:nvPr/>
        </p:nvSpPr>
        <p:spPr>
          <a:xfrm>
            <a:off x="1152144" y="5294376"/>
            <a:ext cx="7863840" cy="457200"/>
          </a:xfrm>
          <a:prstGeom prst="rect">
            <a:avLst/>
          </a:prstGeom>
          <a:noFill/>
          <a:ln/>
        </p:spPr>
        <p:txBody>
          <a:bodyPr wrap="square" lIns="0" tIns="0" rIns="0" bIns="0" rtlCol="0" anchor="ctr"/>
          <a:lstStyle/>
          <a:p>
            <a:pPr indent="0" marL="0">
              <a:buNone/>
            </a:pPr>
            <a:r>
              <a:rPr lang="en-US" sz="1250" dirty="0">
                <a:solidFill>
                  <a:srgbClr val="C6D0DF"/>
                </a:solidFill>
                <a:latin typeface="Calibri" pitchFamily="34" charset="0"/>
                <a:ea typeface="Calibri" pitchFamily="34" charset="-122"/>
                <a:cs typeface="Calibri" pitchFamily="34" charset="-120"/>
              </a:rPr>
              <a:t>Presentation and final traceability review</a:t>
            </a:r>
            <a:endParaRPr lang="en-US" sz="1250" dirty="0"/>
          </a:p>
        </p:txBody>
      </p:sp>
      <p:sp>
        <p:nvSpPr>
          <p:cNvPr id="48" name="Text 45"/>
          <p:cNvSpPr/>
          <p:nvPr/>
        </p:nvSpPr>
        <p:spPr>
          <a:xfrm>
            <a:off x="9070848" y="5294376"/>
            <a:ext cx="2377440" cy="457200"/>
          </a:xfrm>
          <a:prstGeom prst="rect">
            <a:avLst/>
          </a:prstGeom>
          <a:noFill/>
          <a:ln/>
        </p:spPr>
        <p:txBody>
          <a:bodyPr wrap="square" lIns="0" tIns="0" rIns="0" bIns="0" rtlCol="0" anchor="ctr"/>
          <a:lstStyle/>
          <a:p>
            <a:pPr algn="r" indent="0" marL="0">
              <a:buNone/>
            </a:pPr>
            <a:r>
              <a:rPr lang="en-US" sz="900" b="1" spc="120" kern="0" dirty="0">
                <a:solidFill>
                  <a:srgbClr val="5F7189"/>
                </a:solidFill>
                <a:latin typeface="Calibri" pitchFamily="34" charset="0"/>
                <a:ea typeface="Calibri" pitchFamily="34" charset="-122"/>
                <a:cs typeface="Calibri" pitchFamily="34" charset="-120"/>
              </a:rPr>
              <a:t>THIS DECK</a:t>
            </a:r>
            <a:endParaRPr lang="en-US" sz="900" dirty="0"/>
          </a:p>
        </p:txBody>
      </p:sp>
      <p:sp>
        <p:nvSpPr>
          <p:cNvPr id="49" name="Text 46"/>
          <p:cNvSpPr/>
          <p:nvPr/>
        </p:nvSpPr>
        <p:spPr>
          <a:xfrm>
            <a:off x="566928" y="5852160"/>
            <a:ext cx="11057839" cy="457200"/>
          </a:xfrm>
          <a:prstGeom prst="rect">
            <a:avLst/>
          </a:prstGeom>
          <a:noFill/>
          <a:ln/>
        </p:spPr>
        <p:txBody>
          <a:bodyPr wrap="square" lIns="0" tIns="0" rIns="0" bIns="0" rtlCol="0" anchor="t"/>
          <a:lstStyle/>
          <a:p>
            <a:pPr indent="0" marL="0">
              <a:buNone/>
            </a:pPr>
            <a:r>
              <a:rPr lang="en-US" sz="1100" dirty="0">
                <a:solidFill>
                  <a:srgbClr val="8E9DB5"/>
                </a:solidFill>
                <a:latin typeface="Calibri" pitchFamily="34" charset="0"/>
                <a:ea typeface="Calibri" pitchFamily="34" charset="-122"/>
                <a:cs typeface="Calibri" pitchFamily="34" charset="-120"/>
              </a:rPr>
              <a:t>Phases 1–3 decide whether the platform WORKS: today 651 correct monitors return no data. Phases 7–8 are surfaces on a platform that must be true first. Every phase is independently shippable and leaves the platform working.</a:t>
            </a:r>
            <a:endParaRPr lang="en-US" sz="11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12161F"/>
        </a:solidFill>
      </p:bgPr>
    </p:bg>
    <p:spTree>
      <p:nvGrpSpPr>
        <p:cNvPr id="1" name=""/>
        <p:cNvGrpSpPr/>
        <p:nvPr/>
      </p:nvGrpSpPr>
      <p:grpSpPr>
        <a:xfrm>
          <a:off x="0" y="0"/>
          <a:ext cx="0" cy="0"/>
          <a:chOff x="0" y="0"/>
          <a:chExt cx="0" cy="0"/>
        </a:xfrm>
      </p:grpSpPr>
      <p:sp>
        <p:nvSpPr>
          <p:cNvPr id="2" name="Text 0"/>
          <p:cNvSpPr/>
          <p:nvPr/>
        </p:nvSpPr>
        <p:spPr>
          <a:xfrm>
            <a:off x="566928" y="6345936"/>
            <a:ext cx="7315200" cy="274320"/>
          </a:xfrm>
          <a:prstGeom prst="rect">
            <a:avLst/>
          </a:prstGeom>
          <a:noFill/>
          <a:ln/>
        </p:spPr>
        <p:txBody>
          <a:bodyPr wrap="square" lIns="0" tIns="0" rIns="0" bIns="0" rtlCol="0" anchor="ctr"/>
          <a:lstStyle/>
          <a:p>
            <a:pPr indent="0" marL="0">
              <a:buNone/>
            </a:pPr>
            <a:r>
              <a:rPr lang="en-US" sz="900" dirty="0">
                <a:solidFill>
                  <a:srgbClr val="6E7B92"/>
                </a:solidFill>
                <a:latin typeface="Calibri" pitchFamily="34" charset="0"/>
                <a:ea typeface="Calibri" pitchFamily="34" charset="-122"/>
                <a:cs typeface="Calibri" pitchFamily="34" charset="-120"/>
              </a:rPr>
              <a:t>Enterprise Observability  ·  policy-as-data on Datadog</a:t>
            </a:r>
            <a:endParaRPr lang="en-US" sz="900" dirty="0"/>
          </a:p>
        </p:txBody>
      </p:sp>
      <p:sp>
        <p:nvSpPr>
          <p:cNvPr id="3" name="Text 1"/>
          <p:cNvSpPr/>
          <p:nvPr/>
        </p:nvSpPr>
        <p:spPr>
          <a:xfrm>
            <a:off x="10710367" y="6345936"/>
            <a:ext cx="914400" cy="274320"/>
          </a:xfrm>
          <a:prstGeom prst="rect">
            <a:avLst/>
          </a:prstGeom>
          <a:noFill/>
          <a:ln/>
        </p:spPr>
        <p:txBody>
          <a:bodyPr wrap="square" lIns="0" tIns="0" rIns="0" bIns="0" rtlCol="0" anchor="ctr"/>
          <a:lstStyle/>
          <a:p>
            <a:pPr algn="r" indent="0" marL="0">
              <a:buNone/>
            </a:pPr>
            <a:r>
              <a:rPr lang="en-US" sz="900" dirty="0">
                <a:solidFill>
                  <a:srgbClr val="6E7B92"/>
                </a:solidFill>
                <a:latin typeface="Calibri" pitchFamily="34" charset="0"/>
                <a:ea typeface="Calibri" pitchFamily="34" charset="-122"/>
                <a:cs typeface="Calibri" pitchFamily="34" charset="-120"/>
              </a:rPr>
              <a:t>43</a:t>
            </a:r>
            <a:endParaRPr lang="en-US" sz="900" dirty="0"/>
          </a:p>
        </p:txBody>
      </p:sp>
      <p:sp>
        <p:nvSpPr>
          <p:cNvPr id="5" name="Text 2"/>
          <p:cNvSpPr/>
          <p:nvPr/>
        </p:nvSpPr>
        <p:spPr>
          <a:xfrm>
            <a:off x="566928" y="1051560"/>
            <a:ext cx="8229600" cy="292608"/>
          </a:xfrm>
          <a:prstGeom prst="rect">
            <a:avLst/>
          </a:prstGeom>
          <a:noFill/>
          <a:ln/>
        </p:spPr>
        <p:txBody>
          <a:bodyPr wrap="square" lIns="0" tIns="0" rIns="0" bIns="0" rtlCol="0" anchor="ctr"/>
          <a:lstStyle/>
          <a:p>
            <a:pPr indent="0" marL="0">
              <a:buNone/>
            </a:pPr>
            <a:r>
              <a:rPr lang="en-US" sz="1100" b="1" spc="220" kern="0" dirty="0">
                <a:solidFill>
                  <a:srgbClr val="E09A2E"/>
                </a:solidFill>
                <a:latin typeface="Calibri" pitchFamily="34" charset="0"/>
                <a:ea typeface="Calibri" pitchFamily="34" charset="-122"/>
                <a:cs typeface="Calibri" pitchFamily="34" charset="-120"/>
              </a:rPr>
              <a:t>IN CLOSING</a:t>
            </a:r>
            <a:endParaRPr lang="en-US" sz="1100" dirty="0"/>
          </a:p>
        </p:txBody>
      </p:sp>
      <p:sp>
        <p:nvSpPr>
          <p:cNvPr id="6" name="Text 3"/>
          <p:cNvSpPr/>
          <p:nvPr/>
        </p:nvSpPr>
        <p:spPr>
          <a:xfrm>
            <a:off x="566928" y="1417320"/>
            <a:ext cx="8229600" cy="82296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What we are asking for</a:t>
            </a:r>
            <a:endParaRPr lang="en-US" sz="3800" dirty="0"/>
          </a:p>
        </p:txBody>
      </p:sp>
      <p:sp>
        <p:nvSpPr>
          <p:cNvPr id="7" name="Shape 4"/>
          <p:cNvSpPr/>
          <p:nvPr/>
        </p:nvSpPr>
        <p:spPr>
          <a:xfrm>
            <a:off x="566928" y="2514600"/>
            <a:ext cx="2586152" cy="1600200"/>
          </a:xfrm>
          <a:prstGeom prst="roundRect">
            <a:avLst>
              <a:gd name="adj" fmla="val 3429"/>
            </a:avLst>
          </a:prstGeom>
          <a:solidFill>
            <a:srgbClr val="1E2531"/>
          </a:solidFill>
          <a:ln w="12700">
            <a:solidFill>
              <a:srgbClr val="1E2531"/>
            </a:solidFill>
            <a:prstDash val="solid"/>
          </a:ln>
        </p:spPr>
      </p:sp>
      <p:sp>
        <p:nvSpPr>
          <p:cNvPr id="8" name="Text 5"/>
          <p:cNvSpPr/>
          <p:nvPr/>
        </p:nvSpPr>
        <p:spPr>
          <a:xfrm>
            <a:off x="768096" y="2660904"/>
            <a:ext cx="2183816" cy="347472"/>
          </a:xfrm>
          <a:prstGeom prst="rect">
            <a:avLst/>
          </a:prstGeom>
          <a:noFill/>
          <a:ln/>
        </p:spPr>
        <p:txBody>
          <a:bodyPr wrap="square" lIns="0" tIns="0" rIns="0" bIns="0" rtlCol="0" anchor="t"/>
          <a:lstStyle/>
          <a:p>
            <a:pPr indent="0" marL="0">
              <a:buNone/>
            </a:pPr>
            <a:r>
              <a:rPr lang="en-US" sz="1450" b="1" dirty="0">
                <a:solidFill>
                  <a:srgbClr val="E09A2E"/>
                </a:solidFill>
                <a:latin typeface="Calibri" pitchFamily="34" charset="0"/>
                <a:ea typeface="Calibri" pitchFamily="34" charset="-122"/>
                <a:cs typeface="Calibri" pitchFamily="34" charset="-120"/>
              </a:rPr>
              <a:t>An owner and a date</a:t>
            </a:r>
            <a:endParaRPr lang="en-US" sz="1450" dirty="0"/>
          </a:p>
        </p:txBody>
      </p:sp>
      <p:sp>
        <p:nvSpPr>
          <p:cNvPr id="9" name="Text 6"/>
          <p:cNvSpPr/>
          <p:nvPr/>
        </p:nvSpPr>
        <p:spPr>
          <a:xfrm>
            <a:off x="768096" y="3044952"/>
            <a:ext cx="2183816" cy="923544"/>
          </a:xfrm>
          <a:prstGeom prst="rect">
            <a:avLst/>
          </a:prstGeom>
          <a:noFill/>
          <a:ln/>
        </p:spPr>
        <p:txBody>
          <a:bodyPr wrap="square" lIns="0" tIns="0" rIns="0" bIns="0" rtlCol="0" anchor="t"/>
          <a:lstStyle/>
          <a:p>
            <a:pPr indent="0" marL="0">
              <a:lnSpc>
                <a:spcPct val="102000"/>
              </a:lnSpc>
              <a:buNone/>
            </a:pPr>
            <a:r>
              <a:rPr lang="en-US" sz="1150" dirty="0">
                <a:solidFill>
                  <a:srgbClr val="C6D0DF"/>
                </a:solidFill>
                <a:latin typeface="Calibri" pitchFamily="34" charset="0"/>
                <a:ea typeface="Calibri" pitchFamily="34" charset="-122"/>
                <a:cs typeface="Calibri" pitchFamily="34" charset="-120"/>
              </a:rPr>
              <a:t>for the Azure Policy tagging work — or the decision to scope on tier instead. Either is defensible; undecided is not.</a:t>
            </a:r>
            <a:endParaRPr lang="en-US" sz="1150" dirty="0"/>
          </a:p>
        </p:txBody>
      </p:sp>
      <p:sp>
        <p:nvSpPr>
          <p:cNvPr id="10" name="Shape 7"/>
          <p:cNvSpPr/>
          <p:nvPr/>
        </p:nvSpPr>
        <p:spPr>
          <a:xfrm>
            <a:off x="3390824" y="2514600"/>
            <a:ext cx="2586152" cy="1600200"/>
          </a:xfrm>
          <a:prstGeom prst="roundRect">
            <a:avLst>
              <a:gd name="adj" fmla="val 3429"/>
            </a:avLst>
          </a:prstGeom>
          <a:solidFill>
            <a:srgbClr val="1E2531"/>
          </a:solidFill>
          <a:ln w="12700">
            <a:solidFill>
              <a:srgbClr val="1E2531"/>
            </a:solidFill>
            <a:prstDash val="solid"/>
          </a:ln>
        </p:spPr>
      </p:sp>
      <p:sp>
        <p:nvSpPr>
          <p:cNvPr id="11" name="Text 8"/>
          <p:cNvSpPr/>
          <p:nvPr/>
        </p:nvSpPr>
        <p:spPr>
          <a:xfrm>
            <a:off x="3591992" y="2660904"/>
            <a:ext cx="2183816" cy="347472"/>
          </a:xfrm>
          <a:prstGeom prst="rect">
            <a:avLst/>
          </a:prstGeom>
          <a:noFill/>
          <a:ln/>
        </p:spPr>
        <p:txBody>
          <a:bodyPr wrap="square" lIns="0" tIns="0" rIns="0" bIns="0" rtlCol="0" anchor="t"/>
          <a:lstStyle/>
          <a:p>
            <a:pPr indent="0" marL="0">
              <a:buNone/>
            </a:pPr>
            <a:r>
              <a:rPr lang="en-US" sz="1450" b="1" dirty="0">
                <a:solidFill>
                  <a:srgbClr val="E09A2E"/>
                </a:solidFill>
                <a:latin typeface="Calibri" pitchFamily="34" charset="0"/>
                <a:ea typeface="Calibri" pitchFamily="34" charset="-122"/>
                <a:cs typeface="Calibri" pitchFamily="34" charset="-120"/>
              </a:rPr>
              <a:t>Seven rosters</a:t>
            </a:r>
            <a:endParaRPr lang="en-US" sz="1450" dirty="0"/>
          </a:p>
        </p:txBody>
      </p:sp>
      <p:sp>
        <p:nvSpPr>
          <p:cNvPr id="12" name="Text 9"/>
          <p:cNvSpPr/>
          <p:nvPr/>
        </p:nvSpPr>
        <p:spPr>
          <a:xfrm>
            <a:off x="3591992" y="3044952"/>
            <a:ext cx="2183816" cy="923544"/>
          </a:xfrm>
          <a:prstGeom prst="rect">
            <a:avLst/>
          </a:prstGeom>
          <a:noFill/>
          <a:ln/>
        </p:spPr>
        <p:txBody>
          <a:bodyPr wrap="square" lIns="0" tIns="0" rIns="0" bIns="0" rtlCol="0" anchor="t"/>
          <a:lstStyle/>
          <a:p>
            <a:pPr indent="0" marL="0">
              <a:lnSpc>
                <a:spcPct val="102000"/>
              </a:lnSpc>
              <a:buNone/>
            </a:pPr>
            <a:r>
              <a:rPr lang="en-US" sz="1150" dirty="0">
                <a:solidFill>
                  <a:srgbClr val="C6D0DF"/>
                </a:solidFill>
                <a:latin typeface="Calibri" pitchFamily="34" charset="0"/>
                <a:ea typeface="Calibri" pitchFamily="34" charset="-122"/>
                <a:cs typeface="Calibri" pitchFamily="34" charset="-120"/>
              </a:rPr>
              <a:t>named by their team leads, or the IdP group sync switched on. Until then a page executes correctly and reaches nobody.</a:t>
            </a:r>
            <a:endParaRPr lang="en-US" sz="1150" dirty="0"/>
          </a:p>
        </p:txBody>
      </p:sp>
      <p:sp>
        <p:nvSpPr>
          <p:cNvPr id="13" name="Shape 10"/>
          <p:cNvSpPr/>
          <p:nvPr/>
        </p:nvSpPr>
        <p:spPr>
          <a:xfrm>
            <a:off x="6214720" y="2514600"/>
            <a:ext cx="2586152" cy="1600200"/>
          </a:xfrm>
          <a:prstGeom prst="roundRect">
            <a:avLst>
              <a:gd name="adj" fmla="val 3429"/>
            </a:avLst>
          </a:prstGeom>
          <a:solidFill>
            <a:srgbClr val="1E2531"/>
          </a:solidFill>
          <a:ln w="12700">
            <a:solidFill>
              <a:srgbClr val="1E2531"/>
            </a:solidFill>
            <a:prstDash val="solid"/>
          </a:ln>
        </p:spPr>
      </p:sp>
      <p:sp>
        <p:nvSpPr>
          <p:cNvPr id="14" name="Text 11"/>
          <p:cNvSpPr/>
          <p:nvPr/>
        </p:nvSpPr>
        <p:spPr>
          <a:xfrm>
            <a:off x="6415888" y="2660904"/>
            <a:ext cx="2183816" cy="347472"/>
          </a:xfrm>
          <a:prstGeom prst="rect">
            <a:avLst/>
          </a:prstGeom>
          <a:noFill/>
          <a:ln/>
        </p:spPr>
        <p:txBody>
          <a:bodyPr wrap="square" lIns="0" tIns="0" rIns="0" bIns="0" rtlCol="0" anchor="t"/>
          <a:lstStyle/>
          <a:p>
            <a:pPr indent="0" marL="0">
              <a:buNone/>
            </a:pPr>
            <a:r>
              <a:rPr lang="en-US" sz="1450" b="1" dirty="0">
                <a:solidFill>
                  <a:srgbClr val="E09A2E"/>
                </a:solidFill>
                <a:latin typeface="Calibri" pitchFamily="34" charset="0"/>
                <a:ea typeface="Calibri" pitchFamily="34" charset="-122"/>
                <a:cs typeface="Calibri" pitchFamily="34" charset="-120"/>
              </a:rPr>
              <a:t>The workflow quota</a:t>
            </a:r>
            <a:endParaRPr lang="en-US" sz="1450" dirty="0"/>
          </a:p>
        </p:txBody>
      </p:sp>
      <p:sp>
        <p:nvSpPr>
          <p:cNvPr id="15" name="Text 12"/>
          <p:cNvSpPr/>
          <p:nvPr/>
        </p:nvSpPr>
        <p:spPr>
          <a:xfrm>
            <a:off x="6415888" y="3044952"/>
            <a:ext cx="2183816" cy="923544"/>
          </a:xfrm>
          <a:prstGeom prst="rect">
            <a:avLst/>
          </a:prstGeom>
          <a:noFill/>
          <a:ln/>
        </p:spPr>
        <p:txBody>
          <a:bodyPr wrap="square" lIns="0" tIns="0" rIns="0" bIns="0" rtlCol="0" anchor="t"/>
          <a:lstStyle/>
          <a:p>
            <a:pPr indent="0" marL="0">
              <a:lnSpc>
                <a:spcPct val="102000"/>
              </a:lnSpc>
              <a:buNone/>
            </a:pPr>
            <a:r>
              <a:rPr lang="en-US" sz="1150" dirty="0">
                <a:solidFill>
                  <a:srgbClr val="C6D0DF"/>
                </a:solidFill>
                <a:latin typeface="Calibri" pitchFamily="34" charset="0"/>
                <a:ea typeface="Calibri" pitchFamily="34" charset="-122"/>
                <a:cs typeface="Calibri" pitchFamily="34" charset="-120"/>
              </a:rPr>
              <a:t>released: 18 legacy workflows deleted by their owning login, unblocking 25 automations.</a:t>
            </a:r>
            <a:endParaRPr lang="en-US" sz="1150" dirty="0"/>
          </a:p>
        </p:txBody>
      </p:sp>
      <p:sp>
        <p:nvSpPr>
          <p:cNvPr id="16" name="Shape 13"/>
          <p:cNvSpPr/>
          <p:nvPr/>
        </p:nvSpPr>
        <p:spPr>
          <a:xfrm>
            <a:off x="9038615" y="2514600"/>
            <a:ext cx="2586152" cy="1600200"/>
          </a:xfrm>
          <a:prstGeom prst="roundRect">
            <a:avLst>
              <a:gd name="adj" fmla="val 3429"/>
            </a:avLst>
          </a:prstGeom>
          <a:solidFill>
            <a:srgbClr val="1E2531"/>
          </a:solidFill>
          <a:ln w="12700">
            <a:solidFill>
              <a:srgbClr val="1E2531"/>
            </a:solidFill>
            <a:prstDash val="solid"/>
          </a:ln>
        </p:spPr>
      </p:sp>
      <p:sp>
        <p:nvSpPr>
          <p:cNvPr id="17" name="Text 14"/>
          <p:cNvSpPr/>
          <p:nvPr/>
        </p:nvSpPr>
        <p:spPr>
          <a:xfrm>
            <a:off x="9239783" y="2660904"/>
            <a:ext cx="2183816" cy="347472"/>
          </a:xfrm>
          <a:prstGeom prst="rect">
            <a:avLst/>
          </a:prstGeom>
          <a:noFill/>
          <a:ln/>
        </p:spPr>
        <p:txBody>
          <a:bodyPr wrap="square" lIns="0" tIns="0" rIns="0" bIns="0" rtlCol="0" anchor="t"/>
          <a:lstStyle/>
          <a:p>
            <a:pPr indent="0" marL="0">
              <a:buNone/>
            </a:pPr>
            <a:r>
              <a:rPr lang="en-US" sz="1450" b="1" dirty="0">
                <a:solidFill>
                  <a:srgbClr val="E09A2E"/>
                </a:solidFill>
                <a:latin typeface="Calibri" pitchFamily="34" charset="0"/>
                <a:ea typeface="Calibri" pitchFamily="34" charset="-122"/>
                <a:cs typeface="Calibri" pitchFamily="34" charset="-120"/>
              </a:rPr>
              <a:t>Agreement on the order</a:t>
            </a:r>
            <a:endParaRPr lang="en-US" sz="1450" dirty="0"/>
          </a:p>
        </p:txBody>
      </p:sp>
      <p:sp>
        <p:nvSpPr>
          <p:cNvPr id="18" name="Text 15"/>
          <p:cNvSpPr/>
          <p:nvPr/>
        </p:nvSpPr>
        <p:spPr>
          <a:xfrm>
            <a:off x="9239783" y="3044952"/>
            <a:ext cx="2183816" cy="923544"/>
          </a:xfrm>
          <a:prstGeom prst="rect">
            <a:avLst/>
          </a:prstGeom>
          <a:noFill/>
          <a:ln/>
        </p:spPr>
        <p:txBody>
          <a:bodyPr wrap="square" lIns="0" tIns="0" rIns="0" bIns="0" rtlCol="0" anchor="t"/>
          <a:lstStyle/>
          <a:p>
            <a:pPr indent="0" marL="0">
              <a:lnSpc>
                <a:spcPct val="102000"/>
              </a:lnSpc>
              <a:buNone/>
            </a:pPr>
            <a:r>
              <a:rPr lang="en-US" sz="1150" dirty="0">
                <a:solidFill>
                  <a:srgbClr val="C6D0DF"/>
                </a:solidFill>
                <a:latin typeface="Calibri" pitchFamily="34" charset="0"/>
                <a:ea typeface="Calibri" pitchFamily="34" charset="-122"/>
                <a:cs typeface="Calibri" pitchFamily="34" charset="-120"/>
              </a:rPr>
              <a:t>entity model, telemetry and fleet first. MCP and the portal last, over data that is true.</a:t>
            </a:r>
            <a:endParaRPr lang="en-US" sz="1150" dirty="0"/>
          </a:p>
        </p:txBody>
      </p:sp>
      <p:sp>
        <p:nvSpPr>
          <p:cNvPr id="19" name="Shape 16"/>
          <p:cNvSpPr/>
          <p:nvPr/>
        </p:nvSpPr>
        <p:spPr>
          <a:xfrm>
            <a:off x="566928" y="4434840"/>
            <a:ext cx="11057839" cy="1188720"/>
          </a:xfrm>
          <a:prstGeom prst="roundRect">
            <a:avLst>
              <a:gd name="adj" fmla="val 5385"/>
            </a:avLst>
          </a:prstGeom>
          <a:solidFill>
            <a:srgbClr val="1A2B28"/>
          </a:solidFill>
          <a:ln w="12700">
            <a:solidFill>
              <a:srgbClr val="27807C"/>
            </a:solidFill>
            <a:prstDash val="solid"/>
          </a:ln>
        </p:spPr>
      </p:sp>
      <p:sp>
        <p:nvSpPr>
          <p:cNvPr id="20" name="Text 17"/>
          <p:cNvSpPr/>
          <p:nvPr/>
        </p:nvSpPr>
        <p:spPr>
          <a:xfrm>
            <a:off x="841248" y="4572000"/>
            <a:ext cx="10424160" cy="274320"/>
          </a:xfrm>
          <a:prstGeom prst="rect">
            <a:avLst/>
          </a:prstGeom>
          <a:noFill/>
          <a:ln/>
        </p:spPr>
        <p:txBody>
          <a:bodyPr wrap="square" lIns="0" tIns="0" rIns="0" bIns="0" rtlCol="0" anchor="ctr"/>
          <a:lstStyle/>
          <a:p>
            <a:pPr indent="0" marL="0">
              <a:buNone/>
            </a:pPr>
            <a:r>
              <a:rPr lang="en-US" sz="1000" b="1" spc="160" kern="0" dirty="0">
                <a:solidFill>
                  <a:srgbClr val="5FB8B2"/>
                </a:solidFill>
                <a:latin typeface="Calibri" pitchFamily="34" charset="0"/>
                <a:ea typeface="Calibri" pitchFamily="34" charset="-122"/>
                <a:cs typeface="Calibri" pitchFamily="34" charset="-120"/>
              </a:rPr>
              <a:t>AND THE COMMITMENT BACK</a:t>
            </a:r>
            <a:endParaRPr lang="en-US" sz="1000" dirty="0"/>
          </a:p>
        </p:txBody>
      </p:sp>
      <p:sp>
        <p:nvSpPr>
          <p:cNvPr id="21" name="Text 18"/>
          <p:cNvSpPr/>
          <p:nvPr/>
        </p:nvSpPr>
        <p:spPr>
          <a:xfrm>
            <a:off x="841248" y="4864608"/>
            <a:ext cx="10424160" cy="640080"/>
          </a:xfrm>
          <a:prstGeom prst="rect">
            <a:avLst/>
          </a:prstGeom>
          <a:noFill/>
          <a:ln/>
        </p:spPr>
        <p:txBody>
          <a:bodyPr wrap="square" lIns="0" tIns="0" rIns="0" bIns="0" rtlCol="0" anchor="t"/>
          <a:lstStyle/>
          <a:p>
            <a:pPr indent="0" marL="0">
              <a:buNone/>
            </a:pPr>
            <a:r>
              <a:rPr lang="en-US" sz="1350" dirty="0">
                <a:solidFill>
                  <a:srgbClr val="CFE3E0"/>
                </a:solidFill>
                <a:latin typeface="Calibri" pitchFamily="34" charset="0"/>
                <a:ea typeface="Calibri" pitchFamily="34" charset="-122"/>
                <a:cs typeface="Calibri" pitchFamily="34" charset="-120"/>
              </a:rPr>
              <a:t>Every number in this deck came from the repository or the last production deploy. The same will be true of the monthly report — and when something is not working, we will show you that slide first, the way we did today.</a:t>
            </a:r>
            <a:endParaRPr lang="en-US" sz="1350" dirty="0"/>
          </a:p>
        </p:txBody>
      </p:sp>
      <p:sp>
        <p:nvSpPr>
          <p:cNvPr id="22" name="Text 19"/>
          <p:cNvSpPr/>
          <p:nvPr/>
        </p:nvSpPr>
        <p:spPr>
          <a:xfrm>
            <a:off x="566928" y="5806440"/>
            <a:ext cx="11057839" cy="457200"/>
          </a:xfrm>
          <a:prstGeom prst="rect">
            <a:avLst/>
          </a:prstGeom>
          <a:noFill/>
          <a:ln/>
        </p:spPr>
        <p:txBody>
          <a:bodyPr wrap="square" lIns="0" tIns="0" rIns="0" bIns="0" rtlCol="0" anchor="t"/>
          <a:lstStyle/>
          <a:p>
            <a:pPr indent="0" marL="0">
              <a:buNone/>
            </a:pPr>
            <a:r>
              <a:rPr lang="en-US" sz="1100" dirty="0">
                <a:solidFill>
                  <a:srgbClr val="6E7B92"/>
                </a:solidFill>
                <a:latin typeface="Calibri" pitchFamily="34" charset="0"/>
                <a:ea typeface="Calibri" pitchFamily="34" charset="-122"/>
                <a:cs typeface="Calibri" pitchFamily="34" charset="-120"/>
              </a:rPr>
              <a:t>Appendix follows: the traceability scorecard, the estate by domain, the priority and detection mix, the environment and routing matrices, the coverage checks, the tagging contract, and everything this deck deliberately does not claim.</a:t>
            </a:r>
            <a:endParaRPr lang="en-US" sz="11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12161F"/>
        </a:solidFill>
      </p:bgPr>
    </p:bg>
    <p:spTree>
      <p:nvGrpSpPr>
        <p:cNvPr id="1" name=""/>
        <p:cNvGrpSpPr/>
        <p:nvPr/>
      </p:nvGrpSpPr>
      <p:grpSpPr>
        <a:xfrm>
          <a:off x="0" y="0"/>
          <a:ext cx="0" cy="0"/>
          <a:chOff x="0" y="0"/>
          <a:chExt cx="0" cy="0"/>
        </a:xfrm>
      </p:grpSpPr>
      <p:sp>
        <p:nvSpPr>
          <p:cNvPr id="2" name="Text 0"/>
          <p:cNvSpPr/>
          <p:nvPr/>
        </p:nvSpPr>
        <p:spPr>
          <a:xfrm>
            <a:off x="566928" y="6345936"/>
            <a:ext cx="7315200" cy="274320"/>
          </a:xfrm>
          <a:prstGeom prst="rect">
            <a:avLst/>
          </a:prstGeom>
          <a:noFill/>
          <a:ln/>
        </p:spPr>
        <p:txBody>
          <a:bodyPr wrap="square" lIns="0" tIns="0" rIns="0" bIns="0" rtlCol="0" anchor="ctr"/>
          <a:lstStyle/>
          <a:p>
            <a:pPr indent="0" marL="0">
              <a:buNone/>
            </a:pPr>
            <a:r>
              <a:rPr lang="en-US" sz="900" dirty="0">
                <a:solidFill>
                  <a:srgbClr val="6E7B92"/>
                </a:solidFill>
                <a:latin typeface="Calibri" pitchFamily="34" charset="0"/>
                <a:ea typeface="Calibri" pitchFamily="34" charset="-122"/>
                <a:cs typeface="Calibri" pitchFamily="34" charset="-120"/>
              </a:rPr>
              <a:t>Enterprise Observability  ·  policy-as-data on Datadog</a:t>
            </a:r>
            <a:endParaRPr lang="en-US" sz="900" dirty="0"/>
          </a:p>
        </p:txBody>
      </p:sp>
      <p:sp>
        <p:nvSpPr>
          <p:cNvPr id="3" name="Text 1"/>
          <p:cNvSpPr/>
          <p:nvPr/>
        </p:nvSpPr>
        <p:spPr>
          <a:xfrm>
            <a:off x="10710367" y="6345936"/>
            <a:ext cx="914400" cy="274320"/>
          </a:xfrm>
          <a:prstGeom prst="rect">
            <a:avLst/>
          </a:prstGeom>
          <a:noFill/>
          <a:ln/>
        </p:spPr>
        <p:txBody>
          <a:bodyPr wrap="square" lIns="0" tIns="0" rIns="0" bIns="0" rtlCol="0" anchor="ctr"/>
          <a:lstStyle/>
          <a:p>
            <a:pPr algn="r" indent="0" marL="0">
              <a:buNone/>
            </a:pPr>
            <a:r>
              <a:rPr lang="en-US" sz="900" dirty="0">
                <a:solidFill>
                  <a:srgbClr val="6E7B92"/>
                </a:solidFill>
                <a:latin typeface="Calibri" pitchFamily="34" charset="0"/>
                <a:ea typeface="Calibri" pitchFamily="34" charset="-122"/>
                <a:cs typeface="Calibri" pitchFamily="34" charset="-120"/>
              </a:rPr>
              <a:t>44</a:t>
            </a:r>
            <a:endParaRPr lang="en-US" sz="900" dirty="0"/>
          </a:p>
        </p:txBody>
      </p:sp>
      <p:sp>
        <p:nvSpPr>
          <p:cNvPr id="5" name="Text 2"/>
          <p:cNvSpPr/>
          <p:nvPr/>
        </p:nvSpPr>
        <p:spPr>
          <a:xfrm>
            <a:off x="566928" y="1417320"/>
            <a:ext cx="5486400" cy="457200"/>
          </a:xfrm>
          <a:prstGeom prst="rect">
            <a:avLst/>
          </a:prstGeom>
          <a:noFill/>
          <a:ln/>
        </p:spPr>
        <p:txBody>
          <a:bodyPr wrap="square" lIns="0" tIns="0" rIns="0" bIns="0" rtlCol="0" anchor="ctr"/>
          <a:lstStyle/>
          <a:p>
            <a:pPr indent="0" marL="0">
              <a:buNone/>
            </a:pPr>
            <a:r>
              <a:rPr lang="en-US" sz="1200" b="1" spc="240" kern="0" dirty="0">
                <a:solidFill>
                  <a:srgbClr val="E09A2E"/>
                </a:solidFill>
                <a:latin typeface="Calibri" pitchFamily="34" charset="0"/>
                <a:ea typeface="Calibri" pitchFamily="34" charset="-122"/>
                <a:cs typeface="Calibri" pitchFamily="34" charset="-120"/>
              </a:rPr>
              <a:t>APPENDIX</a:t>
            </a:r>
            <a:endParaRPr lang="en-US" sz="1200" dirty="0"/>
          </a:p>
        </p:txBody>
      </p:sp>
      <p:sp>
        <p:nvSpPr>
          <p:cNvPr id="6" name="Text 3"/>
          <p:cNvSpPr/>
          <p:nvPr/>
        </p:nvSpPr>
        <p:spPr>
          <a:xfrm>
            <a:off x="566928" y="1874520"/>
            <a:ext cx="6766560" cy="173736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The detail</a:t>
            </a:r>
            <a:endParaRPr lang="en-US" sz="4000" dirty="0"/>
          </a:p>
          <a:p>
            <a:pPr indent="0" marL="0">
              <a:buNone/>
            </a:pPr>
            <a:r>
              <a:rPr lang="en-US" sz="4000" b="1" dirty="0">
                <a:solidFill>
                  <a:srgbClr val="FFFFFF"/>
                </a:solidFill>
                <a:latin typeface="Cambria" pitchFamily="34" charset="0"/>
                <a:ea typeface="Cambria" pitchFamily="34" charset="-122"/>
                <a:cs typeface="Cambria" pitchFamily="34" charset="-120"/>
              </a:rPr>
              <a:t>behind the deck</a:t>
            </a:r>
            <a:endParaRPr lang="en-US" sz="4000" dirty="0"/>
          </a:p>
        </p:txBody>
      </p:sp>
      <p:sp>
        <p:nvSpPr>
          <p:cNvPr id="7" name="Text 4"/>
          <p:cNvSpPr/>
          <p:nvPr/>
        </p:nvSpPr>
        <p:spPr>
          <a:xfrm>
            <a:off x="566928" y="3749040"/>
            <a:ext cx="6035040" cy="822960"/>
          </a:xfrm>
          <a:prstGeom prst="rect">
            <a:avLst/>
          </a:prstGeom>
          <a:noFill/>
          <a:ln/>
        </p:spPr>
        <p:txBody>
          <a:bodyPr wrap="square" lIns="0" tIns="0" rIns="0" bIns="0" rtlCol="0" anchor="t"/>
          <a:lstStyle/>
          <a:p>
            <a:pPr indent="0" marL="0">
              <a:buNone/>
            </a:pPr>
            <a:r>
              <a:rPr lang="en-US" sz="1400" dirty="0">
                <a:solidFill>
                  <a:srgbClr val="9FADC4"/>
                </a:solidFill>
                <a:latin typeface="Calibri" pitchFamily="34" charset="0"/>
                <a:ea typeface="Calibri" pitchFamily="34" charset="-122"/>
                <a:cs typeface="Calibri" pitchFamily="34" charset="-120"/>
              </a:rPr>
              <a:t>Every table someone in the room is about to ask for, plus a full register of what this deck does not claim.</a:t>
            </a:r>
            <a:endParaRPr lang="en-US" sz="1400" dirty="0"/>
          </a:p>
        </p:txBody>
      </p:sp>
      <p:sp>
        <p:nvSpPr>
          <p:cNvPr id="8" name="Shape 5"/>
          <p:cNvSpPr/>
          <p:nvPr/>
        </p:nvSpPr>
        <p:spPr>
          <a:xfrm>
            <a:off x="7360920" y="1371600"/>
            <a:ext cx="4263847" cy="4434840"/>
          </a:xfrm>
          <a:prstGeom prst="roundRect">
            <a:avLst>
              <a:gd name="adj" fmla="val 1501"/>
            </a:avLst>
          </a:prstGeom>
          <a:solidFill>
            <a:srgbClr val="1E2531"/>
          </a:solidFill>
          <a:ln w="12700">
            <a:solidFill>
              <a:srgbClr val="323C4D"/>
            </a:solidFill>
            <a:prstDash val="solid"/>
          </a:ln>
        </p:spPr>
      </p:sp>
      <p:sp>
        <p:nvSpPr>
          <p:cNvPr id="9" name="Text 6"/>
          <p:cNvSpPr/>
          <p:nvPr/>
        </p:nvSpPr>
        <p:spPr>
          <a:xfrm>
            <a:off x="7680960" y="1627632"/>
            <a:ext cx="3840480" cy="274320"/>
          </a:xfrm>
          <a:prstGeom prst="rect">
            <a:avLst/>
          </a:prstGeom>
          <a:noFill/>
          <a:ln/>
        </p:spPr>
        <p:txBody>
          <a:bodyPr wrap="square" lIns="0" tIns="0" rIns="0" bIns="0" rtlCol="0" anchor="ctr"/>
          <a:lstStyle/>
          <a:p>
            <a:pPr indent="0" marL="0">
              <a:buNone/>
            </a:pPr>
            <a:r>
              <a:rPr lang="en-US" sz="950" b="1" spc="160" kern="0" dirty="0">
                <a:solidFill>
                  <a:srgbClr val="E09A2E"/>
                </a:solidFill>
                <a:latin typeface="Calibri" pitchFamily="34" charset="0"/>
                <a:ea typeface="Calibri" pitchFamily="34" charset="-122"/>
                <a:cs typeface="Calibri" pitchFamily="34" charset="-120"/>
              </a:rPr>
              <a:t>TOPICS IN THIS PART</a:t>
            </a:r>
            <a:endParaRPr lang="en-US" sz="950" dirty="0"/>
          </a:p>
        </p:txBody>
      </p:sp>
      <p:sp>
        <p:nvSpPr>
          <p:cNvPr id="10" name="Text 7"/>
          <p:cNvSpPr/>
          <p:nvPr/>
        </p:nvSpPr>
        <p:spPr>
          <a:xfrm>
            <a:off x="7680960" y="1993392"/>
            <a:ext cx="3977640" cy="3566160"/>
          </a:xfrm>
          <a:prstGeom prst="rect">
            <a:avLst/>
          </a:prstGeom>
          <a:noFill/>
          <a:ln/>
        </p:spPr>
        <p:txBody>
          <a:bodyPr wrap="square" lIns="0" tIns="0" rIns="0" bIns="0" rtlCol="0" anchor="t"/>
          <a:lstStyle/>
          <a:p>
            <a:pPr indent="0" marL="0">
              <a:spcAft>
                <a:spcPts val="700"/>
              </a:spcAft>
              <a:buNone/>
            </a:pPr>
            <a:r>
              <a:rPr lang="en-US" sz="1300" dirty="0">
                <a:solidFill>
                  <a:srgbClr val="D3DCE9"/>
                </a:solidFill>
                <a:latin typeface="Calibri" pitchFamily="34" charset="0"/>
                <a:ea typeface="Calibri" pitchFamily="34" charset="-122"/>
                <a:cs typeface="Calibri" pitchFamily="34" charset="-120"/>
              </a:rPr>
              <a:t>1.  Requirement traceability scorecard</a:t>
            </a:r>
            <a:endParaRPr lang="en-US" sz="1300" dirty="0"/>
          </a:p>
          <a:p>
            <a:pPr indent="0" marL="0">
              <a:spcAft>
                <a:spcPts val="700"/>
              </a:spcAft>
              <a:buNone/>
            </a:pPr>
            <a:r>
              <a:rPr lang="en-US" sz="1300" dirty="0">
                <a:solidFill>
                  <a:srgbClr val="D3DCE9"/>
                </a:solidFill>
                <a:latin typeface="Calibri" pitchFamily="34" charset="0"/>
                <a:ea typeface="Calibri" pitchFamily="34" charset="-122"/>
                <a:cs typeface="Calibri" pitchFamily="34" charset="-120"/>
              </a:rPr>
              <a:t>2.  The estate by domain</a:t>
            </a:r>
            <a:endParaRPr lang="en-US" sz="1300" dirty="0"/>
          </a:p>
          <a:p>
            <a:pPr indent="0" marL="0">
              <a:spcAft>
                <a:spcPts val="700"/>
              </a:spcAft>
              <a:buNone/>
            </a:pPr>
            <a:r>
              <a:rPr lang="en-US" sz="1300" dirty="0">
                <a:solidFill>
                  <a:srgbClr val="D3DCE9"/>
                </a:solidFill>
                <a:latin typeface="Calibri" pitchFamily="34" charset="0"/>
                <a:ea typeface="Calibri" pitchFamily="34" charset="-122"/>
                <a:cs typeface="Calibri" pitchFamily="34" charset="-120"/>
              </a:rPr>
              <a:t>3.  Priority and paging mix</a:t>
            </a:r>
            <a:endParaRPr lang="en-US" sz="1300" dirty="0"/>
          </a:p>
          <a:p>
            <a:pPr indent="0" marL="0">
              <a:spcAft>
                <a:spcPts val="700"/>
              </a:spcAft>
              <a:buNone/>
            </a:pPr>
            <a:r>
              <a:rPr lang="en-US" sz="1300" dirty="0">
                <a:solidFill>
                  <a:srgbClr val="D3DCE9"/>
                </a:solidFill>
                <a:latin typeface="Calibri" pitchFamily="34" charset="0"/>
                <a:ea typeface="Calibri" pitchFamily="34" charset="-122"/>
                <a:cs typeface="Calibri" pitchFamily="34" charset="-120"/>
              </a:rPr>
              <a:t>4.  Detection mix</a:t>
            </a:r>
            <a:endParaRPr lang="en-US" sz="1300" dirty="0"/>
          </a:p>
          <a:p>
            <a:pPr indent="0" marL="0">
              <a:spcAft>
                <a:spcPts val="700"/>
              </a:spcAft>
              <a:buNone/>
            </a:pPr>
            <a:r>
              <a:rPr lang="en-US" sz="1300" dirty="0">
                <a:solidFill>
                  <a:srgbClr val="D3DCE9"/>
                </a:solidFill>
                <a:latin typeface="Calibri" pitchFamily="34" charset="0"/>
                <a:ea typeface="Calibri" pitchFamily="34" charset="-122"/>
                <a:cs typeface="Calibri" pitchFamily="34" charset="-120"/>
              </a:rPr>
              <a:t>5.  Environment policy matrix</a:t>
            </a:r>
            <a:endParaRPr lang="en-US" sz="1300" dirty="0"/>
          </a:p>
          <a:p>
            <a:pPr indent="0" marL="0">
              <a:spcAft>
                <a:spcPts val="700"/>
              </a:spcAft>
              <a:buNone/>
            </a:pPr>
            <a:r>
              <a:rPr lang="en-US" sz="1300" dirty="0">
                <a:solidFill>
                  <a:srgbClr val="D3DCE9"/>
                </a:solidFill>
                <a:latin typeface="Calibri" pitchFamily="34" charset="0"/>
                <a:ea typeface="Calibri" pitchFamily="34" charset="-122"/>
                <a:cs typeface="Calibri" pitchFamily="34" charset="-120"/>
              </a:rPr>
              <a:t>6.  Routing matrix</a:t>
            </a:r>
            <a:endParaRPr lang="en-US" sz="1300" dirty="0"/>
          </a:p>
          <a:p>
            <a:pPr indent="0" marL="0">
              <a:spcAft>
                <a:spcPts val="700"/>
              </a:spcAft>
              <a:buNone/>
            </a:pPr>
            <a:r>
              <a:rPr lang="en-US" sz="1300" dirty="0">
                <a:solidFill>
                  <a:srgbClr val="D3DCE9"/>
                </a:solidFill>
                <a:latin typeface="Calibri" pitchFamily="34" charset="0"/>
                <a:ea typeface="Calibri" pitchFamily="34" charset="-122"/>
                <a:cs typeface="Calibri" pitchFamily="34" charset="-120"/>
              </a:rPr>
              <a:t>7.  SLO catalog and burn windows</a:t>
            </a:r>
            <a:endParaRPr lang="en-US" sz="1300" dirty="0"/>
          </a:p>
          <a:p>
            <a:pPr indent="0" marL="0">
              <a:spcAft>
                <a:spcPts val="700"/>
              </a:spcAft>
              <a:buNone/>
            </a:pPr>
            <a:r>
              <a:rPr lang="en-US" sz="1300" dirty="0">
                <a:solidFill>
                  <a:srgbClr val="D3DCE9"/>
                </a:solidFill>
                <a:latin typeface="Calibri" pitchFamily="34" charset="0"/>
                <a:ea typeface="Calibri" pitchFamily="34" charset="-122"/>
                <a:cs typeface="Calibri" pitchFamily="34" charset="-120"/>
              </a:rPr>
              <a:t>8.  Coverage checks C1–C17</a:t>
            </a:r>
            <a:endParaRPr lang="en-US" sz="1300" dirty="0"/>
          </a:p>
          <a:p>
            <a:pPr indent="0" marL="0">
              <a:spcAft>
                <a:spcPts val="700"/>
              </a:spcAft>
              <a:buNone/>
            </a:pPr>
            <a:r>
              <a:rPr lang="en-US" sz="1300" dirty="0">
                <a:solidFill>
                  <a:srgbClr val="D3DCE9"/>
                </a:solidFill>
                <a:latin typeface="Calibri" pitchFamily="34" charset="0"/>
                <a:ea typeface="Calibri" pitchFamily="34" charset="-122"/>
                <a:cs typeface="Calibri" pitchFamily="34" charset="-120"/>
              </a:rPr>
              <a:t>9.  The tagging contract</a:t>
            </a:r>
            <a:endParaRPr lang="en-US" sz="1300" dirty="0"/>
          </a:p>
          <a:p>
            <a:pPr indent="0" marL="0">
              <a:spcAft>
                <a:spcPts val="700"/>
              </a:spcAft>
              <a:buNone/>
            </a:pPr>
            <a:r>
              <a:rPr lang="en-US" sz="1300" dirty="0">
                <a:solidFill>
                  <a:srgbClr val="D3DCE9"/>
                </a:solidFill>
                <a:latin typeface="Calibri" pitchFamily="34" charset="0"/>
                <a:ea typeface="Calibri" pitchFamily="34" charset="-122"/>
                <a:cs typeface="Calibri" pitchFamily="34" charset="-120"/>
              </a:rPr>
              <a:t>10.  What this deck does not claim</a:t>
            </a:r>
            <a:endParaRPr lang="en-US" sz="1300" dirty="0"/>
          </a:p>
          <a:p>
            <a:pPr indent="0" marL="0">
              <a:spcAft>
                <a:spcPts val="700"/>
              </a:spcAft>
              <a:buNone/>
            </a:pPr>
            <a:r>
              <a:rPr lang="en-US" sz="1300" dirty="0">
                <a:solidFill>
                  <a:srgbClr val="D3DCE9"/>
                </a:solidFill>
                <a:latin typeface="Calibri" pitchFamily="34" charset="0"/>
                <a:ea typeface="Calibri" pitchFamily="34" charset="-122"/>
                <a:cs typeface="Calibri" pitchFamily="34" charset="-120"/>
              </a:rPr>
              <a:t>11.  Evidence and sources</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8778240" cy="256032"/>
          </a:xfrm>
          <a:prstGeom prst="rect">
            <a:avLst/>
          </a:prstGeom>
          <a:noFill/>
          <a:ln/>
        </p:spPr>
        <p:txBody>
          <a:bodyPr wrap="square" lIns="0" tIns="0" rIns="0" bIns="0" rtlCol="0" anchor="ctr"/>
          <a:lstStyle/>
          <a:p>
            <a:pPr indent="0" marL="0">
              <a:buNone/>
            </a:pPr>
            <a:r>
              <a:rPr lang="en-US" sz="1050" b="1" spc="160" kern="0" dirty="0">
                <a:solidFill>
                  <a:srgbClr val="B87914"/>
                </a:solidFill>
                <a:latin typeface="Calibri" pitchFamily="34" charset="0"/>
                <a:ea typeface="Calibri" pitchFamily="34" charset="-122"/>
                <a:cs typeface="Calibri" pitchFamily="34" charset="-120"/>
              </a:rPr>
              <a:t>APPENDIX A1</a:t>
            </a:r>
            <a:endParaRPr lang="en-US" sz="1050" dirty="0"/>
          </a:p>
        </p:txBody>
      </p:sp>
      <p:sp>
        <p:nvSpPr>
          <p:cNvPr id="3" name="Text 1"/>
          <p:cNvSpPr/>
          <p:nvPr/>
        </p:nvSpPr>
        <p:spPr>
          <a:xfrm>
            <a:off x="566928" y="694944"/>
            <a:ext cx="10424160" cy="786384"/>
          </a:xfrm>
          <a:prstGeom prst="rect">
            <a:avLst/>
          </a:prstGeom>
          <a:noFill/>
          <a:ln/>
        </p:spPr>
        <p:txBody>
          <a:bodyPr wrap="square" lIns="0" tIns="0" rIns="0" bIns="0" rtlCol="0" anchor="ctr"/>
          <a:lstStyle/>
          <a:p>
            <a:pPr indent="0" marL="0">
              <a:buNone/>
            </a:pPr>
            <a:r>
              <a:rPr lang="en-US" sz="3100" b="1" dirty="0">
                <a:solidFill>
                  <a:srgbClr val="161C28"/>
                </a:solidFill>
                <a:latin typeface="Cambria" pitchFamily="34" charset="0"/>
                <a:ea typeface="Cambria" pitchFamily="34" charset="-122"/>
                <a:cs typeface="Cambria" pitchFamily="34" charset="-120"/>
              </a:rPr>
              <a:t>Requirement traceability scorecard</a:t>
            </a:r>
            <a:endParaRPr lang="en-US" sz="3100" dirty="0"/>
          </a:p>
        </p:txBody>
      </p:sp>
      <p:sp>
        <p:nvSpPr>
          <p:cNvPr id="4" name="Text 2"/>
          <p:cNvSpPr/>
          <p:nvPr/>
        </p:nvSpPr>
        <p:spPr>
          <a:xfrm>
            <a:off x="566928" y="1481328"/>
            <a:ext cx="10698480" cy="457200"/>
          </a:xfrm>
          <a:prstGeom prst="rect">
            <a:avLst/>
          </a:prstGeom>
          <a:noFill/>
          <a:ln/>
        </p:spPr>
        <p:txBody>
          <a:bodyPr wrap="square" lIns="0" tIns="0" rIns="0" bIns="0" rtlCol="0" anchor="t"/>
          <a:lstStyle/>
          <a:p>
            <a:pPr indent="0" marL="0">
              <a:buNone/>
            </a:pPr>
            <a:r>
              <a:rPr lang="en-US" sz="1450" dirty="0">
                <a:solidFill>
                  <a:srgbClr val="3A4557"/>
                </a:solidFill>
                <a:latin typeface="Calibri" pitchFamily="34" charset="0"/>
                <a:ea typeface="Calibri" pitchFamily="34" charset="-122"/>
                <a:cs typeface="Calibri" pitchFamily="34" charset="-120"/>
              </a:rPr>
              <a:t>60 requirement sections, audited against the repository and the live estate — not against memory of what was built. Every MISSING row was confirmed by a repository-wide search that returned zero matches.</a:t>
            </a:r>
            <a:endParaRPr lang="en-US" sz="1450" dirty="0"/>
          </a:p>
        </p:txBody>
      </p:sp>
      <p:sp>
        <p:nvSpPr>
          <p:cNvPr id="5" name="Text 3"/>
          <p:cNvSpPr/>
          <p:nvPr/>
        </p:nvSpPr>
        <p:spPr>
          <a:xfrm>
            <a:off x="566928" y="6345936"/>
            <a:ext cx="7315200" cy="274320"/>
          </a:xfrm>
          <a:prstGeom prst="rect">
            <a:avLst/>
          </a:prstGeom>
          <a:noFill/>
          <a:ln/>
        </p:spPr>
        <p:txBody>
          <a:bodyPr wrap="square" lIns="0" tIns="0" rIns="0" bIns="0" rtlCol="0" anchor="ctr"/>
          <a:lstStyle/>
          <a:p>
            <a:pPr indent="0" marL="0">
              <a:buNone/>
            </a:pPr>
            <a:r>
              <a:rPr lang="en-US" sz="900" dirty="0">
                <a:solidFill>
                  <a:srgbClr val="6B7891"/>
                </a:solidFill>
                <a:latin typeface="Calibri" pitchFamily="34" charset="0"/>
                <a:ea typeface="Calibri" pitchFamily="34" charset="-122"/>
                <a:cs typeface="Calibri" pitchFamily="34" charset="-120"/>
              </a:rPr>
              <a:t>Enterprise Observability  ·  policy-as-data on Datadog</a:t>
            </a:r>
            <a:endParaRPr lang="en-US" sz="900" dirty="0"/>
          </a:p>
        </p:txBody>
      </p:sp>
      <p:sp>
        <p:nvSpPr>
          <p:cNvPr id="6" name="Text 4"/>
          <p:cNvSpPr/>
          <p:nvPr/>
        </p:nvSpPr>
        <p:spPr>
          <a:xfrm>
            <a:off x="10710367" y="6345936"/>
            <a:ext cx="914400" cy="274320"/>
          </a:xfrm>
          <a:prstGeom prst="rect">
            <a:avLst/>
          </a:prstGeom>
          <a:noFill/>
          <a:ln/>
        </p:spPr>
        <p:txBody>
          <a:bodyPr wrap="square" lIns="0" tIns="0" rIns="0" bIns="0" rtlCol="0" anchor="ctr"/>
          <a:lstStyle/>
          <a:p>
            <a:pPr algn="r" indent="0" marL="0">
              <a:buNone/>
            </a:pPr>
            <a:r>
              <a:rPr lang="en-US" sz="900" dirty="0">
                <a:solidFill>
                  <a:srgbClr val="6B7891"/>
                </a:solidFill>
                <a:latin typeface="Calibri" pitchFamily="34" charset="0"/>
                <a:ea typeface="Calibri" pitchFamily="34" charset="-122"/>
                <a:cs typeface="Calibri" pitchFamily="34" charset="-120"/>
              </a:rPr>
              <a:t>45</a:t>
            </a:r>
            <a:endParaRPr lang="en-US" sz="900" dirty="0"/>
          </a:p>
        </p:txBody>
      </p:sp>
      <p:sp>
        <p:nvSpPr>
          <p:cNvPr id="8" name="Shape 5"/>
          <p:cNvSpPr/>
          <p:nvPr/>
        </p:nvSpPr>
        <p:spPr>
          <a:xfrm>
            <a:off x="566928" y="2103120"/>
            <a:ext cx="5349240" cy="420624"/>
          </a:xfrm>
          <a:prstGeom prst="roundRect">
            <a:avLst>
              <a:gd name="adj" fmla="val 8696"/>
            </a:avLst>
          </a:prstGeom>
          <a:solidFill>
            <a:srgbClr val="F5F7FA"/>
          </a:solidFill>
          <a:ln w="12700">
            <a:solidFill>
              <a:srgbClr val="F5F7FA"/>
            </a:solidFill>
            <a:prstDash val="solid"/>
          </a:ln>
        </p:spPr>
      </p:sp>
      <p:sp>
        <p:nvSpPr>
          <p:cNvPr id="9" name="Text 6"/>
          <p:cNvSpPr/>
          <p:nvPr/>
        </p:nvSpPr>
        <p:spPr>
          <a:xfrm>
            <a:off x="694944" y="2103120"/>
            <a:ext cx="685800" cy="438912"/>
          </a:xfrm>
          <a:prstGeom prst="rect">
            <a:avLst/>
          </a:prstGeom>
          <a:noFill/>
          <a:ln/>
        </p:spPr>
        <p:txBody>
          <a:bodyPr wrap="square" lIns="0" tIns="0" rIns="0" bIns="0" rtlCol="0" anchor="ctr"/>
          <a:lstStyle/>
          <a:p>
            <a:pPr indent="0" marL="0">
              <a:buNone/>
            </a:pPr>
            <a:r>
              <a:rPr lang="en-US" sz="1050" b="1" dirty="0">
                <a:solidFill>
                  <a:srgbClr val="161C28"/>
                </a:solidFill>
                <a:latin typeface="Calibri" pitchFamily="34" charset="0"/>
                <a:ea typeface="Calibri" pitchFamily="34" charset="-122"/>
                <a:cs typeface="Calibri" pitchFamily="34" charset="-120"/>
              </a:rPr>
              <a:t>§1–3</a:t>
            </a:r>
            <a:endParaRPr lang="en-US" sz="1050" dirty="0"/>
          </a:p>
        </p:txBody>
      </p:sp>
      <p:sp>
        <p:nvSpPr>
          <p:cNvPr id="10" name="Text 7"/>
          <p:cNvSpPr/>
          <p:nvPr/>
        </p:nvSpPr>
        <p:spPr>
          <a:xfrm>
            <a:off x="1408176" y="2103120"/>
            <a:ext cx="2606040" cy="438912"/>
          </a:xfrm>
          <a:prstGeom prst="rect">
            <a:avLst/>
          </a:prstGeom>
          <a:noFill/>
          <a:ln/>
        </p:spPr>
        <p:txBody>
          <a:bodyPr wrap="square" lIns="0" tIns="0" rIns="0" bIns="0" rtlCol="0" anchor="ctr"/>
          <a:lstStyle/>
          <a:p>
            <a:pPr indent="0" marL="0">
              <a:buNone/>
            </a:pPr>
            <a:r>
              <a:rPr lang="en-US" sz="1000" dirty="0">
                <a:solidFill>
                  <a:srgbClr val="3A4557"/>
                </a:solidFill>
                <a:latin typeface="Calibri" pitchFamily="34" charset="0"/>
                <a:ea typeface="Calibri" pitchFamily="34" charset="-122"/>
                <a:cs typeface="Calibri" pitchFamily="34" charset="-120"/>
              </a:rPr>
              <a:t>Audit, completion discipline, technology scope</a:t>
            </a:r>
            <a:endParaRPr lang="en-US" sz="1000" dirty="0"/>
          </a:p>
        </p:txBody>
      </p:sp>
      <p:sp>
        <p:nvSpPr>
          <p:cNvPr id="11" name="Text 8"/>
          <p:cNvSpPr/>
          <p:nvPr/>
        </p:nvSpPr>
        <p:spPr>
          <a:xfrm>
            <a:off x="4041648" y="2103120"/>
            <a:ext cx="1783080" cy="438912"/>
          </a:xfrm>
          <a:prstGeom prst="rect">
            <a:avLst/>
          </a:prstGeom>
          <a:noFill/>
          <a:ln/>
        </p:spPr>
        <p:txBody>
          <a:bodyPr wrap="square" lIns="0" tIns="0" rIns="0" bIns="0" rtlCol="0" anchor="ctr"/>
          <a:lstStyle/>
          <a:p>
            <a:pPr algn="r" indent="0" marL="0">
              <a:buNone/>
            </a:pPr>
            <a:r>
              <a:rPr lang="en-US" sz="950" b="1" dirty="0">
                <a:solidFill>
                  <a:srgbClr val="27807C"/>
                </a:solidFill>
                <a:latin typeface="Calibri" pitchFamily="34" charset="0"/>
                <a:ea typeface="Calibri" pitchFamily="34" charset="-122"/>
                <a:cs typeface="Calibri" pitchFamily="34" charset="-120"/>
              </a:rPr>
              <a:t>OK</a:t>
            </a:r>
            <a:endParaRPr lang="en-US" sz="950" dirty="0"/>
          </a:p>
        </p:txBody>
      </p:sp>
      <p:sp>
        <p:nvSpPr>
          <p:cNvPr id="12" name="Shape 9"/>
          <p:cNvSpPr/>
          <p:nvPr/>
        </p:nvSpPr>
        <p:spPr>
          <a:xfrm>
            <a:off x="6144768" y="2103120"/>
            <a:ext cx="5349240" cy="420624"/>
          </a:xfrm>
          <a:prstGeom prst="roundRect">
            <a:avLst>
              <a:gd name="adj" fmla="val 8696"/>
            </a:avLst>
          </a:prstGeom>
          <a:solidFill>
            <a:srgbClr val="F5F7FA"/>
          </a:solidFill>
          <a:ln w="12700">
            <a:solidFill>
              <a:srgbClr val="F5F7FA"/>
            </a:solidFill>
            <a:prstDash val="solid"/>
          </a:ln>
        </p:spPr>
      </p:sp>
      <p:sp>
        <p:nvSpPr>
          <p:cNvPr id="13" name="Text 10"/>
          <p:cNvSpPr/>
          <p:nvPr/>
        </p:nvSpPr>
        <p:spPr>
          <a:xfrm>
            <a:off x="6272784" y="2103120"/>
            <a:ext cx="685800" cy="438912"/>
          </a:xfrm>
          <a:prstGeom prst="rect">
            <a:avLst/>
          </a:prstGeom>
          <a:noFill/>
          <a:ln/>
        </p:spPr>
        <p:txBody>
          <a:bodyPr wrap="square" lIns="0" tIns="0" rIns="0" bIns="0" rtlCol="0" anchor="ctr"/>
          <a:lstStyle/>
          <a:p>
            <a:pPr indent="0" marL="0">
              <a:buNone/>
            </a:pPr>
            <a:r>
              <a:rPr lang="en-US" sz="1050" b="1" dirty="0">
                <a:solidFill>
                  <a:srgbClr val="161C28"/>
                </a:solidFill>
                <a:latin typeface="Calibri" pitchFamily="34" charset="0"/>
                <a:ea typeface="Calibri" pitchFamily="34" charset="-122"/>
                <a:cs typeface="Calibri" pitchFamily="34" charset="-120"/>
              </a:rPr>
              <a:t>§4</a:t>
            </a:r>
            <a:endParaRPr lang="en-US" sz="1050" dirty="0"/>
          </a:p>
        </p:txBody>
      </p:sp>
      <p:sp>
        <p:nvSpPr>
          <p:cNvPr id="14" name="Text 11"/>
          <p:cNvSpPr/>
          <p:nvPr/>
        </p:nvSpPr>
        <p:spPr>
          <a:xfrm>
            <a:off x="6986016" y="2103120"/>
            <a:ext cx="2606040" cy="438912"/>
          </a:xfrm>
          <a:prstGeom prst="rect">
            <a:avLst/>
          </a:prstGeom>
          <a:noFill/>
          <a:ln/>
        </p:spPr>
        <p:txBody>
          <a:bodyPr wrap="square" lIns="0" tIns="0" rIns="0" bIns="0" rtlCol="0" anchor="ctr"/>
          <a:lstStyle/>
          <a:p>
            <a:pPr indent="0" marL="0">
              <a:buNone/>
            </a:pPr>
            <a:r>
              <a:rPr lang="en-US" sz="1000" dirty="0">
                <a:solidFill>
                  <a:srgbClr val="3A4557"/>
                </a:solidFill>
                <a:latin typeface="Calibri" pitchFamily="34" charset="0"/>
                <a:ea typeface="Calibri" pitchFamily="34" charset="-122"/>
                <a:cs typeface="Calibri" pitchFamily="34" charset="-120"/>
              </a:rPr>
              <a:t>Payments removal</a:t>
            </a:r>
            <a:endParaRPr lang="en-US" sz="1000" dirty="0"/>
          </a:p>
        </p:txBody>
      </p:sp>
      <p:sp>
        <p:nvSpPr>
          <p:cNvPr id="15" name="Text 12"/>
          <p:cNvSpPr/>
          <p:nvPr/>
        </p:nvSpPr>
        <p:spPr>
          <a:xfrm>
            <a:off x="9619488" y="2103120"/>
            <a:ext cx="1783080" cy="438912"/>
          </a:xfrm>
          <a:prstGeom prst="rect">
            <a:avLst/>
          </a:prstGeom>
          <a:noFill/>
          <a:ln/>
        </p:spPr>
        <p:txBody>
          <a:bodyPr wrap="square" lIns="0" tIns="0" rIns="0" bIns="0" rtlCol="0" anchor="ctr"/>
          <a:lstStyle/>
          <a:p>
            <a:pPr algn="r" indent="0" marL="0">
              <a:buNone/>
            </a:pPr>
            <a:r>
              <a:rPr lang="en-US" sz="950" b="1" dirty="0">
                <a:solidFill>
                  <a:srgbClr val="27807C"/>
                </a:solidFill>
                <a:latin typeface="Calibri" pitchFamily="34" charset="0"/>
                <a:ea typeface="Calibri" pitchFamily="34" charset="-122"/>
                <a:cs typeface="Calibri" pitchFamily="34" charset="-120"/>
              </a:rPr>
              <a:t>resolved</a:t>
            </a:r>
            <a:endParaRPr lang="en-US" sz="950" dirty="0"/>
          </a:p>
        </p:txBody>
      </p:sp>
      <p:sp>
        <p:nvSpPr>
          <p:cNvPr id="16" name="Shape 13"/>
          <p:cNvSpPr/>
          <p:nvPr/>
        </p:nvSpPr>
        <p:spPr>
          <a:xfrm>
            <a:off x="566928" y="2560320"/>
            <a:ext cx="5349240" cy="420624"/>
          </a:xfrm>
          <a:prstGeom prst="roundRect">
            <a:avLst>
              <a:gd name="adj" fmla="val 8696"/>
            </a:avLst>
          </a:prstGeom>
          <a:solidFill>
            <a:srgbClr val="F5F7FA"/>
          </a:solidFill>
          <a:ln w="12700">
            <a:solidFill>
              <a:srgbClr val="F5F7FA"/>
            </a:solidFill>
            <a:prstDash val="solid"/>
          </a:ln>
        </p:spPr>
      </p:sp>
      <p:sp>
        <p:nvSpPr>
          <p:cNvPr id="17" name="Text 14"/>
          <p:cNvSpPr/>
          <p:nvPr/>
        </p:nvSpPr>
        <p:spPr>
          <a:xfrm>
            <a:off x="694944" y="2560320"/>
            <a:ext cx="685800" cy="438912"/>
          </a:xfrm>
          <a:prstGeom prst="rect">
            <a:avLst/>
          </a:prstGeom>
          <a:noFill/>
          <a:ln/>
        </p:spPr>
        <p:txBody>
          <a:bodyPr wrap="square" lIns="0" tIns="0" rIns="0" bIns="0" rtlCol="0" anchor="ctr"/>
          <a:lstStyle/>
          <a:p>
            <a:pPr indent="0" marL="0">
              <a:buNone/>
            </a:pPr>
            <a:r>
              <a:rPr lang="en-US" sz="1050" b="1" dirty="0">
                <a:solidFill>
                  <a:srgbClr val="161C28"/>
                </a:solidFill>
                <a:latin typeface="Calibri" pitchFamily="34" charset="0"/>
                <a:ea typeface="Calibri" pitchFamily="34" charset="-122"/>
                <a:cs typeface="Calibri" pitchFamily="34" charset="-120"/>
              </a:rPr>
              <a:t>§5–7</a:t>
            </a:r>
            <a:endParaRPr lang="en-US" sz="1050" dirty="0"/>
          </a:p>
        </p:txBody>
      </p:sp>
      <p:sp>
        <p:nvSpPr>
          <p:cNvPr id="18" name="Text 15"/>
          <p:cNvSpPr/>
          <p:nvPr/>
        </p:nvSpPr>
        <p:spPr>
          <a:xfrm>
            <a:off x="1408176" y="2560320"/>
            <a:ext cx="2606040" cy="438912"/>
          </a:xfrm>
          <a:prstGeom prst="rect">
            <a:avLst/>
          </a:prstGeom>
          <a:noFill/>
          <a:ln/>
        </p:spPr>
        <p:txBody>
          <a:bodyPr wrap="square" lIns="0" tIns="0" rIns="0" bIns="0" rtlCol="0" anchor="ctr"/>
          <a:lstStyle/>
          <a:p>
            <a:pPr indent="0" marL="0">
              <a:buNone/>
            </a:pPr>
            <a:r>
              <a:rPr lang="en-US" sz="1000" dirty="0">
                <a:solidFill>
                  <a:srgbClr val="3A4557"/>
                </a:solidFill>
                <a:latin typeface="Calibri" pitchFamily="34" charset="0"/>
                <a:ea typeface="Calibri" pitchFamily="34" charset="-122"/>
                <a:cs typeface="Calibri" pitchFamily="34" charset="-120"/>
              </a:rPr>
              <a:t>Catalog and entity modelling</a:t>
            </a:r>
            <a:endParaRPr lang="en-US" sz="1000" dirty="0"/>
          </a:p>
        </p:txBody>
      </p:sp>
      <p:sp>
        <p:nvSpPr>
          <p:cNvPr id="19" name="Text 16"/>
          <p:cNvSpPr/>
          <p:nvPr/>
        </p:nvSpPr>
        <p:spPr>
          <a:xfrm>
            <a:off x="4041648" y="2560320"/>
            <a:ext cx="1783080" cy="438912"/>
          </a:xfrm>
          <a:prstGeom prst="rect">
            <a:avLst/>
          </a:prstGeom>
          <a:noFill/>
          <a:ln/>
        </p:spPr>
        <p:txBody>
          <a:bodyPr wrap="square" lIns="0" tIns="0" rIns="0" bIns="0" rtlCol="0" anchor="ctr"/>
          <a:lstStyle/>
          <a:p>
            <a:pPr algn="r" indent="0" marL="0">
              <a:buNone/>
            </a:pPr>
            <a:r>
              <a:rPr lang="en-US" sz="950" b="1" dirty="0">
                <a:solidFill>
                  <a:srgbClr val="E09A2E"/>
                </a:solidFill>
                <a:latin typeface="Calibri" pitchFamily="34" charset="0"/>
                <a:ea typeface="Calibri" pitchFamily="34" charset="-122"/>
                <a:cs typeface="Calibri" pitchFamily="34" charset="-120"/>
              </a:rPr>
              <a:t>PARTIAL</a:t>
            </a:r>
            <a:endParaRPr lang="en-US" sz="950" dirty="0"/>
          </a:p>
        </p:txBody>
      </p:sp>
      <p:sp>
        <p:nvSpPr>
          <p:cNvPr id="20" name="Shape 17"/>
          <p:cNvSpPr/>
          <p:nvPr/>
        </p:nvSpPr>
        <p:spPr>
          <a:xfrm>
            <a:off x="6144768" y="2560320"/>
            <a:ext cx="5349240" cy="420624"/>
          </a:xfrm>
          <a:prstGeom prst="roundRect">
            <a:avLst>
              <a:gd name="adj" fmla="val 8696"/>
            </a:avLst>
          </a:prstGeom>
          <a:solidFill>
            <a:srgbClr val="F5F7FA"/>
          </a:solidFill>
          <a:ln w="12700">
            <a:solidFill>
              <a:srgbClr val="F5F7FA"/>
            </a:solidFill>
            <a:prstDash val="solid"/>
          </a:ln>
        </p:spPr>
      </p:sp>
      <p:sp>
        <p:nvSpPr>
          <p:cNvPr id="21" name="Text 18"/>
          <p:cNvSpPr/>
          <p:nvPr/>
        </p:nvSpPr>
        <p:spPr>
          <a:xfrm>
            <a:off x="6272784" y="2560320"/>
            <a:ext cx="685800" cy="438912"/>
          </a:xfrm>
          <a:prstGeom prst="rect">
            <a:avLst/>
          </a:prstGeom>
          <a:noFill/>
          <a:ln/>
        </p:spPr>
        <p:txBody>
          <a:bodyPr wrap="square" lIns="0" tIns="0" rIns="0" bIns="0" rtlCol="0" anchor="ctr"/>
          <a:lstStyle/>
          <a:p>
            <a:pPr indent="0" marL="0">
              <a:buNone/>
            </a:pPr>
            <a:r>
              <a:rPr lang="en-US" sz="1050" b="1" dirty="0">
                <a:solidFill>
                  <a:srgbClr val="161C28"/>
                </a:solidFill>
                <a:latin typeface="Calibri" pitchFamily="34" charset="0"/>
                <a:ea typeface="Calibri" pitchFamily="34" charset="-122"/>
                <a:cs typeface="Calibri" pitchFamily="34" charset="-120"/>
              </a:rPr>
              <a:t>§8</a:t>
            </a:r>
            <a:endParaRPr lang="en-US" sz="1050" dirty="0"/>
          </a:p>
        </p:txBody>
      </p:sp>
      <p:sp>
        <p:nvSpPr>
          <p:cNvPr id="22" name="Text 19"/>
          <p:cNvSpPr/>
          <p:nvPr/>
        </p:nvSpPr>
        <p:spPr>
          <a:xfrm>
            <a:off x="6986016" y="2560320"/>
            <a:ext cx="2606040" cy="438912"/>
          </a:xfrm>
          <a:prstGeom prst="rect">
            <a:avLst/>
          </a:prstGeom>
          <a:noFill/>
          <a:ln/>
        </p:spPr>
        <p:txBody>
          <a:bodyPr wrap="square" lIns="0" tIns="0" rIns="0" bIns="0" rtlCol="0" anchor="ctr"/>
          <a:lstStyle/>
          <a:p>
            <a:pPr indent="0" marL="0">
              <a:buNone/>
            </a:pPr>
            <a:r>
              <a:rPr lang="en-US" sz="1000" dirty="0">
                <a:solidFill>
                  <a:srgbClr val="3A4557"/>
                </a:solidFill>
                <a:latin typeface="Calibri" pitchFamily="34" charset="0"/>
                <a:ea typeface="Calibri" pitchFamily="34" charset="-122"/>
                <a:cs typeface="Calibri" pitchFamily="34" charset="-120"/>
              </a:rPr>
              <a:t>Unified tagging</a:t>
            </a:r>
            <a:endParaRPr lang="en-US" sz="1000" dirty="0"/>
          </a:p>
        </p:txBody>
      </p:sp>
      <p:sp>
        <p:nvSpPr>
          <p:cNvPr id="23" name="Text 20"/>
          <p:cNvSpPr/>
          <p:nvPr/>
        </p:nvSpPr>
        <p:spPr>
          <a:xfrm>
            <a:off x="9619488" y="2560320"/>
            <a:ext cx="1783080" cy="438912"/>
          </a:xfrm>
          <a:prstGeom prst="rect">
            <a:avLst/>
          </a:prstGeom>
          <a:noFill/>
          <a:ln/>
        </p:spPr>
        <p:txBody>
          <a:bodyPr wrap="square" lIns="0" tIns="0" rIns="0" bIns="0" rtlCol="0" anchor="ctr"/>
          <a:lstStyle/>
          <a:p>
            <a:pPr algn="r" indent="0" marL="0">
              <a:buNone/>
            </a:pPr>
            <a:r>
              <a:rPr lang="en-US" sz="950" b="1" dirty="0">
                <a:solidFill>
                  <a:srgbClr val="BE4A3F"/>
                </a:solidFill>
                <a:latin typeface="Calibri" pitchFamily="34" charset="0"/>
                <a:ea typeface="Calibri" pitchFamily="34" charset="-122"/>
                <a:cs typeface="Calibri" pitchFamily="34" charset="-120"/>
              </a:rPr>
              <a:t>PARTIAL + MISSING (CI/CD metadata)</a:t>
            </a:r>
            <a:endParaRPr lang="en-US" sz="950" dirty="0"/>
          </a:p>
        </p:txBody>
      </p:sp>
      <p:sp>
        <p:nvSpPr>
          <p:cNvPr id="24" name="Shape 21"/>
          <p:cNvSpPr/>
          <p:nvPr/>
        </p:nvSpPr>
        <p:spPr>
          <a:xfrm>
            <a:off x="566928" y="3017520"/>
            <a:ext cx="5349240" cy="420624"/>
          </a:xfrm>
          <a:prstGeom prst="roundRect">
            <a:avLst>
              <a:gd name="adj" fmla="val 8696"/>
            </a:avLst>
          </a:prstGeom>
          <a:solidFill>
            <a:srgbClr val="F5F7FA"/>
          </a:solidFill>
          <a:ln w="12700">
            <a:solidFill>
              <a:srgbClr val="F5F7FA"/>
            </a:solidFill>
            <a:prstDash val="solid"/>
          </a:ln>
        </p:spPr>
      </p:sp>
      <p:sp>
        <p:nvSpPr>
          <p:cNvPr id="25" name="Text 22"/>
          <p:cNvSpPr/>
          <p:nvPr/>
        </p:nvSpPr>
        <p:spPr>
          <a:xfrm>
            <a:off x="694944" y="3017520"/>
            <a:ext cx="685800" cy="438912"/>
          </a:xfrm>
          <a:prstGeom prst="rect">
            <a:avLst/>
          </a:prstGeom>
          <a:noFill/>
          <a:ln/>
        </p:spPr>
        <p:txBody>
          <a:bodyPr wrap="square" lIns="0" tIns="0" rIns="0" bIns="0" rtlCol="0" anchor="ctr"/>
          <a:lstStyle/>
          <a:p>
            <a:pPr indent="0" marL="0">
              <a:buNone/>
            </a:pPr>
            <a:r>
              <a:rPr lang="en-US" sz="1050" b="1" dirty="0">
                <a:solidFill>
                  <a:srgbClr val="161C28"/>
                </a:solidFill>
                <a:latin typeface="Calibri" pitchFamily="34" charset="0"/>
                <a:ea typeface="Calibri" pitchFamily="34" charset="-122"/>
                <a:cs typeface="Calibri" pitchFamily="34" charset="-120"/>
              </a:rPr>
              <a:t>§9–10</a:t>
            </a:r>
            <a:endParaRPr lang="en-US" sz="1050" dirty="0"/>
          </a:p>
        </p:txBody>
      </p:sp>
      <p:sp>
        <p:nvSpPr>
          <p:cNvPr id="26" name="Text 23"/>
          <p:cNvSpPr/>
          <p:nvPr/>
        </p:nvSpPr>
        <p:spPr>
          <a:xfrm>
            <a:off x="1408176" y="3017520"/>
            <a:ext cx="2606040" cy="438912"/>
          </a:xfrm>
          <a:prstGeom prst="rect">
            <a:avLst/>
          </a:prstGeom>
          <a:noFill/>
          <a:ln/>
        </p:spPr>
        <p:txBody>
          <a:bodyPr wrap="square" lIns="0" tIns="0" rIns="0" bIns="0" rtlCol="0" anchor="ctr"/>
          <a:lstStyle/>
          <a:p>
            <a:pPr indent="0" marL="0">
              <a:buNone/>
            </a:pPr>
            <a:r>
              <a:rPr lang="en-US" sz="1000" dirty="0">
                <a:solidFill>
                  <a:srgbClr val="3A4557"/>
                </a:solidFill>
                <a:latin typeface="Calibri" pitchFamily="34" charset="0"/>
                <a:ea typeface="Calibri" pitchFamily="34" charset="-122"/>
                <a:cs typeface="Calibri" pitchFamily="34" charset="-120"/>
              </a:rPr>
              <a:t>YAML as source of intent</a:t>
            </a:r>
            <a:endParaRPr lang="en-US" sz="1000" dirty="0"/>
          </a:p>
        </p:txBody>
      </p:sp>
      <p:sp>
        <p:nvSpPr>
          <p:cNvPr id="27" name="Text 24"/>
          <p:cNvSpPr/>
          <p:nvPr/>
        </p:nvSpPr>
        <p:spPr>
          <a:xfrm>
            <a:off x="4041648" y="3017520"/>
            <a:ext cx="1783080" cy="438912"/>
          </a:xfrm>
          <a:prstGeom prst="rect">
            <a:avLst/>
          </a:prstGeom>
          <a:noFill/>
          <a:ln/>
        </p:spPr>
        <p:txBody>
          <a:bodyPr wrap="square" lIns="0" tIns="0" rIns="0" bIns="0" rtlCol="0" anchor="ctr"/>
          <a:lstStyle/>
          <a:p>
            <a:pPr algn="r" indent="0" marL="0">
              <a:buNone/>
            </a:pPr>
            <a:r>
              <a:rPr lang="en-US" sz="950" b="1" dirty="0">
                <a:solidFill>
                  <a:srgbClr val="E09A2E"/>
                </a:solidFill>
                <a:latin typeface="Calibri" pitchFamily="34" charset="0"/>
                <a:ea typeface="Calibri" pitchFamily="34" charset="-122"/>
                <a:cs typeface="Calibri" pitchFamily="34" charset="-120"/>
              </a:rPr>
              <a:t>OK + PARTIAL</a:t>
            </a:r>
            <a:endParaRPr lang="en-US" sz="950" dirty="0"/>
          </a:p>
        </p:txBody>
      </p:sp>
      <p:sp>
        <p:nvSpPr>
          <p:cNvPr id="28" name="Shape 25"/>
          <p:cNvSpPr/>
          <p:nvPr/>
        </p:nvSpPr>
        <p:spPr>
          <a:xfrm>
            <a:off x="6144768" y="3017520"/>
            <a:ext cx="5349240" cy="420624"/>
          </a:xfrm>
          <a:prstGeom prst="roundRect">
            <a:avLst>
              <a:gd name="adj" fmla="val 8696"/>
            </a:avLst>
          </a:prstGeom>
          <a:solidFill>
            <a:srgbClr val="F5F7FA"/>
          </a:solidFill>
          <a:ln w="12700">
            <a:solidFill>
              <a:srgbClr val="F5F7FA"/>
            </a:solidFill>
            <a:prstDash val="solid"/>
          </a:ln>
        </p:spPr>
      </p:sp>
      <p:sp>
        <p:nvSpPr>
          <p:cNvPr id="29" name="Text 26"/>
          <p:cNvSpPr/>
          <p:nvPr/>
        </p:nvSpPr>
        <p:spPr>
          <a:xfrm>
            <a:off x="6272784" y="3017520"/>
            <a:ext cx="685800" cy="438912"/>
          </a:xfrm>
          <a:prstGeom prst="rect">
            <a:avLst/>
          </a:prstGeom>
          <a:noFill/>
          <a:ln/>
        </p:spPr>
        <p:txBody>
          <a:bodyPr wrap="square" lIns="0" tIns="0" rIns="0" bIns="0" rtlCol="0" anchor="ctr"/>
          <a:lstStyle/>
          <a:p>
            <a:pPr indent="0" marL="0">
              <a:buNone/>
            </a:pPr>
            <a:r>
              <a:rPr lang="en-US" sz="1050" b="1" dirty="0">
                <a:solidFill>
                  <a:srgbClr val="161C28"/>
                </a:solidFill>
                <a:latin typeface="Calibri" pitchFamily="34" charset="0"/>
                <a:ea typeface="Calibri" pitchFamily="34" charset="-122"/>
                <a:cs typeface="Calibri" pitchFamily="34" charset="-120"/>
              </a:rPr>
              <a:t>§11–15</a:t>
            </a:r>
            <a:endParaRPr lang="en-US" sz="1050" dirty="0"/>
          </a:p>
        </p:txBody>
      </p:sp>
      <p:sp>
        <p:nvSpPr>
          <p:cNvPr id="30" name="Text 27"/>
          <p:cNvSpPr/>
          <p:nvPr/>
        </p:nvSpPr>
        <p:spPr>
          <a:xfrm>
            <a:off x="6986016" y="3017520"/>
            <a:ext cx="2606040" cy="438912"/>
          </a:xfrm>
          <a:prstGeom prst="rect">
            <a:avLst/>
          </a:prstGeom>
          <a:noFill/>
          <a:ln/>
        </p:spPr>
        <p:txBody>
          <a:bodyPr wrap="square" lIns="0" tIns="0" rIns="0" bIns="0" rtlCol="0" anchor="ctr"/>
          <a:lstStyle/>
          <a:p>
            <a:pPr indent="0" marL="0">
              <a:buNone/>
            </a:pPr>
            <a:r>
              <a:rPr lang="en-US" sz="1000" dirty="0">
                <a:solidFill>
                  <a:srgbClr val="3A4557"/>
                </a:solidFill>
                <a:latin typeface="Calibri" pitchFamily="34" charset="0"/>
                <a:ea typeface="Calibri" pitchFamily="34" charset="-122"/>
                <a:cs typeface="Calibri" pitchFamily="34" charset="-120"/>
              </a:rPr>
              <a:t>SLOs</a:t>
            </a:r>
            <a:endParaRPr lang="en-US" sz="1000" dirty="0"/>
          </a:p>
        </p:txBody>
      </p:sp>
      <p:sp>
        <p:nvSpPr>
          <p:cNvPr id="31" name="Text 28"/>
          <p:cNvSpPr/>
          <p:nvPr/>
        </p:nvSpPr>
        <p:spPr>
          <a:xfrm>
            <a:off x="9619488" y="3017520"/>
            <a:ext cx="1783080" cy="438912"/>
          </a:xfrm>
          <a:prstGeom prst="rect">
            <a:avLst/>
          </a:prstGeom>
          <a:noFill/>
          <a:ln/>
        </p:spPr>
        <p:txBody>
          <a:bodyPr wrap="square" lIns="0" tIns="0" rIns="0" bIns="0" rtlCol="0" anchor="ctr"/>
          <a:lstStyle/>
          <a:p>
            <a:pPr algn="r" indent="0" marL="0">
              <a:buNone/>
            </a:pPr>
            <a:r>
              <a:rPr lang="en-US" sz="950" b="1" dirty="0">
                <a:solidFill>
                  <a:srgbClr val="E09A2E"/>
                </a:solidFill>
                <a:latin typeface="Calibri" pitchFamily="34" charset="0"/>
                <a:ea typeface="Calibri" pitchFamily="34" charset="-122"/>
                <a:cs typeface="Calibri" pitchFamily="34" charset="-120"/>
              </a:rPr>
              <a:t>PARTIAL · one MISSING (monitor→SLO relation)</a:t>
            </a:r>
            <a:endParaRPr lang="en-US" sz="950" dirty="0"/>
          </a:p>
        </p:txBody>
      </p:sp>
      <p:sp>
        <p:nvSpPr>
          <p:cNvPr id="32" name="Shape 29"/>
          <p:cNvSpPr/>
          <p:nvPr/>
        </p:nvSpPr>
        <p:spPr>
          <a:xfrm>
            <a:off x="566928" y="3474720"/>
            <a:ext cx="5349240" cy="420624"/>
          </a:xfrm>
          <a:prstGeom prst="roundRect">
            <a:avLst>
              <a:gd name="adj" fmla="val 8696"/>
            </a:avLst>
          </a:prstGeom>
          <a:solidFill>
            <a:srgbClr val="F5F7FA"/>
          </a:solidFill>
          <a:ln w="12700">
            <a:solidFill>
              <a:srgbClr val="F5F7FA"/>
            </a:solidFill>
            <a:prstDash val="solid"/>
          </a:ln>
        </p:spPr>
      </p:sp>
      <p:sp>
        <p:nvSpPr>
          <p:cNvPr id="33" name="Text 30"/>
          <p:cNvSpPr/>
          <p:nvPr/>
        </p:nvSpPr>
        <p:spPr>
          <a:xfrm>
            <a:off x="694944" y="3474720"/>
            <a:ext cx="685800" cy="438912"/>
          </a:xfrm>
          <a:prstGeom prst="rect">
            <a:avLst/>
          </a:prstGeom>
          <a:noFill/>
          <a:ln/>
        </p:spPr>
        <p:txBody>
          <a:bodyPr wrap="square" lIns="0" tIns="0" rIns="0" bIns="0" rtlCol="0" anchor="ctr"/>
          <a:lstStyle/>
          <a:p>
            <a:pPr indent="0" marL="0">
              <a:buNone/>
            </a:pPr>
            <a:r>
              <a:rPr lang="en-US" sz="1050" b="1" dirty="0">
                <a:solidFill>
                  <a:srgbClr val="161C28"/>
                </a:solidFill>
                <a:latin typeface="Calibri" pitchFamily="34" charset="0"/>
                <a:ea typeface="Calibri" pitchFamily="34" charset="-122"/>
                <a:cs typeface="Calibri" pitchFamily="34" charset="-120"/>
              </a:rPr>
              <a:t>§16–18</a:t>
            </a:r>
            <a:endParaRPr lang="en-US" sz="1050" dirty="0"/>
          </a:p>
        </p:txBody>
      </p:sp>
      <p:sp>
        <p:nvSpPr>
          <p:cNvPr id="34" name="Text 31"/>
          <p:cNvSpPr/>
          <p:nvPr/>
        </p:nvSpPr>
        <p:spPr>
          <a:xfrm>
            <a:off x="1408176" y="3474720"/>
            <a:ext cx="2606040" cy="438912"/>
          </a:xfrm>
          <a:prstGeom prst="rect">
            <a:avLst/>
          </a:prstGeom>
          <a:noFill/>
          <a:ln/>
        </p:spPr>
        <p:txBody>
          <a:bodyPr wrap="square" lIns="0" tIns="0" rIns="0" bIns="0" rtlCol="0" anchor="ctr"/>
          <a:lstStyle/>
          <a:p>
            <a:pPr indent="0" marL="0">
              <a:buNone/>
            </a:pPr>
            <a:r>
              <a:rPr lang="en-US" sz="1000" dirty="0">
                <a:solidFill>
                  <a:srgbClr val="3A4557"/>
                </a:solidFill>
                <a:latin typeface="Calibri" pitchFamily="34" charset="0"/>
                <a:ea typeface="Calibri" pitchFamily="34" charset="-122"/>
                <a:cs typeface="Calibri" pitchFamily="34" charset="-120"/>
              </a:rPr>
              <a:t>Profiles, single-file monitors, predictive-first</a:t>
            </a:r>
            <a:endParaRPr lang="en-US" sz="1000" dirty="0"/>
          </a:p>
        </p:txBody>
      </p:sp>
      <p:sp>
        <p:nvSpPr>
          <p:cNvPr id="35" name="Text 32"/>
          <p:cNvSpPr/>
          <p:nvPr/>
        </p:nvSpPr>
        <p:spPr>
          <a:xfrm>
            <a:off x="4041648" y="3474720"/>
            <a:ext cx="1783080" cy="438912"/>
          </a:xfrm>
          <a:prstGeom prst="rect">
            <a:avLst/>
          </a:prstGeom>
          <a:noFill/>
          <a:ln/>
        </p:spPr>
        <p:txBody>
          <a:bodyPr wrap="square" lIns="0" tIns="0" rIns="0" bIns="0" rtlCol="0" anchor="ctr"/>
          <a:lstStyle/>
          <a:p>
            <a:pPr algn="r" indent="0" marL="0">
              <a:buNone/>
            </a:pPr>
            <a:r>
              <a:rPr lang="en-US" sz="950" b="1" dirty="0">
                <a:solidFill>
                  <a:srgbClr val="27807C"/>
                </a:solidFill>
                <a:latin typeface="Calibri" pitchFamily="34" charset="0"/>
                <a:ea typeface="Calibri" pitchFamily="34" charset="-122"/>
                <a:cs typeface="Calibri" pitchFamily="34" charset="-120"/>
              </a:rPr>
              <a:t>OK · one IMPROVE</a:t>
            </a:r>
            <a:endParaRPr lang="en-US" sz="950" dirty="0"/>
          </a:p>
        </p:txBody>
      </p:sp>
      <p:sp>
        <p:nvSpPr>
          <p:cNvPr id="36" name="Shape 33"/>
          <p:cNvSpPr/>
          <p:nvPr/>
        </p:nvSpPr>
        <p:spPr>
          <a:xfrm>
            <a:off x="6144768" y="3474720"/>
            <a:ext cx="5349240" cy="420624"/>
          </a:xfrm>
          <a:prstGeom prst="roundRect">
            <a:avLst>
              <a:gd name="adj" fmla="val 8696"/>
            </a:avLst>
          </a:prstGeom>
          <a:solidFill>
            <a:srgbClr val="F5F7FA"/>
          </a:solidFill>
          <a:ln w="12700">
            <a:solidFill>
              <a:srgbClr val="F5F7FA"/>
            </a:solidFill>
            <a:prstDash val="solid"/>
          </a:ln>
        </p:spPr>
      </p:sp>
      <p:sp>
        <p:nvSpPr>
          <p:cNvPr id="37" name="Text 34"/>
          <p:cNvSpPr/>
          <p:nvPr/>
        </p:nvSpPr>
        <p:spPr>
          <a:xfrm>
            <a:off x="6272784" y="3474720"/>
            <a:ext cx="685800" cy="438912"/>
          </a:xfrm>
          <a:prstGeom prst="rect">
            <a:avLst/>
          </a:prstGeom>
          <a:noFill/>
          <a:ln/>
        </p:spPr>
        <p:txBody>
          <a:bodyPr wrap="square" lIns="0" tIns="0" rIns="0" bIns="0" rtlCol="0" anchor="ctr"/>
          <a:lstStyle/>
          <a:p>
            <a:pPr indent="0" marL="0">
              <a:buNone/>
            </a:pPr>
            <a:r>
              <a:rPr lang="en-US" sz="1050" b="1" dirty="0">
                <a:solidFill>
                  <a:srgbClr val="161C28"/>
                </a:solidFill>
                <a:latin typeface="Calibri" pitchFamily="34" charset="0"/>
                <a:ea typeface="Calibri" pitchFamily="34" charset="-122"/>
                <a:cs typeface="Calibri" pitchFamily="34" charset="-120"/>
              </a:rPr>
              <a:t>§19–23</a:t>
            </a:r>
            <a:endParaRPr lang="en-US" sz="1050" dirty="0"/>
          </a:p>
        </p:txBody>
      </p:sp>
      <p:sp>
        <p:nvSpPr>
          <p:cNvPr id="38" name="Text 35"/>
          <p:cNvSpPr/>
          <p:nvPr/>
        </p:nvSpPr>
        <p:spPr>
          <a:xfrm>
            <a:off x="6986016" y="3474720"/>
            <a:ext cx="2606040" cy="438912"/>
          </a:xfrm>
          <a:prstGeom prst="rect">
            <a:avLst/>
          </a:prstGeom>
          <a:noFill/>
          <a:ln/>
        </p:spPr>
        <p:txBody>
          <a:bodyPr wrap="square" lIns="0" tIns="0" rIns="0" bIns="0" rtlCol="0" anchor="ctr"/>
          <a:lstStyle/>
          <a:p>
            <a:pPr indent="0" marL="0">
              <a:buNone/>
            </a:pPr>
            <a:r>
              <a:rPr lang="en-US" sz="1000" dirty="0">
                <a:solidFill>
                  <a:srgbClr val="3A4557"/>
                </a:solidFill>
                <a:latin typeface="Calibri" pitchFamily="34" charset="0"/>
                <a:ea typeface="Calibri" pitchFamily="34" charset="-122"/>
                <a:cs typeface="Calibri" pitchFamily="34" charset="-120"/>
              </a:rPr>
              <a:t>Coverage by technology</a:t>
            </a:r>
            <a:endParaRPr lang="en-US" sz="1000" dirty="0"/>
          </a:p>
        </p:txBody>
      </p:sp>
      <p:sp>
        <p:nvSpPr>
          <p:cNvPr id="39" name="Text 36"/>
          <p:cNvSpPr/>
          <p:nvPr/>
        </p:nvSpPr>
        <p:spPr>
          <a:xfrm>
            <a:off x="9619488" y="3474720"/>
            <a:ext cx="1783080" cy="438912"/>
          </a:xfrm>
          <a:prstGeom prst="rect">
            <a:avLst/>
          </a:prstGeom>
          <a:noFill/>
          <a:ln/>
        </p:spPr>
        <p:txBody>
          <a:bodyPr wrap="square" lIns="0" tIns="0" rIns="0" bIns="0" rtlCol="0" anchor="ctr"/>
          <a:lstStyle/>
          <a:p>
            <a:pPr algn="r" indent="0" marL="0">
              <a:buNone/>
            </a:pPr>
            <a:r>
              <a:rPr lang="en-US" sz="950" b="1" dirty="0">
                <a:solidFill>
                  <a:srgbClr val="27807C"/>
                </a:solidFill>
                <a:latin typeface="Calibri" pitchFamily="34" charset="0"/>
                <a:ea typeface="Calibri" pitchFamily="34" charset="-122"/>
                <a:cs typeface="Calibri" pitchFamily="34" charset="-120"/>
              </a:rPr>
              <a:t>OK · one IMPROVE (VMware HA/DRS)</a:t>
            </a:r>
            <a:endParaRPr lang="en-US" sz="950" dirty="0"/>
          </a:p>
        </p:txBody>
      </p:sp>
      <p:sp>
        <p:nvSpPr>
          <p:cNvPr id="40" name="Shape 37"/>
          <p:cNvSpPr/>
          <p:nvPr/>
        </p:nvSpPr>
        <p:spPr>
          <a:xfrm>
            <a:off x="566928" y="3931920"/>
            <a:ext cx="5349240" cy="420624"/>
          </a:xfrm>
          <a:prstGeom prst="roundRect">
            <a:avLst>
              <a:gd name="adj" fmla="val 8696"/>
            </a:avLst>
          </a:prstGeom>
          <a:solidFill>
            <a:srgbClr val="F5F7FA"/>
          </a:solidFill>
          <a:ln w="12700">
            <a:solidFill>
              <a:srgbClr val="F5F7FA"/>
            </a:solidFill>
            <a:prstDash val="solid"/>
          </a:ln>
        </p:spPr>
      </p:sp>
      <p:sp>
        <p:nvSpPr>
          <p:cNvPr id="41" name="Text 38"/>
          <p:cNvSpPr/>
          <p:nvPr/>
        </p:nvSpPr>
        <p:spPr>
          <a:xfrm>
            <a:off x="694944" y="3931920"/>
            <a:ext cx="685800" cy="438912"/>
          </a:xfrm>
          <a:prstGeom prst="rect">
            <a:avLst/>
          </a:prstGeom>
          <a:noFill/>
          <a:ln/>
        </p:spPr>
        <p:txBody>
          <a:bodyPr wrap="square" lIns="0" tIns="0" rIns="0" bIns="0" rtlCol="0" anchor="ctr"/>
          <a:lstStyle/>
          <a:p>
            <a:pPr indent="0" marL="0">
              <a:buNone/>
            </a:pPr>
            <a:r>
              <a:rPr lang="en-US" sz="1050" b="1" dirty="0">
                <a:solidFill>
                  <a:srgbClr val="161C28"/>
                </a:solidFill>
                <a:latin typeface="Calibri" pitchFamily="34" charset="0"/>
                <a:ea typeface="Calibri" pitchFamily="34" charset="-122"/>
                <a:cs typeface="Calibri" pitchFamily="34" charset="-120"/>
              </a:rPr>
              <a:t>§24</a:t>
            </a:r>
            <a:endParaRPr lang="en-US" sz="1050" dirty="0"/>
          </a:p>
        </p:txBody>
      </p:sp>
      <p:sp>
        <p:nvSpPr>
          <p:cNvPr id="42" name="Text 39"/>
          <p:cNvSpPr/>
          <p:nvPr/>
        </p:nvSpPr>
        <p:spPr>
          <a:xfrm>
            <a:off x="1408176" y="3931920"/>
            <a:ext cx="2606040" cy="438912"/>
          </a:xfrm>
          <a:prstGeom prst="rect">
            <a:avLst/>
          </a:prstGeom>
          <a:noFill/>
          <a:ln/>
        </p:spPr>
        <p:txBody>
          <a:bodyPr wrap="square" lIns="0" tIns="0" rIns="0" bIns="0" rtlCol="0" anchor="ctr"/>
          <a:lstStyle/>
          <a:p>
            <a:pPr indent="0" marL="0">
              <a:buNone/>
            </a:pPr>
            <a:r>
              <a:rPr lang="en-US" sz="1000" dirty="0">
                <a:solidFill>
                  <a:srgbClr val="3A4557"/>
                </a:solidFill>
                <a:latin typeface="Calibri" pitchFamily="34" charset="0"/>
                <a:ea typeface="Calibri" pitchFamily="34" charset="-122"/>
                <a:cs typeface="Calibri" pitchFamily="34" charset="-120"/>
              </a:rPr>
              <a:t>Control-M</a:t>
            </a:r>
            <a:endParaRPr lang="en-US" sz="1000" dirty="0"/>
          </a:p>
        </p:txBody>
      </p:sp>
      <p:sp>
        <p:nvSpPr>
          <p:cNvPr id="43" name="Text 40"/>
          <p:cNvSpPr/>
          <p:nvPr/>
        </p:nvSpPr>
        <p:spPr>
          <a:xfrm>
            <a:off x="4041648" y="3931920"/>
            <a:ext cx="1783080" cy="438912"/>
          </a:xfrm>
          <a:prstGeom prst="rect">
            <a:avLst/>
          </a:prstGeom>
          <a:noFill/>
          <a:ln/>
        </p:spPr>
        <p:txBody>
          <a:bodyPr wrap="square" lIns="0" tIns="0" rIns="0" bIns="0" rtlCol="0" anchor="ctr"/>
          <a:lstStyle/>
          <a:p>
            <a:pPr algn="r" indent="0" marL="0">
              <a:buNone/>
            </a:pPr>
            <a:r>
              <a:rPr lang="en-US" sz="950" b="1" dirty="0">
                <a:solidFill>
                  <a:srgbClr val="BE4A3F"/>
                </a:solidFill>
                <a:latin typeface="Calibri" pitchFamily="34" charset="0"/>
                <a:ea typeface="Calibri" pitchFamily="34" charset="-122"/>
                <a:cs typeface="Calibri" pitchFamily="34" charset="-120"/>
              </a:rPr>
              <a:t>MISSING — zero files</a:t>
            </a:r>
            <a:endParaRPr lang="en-US" sz="950" dirty="0"/>
          </a:p>
        </p:txBody>
      </p:sp>
      <p:sp>
        <p:nvSpPr>
          <p:cNvPr id="44" name="Shape 41"/>
          <p:cNvSpPr/>
          <p:nvPr/>
        </p:nvSpPr>
        <p:spPr>
          <a:xfrm>
            <a:off x="6144768" y="3931920"/>
            <a:ext cx="5349240" cy="420624"/>
          </a:xfrm>
          <a:prstGeom prst="roundRect">
            <a:avLst>
              <a:gd name="adj" fmla="val 8696"/>
            </a:avLst>
          </a:prstGeom>
          <a:solidFill>
            <a:srgbClr val="F5F7FA"/>
          </a:solidFill>
          <a:ln w="12700">
            <a:solidFill>
              <a:srgbClr val="F5F7FA"/>
            </a:solidFill>
            <a:prstDash val="solid"/>
          </a:ln>
        </p:spPr>
      </p:sp>
      <p:sp>
        <p:nvSpPr>
          <p:cNvPr id="45" name="Text 42"/>
          <p:cNvSpPr/>
          <p:nvPr/>
        </p:nvSpPr>
        <p:spPr>
          <a:xfrm>
            <a:off x="6272784" y="3931920"/>
            <a:ext cx="685800" cy="438912"/>
          </a:xfrm>
          <a:prstGeom prst="rect">
            <a:avLst/>
          </a:prstGeom>
          <a:noFill/>
          <a:ln/>
        </p:spPr>
        <p:txBody>
          <a:bodyPr wrap="square" lIns="0" tIns="0" rIns="0" bIns="0" rtlCol="0" anchor="ctr"/>
          <a:lstStyle/>
          <a:p>
            <a:pPr indent="0" marL="0">
              <a:buNone/>
            </a:pPr>
            <a:r>
              <a:rPr lang="en-US" sz="1050" b="1" dirty="0">
                <a:solidFill>
                  <a:srgbClr val="161C28"/>
                </a:solidFill>
                <a:latin typeface="Calibri" pitchFamily="34" charset="0"/>
                <a:ea typeface="Calibri" pitchFamily="34" charset="-122"/>
                <a:cs typeface="Calibri" pitchFamily="34" charset="-120"/>
              </a:rPr>
              <a:t>§25–30</a:t>
            </a:r>
            <a:endParaRPr lang="en-US" sz="1050" dirty="0"/>
          </a:p>
        </p:txBody>
      </p:sp>
      <p:sp>
        <p:nvSpPr>
          <p:cNvPr id="46" name="Text 43"/>
          <p:cNvSpPr/>
          <p:nvPr/>
        </p:nvSpPr>
        <p:spPr>
          <a:xfrm>
            <a:off x="6986016" y="3931920"/>
            <a:ext cx="2606040" cy="438912"/>
          </a:xfrm>
          <a:prstGeom prst="rect">
            <a:avLst/>
          </a:prstGeom>
          <a:noFill/>
          <a:ln/>
        </p:spPr>
        <p:txBody>
          <a:bodyPr wrap="square" lIns="0" tIns="0" rIns="0" bIns="0" rtlCol="0" anchor="ctr"/>
          <a:lstStyle/>
          <a:p>
            <a:pPr indent="0" marL="0">
              <a:buNone/>
            </a:pPr>
            <a:r>
              <a:rPr lang="en-US" sz="1000" dirty="0">
                <a:solidFill>
                  <a:srgbClr val="3A4557"/>
                </a:solidFill>
                <a:latin typeface="Calibri" pitchFamily="34" charset="0"/>
                <a:ea typeface="Calibri" pitchFamily="34" charset="-122"/>
                <a:cs typeface="Calibri" pitchFamily="34" charset="-120"/>
              </a:rPr>
              <a:t>Events, incidents, on-call, routing, ServiceNow</a:t>
            </a:r>
            <a:endParaRPr lang="en-US" sz="1000" dirty="0"/>
          </a:p>
        </p:txBody>
      </p:sp>
      <p:sp>
        <p:nvSpPr>
          <p:cNvPr id="47" name="Text 44"/>
          <p:cNvSpPr/>
          <p:nvPr/>
        </p:nvSpPr>
        <p:spPr>
          <a:xfrm>
            <a:off x="9619488" y="3931920"/>
            <a:ext cx="1783080" cy="438912"/>
          </a:xfrm>
          <a:prstGeom prst="rect">
            <a:avLst/>
          </a:prstGeom>
          <a:noFill/>
          <a:ln/>
        </p:spPr>
        <p:txBody>
          <a:bodyPr wrap="square" lIns="0" tIns="0" rIns="0" bIns="0" rtlCol="0" anchor="ctr"/>
          <a:lstStyle/>
          <a:p>
            <a:pPr algn="r" indent="0" marL="0">
              <a:buNone/>
            </a:pPr>
            <a:r>
              <a:rPr lang="en-US" sz="950" b="1" dirty="0">
                <a:solidFill>
                  <a:srgbClr val="E09A2E"/>
                </a:solidFill>
                <a:latin typeface="Calibri" pitchFamily="34" charset="0"/>
                <a:ea typeface="Calibri" pitchFamily="34" charset="-122"/>
                <a:cs typeface="Calibri" pitchFamily="34" charset="-120"/>
              </a:rPr>
              <a:t>PARTIAL · OK on routing and ServiceNow</a:t>
            </a:r>
            <a:endParaRPr lang="en-US" sz="950" dirty="0"/>
          </a:p>
        </p:txBody>
      </p:sp>
      <p:sp>
        <p:nvSpPr>
          <p:cNvPr id="48" name="Shape 45"/>
          <p:cNvSpPr/>
          <p:nvPr/>
        </p:nvSpPr>
        <p:spPr>
          <a:xfrm>
            <a:off x="566928" y="4389120"/>
            <a:ext cx="5349240" cy="420624"/>
          </a:xfrm>
          <a:prstGeom prst="roundRect">
            <a:avLst>
              <a:gd name="adj" fmla="val 8696"/>
            </a:avLst>
          </a:prstGeom>
          <a:solidFill>
            <a:srgbClr val="F5F7FA"/>
          </a:solidFill>
          <a:ln w="12700">
            <a:solidFill>
              <a:srgbClr val="F5F7FA"/>
            </a:solidFill>
            <a:prstDash val="solid"/>
          </a:ln>
        </p:spPr>
      </p:sp>
      <p:sp>
        <p:nvSpPr>
          <p:cNvPr id="49" name="Text 46"/>
          <p:cNvSpPr/>
          <p:nvPr/>
        </p:nvSpPr>
        <p:spPr>
          <a:xfrm>
            <a:off x="694944" y="4389120"/>
            <a:ext cx="685800" cy="438912"/>
          </a:xfrm>
          <a:prstGeom prst="rect">
            <a:avLst/>
          </a:prstGeom>
          <a:noFill/>
          <a:ln/>
        </p:spPr>
        <p:txBody>
          <a:bodyPr wrap="square" lIns="0" tIns="0" rIns="0" bIns="0" rtlCol="0" anchor="ctr"/>
          <a:lstStyle/>
          <a:p>
            <a:pPr indent="0" marL="0">
              <a:buNone/>
            </a:pPr>
            <a:r>
              <a:rPr lang="en-US" sz="1050" b="1" dirty="0">
                <a:solidFill>
                  <a:srgbClr val="161C28"/>
                </a:solidFill>
                <a:latin typeface="Calibri" pitchFamily="34" charset="0"/>
                <a:ea typeface="Calibri" pitchFamily="34" charset="-122"/>
                <a:cs typeface="Calibri" pitchFamily="34" charset="-120"/>
              </a:rPr>
              <a:t>§31–35</a:t>
            </a:r>
            <a:endParaRPr lang="en-US" sz="1050" dirty="0"/>
          </a:p>
        </p:txBody>
      </p:sp>
      <p:sp>
        <p:nvSpPr>
          <p:cNvPr id="50" name="Text 47"/>
          <p:cNvSpPr/>
          <p:nvPr/>
        </p:nvSpPr>
        <p:spPr>
          <a:xfrm>
            <a:off x="1408176" y="4389120"/>
            <a:ext cx="2606040" cy="438912"/>
          </a:xfrm>
          <a:prstGeom prst="rect">
            <a:avLst/>
          </a:prstGeom>
          <a:noFill/>
          <a:ln/>
        </p:spPr>
        <p:txBody>
          <a:bodyPr wrap="square" lIns="0" tIns="0" rIns="0" bIns="0" rtlCol="0" anchor="ctr"/>
          <a:lstStyle/>
          <a:p>
            <a:pPr indent="0" marL="0">
              <a:buNone/>
            </a:pPr>
            <a:r>
              <a:rPr lang="en-US" sz="1000" dirty="0">
                <a:solidFill>
                  <a:srgbClr val="3A4557"/>
                </a:solidFill>
                <a:latin typeface="Calibri" pitchFamily="34" charset="0"/>
                <a:ea typeface="Calibri" pitchFamily="34" charset="-122"/>
                <a:cs typeface="Calibri" pitchFamily="34" charset="-120"/>
              </a:rPr>
              <a:t>Runbooks, workflows, dashboards, reports, survey</a:t>
            </a:r>
            <a:endParaRPr lang="en-US" sz="1000" dirty="0"/>
          </a:p>
        </p:txBody>
      </p:sp>
      <p:sp>
        <p:nvSpPr>
          <p:cNvPr id="51" name="Text 48"/>
          <p:cNvSpPr/>
          <p:nvPr/>
        </p:nvSpPr>
        <p:spPr>
          <a:xfrm>
            <a:off x="4041648" y="4389120"/>
            <a:ext cx="1783080" cy="438912"/>
          </a:xfrm>
          <a:prstGeom prst="rect">
            <a:avLst/>
          </a:prstGeom>
          <a:noFill/>
          <a:ln/>
        </p:spPr>
        <p:txBody>
          <a:bodyPr wrap="square" lIns="0" tIns="0" rIns="0" bIns="0" rtlCol="0" anchor="ctr"/>
          <a:lstStyle/>
          <a:p>
            <a:pPr algn="r" indent="0" marL="0">
              <a:buNone/>
            </a:pPr>
            <a:r>
              <a:rPr lang="en-US" sz="950" b="1" dirty="0">
                <a:solidFill>
                  <a:srgbClr val="E09A2E"/>
                </a:solidFill>
                <a:latin typeface="Calibri" pitchFamily="34" charset="0"/>
                <a:ea typeface="Calibri" pitchFamily="34" charset="-122"/>
                <a:cs typeface="Calibri" pitchFamily="34" charset="-120"/>
              </a:rPr>
              <a:t>OK on runbooks · two MISSING</a:t>
            </a:r>
            <a:endParaRPr lang="en-US" sz="950" dirty="0"/>
          </a:p>
        </p:txBody>
      </p:sp>
      <p:sp>
        <p:nvSpPr>
          <p:cNvPr id="52" name="Shape 49"/>
          <p:cNvSpPr/>
          <p:nvPr/>
        </p:nvSpPr>
        <p:spPr>
          <a:xfrm>
            <a:off x="6144768" y="4389120"/>
            <a:ext cx="5349240" cy="420624"/>
          </a:xfrm>
          <a:prstGeom prst="roundRect">
            <a:avLst>
              <a:gd name="adj" fmla="val 8696"/>
            </a:avLst>
          </a:prstGeom>
          <a:solidFill>
            <a:srgbClr val="F5F7FA"/>
          </a:solidFill>
          <a:ln w="12700">
            <a:solidFill>
              <a:srgbClr val="F5F7FA"/>
            </a:solidFill>
            <a:prstDash val="solid"/>
          </a:ln>
        </p:spPr>
      </p:sp>
      <p:sp>
        <p:nvSpPr>
          <p:cNvPr id="53" name="Text 50"/>
          <p:cNvSpPr/>
          <p:nvPr/>
        </p:nvSpPr>
        <p:spPr>
          <a:xfrm>
            <a:off x="6272784" y="4389120"/>
            <a:ext cx="685800" cy="438912"/>
          </a:xfrm>
          <a:prstGeom prst="rect">
            <a:avLst/>
          </a:prstGeom>
          <a:noFill/>
          <a:ln/>
        </p:spPr>
        <p:txBody>
          <a:bodyPr wrap="square" lIns="0" tIns="0" rIns="0" bIns="0" rtlCol="0" anchor="ctr"/>
          <a:lstStyle/>
          <a:p>
            <a:pPr indent="0" marL="0">
              <a:buNone/>
            </a:pPr>
            <a:r>
              <a:rPr lang="en-US" sz="1050" b="1" dirty="0">
                <a:solidFill>
                  <a:srgbClr val="161C28"/>
                </a:solidFill>
                <a:latin typeface="Calibri" pitchFamily="34" charset="0"/>
                <a:ea typeface="Calibri" pitchFamily="34" charset="-122"/>
                <a:cs typeface="Calibri" pitchFamily="34" charset="-120"/>
              </a:rPr>
              <a:t>§36–41</a:t>
            </a:r>
            <a:endParaRPr lang="en-US" sz="1050" dirty="0"/>
          </a:p>
        </p:txBody>
      </p:sp>
      <p:sp>
        <p:nvSpPr>
          <p:cNvPr id="54" name="Text 51"/>
          <p:cNvSpPr/>
          <p:nvPr/>
        </p:nvSpPr>
        <p:spPr>
          <a:xfrm>
            <a:off x="6986016" y="4389120"/>
            <a:ext cx="2606040" cy="438912"/>
          </a:xfrm>
          <a:prstGeom prst="rect">
            <a:avLst/>
          </a:prstGeom>
          <a:noFill/>
          <a:ln/>
        </p:spPr>
        <p:txBody>
          <a:bodyPr wrap="square" lIns="0" tIns="0" rIns="0" bIns="0" rtlCol="0" anchor="ctr"/>
          <a:lstStyle/>
          <a:p>
            <a:pPr indent="0" marL="0">
              <a:buNone/>
            </a:pPr>
            <a:r>
              <a:rPr lang="en-US" sz="1000" dirty="0">
                <a:solidFill>
                  <a:srgbClr val="3A4557"/>
                </a:solidFill>
                <a:latin typeface="Calibri" pitchFamily="34" charset="0"/>
                <a:ea typeface="Calibri" pitchFamily="34" charset="-122"/>
                <a:cs typeface="Calibri" pitchFamily="34" charset="-120"/>
              </a:rPr>
              <a:t>Fleet, agents, telemetry requirements, scorecards</a:t>
            </a:r>
            <a:endParaRPr lang="en-US" sz="1000" dirty="0"/>
          </a:p>
        </p:txBody>
      </p:sp>
      <p:sp>
        <p:nvSpPr>
          <p:cNvPr id="55" name="Text 52"/>
          <p:cNvSpPr/>
          <p:nvPr/>
        </p:nvSpPr>
        <p:spPr>
          <a:xfrm>
            <a:off x="9619488" y="4389120"/>
            <a:ext cx="1783080" cy="438912"/>
          </a:xfrm>
          <a:prstGeom prst="rect">
            <a:avLst/>
          </a:prstGeom>
          <a:noFill/>
          <a:ln/>
        </p:spPr>
        <p:txBody>
          <a:bodyPr wrap="square" lIns="0" tIns="0" rIns="0" bIns="0" rtlCol="0" anchor="ctr"/>
          <a:lstStyle/>
          <a:p>
            <a:pPr algn="r" indent="0" marL="0">
              <a:buNone/>
            </a:pPr>
            <a:r>
              <a:rPr lang="en-US" sz="950" b="1" dirty="0">
                <a:solidFill>
                  <a:srgbClr val="BE4A3F"/>
                </a:solidFill>
                <a:latin typeface="Calibri" pitchFamily="34" charset="0"/>
                <a:ea typeface="Calibri" pitchFamily="34" charset="-122"/>
                <a:cs typeface="Calibri" pitchFamily="34" charset="-120"/>
              </a:rPr>
              <a:t>MISSING on fleet and agent profiles</a:t>
            </a:r>
            <a:endParaRPr lang="en-US" sz="950" dirty="0"/>
          </a:p>
        </p:txBody>
      </p:sp>
      <p:sp>
        <p:nvSpPr>
          <p:cNvPr id="56" name="Shape 53"/>
          <p:cNvSpPr/>
          <p:nvPr/>
        </p:nvSpPr>
        <p:spPr>
          <a:xfrm>
            <a:off x="566928" y="4846320"/>
            <a:ext cx="5349240" cy="420624"/>
          </a:xfrm>
          <a:prstGeom prst="roundRect">
            <a:avLst>
              <a:gd name="adj" fmla="val 8696"/>
            </a:avLst>
          </a:prstGeom>
          <a:solidFill>
            <a:srgbClr val="F5F7FA"/>
          </a:solidFill>
          <a:ln w="12700">
            <a:solidFill>
              <a:srgbClr val="F5F7FA"/>
            </a:solidFill>
            <a:prstDash val="solid"/>
          </a:ln>
        </p:spPr>
      </p:sp>
      <p:sp>
        <p:nvSpPr>
          <p:cNvPr id="57" name="Text 54"/>
          <p:cNvSpPr/>
          <p:nvPr/>
        </p:nvSpPr>
        <p:spPr>
          <a:xfrm>
            <a:off x="694944" y="4846320"/>
            <a:ext cx="685800" cy="438912"/>
          </a:xfrm>
          <a:prstGeom prst="rect">
            <a:avLst/>
          </a:prstGeom>
          <a:noFill/>
          <a:ln/>
        </p:spPr>
        <p:txBody>
          <a:bodyPr wrap="square" lIns="0" tIns="0" rIns="0" bIns="0" rtlCol="0" anchor="ctr"/>
          <a:lstStyle/>
          <a:p>
            <a:pPr indent="0" marL="0">
              <a:buNone/>
            </a:pPr>
            <a:r>
              <a:rPr lang="en-US" sz="1050" b="1" dirty="0">
                <a:solidFill>
                  <a:srgbClr val="161C28"/>
                </a:solidFill>
                <a:latin typeface="Calibri" pitchFamily="34" charset="0"/>
                <a:ea typeface="Calibri" pitchFamily="34" charset="-122"/>
                <a:cs typeface="Calibri" pitchFamily="34" charset="-120"/>
              </a:rPr>
              <a:t>§42–46</a:t>
            </a:r>
            <a:endParaRPr lang="en-US" sz="1050" dirty="0"/>
          </a:p>
        </p:txBody>
      </p:sp>
      <p:sp>
        <p:nvSpPr>
          <p:cNvPr id="58" name="Text 55"/>
          <p:cNvSpPr/>
          <p:nvPr/>
        </p:nvSpPr>
        <p:spPr>
          <a:xfrm>
            <a:off x="1408176" y="4846320"/>
            <a:ext cx="2606040" cy="438912"/>
          </a:xfrm>
          <a:prstGeom prst="rect">
            <a:avLst/>
          </a:prstGeom>
          <a:noFill/>
          <a:ln/>
        </p:spPr>
        <p:txBody>
          <a:bodyPr wrap="square" lIns="0" tIns="0" rIns="0" bIns="0" rtlCol="0" anchor="ctr"/>
          <a:lstStyle/>
          <a:p>
            <a:pPr indent="0" marL="0">
              <a:buNone/>
            </a:pPr>
            <a:r>
              <a:rPr lang="en-US" sz="1000" dirty="0">
                <a:solidFill>
                  <a:srgbClr val="3A4557"/>
                </a:solidFill>
                <a:latin typeface="Calibri" pitchFamily="34" charset="0"/>
                <a:ea typeface="Calibri" pitchFamily="34" charset="-122"/>
                <a:cs typeface="Calibri" pitchFamily="34" charset="-120"/>
              </a:rPr>
              <a:t>MCP server</a:t>
            </a:r>
            <a:endParaRPr lang="en-US" sz="1000" dirty="0"/>
          </a:p>
        </p:txBody>
      </p:sp>
      <p:sp>
        <p:nvSpPr>
          <p:cNvPr id="59" name="Text 56"/>
          <p:cNvSpPr/>
          <p:nvPr/>
        </p:nvSpPr>
        <p:spPr>
          <a:xfrm>
            <a:off x="4041648" y="4846320"/>
            <a:ext cx="1783080" cy="438912"/>
          </a:xfrm>
          <a:prstGeom prst="rect">
            <a:avLst/>
          </a:prstGeom>
          <a:noFill/>
          <a:ln/>
        </p:spPr>
        <p:txBody>
          <a:bodyPr wrap="square" lIns="0" tIns="0" rIns="0" bIns="0" rtlCol="0" anchor="ctr"/>
          <a:lstStyle/>
          <a:p>
            <a:pPr algn="r" indent="0" marL="0">
              <a:buNone/>
            </a:pPr>
            <a:r>
              <a:rPr lang="en-US" sz="950" b="1" dirty="0">
                <a:solidFill>
                  <a:srgbClr val="BE4A3F"/>
                </a:solidFill>
                <a:latin typeface="Calibri" pitchFamily="34" charset="0"/>
                <a:ea typeface="Calibri" pitchFamily="34" charset="-122"/>
                <a:cs typeface="Calibri" pitchFamily="34" charset="-120"/>
              </a:rPr>
              <a:t>MISSING — zero files</a:t>
            </a:r>
            <a:endParaRPr lang="en-US" sz="950" dirty="0"/>
          </a:p>
        </p:txBody>
      </p:sp>
      <p:sp>
        <p:nvSpPr>
          <p:cNvPr id="60" name="Shape 57"/>
          <p:cNvSpPr/>
          <p:nvPr/>
        </p:nvSpPr>
        <p:spPr>
          <a:xfrm>
            <a:off x="6144768" y="4846320"/>
            <a:ext cx="5349240" cy="420624"/>
          </a:xfrm>
          <a:prstGeom prst="roundRect">
            <a:avLst>
              <a:gd name="adj" fmla="val 8696"/>
            </a:avLst>
          </a:prstGeom>
          <a:solidFill>
            <a:srgbClr val="F5F7FA"/>
          </a:solidFill>
          <a:ln w="12700">
            <a:solidFill>
              <a:srgbClr val="F5F7FA"/>
            </a:solidFill>
            <a:prstDash val="solid"/>
          </a:ln>
        </p:spPr>
      </p:sp>
      <p:sp>
        <p:nvSpPr>
          <p:cNvPr id="61" name="Text 58"/>
          <p:cNvSpPr/>
          <p:nvPr/>
        </p:nvSpPr>
        <p:spPr>
          <a:xfrm>
            <a:off x="6272784" y="4846320"/>
            <a:ext cx="685800" cy="438912"/>
          </a:xfrm>
          <a:prstGeom prst="rect">
            <a:avLst/>
          </a:prstGeom>
          <a:noFill/>
          <a:ln/>
        </p:spPr>
        <p:txBody>
          <a:bodyPr wrap="square" lIns="0" tIns="0" rIns="0" bIns="0" rtlCol="0" anchor="ctr"/>
          <a:lstStyle/>
          <a:p>
            <a:pPr indent="0" marL="0">
              <a:buNone/>
            </a:pPr>
            <a:r>
              <a:rPr lang="en-US" sz="1050" b="1" dirty="0">
                <a:solidFill>
                  <a:srgbClr val="161C28"/>
                </a:solidFill>
                <a:latin typeface="Calibri" pitchFamily="34" charset="0"/>
                <a:ea typeface="Calibri" pitchFamily="34" charset="-122"/>
                <a:cs typeface="Calibri" pitchFamily="34" charset="-120"/>
              </a:rPr>
              <a:t>§47–50</a:t>
            </a:r>
            <a:endParaRPr lang="en-US" sz="1050" dirty="0"/>
          </a:p>
        </p:txBody>
      </p:sp>
      <p:sp>
        <p:nvSpPr>
          <p:cNvPr id="62" name="Text 59"/>
          <p:cNvSpPr/>
          <p:nvPr/>
        </p:nvSpPr>
        <p:spPr>
          <a:xfrm>
            <a:off x="6986016" y="4846320"/>
            <a:ext cx="2606040" cy="438912"/>
          </a:xfrm>
          <a:prstGeom prst="rect">
            <a:avLst/>
          </a:prstGeom>
          <a:noFill/>
          <a:ln/>
        </p:spPr>
        <p:txBody>
          <a:bodyPr wrap="square" lIns="0" tIns="0" rIns="0" bIns="0" rtlCol="0" anchor="ctr"/>
          <a:lstStyle/>
          <a:p>
            <a:pPr indent="0" marL="0">
              <a:buNone/>
            </a:pPr>
            <a:r>
              <a:rPr lang="en-US" sz="1000" dirty="0">
                <a:solidFill>
                  <a:srgbClr val="3A4557"/>
                </a:solidFill>
                <a:latin typeface="Calibri" pitchFamily="34" charset="0"/>
                <a:ea typeface="Calibri" pitchFamily="34" charset="-122"/>
                <a:cs typeface="Calibri" pitchFamily="34" charset="-120"/>
              </a:rPr>
              <a:t>Executive surfaces</a:t>
            </a:r>
            <a:endParaRPr lang="en-US" sz="1000" dirty="0"/>
          </a:p>
        </p:txBody>
      </p:sp>
      <p:sp>
        <p:nvSpPr>
          <p:cNvPr id="63" name="Text 60"/>
          <p:cNvSpPr/>
          <p:nvPr/>
        </p:nvSpPr>
        <p:spPr>
          <a:xfrm>
            <a:off x="9619488" y="4846320"/>
            <a:ext cx="1783080" cy="438912"/>
          </a:xfrm>
          <a:prstGeom prst="rect">
            <a:avLst/>
          </a:prstGeom>
          <a:noFill/>
          <a:ln/>
        </p:spPr>
        <p:txBody>
          <a:bodyPr wrap="square" lIns="0" tIns="0" rIns="0" bIns="0" rtlCol="0" anchor="ctr"/>
          <a:lstStyle/>
          <a:p>
            <a:pPr algn="r" indent="0" marL="0">
              <a:buNone/>
            </a:pPr>
            <a:r>
              <a:rPr lang="en-US" sz="950" b="1" dirty="0">
                <a:solidFill>
                  <a:srgbClr val="BE4A3F"/>
                </a:solidFill>
                <a:latin typeface="Calibri" pitchFamily="34" charset="0"/>
                <a:ea typeface="Calibri" pitchFamily="34" charset="-122"/>
                <a:cs typeface="Calibri" pitchFamily="34" charset="-120"/>
              </a:rPr>
              <a:t>MISSING — this deck closes §50</a:t>
            </a:r>
            <a:endParaRPr lang="en-US" sz="950" dirty="0"/>
          </a:p>
        </p:txBody>
      </p:sp>
      <p:sp>
        <p:nvSpPr>
          <p:cNvPr id="64" name="Shape 61"/>
          <p:cNvSpPr/>
          <p:nvPr/>
        </p:nvSpPr>
        <p:spPr>
          <a:xfrm>
            <a:off x="566928" y="5303520"/>
            <a:ext cx="5349240" cy="420624"/>
          </a:xfrm>
          <a:prstGeom prst="roundRect">
            <a:avLst>
              <a:gd name="adj" fmla="val 8696"/>
            </a:avLst>
          </a:prstGeom>
          <a:solidFill>
            <a:srgbClr val="F5F7FA"/>
          </a:solidFill>
          <a:ln w="12700">
            <a:solidFill>
              <a:srgbClr val="F5F7FA"/>
            </a:solidFill>
            <a:prstDash val="solid"/>
          </a:ln>
        </p:spPr>
      </p:sp>
      <p:sp>
        <p:nvSpPr>
          <p:cNvPr id="65" name="Text 62"/>
          <p:cNvSpPr/>
          <p:nvPr/>
        </p:nvSpPr>
        <p:spPr>
          <a:xfrm>
            <a:off x="694944" y="5303520"/>
            <a:ext cx="685800" cy="438912"/>
          </a:xfrm>
          <a:prstGeom prst="rect">
            <a:avLst/>
          </a:prstGeom>
          <a:noFill/>
          <a:ln/>
        </p:spPr>
        <p:txBody>
          <a:bodyPr wrap="square" lIns="0" tIns="0" rIns="0" bIns="0" rtlCol="0" anchor="ctr"/>
          <a:lstStyle/>
          <a:p>
            <a:pPr indent="0" marL="0">
              <a:buNone/>
            </a:pPr>
            <a:r>
              <a:rPr lang="en-US" sz="1050" b="1" dirty="0">
                <a:solidFill>
                  <a:srgbClr val="161C28"/>
                </a:solidFill>
                <a:latin typeface="Calibri" pitchFamily="34" charset="0"/>
                <a:ea typeface="Calibri" pitchFamily="34" charset="-122"/>
                <a:cs typeface="Calibri" pitchFamily="34" charset="-120"/>
              </a:rPr>
              <a:t>§51–57</a:t>
            </a:r>
            <a:endParaRPr lang="en-US" sz="1050" dirty="0"/>
          </a:p>
        </p:txBody>
      </p:sp>
      <p:sp>
        <p:nvSpPr>
          <p:cNvPr id="66" name="Text 63"/>
          <p:cNvSpPr/>
          <p:nvPr/>
        </p:nvSpPr>
        <p:spPr>
          <a:xfrm>
            <a:off x="1408176" y="5303520"/>
            <a:ext cx="2606040" cy="438912"/>
          </a:xfrm>
          <a:prstGeom prst="rect">
            <a:avLst/>
          </a:prstGeom>
          <a:noFill/>
          <a:ln/>
        </p:spPr>
        <p:txBody>
          <a:bodyPr wrap="square" lIns="0" tIns="0" rIns="0" bIns="0" rtlCol="0" anchor="ctr"/>
          <a:lstStyle/>
          <a:p>
            <a:pPr indent="0" marL="0">
              <a:buNone/>
            </a:pPr>
            <a:r>
              <a:rPr lang="en-US" sz="1000" dirty="0">
                <a:solidFill>
                  <a:srgbClr val="3A4557"/>
                </a:solidFill>
                <a:latin typeface="Calibri" pitchFamily="34" charset="0"/>
                <a:ea typeface="Calibri" pitchFamily="34" charset="-122"/>
                <a:cs typeface="Calibri" pitchFamily="34" charset="-120"/>
              </a:rPr>
              <a:t>Outcomes, SOPs, CI/CD, RBAC, architecture</a:t>
            </a:r>
            <a:endParaRPr lang="en-US" sz="1000" dirty="0"/>
          </a:p>
        </p:txBody>
      </p:sp>
      <p:sp>
        <p:nvSpPr>
          <p:cNvPr id="67" name="Text 64"/>
          <p:cNvSpPr/>
          <p:nvPr/>
        </p:nvSpPr>
        <p:spPr>
          <a:xfrm>
            <a:off x="4041648" y="5303520"/>
            <a:ext cx="1783080" cy="438912"/>
          </a:xfrm>
          <a:prstGeom prst="rect">
            <a:avLst/>
          </a:prstGeom>
          <a:noFill/>
          <a:ln/>
        </p:spPr>
        <p:txBody>
          <a:bodyPr wrap="square" lIns="0" tIns="0" rIns="0" bIns="0" rtlCol="0" anchor="ctr"/>
          <a:lstStyle/>
          <a:p>
            <a:pPr algn="r" indent="0" marL="0">
              <a:buNone/>
            </a:pPr>
            <a:r>
              <a:rPr lang="en-US" sz="950" b="1" dirty="0">
                <a:solidFill>
                  <a:srgbClr val="E09A2E"/>
                </a:solidFill>
                <a:latin typeface="Calibri" pitchFamily="34" charset="0"/>
                <a:ea typeface="Calibri" pitchFamily="34" charset="-122"/>
                <a:cs typeface="Calibri" pitchFamily="34" charset="-120"/>
              </a:rPr>
              <a:t>OK on SOPs and RBAC · PARTIAL elsewhere</a:t>
            </a:r>
            <a:endParaRPr lang="en-US" sz="950" dirty="0"/>
          </a:p>
        </p:txBody>
      </p:sp>
      <p:sp>
        <p:nvSpPr>
          <p:cNvPr id="68" name="Shape 65"/>
          <p:cNvSpPr/>
          <p:nvPr/>
        </p:nvSpPr>
        <p:spPr>
          <a:xfrm>
            <a:off x="6144768" y="5303520"/>
            <a:ext cx="5349240" cy="420624"/>
          </a:xfrm>
          <a:prstGeom prst="roundRect">
            <a:avLst>
              <a:gd name="adj" fmla="val 8696"/>
            </a:avLst>
          </a:prstGeom>
          <a:solidFill>
            <a:srgbClr val="F5F7FA"/>
          </a:solidFill>
          <a:ln w="12700">
            <a:solidFill>
              <a:srgbClr val="F5F7FA"/>
            </a:solidFill>
            <a:prstDash val="solid"/>
          </a:ln>
        </p:spPr>
      </p:sp>
      <p:sp>
        <p:nvSpPr>
          <p:cNvPr id="69" name="Text 66"/>
          <p:cNvSpPr/>
          <p:nvPr/>
        </p:nvSpPr>
        <p:spPr>
          <a:xfrm>
            <a:off x="6272784" y="5303520"/>
            <a:ext cx="685800" cy="438912"/>
          </a:xfrm>
          <a:prstGeom prst="rect">
            <a:avLst/>
          </a:prstGeom>
          <a:noFill/>
          <a:ln/>
        </p:spPr>
        <p:txBody>
          <a:bodyPr wrap="square" lIns="0" tIns="0" rIns="0" bIns="0" rtlCol="0" anchor="ctr"/>
          <a:lstStyle/>
          <a:p>
            <a:pPr indent="0" marL="0">
              <a:buNone/>
            </a:pPr>
            <a:r>
              <a:rPr lang="en-US" sz="1050" b="1" dirty="0">
                <a:solidFill>
                  <a:srgbClr val="161C28"/>
                </a:solidFill>
                <a:latin typeface="Calibri" pitchFamily="34" charset="0"/>
                <a:ea typeface="Calibri" pitchFamily="34" charset="-122"/>
                <a:cs typeface="Calibri" pitchFamily="34" charset="-120"/>
              </a:rPr>
              <a:t>§58–60</a:t>
            </a:r>
            <a:endParaRPr lang="en-US" sz="1050" dirty="0"/>
          </a:p>
        </p:txBody>
      </p:sp>
      <p:sp>
        <p:nvSpPr>
          <p:cNvPr id="70" name="Text 67"/>
          <p:cNvSpPr/>
          <p:nvPr/>
        </p:nvSpPr>
        <p:spPr>
          <a:xfrm>
            <a:off x="6986016" y="5303520"/>
            <a:ext cx="2606040" cy="438912"/>
          </a:xfrm>
          <a:prstGeom prst="rect">
            <a:avLst/>
          </a:prstGeom>
          <a:noFill/>
          <a:ln/>
        </p:spPr>
        <p:txBody>
          <a:bodyPr wrap="square" lIns="0" tIns="0" rIns="0" bIns="0" rtlCol="0" anchor="ctr"/>
          <a:lstStyle/>
          <a:p>
            <a:pPr indent="0" marL="0">
              <a:buNone/>
            </a:pPr>
            <a:r>
              <a:rPr lang="en-US" sz="1000" dirty="0">
                <a:solidFill>
                  <a:srgbClr val="3A4557"/>
                </a:solidFill>
                <a:latin typeface="Calibri" pitchFamily="34" charset="0"/>
                <a:ea typeface="Calibri" pitchFamily="34" charset="-122"/>
                <a:cs typeface="Calibri" pitchFamily="34" charset="-120"/>
              </a:rPr>
              <a:t>Deliverables, proofs, acceptance</a:t>
            </a:r>
            <a:endParaRPr lang="en-US" sz="1000" dirty="0"/>
          </a:p>
        </p:txBody>
      </p:sp>
      <p:sp>
        <p:nvSpPr>
          <p:cNvPr id="71" name="Text 68"/>
          <p:cNvSpPr/>
          <p:nvPr/>
        </p:nvSpPr>
        <p:spPr>
          <a:xfrm>
            <a:off x="9619488" y="5303520"/>
            <a:ext cx="1783080" cy="438912"/>
          </a:xfrm>
          <a:prstGeom prst="rect">
            <a:avLst/>
          </a:prstGeom>
          <a:noFill/>
          <a:ln/>
        </p:spPr>
        <p:txBody>
          <a:bodyPr wrap="square" lIns="0" tIns="0" rIns="0" bIns="0" rtlCol="0" anchor="ctr"/>
          <a:lstStyle/>
          <a:p>
            <a:pPr algn="r" indent="0" marL="0">
              <a:buNone/>
            </a:pPr>
            <a:r>
              <a:rPr lang="en-US" sz="950" b="1" dirty="0">
                <a:solidFill>
                  <a:srgbClr val="E09A2E"/>
                </a:solidFill>
                <a:latin typeface="Calibri" pitchFamily="34" charset="0"/>
                <a:ea typeface="Calibri" pitchFamily="34" charset="-122"/>
                <a:cs typeface="Calibri" pitchFamily="34" charset="-120"/>
              </a:rPr>
              <a:t>PARTIAL — 38 of 62 acceptance criteria met</a:t>
            </a:r>
            <a:endParaRPr lang="en-US" sz="950" dirty="0"/>
          </a:p>
        </p:txBody>
      </p:sp>
      <p:sp>
        <p:nvSpPr>
          <p:cNvPr id="72" name="Shape 69"/>
          <p:cNvSpPr/>
          <p:nvPr/>
        </p:nvSpPr>
        <p:spPr>
          <a:xfrm>
            <a:off x="566928" y="5779008"/>
            <a:ext cx="2057400" cy="512064"/>
          </a:xfrm>
          <a:prstGeom prst="roundRect">
            <a:avLst>
              <a:gd name="adj" fmla="val 8929"/>
            </a:avLst>
          </a:prstGeom>
          <a:solidFill>
            <a:srgbClr val="12161F"/>
          </a:solidFill>
          <a:ln w="12700">
            <a:solidFill>
              <a:srgbClr val="12161F"/>
            </a:solidFill>
            <a:prstDash val="solid"/>
          </a:ln>
        </p:spPr>
      </p:sp>
      <p:sp>
        <p:nvSpPr>
          <p:cNvPr id="73" name="Text 70"/>
          <p:cNvSpPr/>
          <p:nvPr/>
        </p:nvSpPr>
        <p:spPr>
          <a:xfrm>
            <a:off x="749808" y="5779008"/>
            <a:ext cx="731520" cy="512064"/>
          </a:xfrm>
          <a:prstGeom prst="rect">
            <a:avLst/>
          </a:prstGeom>
          <a:noFill/>
          <a:ln/>
        </p:spPr>
        <p:txBody>
          <a:bodyPr wrap="square" lIns="0" tIns="0" rIns="0" bIns="0" rtlCol="0" anchor="ctr"/>
          <a:lstStyle/>
          <a:p>
            <a:pPr indent="0" marL="0">
              <a:buNone/>
            </a:pPr>
            <a:r>
              <a:rPr lang="en-US" sz="2000" b="1" dirty="0">
                <a:solidFill>
                  <a:srgbClr val="E09A2E"/>
                </a:solidFill>
                <a:latin typeface="Cambria" pitchFamily="34" charset="0"/>
                <a:ea typeface="Cambria" pitchFamily="34" charset="-122"/>
                <a:cs typeface="Cambria" pitchFamily="34" charset="-120"/>
              </a:rPr>
              <a:t>21</a:t>
            </a:r>
            <a:endParaRPr lang="en-US" sz="2000" dirty="0"/>
          </a:p>
        </p:txBody>
      </p:sp>
      <p:sp>
        <p:nvSpPr>
          <p:cNvPr id="74" name="Text 71"/>
          <p:cNvSpPr/>
          <p:nvPr/>
        </p:nvSpPr>
        <p:spPr>
          <a:xfrm>
            <a:off x="1481328" y="5779008"/>
            <a:ext cx="1005840" cy="512064"/>
          </a:xfrm>
          <a:prstGeom prst="rect">
            <a:avLst/>
          </a:prstGeom>
          <a:noFill/>
          <a:ln/>
        </p:spPr>
        <p:txBody>
          <a:bodyPr wrap="square" lIns="0" tIns="0" rIns="0" bIns="0" rtlCol="0" anchor="ctr"/>
          <a:lstStyle/>
          <a:p>
            <a:pPr indent="0" marL="0">
              <a:buNone/>
            </a:pPr>
            <a:r>
              <a:rPr lang="en-US" sz="1000" dirty="0">
                <a:solidFill>
                  <a:srgbClr val="9FADC4"/>
                </a:solidFill>
                <a:latin typeface="Calibri" pitchFamily="34" charset="0"/>
                <a:ea typeface="Calibri" pitchFamily="34" charset="-122"/>
                <a:cs typeface="Calibri" pitchFamily="34" charset="-120"/>
              </a:rPr>
              <a:t>OK</a:t>
            </a:r>
            <a:endParaRPr lang="en-US" sz="1000" dirty="0"/>
          </a:p>
        </p:txBody>
      </p:sp>
      <p:sp>
        <p:nvSpPr>
          <p:cNvPr id="75" name="Shape 72"/>
          <p:cNvSpPr/>
          <p:nvPr/>
        </p:nvSpPr>
        <p:spPr>
          <a:xfrm>
            <a:off x="2788920" y="5779008"/>
            <a:ext cx="2057400" cy="512064"/>
          </a:xfrm>
          <a:prstGeom prst="roundRect">
            <a:avLst>
              <a:gd name="adj" fmla="val 8929"/>
            </a:avLst>
          </a:prstGeom>
          <a:solidFill>
            <a:srgbClr val="12161F"/>
          </a:solidFill>
          <a:ln w="12700">
            <a:solidFill>
              <a:srgbClr val="12161F"/>
            </a:solidFill>
            <a:prstDash val="solid"/>
          </a:ln>
        </p:spPr>
      </p:sp>
      <p:sp>
        <p:nvSpPr>
          <p:cNvPr id="76" name="Text 73"/>
          <p:cNvSpPr/>
          <p:nvPr/>
        </p:nvSpPr>
        <p:spPr>
          <a:xfrm>
            <a:off x="2971800" y="5779008"/>
            <a:ext cx="731520" cy="512064"/>
          </a:xfrm>
          <a:prstGeom prst="rect">
            <a:avLst/>
          </a:prstGeom>
          <a:noFill/>
          <a:ln/>
        </p:spPr>
        <p:txBody>
          <a:bodyPr wrap="square" lIns="0" tIns="0" rIns="0" bIns="0" rtlCol="0" anchor="ctr"/>
          <a:lstStyle/>
          <a:p>
            <a:pPr indent="0" marL="0">
              <a:buNone/>
            </a:pPr>
            <a:r>
              <a:rPr lang="en-US" sz="2000" b="1" dirty="0">
                <a:solidFill>
                  <a:srgbClr val="E09A2E"/>
                </a:solidFill>
                <a:latin typeface="Cambria" pitchFamily="34" charset="0"/>
                <a:ea typeface="Cambria" pitchFamily="34" charset="-122"/>
                <a:cs typeface="Cambria" pitchFamily="34" charset="-120"/>
              </a:rPr>
              <a:t>9</a:t>
            </a:r>
            <a:endParaRPr lang="en-US" sz="2000" dirty="0"/>
          </a:p>
        </p:txBody>
      </p:sp>
      <p:sp>
        <p:nvSpPr>
          <p:cNvPr id="77" name="Text 74"/>
          <p:cNvSpPr/>
          <p:nvPr/>
        </p:nvSpPr>
        <p:spPr>
          <a:xfrm>
            <a:off x="3703320" y="5779008"/>
            <a:ext cx="1005840" cy="512064"/>
          </a:xfrm>
          <a:prstGeom prst="rect">
            <a:avLst/>
          </a:prstGeom>
          <a:noFill/>
          <a:ln/>
        </p:spPr>
        <p:txBody>
          <a:bodyPr wrap="square" lIns="0" tIns="0" rIns="0" bIns="0" rtlCol="0" anchor="ctr"/>
          <a:lstStyle/>
          <a:p>
            <a:pPr indent="0" marL="0">
              <a:buNone/>
            </a:pPr>
            <a:r>
              <a:rPr lang="en-US" sz="1000" dirty="0">
                <a:solidFill>
                  <a:srgbClr val="9FADC4"/>
                </a:solidFill>
                <a:latin typeface="Calibri" pitchFamily="34" charset="0"/>
                <a:ea typeface="Calibri" pitchFamily="34" charset="-122"/>
                <a:cs typeface="Calibri" pitchFamily="34" charset="-120"/>
              </a:rPr>
              <a:t>IMPROVE</a:t>
            </a:r>
            <a:endParaRPr lang="en-US" sz="1000" dirty="0"/>
          </a:p>
        </p:txBody>
      </p:sp>
      <p:sp>
        <p:nvSpPr>
          <p:cNvPr id="78" name="Shape 75"/>
          <p:cNvSpPr/>
          <p:nvPr/>
        </p:nvSpPr>
        <p:spPr>
          <a:xfrm>
            <a:off x="5010912" y="5779008"/>
            <a:ext cx="2057400" cy="512064"/>
          </a:xfrm>
          <a:prstGeom prst="roundRect">
            <a:avLst>
              <a:gd name="adj" fmla="val 8929"/>
            </a:avLst>
          </a:prstGeom>
          <a:solidFill>
            <a:srgbClr val="12161F"/>
          </a:solidFill>
          <a:ln w="12700">
            <a:solidFill>
              <a:srgbClr val="12161F"/>
            </a:solidFill>
            <a:prstDash val="solid"/>
          </a:ln>
        </p:spPr>
      </p:sp>
      <p:sp>
        <p:nvSpPr>
          <p:cNvPr id="79" name="Text 76"/>
          <p:cNvSpPr/>
          <p:nvPr/>
        </p:nvSpPr>
        <p:spPr>
          <a:xfrm>
            <a:off x="5193792" y="5779008"/>
            <a:ext cx="731520" cy="512064"/>
          </a:xfrm>
          <a:prstGeom prst="rect">
            <a:avLst/>
          </a:prstGeom>
          <a:noFill/>
          <a:ln/>
        </p:spPr>
        <p:txBody>
          <a:bodyPr wrap="square" lIns="0" tIns="0" rIns="0" bIns="0" rtlCol="0" anchor="ctr"/>
          <a:lstStyle/>
          <a:p>
            <a:pPr indent="0" marL="0">
              <a:buNone/>
            </a:pPr>
            <a:r>
              <a:rPr lang="en-US" sz="2000" b="1" dirty="0">
                <a:solidFill>
                  <a:srgbClr val="E09A2E"/>
                </a:solidFill>
                <a:latin typeface="Cambria" pitchFamily="34" charset="0"/>
                <a:ea typeface="Cambria" pitchFamily="34" charset="-122"/>
                <a:cs typeface="Cambria" pitchFamily="34" charset="-120"/>
              </a:rPr>
              <a:t>12</a:t>
            </a:r>
            <a:endParaRPr lang="en-US" sz="2000" dirty="0"/>
          </a:p>
        </p:txBody>
      </p:sp>
      <p:sp>
        <p:nvSpPr>
          <p:cNvPr id="80" name="Text 77"/>
          <p:cNvSpPr/>
          <p:nvPr/>
        </p:nvSpPr>
        <p:spPr>
          <a:xfrm>
            <a:off x="5925312" y="5779008"/>
            <a:ext cx="1005840" cy="512064"/>
          </a:xfrm>
          <a:prstGeom prst="rect">
            <a:avLst/>
          </a:prstGeom>
          <a:noFill/>
          <a:ln/>
        </p:spPr>
        <p:txBody>
          <a:bodyPr wrap="square" lIns="0" tIns="0" rIns="0" bIns="0" rtlCol="0" anchor="ctr"/>
          <a:lstStyle/>
          <a:p>
            <a:pPr indent="0" marL="0">
              <a:buNone/>
            </a:pPr>
            <a:r>
              <a:rPr lang="en-US" sz="1000" dirty="0">
                <a:solidFill>
                  <a:srgbClr val="9FADC4"/>
                </a:solidFill>
                <a:latin typeface="Calibri" pitchFamily="34" charset="0"/>
                <a:ea typeface="Calibri" pitchFamily="34" charset="-122"/>
                <a:cs typeface="Calibri" pitchFamily="34" charset="-120"/>
              </a:rPr>
              <a:t>PARTIAL</a:t>
            </a:r>
            <a:endParaRPr lang="en-US" sz="1000" dirty="0"/>
          </a:p>
        </p:txBody>
      </p:sp>
      <p:sp>
        <p:nvSpPr>
          <p:cNvPr id="81" name="Shape 78"/>
          <p:cNvSpPr/>
          <p:nvPr/>
        </p:nvSpPr>
        <p:spPr>
          <a:xfrm>
            <a:off x="7232904" y="5779008"/>
            <a:ext cx="2057400" cy="512064"/>
          </a:xfrm>
          <a:prstGeom prst="roundRect">
            <a:avLst>
              <a:gd name="adj" fmla="val 8929"/>
            </a:avLst>
          </a:prstGeom>
          <a:solidFill>
            <a:srgbClr val="12161F"/>
          </a:solidFill>
          <a:ln w="12700">
            <a:solidFill>
              <a:srgbClr val="12161F"/>
            </a:solidFill>
            <a:prstDash val="solid"/>
          </a:ln>
        </p:spPr>
      </p:sp>
      <p:sp>
        <p:nvSpPr>
          <p:cNvPr id="82" name="Text 79"/>
          <p:cNvSpPr/>
          <p:nvPr/>
        </p:nvSpPr>
        <p:spPr>
          <a:xfrm>
            <a:off x="7415784" y="5779008"/>
            <a:ext cx="731520" cy="512064"/>
          </a:xfrm>
          <a:prstGeom prst="rect">
            <a:avLst/>
          </a:prstGeom>
          <a:noFill/>
          <a:ln/>
        </p:spPr>
        <p:txBody>
          <a:bodyPr wrap="square" lIns="0" tIns="0" rIns="0" bIns="0" rtlCol="0" anchor="ctr"/>
          <a:lstStyle/>
          <a:p>
            <a:pPr indent="0" marL="0">
              <a:buNone/>
            </a:pPr>
            <a:r>
              <a:rPr lang="en-US" sz="2000" b="1" dirty="0">
                <a:solidFill>
                  <a:srgbClr val="E09A2E"/>
                </a:solidFill>
                <a:latin typeface="Cambria" pitchFamily="34" charset="0"/>
                <a:ea typeface="Cambria" pitchFamily="34" charset="-122"/>
                <a:cs typeface="Cambria" pitchFamily="34" charset="-120"/>
              </a:rPr>
              <a:t>15</a:t>
            </a:r>
            <a:endParaRPr lang="en-US" sz="2000" dirty="0"/>
          </a:p>
        </p:txBody>
      </p:sp>
      <p:sp>
        <p:nvSpPr>
          <p:cNvPr id="83" name="Text 80"/>
          <p:cNvSpPr/>
          <p:nvPr/>
        </p:nvSpPr>
        <p:spPr>
          <a:xfrm>
            <a:off x="8147304" y="5779008"/>
            <a:ext cx="1005840" cy="512064"/>
          </a:xfrm>
          <a:prstGeom prst="rect">
            <a:avLst/>
          </a:prstGeom>
          <a:noFill/>
          <a:ln/>
        </p:spPr>
        <p:txBody>
          <a:bodyPr wrap="square" lIns="0" tIns="0" rIns="0" bIns="0" rtlCol="0" anchor="ctr"/>
          <a:lstStyle/>
          <a:p>
            <a:pPr indent="0" marL="0">
              <a:buNone/>
            </a:pPr>
            <a:r>
              <a:rPr lang="en-US" sz="1000" dirty="0">
                <a:solidFill>
                  <a:srgbClr val="9FADC4"/>
                </a:solidFill>
                <a:latin typeface="Calibri" pitchFamily="34" charset="0"/>
                <a:ea typeface="Calibri" pitchFamily="34" charset="-122"/>
                <a:cs typeface="Calibri" pitchFamily="34" charset="-120"/>
              </a:rPr>
              <a:t>MISSING</a:t>
            </a:r>
            <a:endParaRPr lang="en-US" sz="1000" dirty="0"/>
          </a:p>
        </p:txBody>
      </p:sp>
      <p:sp>
        <p:nvSpPr>
          <p:cNvPr id="84" name="Shape 81"/>
          <p:cNvSpPr/>
          <p:nvPr/>
        </p:nvSpPr>
        <p:spPr>
          <a:xfrm>
            <a:off x="9454896" y="5779008"/>
            <a:ext cx="2057400" cy="512064"/>
          </a:xfrm>
          <a:prstGeom prst="roundRect">
            <a:avLst>
              <a:gd name="adj" fmla="val 8929"/>
            </a:avLst>
          </a:prstGeom>
          <a:solidFill>
            <a:srgbClr val="12161F"/>
          </a:solidFill>
          <a:ln w="12700">
            <a:solidFill>
              <a:srgbClr val="12161F"/>
            </a:solidFill>
            <a:prstDash val="solid"/>
          </a:ln>
        </p:spPr>
      </p:sp>
      <p:sp>
        <p:nvSpPr>
          <p:cNvPr id="85" name="Text 82"/>
          <p:cNvSpPr/>
          <p:nvPr/>
        </p:nvSpPr>
        <p:spPr>
          <a:xfrm>
            <a:off x="9637776" y="5779008"/>
            <a:ext cx="731520" cy="512064"/>
          </a:xfrm>
          <a:prstGeom prst="rect">
            <a:avLst/>
          </a:prstGeom>
          <a:noFill/>
          <a:ln/>
        </p:spPr>
        <p:txBody>
          <a:bodyPr wrap="square" lIns="0" tIns="0" rIns="0" bIns="0" rtlCol="0" anchor="ctr"/>
          <a:lstStyle/>
          <a:p>
            <a:pPr indent="0" marL="0">
              <a:buNone/>
            </a:pPr>
            <a:r>
              <a:rPr lang="en-US" sz="2000" b="1" dirty="0">
                <a:solidFill>
                  <a:srgbClr val="E09A2E"/>
                </a:solidFill>
                <a:latin typeface="Cambria" pitchFamily="34" charset="0"/>
                <a:ea typeface="Cambria" pitchFamily="34" charset="-122"/>
                <a:cs typeface="Cambria" pitchFamily="34" charset="-120"/>
              </a:rPr>
              <a:t>2</a:t>
            </a:r>
            <a:endParaRPr lang="en-US" sz="2000" dirty="0"/>
          </a:p>
        </p:txBody>
      </p:sp>
      <p:sp>
        <p:nvSpPr>
          <p:cNvPr id="86" name="Text 83"/>
          <p:cNvSpPr/>
          <p:nvPr/>
        </p:nvSpPr>
        <p:spPr>
          <a:xfrm>
            <a:off x="10369296" y="5779008"/>
            <a:ext cx="1005840" cy="512064"/>
          </a:xfrm>
          <a:prstGeom prst="rect">
            <a:avLst/>
          </a:prstGeom>
          <a:noFill/>
          <a:ln/>
        </p:spPr>
        <p:txBody>
          <a:bodyPr wrap="square" lIns="0" tIns="0" rIns="0" bIns="0" rtlCol="0" anchor="ctr"/>
          <a:lstStyle/>
          <a:p>
            <a:pPr indent="0" marL="0">
              <a:buNone/>
            </a:pPr>
            <a:r>
              <a:rPr lang="en-US" sz="1000" dirty="0">
                <a:solidFill>
                  <a:srgbClr val="9FADC4"/>
                </a:solidFill>
                <a:latin typeface="Calibri" pitchFamily="34" charset="0"/>
                <a:ea typeface="Calibri" pitchFamily="34" charset="-122"/>
                <a:cs typeface="Calibri" pitchFamily="34" charset="-120"/>
              </a:rPr>
              <a:t>N/A</a:t>
            </a:r>
            <a:endParaRPr lang="en-US" sz="10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8778240" cy="256032"/>
          </a:xfrm>
          <a:prstGeom prst="rect">
            <a:avLst/>
          </a:prstGeom>
          <a:noFill/>
          <a:ln/>
        </p:spPr>
        <p:txBody>
          <a:bodyPr wrap="square" lIns="0" tIns="0" rIns="0" bIns="0" rtlCol="0" anchor="ctr"/>
          <a:lstStyle/>
          <a:p>
            <a:pPr indent="0" marL="0">
              <a:buNone/>
            </a:pPr>
            <a:r>
              <a:rPr lang="en-US" sz="1050" b="1" spc="160" kern="0" dirty="0">
                <a:solidFill>
                  <a:srgbClr val="B87914"/>
                </a:solidFill>
                <a:latin typeface="Calibri" pitchFamily="34" charset="0"/>
                <a:ea typeface="Calibri" pitchFamily="34" charset="-122"/>
                <a:cs typeface="Calibri" pitchFamily="34" charset="-120"/>
              </a:rPr>
              <a:t>APPENDIX A2</a:t>
            </a:r>
            <a:endParaRPr lang="en-US" sz="1050" dirty="0"/>
          </a:p>
        </p:txBody>
      </p:sp>
      <p:sp>
        <p:nvSpPr>
          <p:cNvPr id="3" name="Text 1"/>
          <p:cNvSpPr/>
          <p:nvPr/>
        </p:nvSpPr>
        <p:spPr>
          <a:xfrm>
            <a:off x="566928" y="694944"/>
            <a:ext cx="10424160" cy="786384"/>
          </a:xfrm>
          <a:prstGeom prst="rect">
            <a:avLst/>
          </a:prstGeom>
          <a:noFill/>
          <a:ln/>
        </p:spPr>
        <p:txBody>
          <a:bodyPr wrap="square" lIns="0" tIns="0" rIns="0" bIns="0" rtlCol="0" anchor="ctr"/>
          <a:lstStyle/>
          <a:p>
            <a:pPr indent="0" marL="0">
              <a:buNone/>
            </a:pPr>
            <a:r>
              <a:rPr lang="en-US" sz="3100" b="1" dirty="0">
                <a:solidFill>
                  <a:srgbClr val="161C28"/>
                </a:solidFill>
                <a:latin typeface="Cambria" pitchFamily="34" charset="0"/>
                <a:ea typeface="Cambria" pitchFamily="34" charset="-122"/>
                <a:cs typeface="Cambria" pitchFamily="34" charset="-120"/>
              </a:rPr>
              <a:t>The estate by domain</a:t>
            </a:r>
            <a:endParaRPr lang="en-US" sz="3100" dirty="0"/>
          </a:p>
        </p:txBody>
      </p:sp>
      <p:sp>
        <p:nvSpPr>
          <p:cNvPr id="4" name="Text 2"/>
          <p:cNvSpPr/>
          <p:nvPr/>
        </p:nvSpPr>
        <p:spPr>
          <a:xfrm>
            <a:off x="566928" y="1481328"/>
            <a:ext cx="10698480" cy="457200"/>
          </a:xfrm>
          <a:prstGeom prst="rect">
            <a:avLst/>
          </a:prstGeom>
          <a:noFill/>
          <a:ln/>
        </p:spPr>
        <p:txBody>
          <a:bodyPr wrap="square" lIns="0" tIns="0" rIns="0" bIns="0" rtlCol="0" anchor="t"/>
          <a:lstStyle/>
          <a:p>
            <a:pPr indent="0" marL="0">
              <a:buNone/>
            </a:pPr>
            <a:r>
              <a:rPr lang="en-US" sz="1450" dirty="0">
                <a:solidFill>
                  <a:srgbClr val="3A4557"/>
                </a:solidFill>
                <a:latin typeface="Calibri" pitchFamily="34" charset="0"/>
                <a:ea typeface="Calibri" pitchFamily="34" charset="-122"/>
                <a:cs typeface="Calibri" pitchFamily="34" charset="-120"/>
              </a:rPr>
              <a:t>651 monitor instances across 14 technology domains, from the plan-derived fixture that CI regenerates on every change.</a:t>
            </a:r>
            <a:endParaRPr lang="en-US" sz="1450" dirty="0"/>
          </a:p>
        </p:txBody>
      </p:sp>
      <p:sp>
        <p:nvSpPr>
          <p:cNvPr id="5" name="Text 3"/>
          <p:cNvSpPr/>
          <p:nvPr/>
        </p:nvSpPr>
        <p:spPr>
          <a:xfrm>
            <a:off x="566928" y="6345936"/>
            <a:ext cx="7315200" cy="274320"/>
          </a:xfrm>
          <a:prstGeom prst="rect">
            <a:avLst/>
          </a:prstGeom>
          <a:noFill/>
          <a:ln/>
        </p:spPr>
        <p:txBody>
          <a:bodyPr wrap="square" lIns="0" tIns="0" rIns="0" bIns="0" rtlCol="0" anchor="ctr"/>
          <a:lstStyle/>
          <a:p>
            <a:pPr indent="0" marL="0">
              <a:buNone/>
            </a:pPr>
            <a:r>
              <a:rPr lang="en-US" sz="900" dirty="0">
                <a:solidFill>
                  <a:srgbClr val="6B7891"/>
                </a:solidFill>
                <a:latin typeface="Calibri" pitchFamily="34" charset="0"/>
                <a:ea typeface="Calibri" pitchFamily="34" charset="-122"/>
                <a:cs typeface="Calibri" pitchFamily="34" charset="-120"/>
              </a:rPr>
              <a:t>Enterprise Observability  ·  policy-as-data on Datadog</a:t>
            </a:r>
            <a:endParaRPr lang="en-US" sz="900" dirty="0"/>
          </a:p>
        </p:txBody>
      </p:sp>
      <p:sp>
        <p:nvSpPr>
          <p:cNvPr id="6" name="Text 4"/>
          <p:cNvSpPr/>
          <p:nvPr/>
        </p:nvSpPr>
        <p:spPr>
          <a:xfrm>
            <a:off x="10710367" y="6345936"/>
            <a:ext cx="914400" cy="274320"/>
          </a:xfrm>
          <a:prstGeom prst="rect">
            <a:avLst/>
          </a:prstGeom>
          <a:noFill/>
          <a:ln/>
        </p:spPr>
        <p:txBody>
          <a:bodyPr wrap="square" lIns="0" tIns="0" rIns="0" bIns="0" rtlCol="0" anchor="ctr"/>
          <a:lstStyle/>
          <a:p>
            <a:pPr algn="r" indent="0" marL="0">
              <a:buNone/>
            </a:pPr>
            <a:r>
              <a:rPr lang="en-US" sz="900" dirty="0">
                <a:solidFill>
                  <a:srgbClr val="6B7891"/>
                </a:solidFill>
                <a:latin typeface="Calibri" pitchFamily="34" charset="0"/>
                <a:ea typeface="Calibri" pitchFamily="34" charset="-122"/>
                <a:cs typeface="Calibri" pitchFamily="34" charset="-120"/>
              </a:rPr>
              <a:t>46</a:t>
            </a:r>
            <a:endParaRPr lang="en-US" sz="900" dirty="0"/>
          </a:p>
        </p:txBody>
      </p:sp>
      <p:graphicFrame>
        <p:nvGraphicFramePr>
          <p:cNvPr id="8" name="Chart 0" descr=""/>
          <p:cNvGraphicFramePr/>
          <p:nvPr/>
        </p:nvGraphicFramePr>
        <p:xfrm>
          <a:off x="566928" y="2011680"/>
          <a:ext cx="6949440" cy="4023360"/>
        </p:xfrm>
        <a:graphic xmlns:a="http://schemas.openxmlformats.org/drawingml/2006/main">
          <a:graphicData uri="http://schemas.openxmlformats.org/drawingml/2006/chart">
            <c:chart xmlns:c="http://schemas.openxmlformats.org/drawingml/2006/chart" r:id="rId1"/>
          </a:graphicData>
        </a:graphic>
      </p:graphicFrame>
      <p:sp>
        <p:nvSpPr>
          <p:cNvPr id="9" name="Shape 5"/>
          <p:cNvSpPr/>
          <p:nvPr/>
        </p:nvSpPr>
        <p:spPr>
          <a:xfrm>
            <a:off x="7882128" y="2011680"/>
            <a:ext cx="3749040" cy="1371600"/>
          </a:xfrm>
          <a:prstGeom prst="roundRect">
            <a:avLst>
              <a:gd name="adj" fmla="val 4000"/>
            </a:avLst>
          </a:prstGeom>
          <a:solidFill>
            <a:srgbClr val="EFF2F6"/>
          </a:solidFill>
          <a:ln w="12700">
            <a:solidFill>
              <a:srgbClr val="EFF2F6"/>
            </a:solidFill>
            <a:prstDash val="solid"/>
          </a:ln>
        </p:spPr>
      </p:sp>
      <p:sp>
        <p:nvSpPr>
          <p:cNvPr id="10" name="Text 6"/>
          <p:cNvSpPr/>
          <p:nvPr/>
        </p:nvSpPr>
        <p:spPr>
          <a:xfrm>
            <a:off x="8083296" y="2157984"/>
            <a:ext cx="3346704" cy="347472"/>
          </a:xfrm>
          <a:prstGeom prst="rect">
            <a:avLst/>
          </a:prstGeom>
          <a:noFill/>
          <a:ln/>
        </p:spPr>
        <p:txBody>
          <a:bodyPr wrap="square" lIns="0" tIns="0" rIns="0" bIns="0" rtlCol="0" anchor="t"/>
          <a:lstStyle/>
          <a:p>
            <a:pPr indent="0" marL="0">
              <a:buNone/>
            </a:pPr>
            <a:r>
              <a:rPr lang="en-US" sz="1250" b="1" dirty="0">
                <a:solidFill>
                  <a:srgbClr val="161C28"/>
                </a:solidFill>
                <a:latin typeface="Calibri" pitchFamily="34" charset="0"/>
                <a:ea typeface="Calibri" pitchFamily="34" charset="-122"/>
                <a:cs typeface="Calibri" pitchFamily="34" charset="-120"/>
              </a:rPr>
              <a:t>Counts are decisions, not resources</a:t>
            </a:r>
            <a:endParaRPr lang="en-US" sz="1250" dirty="0"/>
          </a:p>
        </p:txBody>
      </p:sp>
      <p:sp>
        <p:nvSpPr>
          <p:cNvPr id="11" name="Text 7"/>
          <p:cNvSpPr/>
          <p:nvPr/>
        </p:nvSpPr>
        <p:spPr>
          <a:xfrm>
            <a:off x="8083296" y="2542032"/>
            <a:ext cx="3346704" cy="694944"/>
          </a:xfrm>
          <a:prstGeom prst="rect">
            <a:avLst/>
          </a:prstGeom>
          <a:noFill/>
          <a:ln/>
        </p:spPr>
        <p:txBody>
          <a:bodyPr wrap="square" lIns="0" tIns="0" rIns="0" bIns="0" rtlCol="0" anchor="t"/>
          <a:lstStyle/>
          <a:p>
            <a:pPr indent="0" marL="0">
              <a:lnSpc>
                <a:spcPct val="102000"/>
              </a:lnSpc>
              <a:buNone/>
            </a:pPr>
            <a:r>
              <a:rPr lang="en-US" sz="1050" dirty="0">
                <a:solidFill>
                  <a:srgbClr val="3A4557"/>
                </a:solidFill>
                <a:latin typeface="Calibri" pitchFamily="34" charset="0"/>
                <a:ea typeface="Calibri" pitchFamily="34" charset="-122"/>
                <a:cs typeface="Calibri" pitchFamily="34" charset="-120"/>
              </a:rPr>
              <a:t>Each bar is archetype × environment × alert band. One instance covers every matching resource in the estate as a group inside it.</a:t>
            </a:r>
            <a:endParaRPr lang="en-US" sz="1050" dirty="0"/>
          </a:p>
        </p:txBody>
      </p:sp>
      <p:sp>
        <p:nvSpPr>
          <p:cNvPr id="12" name="Shape 8"/>
          <p:cNvSpPr/>
          <p:nvPr/>
        </p:nvSpPr>
        <p:spPr>
          <a:xfrm>
            <a:off x="7882128" y="3566160"/>
            <a:ext cx="3749040" cy="1371600"/>
          </a:xfrm>
          <a:prstGeom prst="roundRect">
            <a:avLst>
              <a:gd name="adj" fmla="val 4000"/>
            </a:avLst>
          </a:prstGeom>
          <a:solidFill>
            <a:srgbClr val="EFF2F6"/>
          </a:solidFill>
          <a:ln w="12700">
            <a:solidFill>
              <a:srgbClr val="EFF2F6"/>
            </a:solidFill>
            <a:prstDash val="solid"/>
          </a:ln>
        </p:spPr>
      </p:sp>
      <p:sp>
        <p:nvSpPr>
          <p:cNvPr id="13" name="Text 9"/>
          <p:cNvSpPr/>
          <p:nvPr/>
        </p:nvSpPr>
        <p:spPr>
          <a:xfrm>
            <a:off x="8083296" y="3712464"/>
            <a:ext cx="3346704" cy="347472"/>
          </a:xfrm>
          <a:prstGeom prst="rect">
            <a:avLst/>
          </a:prstGeom>
          <a:noFill/>
          <a:ln/>
        </p:spPr>
        <p:txBody>
          <a:bodyPr wrap="square" lIns="0" tIns="0" rIns="0" bIns="0" rtlCol="0" anchor="t"/>
          <a:lstStyle/>
          <a:p>
            <a:pPr indent="0" marL="0">
              <a:buNone/>
            </a:pPr>
            <a:r>
              <a:rPr lang="en-US" sz="1250" b="1" dirty="0">
                <a:solidFill>
                  <a:srgbClr val="161C28"/>
                </a:solidFill>
                <a:latin typeface="Calibri" pitchFamily="34" charset="0"/>
                <a:ea typeface="Calibri" pitchFamily="34" charset="-122"/>
                <a:cs typeface="Calibri" pitchFamily="34" charset="-120"/>
              </a:rPr>
              <a:t>Owned by seven teams</a:t>
            </a:r>
            <a:endParaRPr lang="en-US" sz="1250" dirty="0"/>
          </a:p>
        </p:txBody>
      </p:sp>
      <p:sp>
        <p:nvSpPr>
          <p:cNvPr id="14" name="Text 10"/>
          <p:cNvSpPr/>
          <p:nvPr/>
        </p:nvSpPr>
        <p:spPr>
          <a:xfrm>
            <a:off x="8083296" y="4096512"/>
            <a:ext cx="3346704" cy="694944"/>
          </a:xfrm>
          <a:prstGeom prst="rect">
            <a:avLst/>
          </a:prstGeom>
          <a:noFill/>
          <a:ln/>
        </p:spPr>
        <p:txBody>
          <a:bodyPr wrap="square" lIns="0" tIns="0" rIns="0" bIns="0" rtlCol="0" anchor="t"/>
          <a:lstStyle/>
          <a:p>
            <a:pPr indent="0" marL="0">
              <a:lnSpc>
                <a:spcPct val="102000"/>
              </a:lnSpc>
              <a:buNone/>
            </a:pPr>
            <a:r>
              <a:rPr lang="en-US" sz="1050" dirty="0">
                <a:solidFill>
                  <a:srgbClr val="3A4557"/>
                </a:solidFill>
                <a:latin typeface="Calibri" pitchFamily="34" charset="0"/>
                <a:ea typeface="Calibri" pitchFamily="34" charset="-122"/>
                <a:cs typeface="Calibri" pitchFamily="34" charset="-120"/>
              </a:rPr>
              <a:t>cloud 200 · data 138 · sre 105 · infrastructure 102 · application-development 69 · security 24 · observability-platform 13.</a:t>
            </a:r>
            <a:endParaRPr lang="en-US" sz="1050" dirty="0"/>
          </a:p>
        </p:txBody>
      </p:sp>
      <p:sp>
        <p:nvSpPr>
          <p:cNvPr id="15" name="Shape 11"/>
          <p:cNvSpPr/>
          <p:nvPr/>
        </p:nvSpPr>
        <p:spPr>
          <a:xfrm>
            <a:off x="7882128" y="5120640"/>
            <a:ext cx="3749040" cy="1371600"/>
          </a:xfrm>
          <a:prstGeom prst="roundRect">
            <a:avLst>
              <a:gd name="adj" fmla="val 4000"/>
            </a:avLst>
          </a:prstGeom>
          <a:solidFill>
            <a:srgbClr val="EFF2F6"/>
          </a:solidFill>
          <a:ln w="12700">
            <a:solidFill>
              <a:srgbClr val="EFF2F6"/>
            </a:solidFill>
            <a:prstDash val="solid"/>
          </a:ln>
        </p:spPr>
      </p:sp>
      <p:sp>
        <p:nvSpPr>
          <p:cNvPr id="16" name="Text 12"/>
          <p:cNvSpPr/>
          <p:nvPr/>
        </p:nvSpPr>
        <p:spPr>
          <a:xfrm>
            <a:off x="8083296" y="5266944"/>
            <a:ext cx="3346704" cy="347472"/>
          </a:xfrm>
          <a:prstGeom prst="rect">
            <a:avLst/>
          </a:prstGeom>
          <a:noFill/>
          <a:ln/>
        </p:spPr>
        <p:txBody>
          <a:bodyPr wrap="square" lIns="0" tIns="0" rIns="0" bIns="0" rtlCol="0" anchor="t"/>
          <a:lstStyle/>
          <a:p>
            <a:pPr indent="0" marL="0">
              <a:buNone/>
            </a:pPr>
            <a:r>
              <a:rPr lang="en-US" sz="1250" b="1" dirty="0">
                <a:solidFill>
                  <a:srgbClr val="161C28"/>
                </a:solidFill>
                <a:latin typeface="Calibri" pitchFamily="34" charset="0"/>
                <a:ea typeface="Calibri" pitchFamily="34" charset="-122"/>
                <a:cs typeface="Calibri" pitchFamily="34" charset="-120"/>
              </a:rPr>
              <a:t>Regenerated, never typed</a:t>
            </a:r>
            <a:endParaRPr lang="en-US" sz="1250" dirty="0"/>
          </a:p>
        </p:txBody>
      </p:sp>
      <p:sp>
        <p:nvSpPr>
          <p:cNvPr id="17" name="Text 13"/>
          <p:cNvSpPr/>
          <p:nvPr/>
        </p:nvSpPr>
        <p:spPr>
          <a:xfrm>
            <a:off x="8083296" y="5650992"/>
            <a:ext cx="3346704" cy="694944"/>
          </a:xfrm>
          <a:prstGeom prst="rect">
            <a:avLst/>
          </a:prstGeom>
          <a:noFill/>
          <a:ln/>
        </p:spPr>
        <p:txBody>
          <a:bodyPr wrap="square" lIns="0" tIns="0" rIns="0" bIns="0" rtlCol="0" anchor="t"/>
          <a:lstStyle/>
          <a:p>
            <a:pPr indent="0" marL="0">
              <a:lnSpc>
                <a:spcPct val="102000"/>
              </a:lnSpc>
              <a:buNone/>
            </a:pPr>
            <a:r>
              <a:rPr lang="en-US" sz="1050" dirty="0">
                <a:solidFill>
                  <a:srgbClr val="3A4557"/>
                </a:solidFill>
                <a:latin typeface="Calibri" pitchFamily="34" charset="0"/>
                <a:ea typeface="Calibri" pitchFamily="34" charset="-122"/>
                <a:cs typeface="Calibri" pitchFamily="34" charset="-120"/>
              </a:rPr>
              <a:t>The figures come from tests/fixtures/monitors_planned.json, rebuilt from the actual Terraform plan and staleness-gated in CI.</a:t>
            </a:r>
            <a:endParaRPr lang="en-US" sz="10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8778240" cy="256032"/>
          </a:xfrm>
          <a:prstGeom prst="rect">
            <a:avLst/>
          </a:prstGeom>
          <a:noFill/>
          <a:ln/>
        </p:spPr>
        <p:txBody>
          <a:bodyPr wrap="square" lIns="0" tIns="0" rIns="0" bIns="0" rtlCol="0" anchor="ctr"/>
          <a:lstStyle/>
          <a:p>
            <a:pPr indent="0" marL="0">
              <a:buNone/>
            </a:pPr>
            <a:r>
              <a:rPr lang="en-US" sz="1050" b="1" spc="160" kern="0" dirty="0">
                <a:solidFill>
                  <a:srgbClr val="B87914"/>
                </a:solidFill>
                <a:latin typeface="Calibri" pitchFamily="34" charset="0"/>
                <a:ea typeface="Calibri" pitchFamily="34" charset="-122"/>
                <a:cs typeface="Calibri" pitchFamily="34" charset="-120"/>
              </a:rPr>
              <a:t>APPENDIX A3</a:t>
            </a:r>
            <a:endParaRPr lang="en-US" sz="1050" dirty="0"/>
          </a:p>
        </p:txBody>
      </p:sp>
      <p:sp>
        <p:nvSpPr>
          <p:cNvPr id="3" name="Text 1"/>
          <p:cNvSpPr/>
          <p:nvPr/>
        </p:nvSpPr>
        <p:spPr>
          <a:xfrm>
            <a:off x="566928" y="694944"/>
            <a:ext cx="10424160" cy="786384"/>
          </a:xfrm>
          <a:prstGeom prst="rect">
            <a:avLst/>
          </a:prstGeom>
          <a:noFill/>
          <a:ln/>
        </p:spPr>
        <p:txBody>
          <a:bodyPr wrap="square" lIns="0" tIns="0" rIns="0" bIns="0" rtlCol="0" anchor="ctr"/>
          <a:lstStyle/>
          <a:p>
            <a:pPr indent="0" marL="0">
              <a:buNone/>
            </a:pPr>
            <a:r>
              <a:rPr lang="en-US" sz="3100" b="1" dirty="0">
                <a:solidFill>
                  <a:srgbClr val="161C28"/>
                </a:solidFill>
                <a:latin typeface="Cambria" pitchFamily="34" charset="0"/>
                <a:ea typeface="Cambria" pitchFamily="34" charset="-122"/>
                <a:cs typeface="Cambria" pitchFamily="34" charset="-120"/>
              </a:rPr>
              <a:t>Priority and paging mix</a:t>
            </a:r>
            <a:endParaRPr lang="en-US" sz="3100" dirty="0"/>
          </a:p>
        </p:txBody>
      </p:sp>
      <p:sp>
        <p:nvSpPr>
          <p:cNvPr id="4" name="Text 2"/>
          <p:cNvSpPr/>
          <p:nvPr/>
        </p:nvSpPr>
        <p:spPr>
          <a:xfrm>
            <a:off x="566928" y="1481328"/>
            <a:ext cx="10698480" cy="457200"/>
          </a:xfrm>
          <a:prstGeom prst="rect">
            <a:avLst/>
          </a:prstGeom>
          <a:noFill/>
          <a:ln/>
        </p:spPr>
        <p:txBody>
          <a:bodyPr wrap="square" lIns="0" tIns="0" rIns="0" bIns="0" rtlCol="0" anchor="t"/>
          <a:lstStyle/>
          <a:p>
            <a:pPr indent="0" marL="0">
              <a:buNone/>
            </a:pPr>
            <a:r>
              <a:rPr lang="en-US" sz="1450" dirty="0">
                <a:solidFill>
                  <a:srgbClr val="3A4557"/>
                </a:solidFill>
                <a:latin typeface="Calibri" pitchFamily="34" charset="0"/>
                <a:ea typeface="Calibri" pitchFamily="34" charset="-122"/>
                <a:cs typeface="Calibri" pitchFamily="34" charset="-120"/>
              </a:rPr>
              <a:t>Priority states the required human response. Paging is a separate, narrower rule — which is why 141 P2s produce only a handful of pages.</a:t>
            </a:r>
            <a:endParaRPr lang="en-US" sz="1450" dirty="0"/>
          </a:p>
        </p:txBody>
      </p:sp>
      <p:sp>
        <p:nvSpPr>
          <p:cNvPr id="5" name="Text 3"/>
          <p:cNvSpPr/>
          <p:nvPr/>
        </p:nvSpPr>
        <p:spPr>
          <a:xfrm>
            <a:off x="566928" y="6345936"/>
            <a:ext cx="7315200" cy="274320"/>
          </a:xfrm>
          <a:prstGeom prst="rect">
            <a:avLst/>
          </a:prstGeom>
          <a:noFill/>
          <a:ln/>
        </p:spPr>
        <p:txBody>
          <a:bodyPr wrap="square" lIns="0" tIns="0" rIns="0" bIns="0" rtlCol="0" anchor="ctr"/>
          <a:lstStyle/>
          <a:p>
            <a:pPr indent="0" marL="0">
              <a:buNone/>
            </a:pPr>
            <a:r>
              <a:rPr lang="en-US" sz="900" dirty="0">
                <a:solidFill>
                  <a:srgbClr val="6B7891"/>
                </a:solidFill>
                <a:latin typeface="Calibri" pitchFamily="34" charset="0"/>
                <a:ea typeface="Calibri" pitchFamily="34" charset="-122"/>
                <a:cs typeface="Calibri" pitchFamily="34" charset="-120"/>
              </a:rPr>
              <a:t>Enterprise Observability  ·  policy-as-data on Datadog</a:t>
            </a:r>
            <a:endParaRPr lang="en-US" sz="900" dirty="0"/>
          </a:p>
        </p:txBody>
      </p:sp>
      <p:sp>
        <p:nvSpPr>
          <p:cNvPr id="6" name="Text 4"/>
          <p:cNvSpPr/>
          <p:nvPr/>
        </p:nvSpPr>
        <p:spPr>
          <a:xfrm>
            <a:off x="10710367" y="6345936"/>
            <a:ext cx="914400" cy="274320"/>
          </a:xfrm>
          <a:prstGeom prst="rect">
            <a:avLst/>
          </a:prstGeom>
          <a:noFill/>
          <a:ln/>
        </p:spPr>
        <p:txBody>
          <a:bodyPr wrap="square" lIns="0" tIns="0" rIns="0" bIns="0" rtlCol="0" anchor="ctr"/>
          <a:lstStyle/>
          <a:p>
            <a:pPr algn="r" indent="0" marL="0">
              <a:buNone/>
            </a:pPr>
            <a:r>
              <a:rPr lang="en-US" sz="900" dirty="0">
                <a:solidFill>
                  <a:srgbClr val="6B7891"/>
                </a:solidFill>
                <a:latin typeface="Calibri" pitchFamily="34" charset="0"/>
                <a:ea typeface="Calibri" pitchFamily="34" charset="-122"/>
                <a:cs typeface="Calibri" pitchFamily="34" charset="-120"/>
              </a:rPr>
              <a:t>47</a:t>
            </a:r>
            <a:endParaRPr lang="en-US" sz="900" dirty="0"/>
          </a:p>
        </p:txBody>
      </p:sp>
      <p:graphicFrame>
        <p:nvGraphicFramePr>
          <p:cNvPr id="8" name="Chart 0" descr=""/>
          <p:cNvGraphicFramePr/>
          <p:nvPr/>
        </p:nvGraphicFramePr>
        <p:xfrm>
          <a:off x="566928" y="2011680"/>
          <a:ext cx="5120640" cy="3840480"/>
        </p:xfrm>
        <a:graphic xmlns:a="http://schemas.openxmlformats.org/drawingml/2006/main">
          <a:graphicData uri="http://schemas.openxmlformats.org/drawingml/2006/chart">
            <c:chart xmlns:c="http://schemas.openxmlformats.org/drawingml/2006/chart" r:id="rId1"/>
          </a:graphicData>
        </a:graphic>
      </p:graphicFrame>
      <p:sp>
        <p:nvSpPr>
          <p:cNvPr id="9" name="Shape 5"/>
          <p:cNvSpPr/>
          <p:nvPr/>
        </p:nvSpPr>
        <p:spPr>
          <a:xfrm>
            <a:off x="6281928" y="2011680"/>
            <a:ext cx="5349240" cy="987552"/>
          </a:xfrm>
          <a:prstGeom prst="roundRect">
            <a:avLst>
              <a:gd name="adj" fmla="val 5556"/>
            </a:avLst>
          </a:prstGeom>
          <a:solidFill>
            <a:srgbClr val="EFF2F6"/>
          </a:solidFill>
          <a:ln w="12700">
            <a:solidFill>
              <a:srgbClr val="EFF2F6"/>
            </a:solidFill>
            <a:prstDash val="solid"/>
          </a:ln>
        </p:spPr>
      </p:sp>
      <p:sp>
        <p:nvSpPr>
          <p:cNvPr id="10" name="Text 6"/>
          <p:cNvSpPr/>
          <p:nvPr/>
        </p:nvSpPr>
        <p:spPr>
          <a:xfrm>
            <a:off x="6483096" y="2157984"/>
            <a:ext cx="4946904" cy="347472"/>
          </a:xfrm>
          <a:prstGeom prst="rect">
            <a:avLst/>
          </a:prstGeom>
          <a:noFill/>
          <a:ln/>
        </p:spPr>
        <p:txBody>
          <a:bodyPr wrap="square" lIns="0" tIns="0" rIns="0" bIns="0" rtlCol="0" anchor="t"/>
          <a:lstStyle/>
          <a:p>
            <a:pPr indent="0" marL="0">
              <a:buNone/>
            </a:pPr>
            <a:r>
              <a:rPr lang="en-US" sz="1250" b="1" dirty="0">
                <a:solidFill>
                  <a:srgbClr val="161C28"/>
                </a:solidFill>
                <a:latin typeface="Calibri" pitchFamily="34" charset="0"/>
                <a:ea typeface="Calibri" pitchFamily="34" charset="-122"/>
                <a:cs typeface="Calibri" pitchFamily="34" charset="-120"/>
              </a:rPr>
              <a:t>70 of 651 may page</a:t>
            </a:r>
            <a:endParaRPr lang="en-US" sz="1250" dirty="0"/>
          </a:p>
        </p:txBody>
      </p:sp>
      <p:sp>
        <p:nvSpPr>
          <p:cNvPr id="11" name="Text 7"/>
          <p:cNvSpPr/>
          <p:nvPr/>
        </p:nvSpPr>
        <p:spPr>
          <a:xfrm>
            <a:off x="6483096" y="2542032"/>
            <a:ext cx="4946904" cy="310896"/>
          </a:xfrm>
          <a:prstGeom prst="rect">
            <a:avLst/>
          </a:prstGeom>
          <a:noFill/>
          <a:ln/>
        </p:spPr>
        <p:txBody>
          <a:bodyPr wrap="square" lIns="0" tIns="0" rIns="0" bIns="0" rtlCol="0" anchor="t"/>
          <a:lstStyle/>
          <a:p>
            <a:pPr indent="0" marL="0">
              <a:lnSpc>
                <a:spcPct val="102000"/>
              </a:lnSpc>
              <a:buNone/>
            </a:pPr>
            <a:r>
              <a:rPr lang="en-US" sz="1050" dirty="0">
                <a:solidFill>
                  <a:srgbClr val="3A4557"/>
                </a:solidFill>
                <a:latin typeface="Calibri" pitchFamily="34" charset="0"/>
                <a:ea typeface="Calibri" pitchFamily="34" charset="-122"/>
                <a:cs typeface="Calibri" pitchFamily="34" charset="-120"/>
              </a:rPr>
              <a:t>11% of the estate. Requires prod + the critical band + either P1 or a confirmed-impact source (burn rate or composite).</a:t>
            </a:r>
            <a:endParaRPr lang="en-US" sz="1050" dirty="0"/>
          </a:p>
        </p:txBody>
      </p:sp>
      <p:sp>
        <p:nvSpPr>
          <p:cNvPr id="12" name="Shape 8"/>
          <p:cNvSpPr/>
          <p:nvPr/>
        </p:nvSpPr>
        <p:spPr>
          <a:xfrm>
            <a:off x="6281928" y="3072384"/>
            <a:ext cx="5349240" cy="987552"/>
          </a:xfrm>
          <a:prstGeom prst="roundRect">
            <a:avLst>
              <a:gd name="adj" fmla="val 5556"/>
            </a:avLst>
          </a:prstGeom>
          <a:solidFill>
            <a:srgbClr val="EFF2F6"/>
          </a:solidFill>
          <a:ln w="12700">
            <a:solidFill>
              <a:srgbClr val="EFF2F6"/>
            </a:solidFill>
            <a:prstDash val="solid"/>
          </a:ln>
        </p:spPr>
      </p:sp>
      <p:sp>
        <p:nvSpPr>
          <p:cNvPr id="13" name="Text 9"/>
          <p:cNvSpPr/>
          <p:nvPr/>
        </p:nvSpPr>
        <p:spPr>
          <a:xfrm>
            <a:off x="6483096" y="3218688"/>
            <a:ext cx="4946904" cy="347472"/>
          </a:xfrm>
          <a:prstGeom prst="rect">
            <a:avLst/>
          </a:prstGeom>
          <a:noFill/>
          <a:ln/>
        </p:spPr>
        <p:txBody>
          <a:bodyPr wrap="square" lIns="0" tIns="0" rIns="0" bIns="0" rtlCol="0" anchor="t"/>
          <a:lstStyle/>
          <a:p>
            <a:pPr indent="0" marL="0">
              <a:buNone/>
            </a:pPr>
            <a:r>
              <a:rPr lang="en-US" sz="1250" b="1" dirty="0">
                <a:solidFill>
                  <a:srgbClr val="161C28"/>
                </a:solidFill>
                <a:latin typeface="Calibri" pitchFamily="34" charset="0"/>
                <a:ea typeface="Calibri" pitchFamily="34" charset="-122"/>
                <a:cs typeface="Calibri" pitchFamily="34" charset="-120"/>
              </a:rPr>
              <a:t>Budgeted at plan time</a:t>
            </a:r>
            <a:endParaRPr lang="en-US" sz="1250" dirty="0"/>
          </a:p>
        </p:txBody>
      </p:sp>
      <p:sp>
        <p:nvSpPr>
          <p:cNvPr id="14" name="Text 10"/>
          <p:cNvSpPr/>
          <p:nvPr/>
        </p:nvSpPr>
        <p:spPr>
          <a:xfrm>
            <a:off x="6483096" y="3602736"/>
            <a:ext cx="4946904" cy="310896"/>
          </a:xfrm>
          <a:prstGeom prst="rect">
            <a:avLst/>
          </a:prstGeom>
          <a:noFill/>
          <a:ln/>
        </p:spPr>
        <p:txBody>
          <a:bodyPr wrap="square" lIns="0" tIns="0" rIns="0" bIns="0" rtlCol="0" anchor="t"/>
          <a:lstStyle/>
          <a:p>
            <a:pPr indent="0" marL="0">
              <a:lnSpc>
                <a:spcPct val="102000"/>
              </a:lnSpc>
              <a:buNone/>
            </a:pPr>
            <a:r>
              <a:rPr lang="en-US" sz="1050" dirty="0">
                <a:solidFill>
                  <a:srgbClr val="3A4557"/>
                </a:solidFill>
                <a:latin typeface="Calibri" pitchFamily="34" charset="0"/>
                <a:ea typeface="Calibri" pitchFamily="34" charset="-122"/>
                <a:cs typeface="Calibri" pitchFamily="34" charset="-120"/>
              </a:rPr>
              <a:t>max_paging_monitors: 90 and max_p1_monitors: 85 are hard plan-time checks. Raising one is a reviewed PR with a reason.</a:t>
            </a:r>
            <a:endParaRPr lang="en-US" sz="1050" dirty="0"/>
          </a:p>
        </p:txBody>
      </p:sp>
      <p:sp>
        <p:nvSpPr>
          <p:cNvPr id="15" name="Shape 11"/>
          <p:cNvSpPr/>
          <p:nvPr/>
        </p:nvSpPr>
        <p:spPr>
          <a:xfrm>
            <a:off x="6281928" y="4133088"/>
            <a:ext cx="5349240" cy="987552"/>
          </a:xfrm>
          <a:prstGeom prst="roundRect">
            <a:avLst>
              <a:gd name="adj" fmla="val 5556"/>
            </a:avLst>
          </a:prstGeom>
          <a:solidFill>
            <a:srgbClr val="EFF2F6"/>
          </a:solidFill>
          <a:ln w="12700">
            <a:solidFill>
              <a:srgbClr val="EFF2F6"/>
            </a:solidFill>
            <a:prstDash val="solid"/>
          </a:ln>
        </p:spPr>
      </p:sp>
      <p:sp>
        <p:nvSpPr>
          <p:cNvPr id="16" name="Text 12"/>
          <p:cNvSpPr/>
          <p:nvPr/>
        </p:nvSpPr>
        <p:spPr>
          <a:xfrm>
            <a:off x="6483096" y="4279392"/>
            <a:ext cx="4946904" cy="347472"/>
          </a:xfrm>
          <a:prstGeom prst="rect">
            <a:avLst/>
          </a:prstGeom>
          <a:noFill/>
          <a:ln/>
        </p:spPr>
        <p:txBody>
          <a:bodyPr wrap="square" lIns="0" tIns="0" rIns="0" bIns="0" rtlCol="0" anchor="t"/>
          <a:lstStyle/>
          <a:p>
            <a:pPr indent="0" marL="0">
              <a:buNone/>
            </a:pPr>
            <a:r>
              <a:rPr lang="en-US" sz="1250" b="1" dirty="0">
                <a:solidFill>
                  <a:srgbClr val="161C28"/>
                </a:solidFill>
                <a:latin typeface="Calibri" pitchFamily="34" charset="0"/>
                <a:ea typeface="Calibri" pitchFamily="34" charset="-122"/>
                <a:cs typeface="Calibri" pitchFamily="34" charset="-120"/>
              </a:rPr>
              <a:t>By impact class</a:t>
            </a:r>
            <a:endParaRPr lang="en-US" sz="1250" dirty="0"/>
          </a:p>
        </p:txBody>
      </p:sp>
      <p:sp>
        <p:nvSpPr>
          <p:cNvPr id="17" name="Text 13"/>
          <p:cNvSpPr/>
          <p:nvPr/>
        </p:nvSpPr>
        <p:spPr>
          <a:xfrm>
            <a:off x="6483096" y="4663440"/>
            <a:ext cx="4946904" cy="310896"/>
          </a:xfrm>
          <a:prstGeom prst="rect">
            <a:avLst/>
          </a:prstGeom>
          <a:noFill/>
          <a:ln/>
        </p:spPr>
        <p:txBody>
          <a:bodyPr wrap="square" lIns="0" tIns="0" rIns="0" bIns="0" rtlCol="0" anchor="t"/>
          <a:lstStyle/>
          <a:p>
            <a:pPr indent="0" marL="0">
              <a:lnSpc>
                <a:spcPct val="102000"/>
              </a:lnSpc>
              <a:buNone/>
            </a:pPr>
            <a:r>
              <a:rPr lang="en-US" sz="1050" dirty="0">
                <a:solidFill>
                  <a:srgbClr val="3A4557"/>
                </a:solidFill>
                <a:latin typeface="Calibri" pitchFamily="34" charset="0"/>
                <a:ea typeface="Calibri" pitchFamily="34" charset="-122"/>
                <a:cs typeface="Calibri" pitchFamily="34" charset="-120"/>
              </a:rPr>
              <a:t>degradation 262 · customer_impact 168 · risk 151 · hygiene 70 — crossed with the band, clamped by the env ceiling.</a:t>
            </a:r>
            <a:endParaRPr lang="en-US" sz="1050" dirty="0"/>
          </a:p>
        </p:txBody>
      </p:sp>
      <p:sp>
        <p:nvSpPr>
          <p:cNvPr id="18" name="Shape 14"/>
          <p:cNvSpPr/>
          <p:nvPr/>
        </p:nvSpPr>
        <p:spPr>
          <a:xfrm>
            <a:off x="6281928" y="5193792"/>
            <a:ext cx="5349240" cy="987552"/>
          </a:xfrm>
          <a:prstGeom prst="roundRect">
            <a:avLst>
              <a:gd name="adj" fmla="val 5556"/>
            </a:avLst>
          </a:prstGeom>
          <a:solidFill>
            <a:srgbClr val="EFF2F6"/>
          </a:solidFill>
          <a:ln w="12700">
            <a:solidFill>
              <a:srgbClr val="EFF2F6"/>
            </a:solidFill>
            <a:prstDash val="solid"/>
          </a:ln>
        </p:spPr>
      </p:sp>
      <p:sp>
        <p:nvSpPr>
          <p:cNvPr id="19" name="Text 15"/>
          <p:cNvSpPr/>
          <p:nvPr/>
        </p:nvSpPr>
        <p:spPr>
          <a:xfrm>
            <a:off x="6483096" y="5340096"/>
            <a:ext cx="4946904" cy="347472"/>
          </a:xfrm>
          <a:prstGeom prst="rect">
            <a:avLst/>
          </a:prstGeom>
          <a:noFill/>
          <a:ln/>
        </p:spPr>
        <p:txBody>
          <a:bodyPr wrap="square" lIns="0" tIns="0" rIns="0" bIns="0" rtlCol="0" anchor="t"/>
          <a:lstStyle/>
          <a:p>
            <a:pPr indent="0" marL="0">
              <a:buNone/>
            </a:pPr>
            <a:r>
              <a:rPr lang="en-US" sz="1250" b="1" dirty="0">
                <a:solidFill>
                  <a:srgbClr val="161C28"/>
                </a:solidFill>
                <a:latin typeface="Calibri" pitchFamily="34" charset="0"/>
                <a:ea typeface="Calibri" pitchFamily="34" charset="-122"/>
                <a:cs typeface="Calibri" pitchFamily="34" charset="-120"/>
              </a:rPr>
              <a:t>By environment</a:t>
            </a:r>
            <a:endParaRPr lang="en-US" sz="1250" dirty="0"/>
          </a:p>
        </p:txBody>
      </p:sp>
      <p:sp>
        <p:nvSpPr>
          <p:cNvPr id="20" name="Text 16"/>
          <p:cNvSpPr/>
          <p:nvPr/>
        </p:nvSpPr>
        <p:spPr>
          <a:xfrm>
            <a:off x="6483096" y="5724144"/>
            <a:ext cx="4946904" cy="310896"/>
          </a:xfrm>
          <a:prstGeom prst="rect">
            <a:avLst/>
          </a:prstGeom>
          <a:noFill/>
          <a:ln/>
        </p:spPr>
        <p:txBody>
          <a:bodyPr wrap="square" lIns="0" tIns="0" rIns="0" bIns="0" rtlCol="0" anchor="t"/>
          <a:lstStyle/>
          <a:p>
            <a:pPr indent="0" marL="0">
              <a:lnSpc>
                <a:spcPct val="102000"/>
              </a:lnSpc>
              <a:buNone/>
            </a:pPr>
            <a:r>
              <a:rPr lang="en-US" sz="1050" dirty="0">
                <a:solidFill>
                  <a:srgbClr val="3A4557"/>
                </a:solidFill>
                <a:latin typeface="Calibri" pitchFamily="34" charset="0"/>
                <a:ea typeface="Calibri" pitchFamily="34" charset="-122"/>
                <a:cs typeface="Calibri" pitchFamily="34" charset="-120"/>
              </a:rPr>
              <a:t>prod 445 · stage 171 · qa 20 · dev 15. Dev is P4 and informational; non-production never pages, in any configuration.</a:t>
            </a:r>
            <a:endParaRPr lang="en-US" sz="10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8778240" cy="256032"/>
          </a:xfrm>
          <a:prstGeom prst="rect">
            <a:avLst/>
          </a:prstGeom>
          <a:noFill/>
          <a:ln/>
        </p:spPr>
        <p:txBody>
          <a:bodyPr wrap="square" lIns="0" tIns="0" rIns="0" bIns="0" rtlCol="0" anchor="ctr"/>
          <a:lstStyle/>
          <a:p>
            <a:pPr indent="0" marL="0">
              <a:buNone/>
            </a:pPr>
            <a:r>
              <a:rPr lang="en-US" sz="1050" b="1" spc="160" kern="0" dirty="0">
                <a:solidFill>
                  <a:srgbClr val="B87914"/>
                </a:solidFill>
                <a:latin typeface="Calibri" pitchFamily="34" charset="0"/>
                <a:ea typeface="Calibri" pitchFamily="34" charset="-122"/>
                <a:cs typeface="Calibri" pitchFamily="34" charset="-120"/>
              </a:rPr>
              <a:t>APPENDIX A4</a:t>
            </a:r>
            <a:endParaRPr lang="en-US" sz="1050" dirty="0"/>
          </a:p>
        </p:txBody>
      </p:sp>
      <p:sp>
        <p:nvSpPr>
          <p:cNvPr id="3" name="Text 1"/>
          <p:cNvSpPr/>
          <p:nvPr/>
        </p:nvSpPr>
        <p:spPr>
          <a:xfrm>
            <a:off x="566928" y="694944"/>
            <a:ext cx="10424160" cy="786384"/>
          </a:xfrm>
          <a:prstGeom prst="rect">
            <a:avLst/>
          </a:prstGeom>
          <a:noFill/>
          <a:ln/>
        </p:spPr>
        <p:txBody>
          <a:bodyPr wrap="square" lIns="0" tIns="0" rIns="0" bIns="0" rtlCol="0" anchor="ctr"/>
          <a:lstStyle/>
          <a:p>
            <a:pPr indent="0" marL="0">
              <a:buNone/>
            </a:pPr>
            <a:r>
              <a:rPr lang="en-US" sz="3100" b="1" dirty="0">
                <a:solidFill>
                  <a:srgbClr val="161C28"/>
                </a:solidFill>
                <a:latin typeface="Cambria" pitchFamily="34" charset="0"/>
                <a:ea typeface="Cambria" pitchFamily="34" charset="-122"/>
                <a:cs typeface="Cambria" pitchFamily="34" charset="-120"/>
              </a:rPr>
              <a:t>Detection mix</a:t>
            </a:r>
            <a:endParaRPr lang="en-US" sz="3100" dirty="0"/>
          </a:p>
        </p:txBody>
      </p:sp>
      <p:sp>
        <p:nvSpPr>
          <p:cNvPr id="4" name="Text 2"/>
          <p:cNvSpPr/>
          <p:nvPr/>
        </p:nvSpPr>
        <p:spPr>
          <a:xfrm>
            <a:off x="566928" y="1481328"/>
            <a:ext cx="10698480" cy="457200"/>
          </a:xfrm>
          <a:prstGeom prst="rect">
            <a:avLst/>
          </a:prstGeom>
          <a:noFill/>
          <a:ln/>
        </p:spPr>
        <p:txBody>
          <a:bodyPr wrap="square" lIns="0" tIns="0" rIns="0" bIns="0" rtlCol="0" anchor="t"/>
          <a:lstStyle/>
          <a:p>
            <a:pPr indent="0" marL="0">
              <a:buNone/>
            </a:pPr>
            <a:r>
              <a:rPr lang="en-US" sz="1450" dirty="0">
                <a:solidFill>
                  <a:srgbClr val="3A4557"/>
                </a:solidFill>
                <a:latin typeface="Calibri" pitchFamily="34" charset="0"/>
                <a:ea typeface="Calibri" pitchFamily="34" charset="-122"/>
                <a:cs typeface="Calibri" pitchFamily="34" charset="-120"/>
              </a:rPr>
              <a:t>258 of 651 instances — 40% — use predictive detection. Every fixed threshold that remains carries a written rationale, and CI rejects the ones that do not.</a:t>
            </a:r>
            <a:endParaRPr lang="en-US" sz="1450" dirty="0"/>
          </a:p>
        </p:txBody>
      </p:sp>
      <p:sp>
        <p:nvSpPr>
          <p:cNvPr id="5" name="Text 3"/>
          <p:cNvSpPr/>
          <p:nvPr/>
        </p:nvSpPr>
        <p:spPr>
          <a:xfrm>
            <a:off x="566928" y="6345936"/>
            <a:ext cx="7315200" cy="274320"/>
          </a:xfrm>
          <a:prstGeom prst="rect">
            <a:avLst/>
          </a:prstGeom>
          <a:noFill/>
          <a:ln/>
        </p:spPr>
        <p:txBody>
          <a:bodyPr wrap="square" lIns="0" tIns="0" rIns="0" bIns="0" rtlCol="0" anchor="ctr"/>
          <a:lstStyle/>
          <a:p>
            <a:pPr indent="0" marL="0">
              <a:buNone/>
            </a:pPr>
            <a:r>
              <a:rPr lang="en-US" sz="900" dirty="0">
                <a:solidFill>
                  <a:srgbClr val="6B7891"/>
                </a:solidFill>
                <a:latin typeface="Calibri" pitchFamily="34" charset="0"/>
                <a:ea typeface="Calibri" pitchFamily="34" charset="-122"/>
                <a:cs typeface="Calibri" pitchFamily="34" charset="-120"/>
              </a:rPr>
              <a:t>Enterprise Observability  ·  policy-as-data on Datadog</a:t>
            </a:r>
            <a:endParaRPr lang="en-US" sz="900" dirty="0"/>
          </a:p>
        </p:txBody>
      </p:sp>
      <p:sp>
        <p:nvSpPr>
          <p:cNvPr id="6" name="Text 4"/>
          <p:cNvSpPr/>
          <p:nvPr/>
        </p:nvSpPr>
        <p:spPr>
          <a:xfrm>
            <a:off x="10710367" y="6345936"/>
            <a:ext cx="914400" cy="274320"/>
          </a:xfrm>
          <a:prstGeom prst="rect">
            <a:avLst/>
          </a:prstGeom>
          <a:noFill/>
          <a:ln/>
        </p:spPr>
        <p:txBody>
          <a:bodyPr wrap="square" lIns="0" tIns="0" rIns="0" bIns="0" rtlCol="0" anchor="ctr"/>
          <a:lstStyle/>
          <a:p>
            <a:pPr algn="r" indent="0" marL="0">
              <a:buNone/>
            </a:pPr>
            <a:r>
              <a:rPr lang="en-US" sz="900" dirty="0">
                <a:solidFill>
                  <a:srgbClr val="6B7891"/>
                </a:solidFill>
                <a:latin typeface="Calibri" pitchFamily="34" charset="0"/>
                <a:ea typeface="Calibri" pitchFamily="34" charset="-122"/>
                <a:cs typeface="Calibri" pitchFamily="34" charset="-120"/>
              </a:rPr>
              <a:t>48</a:t>
            </a:r>
            <a:endParaRPr lang="en-US" sz="900" dirty="0"/>
          </a:p>
        </p:txBody>
      </p:sp>
      <p:graphicFrame>
        <p:nvGraphicFramePr>
          <p:cNvPr id="8" name="Chart 0" descr=""/>
          <p:cNvGraphicFramePr/>
          <p:nvPr/>
        </p:nvGraphicFramePr>
        <p:xfrm>
          <a:off x="566928" y="2057400"/>
          <a:ext cx="6675120" cy="3931920"/>
        </p:xfrm>
        <a:graphic xmlns:a="http://schemas.openxmlformats.org/drawingml/2006/main">
          <a:graphicData uri="http://schemas.openxmlformats.org/drawingml/2006/chart">
            <c:chart xmlns:c="http://schemas.openxmlformats.org/drawingml/2006/chart" r:id="rId1"/>
          </a:graphicData>
        </a:graphic>
      </p:graphicFrame>
      <p:sp>
        <p:nvSpPr>
          <p:cNvPr id="9" name="Shape 5"/>
          <p:cNvSpPr/>
          <p:nvPr/>
        </p:nvSpPr>
        <p:spPr>
          <a:xfrm>
            <a:off x="7607808" y="2057400"/>
            <a:ext cx="4023360" cy="1874520"/>
          </a:xfrm>
          <a:prstGeom prst="roundRect">
            <a:avLst>
              <a:gd name="adj" fmla="val 3415"/>
            </a:avLst>
          </a:prstGeom>
          <a:solidFill>
            <a:srgbClr val="12161F"/>
          </a:solidFill>
          <a:ln w="12700">
            <a:solidFill>
              <a:srgbClr val="12161F"/>
            </a:solidFill>
            <a:prstDash val="solid"/>
          </a:ln>
        </p:spPr>
      </p:sp>
      <p:sp>
        <p:nvSpPr>
          <p:cNvPr id="10" name="Text 6"/>
          <p:cNvSpPr/>
          <p:nvPr/>
        </p:nvSpPr>
        <p:spPr>
          <a:xfrm>
            <a:off x="7836408" y="2194560"/>
            <a:ext cx="3566160" cy="237744"/>
          </a:xfrm>
          <a:prstGeom prst="rect">
            <a:avLst/>
          </a:prstGeom>
          <a:noFill/>
          <a:ln/>
        </p:spPr>
        <p:txBody>
          <a:bodyPr wrap="square" lIns="0" tIns="0" rIns="0" bIns="0" rtlCol="0" anchor="ctr"/>
          <a:lstStyle/>
          <a:p>
            <a:pPr indent="0" marL="0">
              <a:buNone/>
            </a:pPr>
            <a:r>
              <a:rPr lang="en-US" sz="900" b="1" spc="140" kern="0" dirty="0">
                <a:solidFill>
                  <a:srgbClr val="8E9DB5"/>
                </a:solidFill>
                <a:latin typeface="Calibri" pitchFamily="34" charset="0"/>
                <a:ea typeface="Calibri" pitchFamily="34" charset="-122"/>
                <a:cs typeface="Calibri" pitchFamily="34" charset="-120"/>
              </a:rPr>
              <a:t>BEFORE</a:t>
            </a:r>
            <a:endParaRPr lang="en-US" sz="900" dirty="0"/>
          </a:p>
        </p:txBody>
      </p:sp>
      <p:sp>
        <p:nvSpPr>
          <p:cNvPr id="11" name="Text 7"/>
          <p:cNvSpPr/>
          <p:nvPr/>
        </p:nvSpPr>
        <p:spPr>
          <a:xfrm>
            <a:off x="7836408" y="2432304"/>
            <a:ext cx="3566160" cy="292608"/>
          </a:xfrm>
          <a:prstGeom prst="rect">
            <a:avLst/>
          </a:prstGeom>
          <a:noFill/>
          <a:ln/>
        </p:spPr>
        <p:txBody>
          <a:bodyPr wrap="square" lIns="0" tIns="0" rIns="0" bIns="0" rtlCol="0" anchor="ctr"/>
          <a:lstStyle/>
          <a:p>
            <a:pPr indent="0" marL="0">
              <a:buNone/>
            </a:pPr>
            <a:r>
              <a:rPr lang="en-US" sz="1400" b="1" dirty="0">
                <a:solidFill>
                  <a:srgbClr val="8E9DB5"/>
                </a:solidFill>
                <a:latin typeface="Courier New" pitchFamily="34" charset="0"/>
                <a:ea typeface="Courier New" pitchFamily="34" charset="-122"/>
                <a:cs typeface="Courier New" pitchFamily="34" charset="-120"/>
              </a:rPr>
              <a:t>CPU &gt; 80%</a:t>
            </a:r>
            <a:endParaRPr lang="en-US" sz="1400" dirty="0"/>
          </a:p>
        </p:txBody>
      </p:sp>
      <p:sp>
        <p:nvSpPr>
          <p:cNvPr id="12" name="Text 8"/>
          <p:cNvSpPr/>
          <p:nvPr/>
        </p:nvSpPr>
        <p:spPr>
          <a:xfrm>
            <a:off x="7836408" y="2761488"/>
            <a:ext cx="3566160" cy="237744"/>
          </a:xfrm>
          <a:prstGeom prst="rect">
            <a:avLst/>
          </a:prstGeom>
          <a:noFill/>
          <a:ln/>
        </p:spPr>
        <p:txBody>
          <a:bodyPr wrap="square" lIns="0" tIns="0" rIns="0" bIns="0" rtlCol="0" anchor="ctr"/>
          <a:lstStyle/>
          <a:p>
            <a:pPr indent="0" marL="0">
              <a:buNone/>
            </a:pPr>
            <a:r>
              <a:rPr lang="en-US" sz="900" b="1" spc="140" kern="0" dirty="0">
                <a:solidFill>
                  <a:srgbClr val="E09A2E"/>
                </a:solidFill>
                <a:latin typeface="Calibri" pitchFamily="34" charset="0"/>
                <a:ea typeface="Calibri" pitchFamily="34" charset="-122"/>
                <a:cs typeface="Calibri" pitchFamily="34" charset="-120"/>
              </a:rPr>
              <a:t>AFTER</a:t>
            </a:r>
            <a:endParaRPr lang="en-US" sz="900" dirty="0"/>
          </a:p>
        </p:txBody>
      </p:sp>
      <p:sp>
        <p:nvSpPr>
          <p:cNvPr id="13" name="Text 9"/>
          <p:cNvSpPr/>
          <p:nvPr/>
        </p:nvSpPr>
        <p:spPr>
          <a:xfrm>
            <a:off x="7836408" y="2999232"/>
            <a:ext cx="3566160" cy="502920"/>
          </a:xfrm>
          <a:prstGeom prst="rect">
            <a:avLst/>
          </a:prstGeom>
          <a:noFill/>
          <a:ln/>
        </p:spPr>
        <p:txBody>
          <a:bodyPr wrap="square" lIns="0" tIns="0" rIns="0" bIns="0" rtlCol="0" anchor="t"/>
          <a:lstStyle/>
          <a:p>
            <a:pPr indent="0" marL="0">
              <a:buNone/>
            </a:pPr>
            <a:r>
              <a:rPr lang="en-US" sz="1050" dirty="0">
                <a:solidFill>
                  <a:srgbClr val="FFFFFF"/>
                </a:solidFill>
                <a:latin typeface="Courier New" pitchFamily="34" charset="0"/>
                <a:ea typeface="Courier New" pitchFamily="34" charset="-122"/>
                <a:cs typeface="Courier New" pitchFamily="34" charset="-120"/>
              </a:rPr>
              <a:t>anomalies(avg:system.cpu.user{...}</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by {cluster,host}, 'agile', 3)</a:t>
            </a:r>
            <a:endParaRPr lang="en-US" sz="1050" dirty="0"/>
          </a:p>
        </p:txBody>
      </p:sp>
      <p:sp>
        <p:nvSpPr>
          <p:cNvPr id="14" name="Text 10"/>
          <p:cNvSpPr/>
          <p:nvPr/>
        </p:nvSpPr>
        <p:spPr>
          <a:xfrm>
            <a:off x="7836408" y="3520440"/>
            <a:ext cx="3566160" cy="365760"/>
          </a:xfrm>
          <a:prstGeom prst="rect">
            <a:avLst/>
          </a:prstGeom>
          <a:noFill/>
          <a:ln/>
        </p:spPr>
        <p:txBody>
          <a:bodyPr wrap="square" lIns="0" tIns="0" rIns="0" bIns="0" rtlCol="0" anchor="t"/>
          <a:lstStyle/>
          <a:p>
            <a:pPr indent="0" marL="0">
              <a:buNone/>
            </a:pPr>
            <a:r>
              <a:rPr lang="en-US" sz="1050" dirty="0">
                <a:solidFill>
                  <a:srgbClr val="AEBACD"/>
                </a:solidFill>
                <a:latin typeface="Calibri" pitchFamily="34" charset="0"/>
                <a:ea typeface="Calibri" pitchFamily="34" charset="-122"/>
                <a:cs typeface="Calibri" pitchFamily="34" charset="-120"/>
              </a:rPr>
              <a:t>A batch node at 95% on schedule is healthy. An API node at 55% when it normally runs at 20% is not.</a:t>
            </a:r>
            <a:endParaRPr lang="en-US" sz="1050" dirty="0"/>
          </a:p>
        </p:txBody>
      </p:sp>
      <p:sp>
        <p:nvSpPr>
          <p:cNvPr id="15" name="Shape 11"/>
          <p:cNvSpPr/>
          <p:nvPr/>
        </p:nvSpPr>
        <p:spPr>
          <a:xfrm>
            <a:off x="7607808" y="4114800"/>
            <a:ext cx="4023360" cy="1874520"/>
          </a:xfrm>
          <a:prstGeom prst="roundRect">
            <a:avLst>
              <a:gd name="adj" fmla="val 3415"/>
            </a:avLst>
          </a:prstGeom>
          <a:solidFill>
            <a:srgbClr val="EFF2F6"/>
          </a:solidFill>
          <a:ln w="12700">
            <a:solidFill>
              <a:srgbClr val="EFF2F6"/>
            </a:solidFill>
            <a:prstDash val="solid"/>
          </a:ln>
        </p:spPr>
      </p:sp>
      <p:sp>
        <p:nvSpPr>
          <p:cNvPr id="16" name="Text 12"/>
          <p:cNvSpPr/>
          <p:nvPr/>
        </p:nvSpPr>
        <p:spPr>
          <a:xfrm>
            <a:off x="7836408" y="4251960"/>
            <a:ext cx="3566160" cy="237744"/>
          </a:xfrm>
          <a:prstGeom prst="rect">
            <a:avLst/>
          </a:prstGeom>
          <a:noFill/>
          <a:ln/>
        </p:spPr>
        <p:txBody>
          <a:bodyPr wrap="square" lIns="0" tIns="0" rIns="0" bIns="0" rtlCol="0" anchor="ctr"/>
          <a:lstStyle/>
          <a:p>
            <a:pPr indent="0" marL="0">
              <a:buNone/>
            </a:pPr>
            <a:r>
              <a:rPr lang="en-US" sz="900" b="1" spc="140" kern="0" dirty="0">
                <a:solidFill>
                  <a:srgbClr val="6B7891"/>
                </a:solidFill>
                <a:latin typeface="Calibri" pitchFamily="34" charset="0"/>
                <a:ea typeface="Calibri" pitchFamily="34" charset="-122"/>
                <a:cs typeface="Calibri" pitchFamily="34" charset="-120"/>
              </a:rPr>
              <a:t>BEFORE</a:t>
            </a:r>
            <a:endParaRPr lang="en-US" sz="900" dirty="0"/>
          </a:p>
        </p:txBody>
      </p:sp>
      <p:sp>
        <p:nvSpPr>
          <p:cNvPr id="17" name="Text 13"/>
          <p:cNvSpPr/>
          <p:nvPr/>
        </p:nvSpPr>
        <p:spPr>
          <a:xfrm>
            <a:off x="7836408" y="4489704"/>
            <a:ext cx="3566160" cy="292608"/>
          </a:xfrm>
          <a:prstGeom prst="rect">
            <a:avLst/>
          </a:prstGeom>
          <a:noFill/>
          <a:ln/>
        </p:spPr>
        <p:txBody>
          <a:bodyPr wrap="square" lIns="0" tIns="0" rIns="0" bIns="0" rtlCol="0" anchor="ctr"/>
          <a:lstStyle/>
          <a:p>
            <a:pPr indent="0" marL="0">
              <a:buNone/>
            </a:pPr>
            <a:r>
              <a:rPr lang="en-US" sz="1400" b="1" dirty="0">
                <a:solidFill>
                  <a:srgbClr val="6B7891"/>
                </a:solidFill>
                <a:latin typeface="Courier New" pitchFamily="34" charset="0"/>
                <a:ea typeface="Courier New" pitchFamily="34" charset="-122"/>
                <a:cs typeface="Courier New" pitchFamily="34" charset="-120"/>
              </a:rPr>
              <a:t>disk &gt; 90%</a:t>
            </a:r>
            <a:endParaRPr lang="en-US" sz="1400" dirty="0"/>
          </a:p>
        </p:txBody>
      </p:sp>
      <p:sp>
        <p:nvSpPr>
          <p:cNvPr id="18" name="Text 14"/>
          <p:cNvSpPr/>
          <p:nvPr/>
        </p:nvSpPr>
        <p:spPr>
          <a:xfrm>
            <a:off x="7836408" y="4818888"/>
            <a:ext cx="3566160" cy="237744"/>
          </a:xfrm>
          <a:prstGeom prst="rect">
            <a:avLst/>
          </a:prstGeom>
          <a:noFill/>
          <a:ln/>
        </p:spPr>
        <p:txBody>
          <a:bodyPr wrap="square" lIns="0" tIns="0" rIns="0" bIns="0" rtlCol="0" anchor="ctr"/>
          <a:lstStyle/>
          <a:p>
            <a:pPr indent="0" marL="0">
              <a:buNone/>
            </a:pPr>
            <a:r>
              <a:rPr lang="en-US" sz="900" b="1" spc="140" kern="0" dirty="0">
                <a:solidFill>
                  <a:srgbClr val="B87914"/>
                </a:solidFill>
                <a:latin typeface="Calibri" pitchFamily="34" charset="0"/>
                <a:ea typeface="Calibri" pitchFamily="34" charset="-122"/>
                <a:cs typeface="Calibri" pitchFamily="34" charset="-120"/>
              </a:rPr>
              <a:t>AFTER</a:t>
            </a:r>
            <a:endParaRPr lang="en-US" sz="900" dirty="0"/>
          </a:p>
        </p:txBody>
      </p:sp>
      <p:sp>
        <p:nvSpPr>
          <p:cNvPr id="19" name="Text 15"/>
          <p:cNvSpPr/>
          <p:nvPr/>
        </p:nvSpPr>
        <p:spPr>
          <a:xfrm>
            <a:off x="7836408" y="5056632"/>
            <a:ext cx="3566160" cy="502920"/>
          </a:xfrm>
          <a:prstGeom prst="rect">
            <a:avLst/>
          </a:prstGeom>
          <a:noFill/>
          <a:ln/>
        </p:spPr>
        <p:txBody>
          <a:bodyPr wrap="square" lIns="0" tIns="0" rIns="0" bIns="0" rtlCol="0" anchor="t"/>
          <a:lstStyle/>
          <a:p>
            <a:pPr indent="0" marL="0">
              <a:buNone/>
            </a:pPr>
            <a:r>
              <a:rPr lang="en-US" sz="1050" dirty="0">
                <a:solidFill>
                  <a:srgbClr val="161C28"/>
                </a:solidFill>
                <a:latin typeface="Courier New" pitchFamily="34" charset="0"/>
                <a:ea typeface="Courier New" pitchFamily="34" charset="-122"/>
                <a:cs typeface="Courier New" pitchFamily="34" charset="-120"/>
              </a:rPr>
              <a:t>forecast(avg:system.disk.in_use{...},</a:t>
            </a:r>
            <a:endParaRPr lang="en-US" sz="1050" dirty="0"/>
          </a:p>
          <a:p>
            <a:pPr indent="0" marL="0">
              <a:buNone/>
            </a:pPr>
            <a:r>
              <a:rPr lang="en-US" sz="1050" dirty="0">
                <a:solidFill>
                  <a:srgbClr val="161C28"/>
                </a:solidFill>
                <a:latin typeface="Courier New" pitchFamily="34" charset="0"/>
                <a:ea typeface="Courier New" pitchFamily="34" charset="-122"/>
                <a:cs typeface="Courier New" pitchFamily="34" charset="-120"/>
              </a:rPr>
              <a:t>  'linear', 1) over next_3d &gt; 0.95</a:t>
            </a:r>
            <a:endParaRPr lang="en-US" sz="1050" dirty="0"/>
          </a:p>
        </p:txBody>
      </p:sp>
      <p:sp>
        <p:nvSpPr>
          <p:cNvPr id="20" name="Text 16"/>
          <p:cNvSpPr/>
          <p:nvPr/>
        </p:nvSpPr>
        <p:spPr>
          <a:xfrm>
            <a:off x="7836408" y="5577840"/>
            <a:ext cx="3566160" cy="365760"/>
          </a:xfrm>
          <a:prstGeom prst="rect">
            <a:avLst/>
          </a:prstGeom>
          <a:noFill/>
          <a:ln/>
        </p:spPr>
        <p:txBody>
          <a:bodyPr wrap="square" lIns="0" tIns="0" rIns="0" bIns="0" rtlCol="0" anchor="t"/>
          <a:lstStyle/>
          <a:p>
            <a:pPr indent="0" marL="0">
              <a:buNone/>
            </a:pPr>
            <a:r>
              <a:rPr lang="en-US" sz="1050" dirty="0">
                <a:solidFill>
                  <a:srgbClr val="3A4557"/>
                </a:solidFill>
                <a:latin typeface="Calibri" pitchFamily="34" charset="0"/>
                <a:ea typeface="Calibri" pitchFamily="34" charset="-122"/>
                <a:cs typeface="Calibri" pitchFamily="34" charset="-120"/>
              </a:rPr>
              <a:t>A volume steady at 92% for two years is not an incident. One at 60% growing 8% a day is.</a:t>
            </a:r>
            <a:endParaRPr lang="en-US" sz="10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8778240" cy="256032"/>
          </a:xfrm>
          <a:prstGeom prst="rect">
            <a:avLst/>
          </a:prstGeom>
          <a:noFill/>
          <a:ln/>
        </p:spPr>
        <p:txBody>
          <a:bodyPr wrap="square" lIns="0" tIns="0" rIns="0" bIns="0" rtlCol="0" anchor="ctr"/>
          <a:lstStyle/>
          <a:p>
            <a:pPr indent="0" marL="0">
              <a:buNone/>
            </a:pPr>
            <a:r>
              <a:rPr lang="en-US" sz="1050" b="1" spc="160" kern="0" dirty="0">
                <a:solidFill>
                  <a:srgbClr val="B87914"/>
                </a:solidFill>
                <a:latin typeface="Calibri" pitchFamily="34" charset="0"/>
                <a:ea typeface="Calibri" pitchFamily="34" charset="-122"/>
                <a:cs typeface="Calibri" pitchFamily="34" charset="-120"/>
              </a:rPr>
              <a:t>APPENDIX A5</a:t>
            </a:r>
            <a:endParaRPr lang="en-US" sz="1050" dirty="0"/>
          </a:p>
        </p:txBody>
      </p:sp>
      <p:sp>
        <p:nvSpPr>
          <p:cNvPr id="3" name="Text 1"/>
          <p:cNvSpPr/>
          <p:nvPr/>
        </p:nvSpPr>
        <p:spPr>
          <a:xfrm>
            <a:off x="566928" y="694944"/>
            <a:ext cx="10424160" cy="786384"/>
          </a:xfrm>
          <a:prstGeom prst="rect">
            <a:avLst/>
          </a:prstGeom>
          <a:noFill/>
          <a:ln/>
        </p:spPr>
        <p:txBody>
          <a:bodyPr wrap="square" lIns="0" tIns="0" rIns="0" bIns="0" rtlCol="0" anchor="ctr"/>
          <a:lstStyle/>
          <a:p>
            <a:pPr indent="0" marL="0">
              <a:buNone/>
            </a:pPr>
            <a:r>
              <a:rPr lang="en-US" sz="3100" b="1" dirty="0">
                <a:solidFill>
                  <a:srgbClr val="161C28"/>
                </a:solidFill>
                <a:latin typeface="Cambria" pitchFamily="34" charset="0"/>
                <a:ea typeface="Cambria" pitchFamily="34" charset="-122"/>
                <a:cs typeface="Cambria" pitchFamily="34" charset="-120"/>
              </a:rPr>
              <a:t>Environment policy matrix</a:t>
            </a:r>
            <a:endParaRPr lang="en-US" sz="3100" dirty="0"/>
          </a:p>
        </p:txBody>
      </p:sp>
      <p:sp>
        <p:nvSpPr>
          <p:cNvPr id="4" name="Text 2"/>
          <p:cNvSpPr/>
          <p:nvPr/>
        </p:nvSpPr>
        <p:spPr>
          <a:xfrm>
            <a:off x="566928" y="1481328"/>
            <a:ext cx="10698480" cy="457200"/>
          </a:xfrm>
          <a:prstGeom prst="rect">
            <a:avLst/>
          </a:prstGeom>
          <a:noFill/>
          <a:ln/>
        </p:spPr>
        <p:txBody>
          <a:bodyPr wrap="square" lIns="0" tIns="0" rIns="0" bIns="0" rtlCol="0" anchor="t"/>
          <a:lstStyle/>
          <a:p>
            <a:pPr indent="0" marL="0">
              <a:buNone/>
            </a:pPr>
            <a:r>
              <a:rPr lang="en-US" sz="1450" dirty="0">
                <a:solidFill>
                  <a:srgbClr val="3A4557"/>
                </a:solidFill>
                <a:latin typeface="Calibri" pitchFamily="34" charset="0"/>
                <a:ea typeface="Calibri" pitchFamily="34" charset="-122"/>
                <a:cs typeface="Calibri" pitchFamily="34" charset="-120"/>
              </a:rPr>
              <a:t>The same archetype definition runs in every environment. The environment never changes what is detected — only how loud the result is.</a:t>
            </a:r>
            <a:endParaRPr lang="en-US" sz="1450" dirty="0"/>
          </a:p>
        </p:txBody>
      </p:sp>
      <p:sp>
        <p:nvSpPr>
          <p:cNvPr id="5" name="Text 3"/>
          <p:cNvSpPr/>
          <p:nvPr/>
        </p:nvSpPr>
        <p:spPr>
          <a:xfrm>
            <a:off x="566928" y="6345936"/>
            <a:ext cx="7315200" cy="274320"/>
          </a:xfrm>
          <a:prstGeom prst="rect">
            <a:avLst/>
          </a:prstGeom>
          <a:noFill/>
          <a:ln/>
        </p:spPr>
        <p:txBody>
          <a:bodyPr wrap="square" lIns="0" tIns="0" rIns="0" bIns="0" rtlCol="0" anchor="ctr"/>
          <a:lstStyle/>
          <a:p>
            <a:pPr indent="0" marL="0">
              <a:buNone/>
            </a:pPr>
            <a:r>
              <a:rPr lang="en-US" sz="900" dirty="0">
                <a:solidFill>
                  <a:srgbClr val="6B7891"/>
                </a:solidFill>
                <a:latin typeface="Calibri" pitchFamily="34" charset="0"/>
                <a:ea typeface="Calibri" pitchFamily="34" charset="-122"/>
                <a:cs typeface="Calibri" pitchFamily="34" charset="-120"/>
              </a:rPr>
              <a:t>Enterprise Observability  ·  policy-as-data on Datadog</a:t>
            </a:r>
            <a:endParaRPr lang="en-US" sz="900" dirty="0"/>
          </a:p>
        </p:txBody>
      </p:sp>
      <p:sp>
        <p:nvSpPr>
          <p:cNvPr id="6" name="Text 4"/>
          <p:cNvSpPr/>
          <p:nvPr/>
        </p:nvSpPr>
        <p:spPr>
          <a:xfrm>
            <a:off x="10710367" y="6345936"/>
            <a:ext cx="914400" cy="274320"/>
          </a:xfrm>
          <a:prstGeom prst="rect">
            <a:avLst/>
          </a:prstGeom>
          <a:noFill/>
          <a:ln/>
        </p:spPr>
        <p:txBody>
          <a:bodyPr wrap="square" lIns="0" tIns="0" rIns="0" bIns="0" rtlCol="0" anchor="ctr"/>
          <a:lstStyle/>
          <a:p>
            <a:pPr algn="r" indent="0" marL="0">
              <a:buNone/>
            </a:pPr>
            <a:r>
              <a:rPr lang="en-US" sz="900" dirty="0">
                <a:solidFill>
                  <a:srgbClr val="6B7891"/>
                </a:solidFill>
                <a:latin typeface="Calibri" pitchFamily="34" charset="0"/>
                <a:ea typeface="Calibri" pitchFamily="34" charset="-122"/>
                <a:cs typeface="Calibri" pitchFamily="34" charset="-120"/>
              </a:rPr>
              <a:t>49</a:t>
            </a:r>
            <a:endParaRPr lang="en-US" sz="900" dirty="0"/>
          </a:p>
        </p:txBody>
      </p:sp>
      <p:sp>
        <p:nvSpPr>
          <p:cNvPr id="8" name="Shape 5"/>
          <p:cNvSpPr/>
          <p:nvPr/>
        </p:nvSpPr>
        <p:spPr>
          <a:xfrm>
            <a:off x="566928" y="2103120"/>
            <a:ext cx="11057839" cy="402336"/>
          </a:xfrm>
          <a:prstGeom prst="rect">
            <a:avLst/>
          </a:prstGeom>
          <a:solidFill>
            <a:srgbClr val="12161F"/>
          </a:solidFill>
          <a:ln w="12700">
            <a:solidFill>
              <a:srgbClr val="12161F"/>
            </a:solidFill>
            <a:prstDash val="solid"/>
          </a:ln>
        </p:spPr>
      </p:sp>
      <p:sp>
        <p:nvSpPr>
          <p:cNvPr id="9" name="Text 6"/>
          <p:cNvSpPr/>
          <p:nvPr/>
        </p:nvSpPr>
        <p:spPr>
          <a:xfrm>
            <a:off x="749808" y="2103120"/>
            <a:ext cx="2926080" cy="402336"/>
          </a:xfrm>
          <a:prstGeom prst="rect">
            <a:avLst/>
          </a:prstGeom>
          <a:noFill/>
          <a:ln/>
        </p:spPr>
        <p:txBody>
          <a:bodyPr wrap="square" lIns="0" tIns="0" rIns="0" bIns="0" rtlCol="0" anchor="ctr"/>
          <a:lstStyle/>
          <a:p>
            <a:pPr indent="0" marL="0">
              <a:buNone/>
            </a:pPr>
            <a:endParaRPr lang="en-US" sz="1100" dirty="0"/>
          </a:p>
        </p:txBody>
      </p:sp>
      <p:sp>
        <p:nvSpPr>
          <p:cNvPr id="10" name="Text 7"/>
          <p:cNvSpPr/>
          <p:nvPr/>
        </p:nvSpPr>
        <p:spPr>
          <a:xfrm>
            <a:off x="3767328" y="2103120"/>
            <a:ext cx="1737360" cy="40233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DEV</a:t>
            </a:r>
            <a:endParaRPr lang="en-US" sz="1100" dirty="0"/>
          </a:p>
        </p:txBody>
      </p:sp>
      <p:sp>
        <p:nvSpPr>
          <p:cNvPr id="11" name="Text 8"/>
          <p:cNvSpPr/>
          <p:nvPr/>
        </p:nvSpPr>
        <p:spPr>
          <a:xfrm>
            <a:off x="5596128" y="2103120"/>
            <a:ext cx="1828800" cy="40233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QA</a:t>
            </a:r>
            <a:endParaRPr lang="en-US" sz="1100" dirty="0"/>
          </a:p>
        </p:txBody>
      </p:sp>
      <p:sp>
        <p:nvSpPr>
          <p:cNvPr id="12" name="Text 9"/>
          <p:cNvSpPr/>
          <p:nvPr/>
        </p:nvSpPr>
        <p:spPr>
          <a:xfrm>
            <a:off x="7516368" y="2103120"/>
            <a:ext cx="2011680" cy="40233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STAGE</a:t>
            </a:r>
            <a:endParaRPr lang="en-US" sz="1100" dirty="0"/>
          </a:p>
        </p:txBody>
      </p:sp>
      <p:sp>
        <p:nvSpPr>
          <p:cNvPr id="13" name="Text 10"/>
          <p:cNvSpPr/>
          <p:nvPr/>
        </p:nvSpPr>
        <p:spPr>
          <a:xfrm>
            <a:off x="9619488" y="2103120"/>
            <a:ext cx="1920240" cy="402336"/>
          </a:xfrm>
          <a:prstGeom prst="rect">
            <a:avLst/>
          </a:prstGeom>
          <a:noFill/>
          <a:ln/>
        </p:spPr>
        <p:txBody>
          <a:bodyPr wrap="square" lIns="0" tIns="0" rIns="0" bIns="0" rtlCol="0" anchor="ctr"/>
          <a:lstStyle/>
          <a:p>
            <a:pPr indent="0" marL="0">
              <a:buNone/>
            </a:pPr>
            <a:r>
              <a:rPr lang="en-US" sz="1100" b="1" dirty="0">
                <a:solidFill>
                  <a:srgbClr val="E09A2E"/>
                </a:solidFill>
                <a:latin typeface="Calibri" pitchFamily="34" charset="0"/>
                <a:ea typeface="Calibri" pitchFamily="34" charset="-122"/>
                <a:cs typeface="Calibri" pitchFamily="34" charset="-120"/>
              </a:rPr>
              <a:t>PROD</a:t>
            </a:r>
            <a:endParaRPr lang="en-US" sz="1100" dirty="0"/>
          </a:p>
        </p:txBody>
      </p:sp>
      <p:sp>
        <p:nvSpPr>
          <p:cNvPr id="14" name="Shape 11"/>
          <p:cNvSpPr/>
          <p:nvPr/>
        </p:nvSpPr>
        <p:spPr>
          <a:xfrm>
            <a:off x="566928" y="2505456"/>
            <a:ext cx="11057839" cy="347472"/>
          </a:xfrm>
          <a:prstGeom prst="rect">
            <a:avLst/>
          </a:prstGeom>
          <a:solidFill>
            <a:srgbClr val="F5F7FA"/>
          </a:solidFill>
          <a:ln w="12700">
            <a:solidFill>
              <a:srgbClr val="F5F7FA"/>
            </a:solidFill>
            <a:prstDash val="solid"/>
          </a:ln>
        </p:spPr>
      </p:sp>
      <p:sp>
        <p:nvSpPr>
          <p:cNvPr id="15" name="Text 12"/>
          <p:cNvSpPr/>
          <p:nvPr/>
        </p:nvSpPr>
        <p:spPr>
          <a:xfrm>
            <a:off x="749808" y="2505456"/>
            <a:ext cx="2926080" cy="347472"/>
          </a:xfrm>
          <a:prstGeom prst="rect">
            <a:avLst/>
          </a:prstGeom>
          <a:noFill/>
          <a:ln/>
        </p:spPr>
        <p:txBody>
          <a:bodyPr wrap="square" lIns="0" tIns="0" rIns="0" bIns="0" rtlCol="0" anchor="ctr"/>
          <a:lstStyle/>
          <a:p>
            <a:pPr indent="0" marL="0">
              <a:buNone/>
            </a:pPr>
            <a:r>
              <a:rPr lang="en-US" sz="1050" b="1" dirty="0">
                <a:solidFill>
                  <a:srgbClr val="161C28"/>
                </a:solidFill>
                <a:latin typeface="Calibri" pitchFamily="34" charset="0"/>
                <a:ea typeface="Calibri" pitchFamily="34" charset="-122"/>
                <a:cs typeface="Calibri" pitchFamily="34" charset="-120"/>
              </a:rPr>
              <a:t>Alerting</a:t>
            </a:r>
            <a:endParaRPr lang="en-US" sz="1050" dirty="0"/>
          </a:p>
        </p:txBody>
      </p:sp>
      <p:sp>
        <p:nvSpPr>
          <p:cNvPr id="16" name="Text 13"/>
          <p:cNvSpPr/>
          <p:nvPr/>
        </p:nvSpPr>
        <p:spPr>
          <a:xfrm>
            <a:off x="3767328" y="2505456"/>
            <a:ext cx="1737360" cy="347472"/>
          </a:xfrm>
          <a:prstGeom prst="rect">
            <a:avLst/>
          </a:prstGeom>
          <a:noFill/>
          <a:ln/>
        </p:spPr>
        <p:txBody>
          <a:bodyPr wrap="square" lIns="0" tIns="0" rIns="0" bIns="0" rtlCol="0" anchor="ctr"/>
          <a:lstStyle/>
          <a:p>
            <a:pPr indent="0" marL="0">
              <a:buNone/>
            </a:pPr>
            <a:r>
              <a:rPr lang="en-US" sz="1050" dirty="0">
                <a:solidFill>
                  <a:srgbClr val="3A4557"/>
                </a:solidFill>
                <a:latin typeface="Calibri" pitchFamily="34" charset="0"/>
                <a:ea typeface="Calibri" pitchFamily="34" charset="-122"/>
                <a:cs typeface="Calibri" pitchFamily="34" charset="-120"/>
              </a:rPr>
              <a:t>informational only</a:t>
            </a:r>
            <a:endParaRPr lang="en-US" sz="1050" dirty="0"/>
          </a:p>
        </p:txBody>
      </p:sp>
      <p:sp>
        <p:nvSpPr>
          <p:cNvPr id="17" name="Text 14"/>
          <p:cNvSpPr/>
          <p:nvPr/>
        </p:nvSpPr>
        <p:spPr>
          <a:xfrm>
            <a:off x="5596128" y="2505456"/>
            <a:ext cx="1828800" cy="347472"/>
          </a:xfrm>
          <a:prstGeom prst="rect">
            <a:avLst/>
          </a:prstGeom>
          <a:noFill/>
          <a:ln/>
        </p:spPr>
        <p:txBody>
          <a:bodyPr wrap="square" lIns="0" tIns="0" rIns="0" bIns="0" rtlCol="0" anchor="ctr"/>
          <a:lstStyle/>
          <a:p>
            <a:pPr indent="0" marL="0">
              <a:buNone/>
            </a:pPr>
            <a:r>
              <a:rPr lang="en-US" sz="1050" dirty="0">
                <a:solidFill>
                  <a:srgbClr val="3A4557"/>
                </a:solidFill>
                <a:latin typeface="Calibri" pitchFamily="34" charset="0"/>
                <a:ea typeface="Calibri" pitchFamily="34" charset="-122"/>
                <a:cs typeface="Calibri" pitchFamily="34" charset="-120"/>
              </a:rPr>
              <a:t>release-blocking only</a:t>
            </a:r>
            <a:endParaRPr lang="en-US" sz="1050" dirty="0"/>
          </a:p>
        </p:txBody>
      </p:sp>
      <p:sp>
        <p:nvSpPr>
          <p:cNvPr id="18" name="Text 15"/>
          <p:cNvSpPr/>
          <p:nvPr/>
        </p:nvSpPr>
        <p:spPr>
          <a:xfrm>
            <a:off x="7516368" y="2505456"/>
            <a:ext cx="2011680" cy="347472"/>
          </a:xfrm>
          <a:prstGeom prst="rect">
            <a:avLst/>
          </a:prstGeom>
          <a:noFill/>
          <a:ln/>
        </p:spPr>
        <p:txBody>
          <a:bodyPr wrap="square" lIns="0" tIns="0" rIns="0" bIns="0" rtlCol="0" anchor="ctr"/>
          <a:lstStyle/>
          <a:p>
            <a:pPr indent="0" marL="0">
              <a:buNone/>
            </a:pPr>
            <a:r>
              <a:rPr lang="en-US" sz="1050" dirty="0">
                <a:solidFill>
                  <a:srgbClr val="3A4557"/>
                </a:solidFill>
                <a:latin typeface="Calibri" pitchFamily="34" charset="0"/>
                <a:ea typeface="Calibri" pitchFamily="34" charset="-122"/>
                <a:cs typeface="Calibri" pitchFamily="34" charset="-120"/>
              </a:rPr>
              <a:t>production-shaped</a:t>
            </a:r>
            <a:endParaRPr lang="en-US" sz="1050" dirty="0"/>
          </a:p>
        </p:txBody>
      </p:sp>
      <p:sp>
        <p:nvSpPr>
          <p:cNvPr id="19" name="Text 16"/>
          <p:cNvSpPr/>
          <p:nvPr/>
        </p:nvSpPr>
        <p:spPr>
          <a:xfrm>
            <a:off x="9619488" y="2505456"/>
            <a:ext cx="1920240" cy="347472"/>
          </a:xfrm>
          <a:prstGeom prst="rect">
            <a:avLst/>
          </a:prstGeom>
          <a:noFill/>
          <a:ln/>
        </p:spPr>
        <p:txBody>
          <a:bodyPr wrap="square" lIns="0" tIns="0" rIns="0" bIns="0" rtlCol="0" anchor="ctr"/>
          <a:lstStyle/>
          <a:p>
            <a:pPr indent="0" marL="0">
              <a:buNone/>
            </a:pPr>
            <a:r>
              <a:rPr lang="en-US" sz="1050" dirty="0">
                <a:solidFill>
                  <a:srgbClr val="161C28"/>
                </a:solidFill>
                <a:latin typeface="Calibri" pitchFamily="34" charset="0"/>
                <a:ea typeface="Calibri" pitchFamily="34" charset="-122"/>
                <a:cs typeface="Calibri" pitchFamily="34" charset="-120"/>
              </a:rPr>
              <a:t>full</a:t>
            </a:r>
            <a:endParaRPr lang="en-US" sz="1050" dirty="0"/>
          </a:p>
        </p:txBody>
      </p:sp>
      <p:sp>
        <p:nvSpPr>
          <p:cNvPr id="20" name="Text 17"/>
          <p:cNvSpPr/>
          <p:nvPr/>
        </p:nvSpPr>
        <p:spPr>
          <a:xfrm>
            <a:off x="749808" y="2852928"/>
            <a:ext cx="2926080" cy="347472"/>
          </a:xfrm>
          <a:prstGeom prst="rect">
            <a:avLst/>
          </a:prstGeom>
          <a:noFill/>
          <a:ln/>
        </p:spPr>
        <p:txBody>
          <a:bodyPr wrap="square" lIns="0" tIns="0" rIns="0" bIns="0" rtlCol="0" anchor="ctr"/>
          <a:lstStyle/>
          <a:p>
            <a:pPr indent="0" marL="0">
              <a:buNone/>
            </a:pPr>
            <a:r>
              <a:rPr lang="en-US" sz="1050" b="1" dirty="0">
                <a:solidFill>
                  <a:srgbClr val="161C28"/>
                </a:solidFill>
                <a:latin typeface="Calibri" pitchFamily="34" charset="0"/>
                <a:ea typeface="Calibri" pitchFamily="34" charset="-122"/>
                <a:cs typeface="Calibri" pitchFamily="34" charset="-120"/>
              </a:rPr>
              <a:t>Bands instantiated</a:t>
            </a:r>
            <a:endParaRPr lang="en-US" sz="1050" dirty="0"/>
          </a:p>
        </p:txBody>
      </p:sp>
      <p:sp>
        <p:nvSpPr>
          <p:cNvPr id="21" name="Text 18"/>
          <p:cNvSpPr/>
          <p:nvPr/>
        </p:nvSpPr>
        <p:spPr>
          <a:xfrm>
            <a:off x="3767328" y="2852928"/>
            <a:ext cx="1737360" cy="347472"/>
          </a:xfrm>
          <a:prstGeom prst="rect">
            <a:avLst/>
          </a:prstGeom>
          <a:noFill/>
          <a:ln/>
        </p:spPr>
        <p:txBody>
          <a:bodyPr wrap="square" lIns="0" tIns="0" rIns="0" bIns="0" rtlCol="0" anchor="ctr"/>
          <a:lstStyle/>
          <a:p>
            <a:pPr indent="0" marL="0">
              <a:buNone/>
            </a:pPr>
            <a:r>
              <a:rPr lang="en-US" sz="1050" dirty="0">
                <a:solidFill>
                  <a:srgbClr val="3A4557"/>
                </a:solidFill>
                <a:latin typeface="Calibri" pitchFamily="34" charset="0"/>
                <a:ea typeface="Calibri" pitchFamily="34" charset="-122"/>
                <a:cs typeface="Calibri" pitchFamily="34" charset="-120"/>
              </a:rPr>
              <a:t>baseline</a:t>
            </a:r>
            <a:endParaRPr lang="en-US" sz="1050" dirty="0"/>
          </a:p>
        </p:txBody>
      </p:sp>
      <p:sp>
        <p:nvSpPr>
          <p:cNvPr id="22" name="Text 19"/>
          <p:cNvSpPr/>
          <p:nvPr/>
        </p:nvSpPr>
        <p:spPr>
          <a:xfrm>
            <a:off x="5596128" y="2852928"/>
            <a:ext cx="1828800" cy="347472"/>
          </a:xfrm>
          <a:prstGeom prst="rect">
            <a:avLst/>
          </a:prstGeom>
          <a:noFill/>
          <a:ln/>
        </p:spPr>
        <p:txBody>
          <a:bodyPr wrap="square" lIns="0" tIns="0" rIns="0" bIns="0" rtlCol="0" anchor="ctr"/>
          <a:lstStyle/>
          <a:p>
            <a:pPr indent="0" marL="0">
              <a:buNone/>
            </a:pPr>
            <a:r>
              <a:rPr lang="en-US" sz="1050" dirty="0">
                <a:solidFill>
                  <a:srgbClr val="3A4557"/>
                </a:solidFill>
                <a:latin typeface="Calibri" pitchFamily="34" charset="0"/>
                <a:ea typeface="Calibri" pitchFamily="34" charset="-122"/>
                <a:cs typeface="Calibri" pitchFamily="34" charset="-120"/>
              </a:rPr>
              <a:t>baseline</a:t>
            </a:r>
            <a:endParaRPr lang="en-US" sz="1050" dirty="0"/>
          </a:p>
        </p:txBody>
      </p:sp>
      <p:sp>
        <p:nvSpPr>
          <p:cNvPr id="23" name="Text 20"/>
          <p:cNvSpPr/>
          <p:nvPr/>
        </p:nvSpPr>
        <p:spPr>
          <a:xfrm>
            <a:off x="7516368" y="2852928"/>
            <a:ext cx="2011680" cy="347472"/>
          </a:xfrm>
          <a:prstGeom prst="rect">
            <a:avLst/>
          </a:prstGeom>
          <a:noFill/>
          <a:ln/>
        </p:spPr>
        <p:txBody>
          <a:bodyPr wrap="square" lIns="0" tIns="0" rIns="0" bIns="0" rtlCol="0" anchor="ctr"/>
          <a:lstStyle/>
          <a:p>
            <a:pPr indent="0" marL="0">
              <a:buNone/>
            </a:pPr>
            <a:r>
              <a:rPr lang="en-US" sz="1050" dirty="0">
                <a:solidFill>
                  <a:srgbClr val="3A4557"/>
                </a:solidFill>
                <a:latin typeface="Calibri" pitchFamily="34" charset="0"/>
                <a:ea typeface="Calibri" pitchFamily="34" charset="-122"/>
                <a:cs typeface="Calibri" pitchFamily="34" charset="-120"/>
              </a:rPr>
              <a:t>standard, critical</a:t>
            </a:r>
            <a:endParaRPr lang="en-US" sz="1050" dirty="0"/>
          </a:p>
        </p:txBody>
      </p:sp>
      <p:sp>
        <p:nvSpPr>
          <p:cNvPr id="24" name="Text 21"/>
          <p:cNvSpPr/>
          <p:nvPr/>
        </p:nvSpPr>
        <p:spPr>
          <a:xfrm>
            <a:off x="9619488" y="2852928"/>
            <a:ext cx="1920240" cy="347472"/>
          </a:xfrm>
          <a:prstGeom prst="rect">
            <a:avLst/>
          </a:prstGeom>
          <a:noFill/>
          <a:ln/>
        </p:spPr>
        <p:txBody>
          <a:bodyPr wrap="square" lIns="0" tIns="0" rIns="0" bIns="0" rtlCol="0" anchor="ctr"/>
          <a:lstStyle/>
          <a:p>
            <a:pPr indent="0" marL="0">
              <a:buNone/>
            </a:pPr>
            <a:r>
              <a:rPr lang="en-US" sz="1050" dirty="0">
                <a:solidFill>
                  <a:srgbClr val="161C28"/>
                </a:solidFill>
                <a:latin typeface="Calibri" pitchFamily="34" charset="0"/>
                <a:ea typeface="Calibri" pitchFamily="34" charset="-122"/>
                <a:cs typeface="Calibri" pitchFamily="34" charset="-120"/>
              </a:rPr>
              <a:t>baseline, standard, critical</a:t>
            </a:r>
            <a:endParaRPr lang="en-US" sz="1050" dirty="0"/>
          </a:p>
        </p:txBody>
      </p:sp>
      <p:sp>
        <p:nvSpPr>
          <p:cNvPr id="25" name="Shape 22"/>
          <p:cNvSpPr/>
          <p:nvPr/>
        </p:nvSpPr>
        <p:spPr>
          <a:xfrm>
            <a:off x="566928" y="3200400"/>
            <a:ext cx="11057839" cy="347472"/>
          </a:xfrm>
          <a:prstGeom prst="rect">
            <a:avLst/>
          </a:prstGeom>
          <a:solidFill>
            <a:srgbClr val="F5F7FA"/>
          </a:solidFill>
          <a:ln w="12700">
            <a:solidFill>
              <a:srgbClr val="F5F7FA"/>
            </a:solidFill>
            <a:prstDash val="solid"/>
          </a:ln>
        </p:spPr>
      </p:sp>
      <p:sp>
        <p:nvSpPr>
          <p:cNvPr id="26" name="Text 23"/>
          <p:cNvSpPr/>
          <p:nvPr/>
        </p:nvSpPr>
        <p:spPr>
          <a:xfrm>
            <a:off x="749808" y="3200400"/>
            <a:ext cx="2926080" cy="347472"/>
          </a:xfrm>
          <a:prstGeom prst="rect">
            <a:avLst/>
          </a:prstGeom>
          <a:noFill/>
          <a:ln/>
        </p:spPr>
        <p:txBody>
          <a:bodyPr wrap="square" lIns="0" tIns="0" rIns="0" bIns="0" rtlCol="0" anchor="ctr"/>
          <a:lstStyle/>
          <a:p>
            <a:pPr indent="0" marL="0">
              <a:buNone/>
            </a:pPr>
            <a:r>
              <a:rPr lang="en-US" sz="1050" b="1" dirty="0">
                <a:solidFill>
                  <a:srgbClr val="161C28"/>
                </a:solidFill>
                <a:latin typeface="Calibri" pitchFamily="34" charset="0"/>
                <a:ea typeface="Calibri" pitchFamily="34" charset="-122"/>
                <a:cs typeface="Calibri" pitchFamily="34" charset="-120"/>
              </a:rPr>
              <a:t>Monitors instantiated</a:t>
            </a:r>
            <a:endParaRPr lang="en-US" sz="1050" dirty="0"/>
          </a:p>
        </p:txBody>
      </p:sp>
      <p:sp>
        <p:nvSpPr>
          <p:cNvPr id="27" name="Text 24"/>
          <p:cNvSpPr/>
          <p:nvPr/>
        </p:nvSpPr>
        <p:spPr>
          <a:xfrm>
            <a:off x="3767328" y="3200400"/>
            <a:ext cx="1737360" cy="347472"/>
          </a:xfrm>
          <a:prstGeom prst="rect">
            <a:avLst/>
          </a:prstGeom>
          <a:noFill/>
          <a:ln/>
        </p:spPr>
        <p:txBody>
          <a:bodyPr wrap="square" lIns="0" tIns="0" rIns="0" bIns="0" rtlCol="0" anchor="ctr"/>
          <a:lstStyle/>
          <a:p>
            <a:pPr indent="0" marL="0">
              <a:buNone/>
            </a:pPr>
            <a:r>
              <a:rPr lang="en-US" sz="1050" dirty="0">
                <a:solidFill>
                  <a:srgbClr val="3A4557"/>
                </a:solidFill>
                <a:latin typeface="Calibri" pitchFamily="34" charset="0"/>
                <a:ea typeface="Calibri" pitchFamily="34" charset="-122"/>
                <a:cs typeface="Calibri" pitchFamily="34" charset="-120"/>
              </a:rPr>
              <a:t>15</a:t>
            </a:r>
            <a:endParaRPr lang="en-US" sz="1050" dirty="0"/>
          </a:p>
        </p:txBody>
      </p:sp>
      <p:sp>
        <p:nvSpPr>
          <p:cNvPr id="28" name="Text 25"/>
          <p:cNvSpPr/>
          <p:nvPr/>
        </p:nvSpPr>
        <p:spPr>
          <a:xfrm>
            <a:off x="5596128" y="3200400"/>
            <a:ext cx="1828800" cy="347472"/>
          </a:xfrm>
          <a:prstGeom prst="rect">
            <a:avLst/>
          </a:prstGeom>
          <a:noFill/>
          <a:ln/>
        </p:spPr>
        <p:txBody>
          <a:bodyPr wrap="square" lIns="0" tIns="0" rIns="0" bIns="0" rtlCol="0" anchor="ctr"/>
          <a:lstStyle/>
          <a:p>
            <a:pPr indent="0" marL="0">
              <a:buNone/>
            </a:pPr>
            <a:r>
              <a:rPr lang="en-US" sz="1050" dirty="0">
                <a:solidFill>
                  <a:srgbClr val="3A4557"/>
                </a:solidFill>
                <a:latin typeface="Calibri" pitchFamily="34" charset="0"/>
                <a:ea typeface="Calibri" pitchFamily="34" charset="-122"/>
                <a:cs typeface="Calibri" pitchFamily="34" charset="-120"/>
              </a:rPr>
              <a:t>20</a:t>
            </a:r>
            <a:endParaRPr lang="en-US" sz="1050" dirty="0"/>
          </a:p>
        </p:txBody>
      </p:sp>
      <p:sp>
        <p:nvSpPr>
          <p:cNvPr id="29" name="Text 26"/>
          <p:cNvSpPr/>
          <p:nvPr/>
        </p:nvSpPr>
        <p:spPr>
          <a:xfrm>
            <a:off x="7516368" y="3200400"/>
            <a:ext cx="2011680" cy="347472"/>
          </a:xfrm>
          <a:prstGeom prst="rect">
            <a:avLst/>
          </a:prstGeom>
          <a:noFill/>
          <a:ln/>
        </p:spPr>
        <p:txBody>
          <a:bodyPr wrap="square" lIns="0" tIns="0" rIns="0" bIns="0" rtlCol="0" anchor="ctr"/>
          <a:lstStyle/>
          <a:p>
            <a:pPr indent="0" marL="0">
              <a:buNone/>
            </a:pPr>
            <a:r>
              <a:rPr lang="en-US" sz="1050" dirty="0">
                <a:solidFill>
                  <a:srgbClr val="3A4557"/>
                </a:solidFill>
                <a:latin typeface="Calibri" pitchFamily="34" charset="0"/>
                <a:ea typeface="Calibri" pitchFamily="34" charset="-122"/>
                <a:cs typeface="Calibri" pitchFamily="34" charset="-120"/>
              </a:rPr>
              <a:t>171</a:t>
            </a:r>
            <a:endParaRPr lang="en-US" sz="1050" dirty="0"/>
          </a:p>
        </p:txBody>
      </p:sp>
      <p:sp>
        <p:nvSpPr>
          <p:cNvPr id="30" name="Text 27"/>
          <p:cNvSpPr/>
          <p:nvPr/>
        </p:nvSpPr>
        <p:spPr>
          <a:xfrm>
            <a:off x="9619488" y="3200400"/>
            <a:ext cx="1920240" cy="347472"/>
          </a:xfrm>
          <a:prstGeom prst="rect">
            <a:avLst/>
          </a:prstGeom>
          <a:noFill/>
          <a:ln/>
        </p:spPr>
        <p:txBody>
          <a:bodyPr wrap="square" lIns="0" tIns="0" rIns="0" bIns="0" rtlCol="0" anchor="ctr"/>
          <a:lstStyle/>
          <a:p>
            <a:pPr indent="0" marL="0">
              <a:buNone/>
            </a:pPr>
            <a:r>
              <a:rPr lang="en-US" sz="1050" dirty="0">
                <a:solidFill>
                  <a:srgbClr val="161C28"/>
                </a:solidFill>
                <a:latin typeface="Calibri" pitchFamily="34" charset="0"/>
                <a:ea typeface="Calibri" pitchFamily="34" charset="-122"/>
                <a:cs typeface="Calibri" pitchFamily="34" charset="-120"/>
              </a:rPr>
              <a:t>445</a:t>
            </a:r>
            <a:endParaRPr lang="en-US" sz="1050" dirty="0"/>
          </a:p>
        </p:txBody>
      </p:sp>
      <p:sp>
        <p:nvSpPr>
          <p:cNvPr id="31" name="Text 28"/>
          <p:cNvSpPr/>
          <p:nvPr/>
        </p:nvSpPr>
        <p:spPr>
          <a:xfrm>
            <a:off x="749808" y="3547872"/>
            <a:ext cx="2926080" cy="347472"/>
          </a:xfrm>
          <a:prstGeom prst="rect">
            <a:avLst/>
          </a:prstGeom>
          <a:noFill/>
          <a:ln/>
        </p:spPr>
        <p:txBody>
          <a:bodyPr wrap="square" lIns="0" tIns="0" rIns="0" bIns="0" rtlCol="0" anchor="ctr"/>
          <a:lstStyle/>
          <a:p>
            <a:pPr indent="0" marL="0">
              <a:buNone/>
            </a:pPr>
            <a:r>
              <a:rPr lang="en-US" sz="1050" b="1" dirty="0">
                <a:solidFill>
                  <a:srgbClr val="161C28"/>
                </a:solidFill>
                <a:latin typeface="Calibri" pitchFamily="34" charset="0"/>
                <a:ea typeface="Calibri" pitchFamily="34" charset="-122"/>
                <a:cs typeface="Calibri" pitchFamily="34" charset="-120"/>
              </a:rPr>
              <a:t>Priority ceiling</a:t>
            </a:r>
            <a:endParaRPr lang="en-US" sz="1050" dirty="0"/>
          </a:p>
        </p:txBody>
      </p:sp>
      <p:sp>
        <p:nvSpPr>
          <p:cNvPr id="32" name="Text 29"/>
          <p:cNvSpPr/>
          <p:nvPr/>
        </p:nvSpPr>
        <p:spPr>
          <a:xfrm>
            <a:off x="3767328" y="3547872"/>
            <a:ext cx="1737360" cy="347472"/>
          </a:xfrm>
          <a:prstGeom prst="rect">
            <a:avLst/>
          </a:prstGeom>
          <a:noFill/>
          <a:ln/>
        </p:spPr>
        <p:txBody>
          <a:bodyPr wrap="square" lIns="0" tIns="0" rIns="0" bIns="0" rtlCol="0" anchor="ctr"/>
          <a:lstStyle/>
          <a:p>
            <a:pPr indent="0" marL="0">
              <a:buNone/>
            </a:pPr>
            <a:r>
              <a:rPr lang="en-US" sz="1050" dirty="0">
                <a:solidFill>
                  <a:srgbClr val="3A4557"/>
                </a:solidFill>
                <a:latin typeface="Calibri" pitchFamily="34" charset="0"/>
                <a:ea typeface="Calibri" pitchFamily="34" charset="-122"/>
                <a:cs typeface="Calibri" pitchFamily="34" charset="-120"/>
              </a:rPr>
              <a:t>P4</a:t>
            </a:r>
            <a:endParaRPr lang="en-US" sz="1050" dirty="0"/>
          </a:p>
        </p:txBody>
      </p:sp>
      <p:sp>
        <p:nvSpPr>
          <p:cNvPr id="33" name="Text 30"/>
          <p:cNvSpPr/>
          <p:nvPr/>
        </p:nvSpPr>
        <p:spPr>
          <a:xfrm>
            <a:off x="5596128" y="3547872"/>
            <a:ext cx="1828800" cy="347472"/>
          </a:xfrm>
          <a:prstGeom prst="rect">
            <a:avLst/>
          </a:prstGeom>
          <a:noFill/>
          <a:ln/>
        </p:spPr>
        <p:txBody>
          <a:bodyPr wrap="square" lIns="0" tIns="0" rIns="0" bIns="0" rtlCol="0" anchor="ctr"/>
          <a:lstStyle/>
          <a:p>
            <a:pPr indent="0" marL="0">
              <a:buNone/>
            </a:pPr>
            <a:r>
              <a:rPr lang="en-US" sz="1050" dirty="0">
                <a:solidFill>
                  <a:srgbClr val="3A4557"/>
                </a:solidFill>
                <a:latin typeface="Calibri" pitchFamily="34" charset="0"/>
                <a:ea typeface="Calibri" pitchFamily="34" charset="-122"/>
                <a:cs typeface="Calibri" pitchFamily="34" charset="-120"/>
              </a:rPr>
              <a:t>P3</a:t>
            </a:r>
            <a:endParaRPr lang="en-US" sz="1050" dirty="0"/>
          </a:p>
        </p:txBody>
      </p:sp>
      <p:sp>
        <p:nvSpPr>
          <p:cNvPr id="34" name="Text 31"/>
          <p:cNvSpPr/>
          <p:nvPr/>
        </p:nvSpPr>
        <p:spPr>
          <a:xfrm>
            <a:off x="7516368" y="3547872"/>
            <a:ext cx="2011680" cy="347472"/>
          </a:xfrm>
          <a:prstGeom prst="rect">
            <a:avLst/>
          </a:prstGeom>
          <a:noFill/>
          <a:ln/>
        </p:spPr>
        <p:txBody>
          <a:bodyPr wrap="square" lIns="0" tIns="0" rIns="0" bIns="0" rtlCol="0" anchor="ctr"/>
          <a:lstStyle/>
          <a:p>
            <a:pPr indent="0" marL="0">
              <a:buNone/>
            </a:pPr>
            <a:r>
              <a:rPr lang="en-US" sz="1050" dirty="0">
                <a:solidFill>
                  <a:srgbClr val="3A4557"/>
                </a:solidFill>
                <a:latin typeface="Calibri" pitchFamily="34" charset="0"/>
                <a:ea typeface="Calibri" pitchFamily="34" charset="-122"/>
                <a:cs typeface="Calibri" pitchFamily="34" charset="-120"/>
              </a:rPr>
              <a:t>P3</a:t>
            </a:r>
            <a:endParaRPr lang="en-US" sz="1050" dirty="0"/>
          </a:p>
        </p:txBody>
      </p:sp>
      <p:sp>
        <p:nvSpPr>
          <p:cNvPr id="35" name="Text 32"/>
          <p:cNvSpPr/>
          <p:nvPr/>
        </p:nvSpPr>
        <p:spPr>
          <a:xfrm>
            <a:off x="9619488" y="3547872"/>
            <a:ext cx="1920240" cy="347472"/>
          </a:xfrm>
          <a:prstGeom prst="rect">
            <a:avLst/>
          </a:prstGeom>
          <a:noFill/>
          <a:ln/>
        </p:spPr>
        <p:txBody>
          <a:bodyPr wrap="square" lIns="0" tIns="0" rIns="0" bIns="0" rtlCol="0" anchor="ctr"/>
          <a:lstStyle/>
          <a:p>
            <a:pPr indent="0" marL="0">
              <a:buNone/>
            </a:pPr>
            <a:r>
              <a:rPr lang="en-US" sz="1050" dirty="0">
                <a:solidFill>
                  <a:srgbClr val="161C28"/>
                </a:solidFill>
                <a:latin typeface="Calibri" pitchFamily="34" charset="0"/>
                <a:ea typeface="Calibri" pitchFamily="34" charset="-122"/>
                <a:cs typeface="Calibri" pitchFamily="34" charset="-120"/>
              </a:rPr>
              <a:t>P1</a:t>
            </a:r>
            <a:endParaRPr lang="en-US" sz="1050" dirty="0"/>
          </a:p>
        </p:txBody>
      </p:sp>
      <p:sp>
        <p:nvSpPr>
          <p:cNvPr id="36" name="Shape 33"/>
          <p:cNvSpPr/>
          <p:nvPr/>
        </p:nvSpPr>
        <p:spPr>
          <a:xfrm>
            <a:off x="566928" y="3895344"/>
            <a:ext cx="11057839" cy="347472"/>
          </a:xfrm>
          <a:prstGeom prst="rect">
            <a:avLst/>
          </a:prstGeom>
          <a:solidFill>
            <a:srgbClr val="F5F7FA"/>
          </a:solidFill>
          <a:ln w="12700">
            <a:solidFill>
              <a:srgbClr val="F5F7FA"/>
            </a:solidFill>
            <a:prstDash val="solid"/>
          </a:ln>
        </p:spPr>
      </p:sp>
      <p:sp>
        <p:nvSpPr>
          <p:cNvPr id="37" name="Text 34"/>
          <p:cNvSpPr/>
          <p:nvPr/>
        </p:nvSpPr>
        <p:spPr>
          <a:xfrm>
            <a:off x="749808" y="3895344"/>
            <a:ext cx="2926080" cy="347472"/>
          </a:xfrm>
          <a:prstGeom prst="rect">
            <a:avLst/>
          </a:prstGeom>
          <a:noFill/>
          <a:ln/>
        </p:spPr>
        <p:txBody>
          <a:bodyPr wrap="square" lIns="0" tIns="0" rIns="0" bIns="0" rtlCol="0" anchor="ctr"/>
          <a:lstStyle/>
          <a:p>
            <a:pPr indent="0" marL="0">
              <a:buNone/>
            </a:pPr>
            <a:r>
              <a:rPr lang="en-US" sz="1050" b="1" dirty="0">
                <a:solidFill>
                  <a:srgbClr val="161C28"/>
                </a:solidFill>
                <a:latin typeface="Calibri" pitchFamily="34" charset="0"/>
                <a:ea typeface="Calibri" pitchFamily="34" charset="-122"/>
                <a:cs typeface="Calibri" pitchFamily="34" charset="-120"/>
              </a:rPr>
              <a:t>Pages</a:t>
            </a:r>
            <a:endParaRPr lang="en-US" sz="1050" dirty="0"/>
          </a:p>
        </p:txBody>
      </p:sp>
      <p:sp>
        <p:nvSpPr>
          <p:cNvPr id="38" name="Text 35"/>
          <p:cNvSpPr/>
          <p:nvPr/>
        </p:nvSpPr>
        <p:spPr>
          <a:xfrm>
            <a:off x="3767328" y="3895344"/>
            <a:ext cx="1737360" cy="347472"/>
          </a:xfrm>
          <a:prstGeom prst="rect">
            <a:avLst/>
          </a:prstGeom>
          <a:noFill/>
          <a:ln/>
        </p:spPr>
        <p:txBody>
          <a:bodyPr wrap="square" lIns="0" tIns="0" rIns="0" bIns="0" rtlCol="0" anchor="ctr"/>
          <a:lstStyle/>
          <a:p>
            <a:pPr indent="0" marL="0">
              <a:buNone/>
            </a:pPr>
            <a:r>
              <a:rPr lang="en-US" sz="1050" dirty="0">
                <a:solidFill>
                  <a:srgbClr val="3A4557"/>
                </a:solidFill>
                <a:latin typeface="Calibri" pitchFamily="34" charset="0"/>
                <a:ea typeface="Calibri" pitchFamily="34" charset="-122"/>
                <a:cs typeface="Calibri" pitchFamily="34" charset="-120"/>
              </a:rPr>
              <a:t>never</a:t>
            </a:r>
            <a:endParaRPr lang="en-US" sz="1050" dirty="0"/>
          </a:p>
        </p:txBody>
      </p:sp>
      <p:sp>
        <p:nvSpPr>
          <p:cNvPr id="39" name="Text 36"/>
          <p:cNvSpPr/>
          <p:nvPr/>
        </p:nvSpPr>
        <p:spPr>
          <a:xfrm>
            <a:off x="5596128" y="3895344"/>
            <a:ext cx="1828800" cy="347472"/>
          </a:xfrm>
          <a:prstGeom prst="rect">
            <a:avLst/>
          </a:prstGeom>
          <a:noFill/>
          <a:ln/>
        </p:spPr>
        <p:txBody>
          <a:bodyPr wrap="square" lIns="0" tIns="0" rIns="0" bIns="0" rtlCol="0" anchor="ctr"/>
          <a:lstStyle/>
          <a:p>
            <a:pPr indent="0" marL="0">
              <a:buNone/>
            </a:pPr>
            <a:r>
              <a:rPr lang="en-US" sz="1050" dirty="0">
                <a:solidFill>
                  <a:srgbClr val="3A4557"/>
                </a:solidFill>
                <a:latin typeface="Calibri" pitchFamily="34" charset="0"/>
                <a:ea typeface="Calibri" pitchFamily="34" charset="-122"/>
                <a:cs typeface="Calibri" pitchFamily="34" charset="-120"/>
              </a:rPr>
              <a:t>never</a:t>
            </a:r>
            <a:endParaRPr lang="en-US" sz="1050" dirty="0"/>
          </a:p>
        </p:txBody>
      </p:sp>
      <p:sp>
        <p:nvSpPr>
          <p:cNvPr id="40" name="Text 37"/>
          <p:cNvSpPr/>
          <p:nvPr/>
        </p:nvSpPr>
        <p:spPr>
          <a:xfrm>
            <a:off x="7516368" y="3895344"/>
            <a:ext cx="2011680" cy="347472"/>
          </a:xfrm>
          <a:prstGeom prst="rect">
            <a:avLst/>
          </a:prstGeom>
          <a:noFill/>
          <a:ln/>
        </p:spPr>
        <p:txBody>
          <a:bodyPr wrap="square" lIns="0" tIns="0" rIns="0" bIns="0" rtlCol="0" anchor="ctr"/>
          <a:lstStyle/>
          <a:p>
            <a:pPr indent="0" marL="0">
              <a:buNone/>
            </a:pPr>
            <a:r>
              <a:rPr lang="en-US" sz="1050" dirty="0">
                <a:solidFill>
                  <a:srgbClr val="3A4557"/>
                </a:solidFill>
                <a:latin typeface="Calibri" pitchFamily="34" charset="0"/>
                <a:ea typeface="Calibri" pitchFamily="34" charset="-122"/>
                <a:cs typeface="Calibri" pitchFamily="34" charset="-120"/>
              </a:rPr>
              <a:t>never</a:t>
            </a:r>
            <a:endParaRPr lang="en-US" sz="1050" dirty="0"/>
          </a:p>
        </p:txBody>
      </p:sp>
      <p:sp>
        <p:nvSpPr>
          <p:cNvPr id="41" name="Text 38"/>
          <p:cNvSpPr/>
          <p:nvPr/>
        </p:nvSpPr>
        <p:spPr>
          <a:xfrm>
            <a:off x="9619488" y="3895344"/>
            <a:ext cx="1920240" cy="347472"/>
          </a:xfrm>
          <a:prstGeom prst="rect">
            <a:avLst/>
          </a:prstGeom>
          <a:noFill/>
          <a:ln/>
        </p:spPr>
        <p:txBody>
          <a:bodyPr wrap="square" lIns="0" tIns="0" rIns="0" bIns="0" rtlCol="0" anchor="ctr"/>
          <a:lstStyle/>
          <a:p>
            <a:pPr indent="0" marL="0">
              <a:buNone/>
            </a:pPr>
            <a:r>
              <a:rPr lang="en-US" sz="1050" dirty="0">
                <a:solidFill>
                  <a:srgbClr val="161C28"/>
                </a:solidFill>
                <a:latin typeface="Calibri" pitchFamily="34" charset="0"/>
                <a:ea typeface="Calibri" pitchFamily="34" charset="-122"/>
                <a:cs typeface="Calibri" pitchFamily="34" charset="-120"/>
              </a:rPr>
              <a:t>tier-driven</a:t>
            </a:r>
            <a:endParaRPr lang="en-US" sz="1050" dirty="0"/>
          </a:p>
        </p:txBody>
      </p:sp>
      <p:sp>
        <p:nvSpPr>
          <p:cNvPr id="42" name="Text 39"/>
          <p:cNvSpPr/>
          <p:nvPr/>
        </p:nvSpPr>
        <p:spPr>
          <a:xfrm>
            <a:off x="749808" y="4242816"/>
            <a:ext cx="2926080" cy="347472"/>
          </a:xfrm>
          <a:prstGeom prst="rect">
            <a:avLst/>
          </a:prstGeom>
          <a:noFill/>
          <a:ln/>
        </p:spPr>
        <p:txBody>
          <a:bodyPr wrap="square" lIns="0" tIns="0" rIns="0" bIns="0" rtlCol="0" anchor="ctr"/>
          <a:lstStyle/>
          <a:p>
            <a:pPr indent="0" marL="0">
              <a:buNone/>
            </a:pPr>
            <a:r>
              <a:rPr lang="en-US" sz="1050" b="1" dirty="0">
                <a:solidFill>
                  <a:srgbClr val="161C28"/>
                </a:solidFill>
                <a:latin typeface="Calibri" pitchFamily="34" charset="0"/>
                <a:ea typeface="Calibri" pitchFamily="34" charset="-122"/>
                <a:cs typeface="Calibri" pitchFamily="34" charset="-120"/>
              </a:rPr>
              <a:t>Incident creation</a:t>
            </a:r>
            <a:endParaRPr lang="en-US" sz="1050" dirty="0"/>
          </a:p>
        </p:txBody>
      </p:sp>
      <p:sp>
        <p:nvSpPr>
          <p:cNvPr id="43" name="Text 40"/>
          <p:cNvSpPr/>
          <p:nvPr/>
        </p:nvSpPr>
        <p:spPr>
          <a:xfrm>
            <a:off x="3767328" y="4242816"/>
            <a:ext cx="1737360" cy="347472"/>
          </a:xfrm>
          <a:prstGeom prst="rect">
            <a:avLst/>
          </a:prstGeom>
          <a:noFill/>
          <a:ln/>
        </p:spPr>
        <p:txBody>
          <a:bodyPr wrap="square" lIns="0" tIns="0" rIns="0" bIns="0" rtlCol="0" anchor="ctr"/>
          <a:lstStyle/>
          <a:p>
            <a:pPr indent="0" marL="0">
              <a:buNone/>
            </a:pPr>
            <a:r>
              <a:rPr lang="en-US" sz="1050" dirty="0">
                <a:solidFill>
                  <a:srgbClr val="3A4557"/>
                </a:solidFill>
                <a:latin typeface="Calibri" pitchFamily="34" charset="0"/>
                <a:ea typeface="Calibri" pitchFamily="34" charset="-122"/>
                <a:cs typeface="Calibri" pitchFamily="34" charset="-120"/>
              </a:rPr>
              <a:t>no</a:t>
            </a:r>
            <a:endParaRPr lang="en-US" sz="1050" dirty="0"/>
          </a:p>
        </p:txBody>
      </p:sp>
      <p:sp>
        <p:nvSpPr>
          <p:cNvPr id="44" name="Text 41"/>
          <p:cNvSpPr/>
          <p:nvPr/>
        </p:nvSpPr>
        <p:spPr>
          <a:xfrm>
            <a:off x="5596128" y="4242816"/>
            <a:ext cx="1828800" cy="347472"/>
          </a:xfrm>
          <a:prstGeom prst="rect">
            <a:avLst/>
          </a:prstGeom>
          <a:noFill/>
          <a:ln/>
        </p:spPr>
        <p:txBody>
          <a:bodyPr wrap="square" lIns="0" tIns="0" rIns="0" bIns="0" rtlCol="0" anchor="ctr"/>
          <a:lstStyle/>
          <a:p>
            <a:pPr indent="0" marL="0">
              <a:buNone/>
            </a:pPr>
            <a:r>
              <a:rPr lang="en-US" sz="1050" dirty="0">
                <a:solidFill>
                  <a:srgbClr val="3A4557"/>
                </a:solidFill>
                <a:latin typeface="Calibri" pitchFamily="34" charset="0"/>
                <a:ea typeface="Calibri" pitchFamily="34" charset="-122"/>
                <a:cs typeface="Calibri" pitchFamily="34" charset="-120"/>
              </a:rPr>
              <a:t>no</a:t>
            </a:r>
            <a:endParaRPr lang="en-US" sz="1050" dirty="0"/>
          </a:p>
        </p:txBody>
      </p:sp>
      <p:sp>
        <p:nvSpPr>
          <p:cNvPr id="45" name="Text 42"/>
          <p:cNvSpPr/>
          <p:nvPr/>
        </p:nvSpPr>
        <p:spPr>
          <a:xfrm>
            <a:off x="7516368" y="4242816"/>
            <a:ext cx="2011680" cy="347472"/>
          </a:xfrm>
          <a:prstGeom prst="rect">
            <a:avLst/>
          </a:prstGeom>
          <a:noFill/>
          <a:ln/>
        </p:spPr>
        <p:txBody>
          <a:bodyPr wrap="square" lIns="0" tIns="0" rIns="0" bIns="0" rtlCol="0" anchor="ctr"/>
          <a:lstStyle/>
          <a:p>
            <a:pPr indent="0" marL="0">
              <a:buNone/>
            </a:pPr>
            <a:r>
              <a:rPr lang="en-US" sz="1050" dirty="0">
                <a:solidFill>
                  <a:srgbClr val="3A4557"/>
                </a:solidFill>
                <a:latin typeface="Calibri" pitchFamily="34" charset="0"/>
                <a:ea typeface="Calibri" pitchFamily="34" charset="-122"/>
                <a:cs typeface="Calibri" pitchFamily="34" charset="-120"/>
              </a:rPr>
              <a:t>no</a:t>
            </a:r>
            <a:endParaRPr lang="en-US" sz="1050" dirty="0"/>
          </a:p>
        </p:txBody>
      </p:sp>
      <p:sp>
        <p:nvSpPr>
          <p:cNvPr id="46" name="Text 43"/>
          <p:cNvSpPr/>
          <p:nvPr/>
        </p:nvSpPr>
        <p:spPr>
          <a:xfrm>
            <a:off x="9619488" y="4242816"/>
            <a:ext cx="1920240" cy="347472"/>
          </a:xfrm>
          <a:prstGeom prst="rect">
            <a:avLst/>
          </a:prstGeom>
          <a:noFill/>
          <a:ln/>
        </p:spPr>
        <p:txBody>
          <a:bodyPr wrap="square" lIns="0" tIns="0" rIns="0" bIns="0" rtlCol="0" anchor="ctr"/>
          <a:lstStyle/>
          <a:p>
            <a:pPr indent="0" marL="0">
              <a:buNone/>
            </a:pPr>
            <a:r>
              <a:rPr lang="en-US" sz="1050" dirty="0">
                <a:solidFill>
                  <a:srgbClr val="161C28"/>
                </a:solidFill>
                <a:latin typeface="Calibri" pitchFamily="34" charset="0"/>
                <a:ea typeface="Calibri" pitchFamily="34" charset="-122"/>
                <a:cs typeface="Calibri" pitchFamily="34" charset="-120"/>
              </a:rPr>
              <a:t>P1, P2</a:t>
            </a:r>
            <a:endParaRPr lang="en-US" sz="1050" dirty="0"/>
          </a:p>
        </p:txBody>
      </p:sp>
      <p:sp>
        <p:nvSpPr>
          <p:cNvPr id="47" name="Shape 44"/>
          <p:cNvSpPr/>
          <p:nvPr/>
        </p:nvSpPr>
        <p:spPr>
          <a:xfrm>
            <a:off x="566928" y="4590288"/>
            <a:ext cx="11057839" cy="347472"/>
          </a:xfrm>
          <a:prstGeom prst="rect">
            <a:avLst/>
          </a:prstGeom>
          <a:solidFill>
            <a:srgbClr val="F5F7FA"/>
          </a:solidFill>
          <a:ln w="12700">
            <a:solidFill>
              <a:srgbClr val="F5F7FA"/>
            </a:solidFill>
            <a:prstDash val="solid"/>
          </a:ln>
        </p:spPr>
      </p:sp>
      <p:sp>
        <p:nvSpPr>
          <p:cNvPr id="48" name="Text 45"/>
          <p:cNvSpPr/>
          <p:nvPr/>
        </p:nvSpPr>
        <p:spPr>
          <a:xfrm>
            <a:off x="749808" y="4590288"/>
            <a:ext cx="2926080" cy="347472"/>
          </a:xfrm>
          <a:prstGeom prst="rect">
            <a:avLst/>
          </a:prstGeom>
          <a:noFill/>
          <a:ln/>
        </p:spPr>
        <p:txBody>
          <a:bodyPr wrap="square" lIns="0" tIns="0" rIns="0" bIns="0" rtlCol="0" anchor="ctr"/>
          <a:lstStyle/>
          <a:p>
            <a:pPr indent="0" marL="0">
              <a:buNone/>
            </a:pPr>
            <a:r>
              <a:rPr lang="en-US" sz="1050" b="1" dirty="0">
                <a:solidFill>
                  <a:srgbClr val="161C28"/>
                </a:solidFill>
                <a:latin typeface="Calibri" pitchFamily="34" charset="0"/>
                <a:ea typeface="Calibri" pitchFamily="34" charset="-122"/>
                <a:cs typeface="Calibri" pitchFamily="34" charset="-120"/>
              </a:rPr>
              <a:t>ServiceNow</a:t>
            </a:r>
            <a:endParaRPr lang="en-US" sz="1050" dirty="0"/>
          </a:p>
        </p:txBody>
      </p:sp>
      <p:sp>
        <p:nvSpPr>
          <p:cNvPr id="49" name="Text 46"/>
          <p:cNvSpPr/>
          <p:nvPr/>
        </p:nvSpPr>
        <p:spPr>
          <a:xfrm>
            <a:off x="3767328" y="4590288"/>
            <a:ext cx="1737360" cy="347472"/>
          </a:xfrm>
          <a:prstGeom prst="rect">
            <a:avLst/>
          </a:prstGeom>
          <a:noFill/>
          <a:ln/>
        </p:spPr>
        <p:txBody>
          <a:bodyPr wrap="square" lIns="0" tIns="0" rIns="0" bIns="0" rtlCol="0" anchor="ctr"/>
          <a:lstStyle/>
          <a:p>
            <a:pPr indent="0" marL="0">
              <a:buNone/>
            </a:pPr>
            <a:r>
              <a:rPr lang="en-US" sz="1050" dirty="0">
                <a:solidFill>
                  <a:srgbClr val="3A4557"/>
                </a:solidFill>
                <a:latin typeface="Calibri" pitchFamily="34" charset="0"/>
                <a:ea typeface="Calibri" pitchFamily="34" charset="-122"/>
                <a:cs typeface="Calibri" pitchFamily="34" charset="-120"/>
              </a:rPr>
              <a:t>no</a:t>
            </a:r>
            <a:endParaRPr lang="en-US" sz="1050" dirty="0"/>
          </a:p>
        </p:txBody>
      </p:sp>
      <p:sp>
        <p:nvSpPr>
          <p:cNvPr id="50" name="Text 47"/>
          <p:cNvSpPr/>
          <p:nvPr/>
        </p:nvSpPr>
        <p:spPr>
          <a:xfrm>
            <a:off x="5596128" y="4590288"/>
            <a:ext cx="1828800" cy="347472"/>
          </a:xfrm>
          <a:prstGeom prst="rect">
            <a:avLst/>
          </a:prstGeom>
          <a:noFill/>
          <a:ln/>
        </p:spPr>
        <p:txBody>
          <a:bodyPr wrap="square" lIns="0" tIns="0" rIns="0" bIns="0" rtlCol="0" anchor="ctr"/>
          <a:lstStyle/>
          <a:p>
            <a:pPr indent="0" marL="0">
              <a:buNone/>
            </a:pPr>
            <a:r>
              <a:rPr lang="en-US" sz="1050" dirty="0">
                <a:solidFill>
                  <a:srgbClr val="3A4557"/>
                </a:solidFill>
                <a:latin typeface="Calibri" pitchFamily="34" charset="0"/>
                <a:ea typeface="Calibri" pitchFamily="34" charset="-122"/>
                <a:cs typeface="Calibri" pitchFamily="34" charset="-120"/>
              </a:rPr>
              <a:t>Task</a:t>
            </a:r>
            <a:endParaRPr lang="en-US" sz="1050" dirty="0"/>
          </a:p>
        </p:txBody>
      </p:sp>
      <p:sp>
        <p:nvSpPr>
          <p:cNvPr id="51" name="Text 48"/>
          <p:cNvSpPr/>
          <p:nvPr/>
        </p:nvSpPr>
        <p:spPr>
          <a:xfrm>
            <a:off x="7516368" y="4590288"/>
            <a:ext cx="2011680" cy="347472"/>
          </a:xfrm>
          <a:prstGeom prst="rect">
            <a:avLst/>
          </a:prstGeom>
          <a:noFill/>
          <a:ln/>
        </p:spPr>
        <p:txBody>
          <a:bodyPr wrap="square" lIns="0" tIns="0" rIns="0" bIns="0" rtlCol="0" anchor="ctr"/>
          <a:lstStyle/>
          <a:p>
            <a:pPr indent="0" marL="0">
              <a:buNone/>
            </a:pPr>
            <a:r>
              <a:rPr lang="en-US" sz="1050" dirty="0">
                <a:solidFill>
                  <a:srgbClr val="3A4557"/>
                </a:solidFill>
                <a:latin typeface="Calibri" pitchFamily="34" charset="0"/>
                <a:ea typeface="Calibri" pitchFamily="34" charset="-122"/>
                <a:cs typeface="Calibri" pitchFamily="34" charset="-120"/>
              </a:rPr>
              <a:t>Task</a:t>
            </a:r>
            <a:endParaRPr lang="en-US" sz="1050" dirty="0"/>
          </a:p>
        </p:txBody>
      </p:sp>
      <p:sp>
        <p:nvSpPr>
          <p:cNvPr id="52" name="Text 49"/>
          <p:cNvSpPr/>
          <p:nvPr/>
        </p:nvSpPr>
        <p:spPr>
          <a:xfrm>
            <a:off x="9619488" y="4590288"/>
            <a:ext cx="1920240" cy="347472"/>
          </a:xfrm>
          <a:prstGeom prst="rect">
            <a:avLst/>
          </a:prstGeom>
          <a:noFill/>
          <a:ln/>
        </p:spPr>
        <p:txBody>
          <a:bodyPr wrap="square" lIns="0" tIns="0" rIns="0" bIns="0" rtlCol="0" anchor="ctr"/>
          <a:lstStyle/>
          <a:p>
            <a:pPr indent="0" marL="0">
              <a:buNone/>
            </a:pPr>
            <a:r>
              <a:rPr lang="en-US" sz="1050" dirty="0">
                <a:solidFill>
                  <a:srgbClr val="161C28"/>
                </a:solidFill>
                <a:latin typeface="Calibri" pitchFamily="34" charset="0"/>
                <a:ea typeface="Calibri" pitchFamily="34" charset="-122"/>
                <a:cs typeface="Calibri" pitchFamily="34" charset="-120"/>
              </a:rPr>
              <a:t>Incident</a:t>
            </a:r>
            <a:endParaRPr lang="en-US" sz="1050" dirty="0"/>
          </a:p>
        </p:txBody>
      </p:sp>
      <p:sp>
        <p:nvSpPr>
          <p:cNvPr id="53" name="Text 50"/>
          <p:cNvSpPr/>
          <p:nvPr/>
        </p:nvSpPr>
        <p:spPr>
          <a:xfrm>
            <a:off x="749808" y="4937760"/>
            <a:ext cx="2926080" cy="347472"/>
          </a:xfrm>
          <a:prstGeom prst="rect">
            <a:avLst/>
          </a:prstGeom>
          <a:noFill/>
          <a:ln/>
        </p:spPr>
        <p:txBody>
          <a:bodyPr wrap="square" lIns="0" tIns="0" rIns="0" bIns="0" rtlCol="0" anchor="ctr"/>
          <a:lstStyle/>
          <a:p>
            <a:pPr indent="0" marL="0">
              <a:buNone/>
            </a:pPr>
            <a:r>
              <a:rPr lang="en-US" sz="1050" b="1" dirty="0">
                <a:solidFill>
                  <a:srgbClr val="161C28"/>
                </a:solidFill>
                <a:latin typeface="Calibri" pitchFamily="34" charset="0"/>
                <a:ea typeface="Calibri" pitchFamily="34" charset="-122"/>
                <a:cs typeface="Calibri" pitchFamily="34" charset="-120"/>
              </a:rPr>
              <a:t>Teams channel</a:t>
            </a:r>
            <a:endParaRPr lang="en-US" sz="1050" dirty="0"/>
          </a:p>
        </p:txBody>
      </p:sp>
      <p:sp>
        <p:nvSpPr>
          <p:cNvPr id="54" name="Text 51"/>
          <p:cNvSpPr/>
          <p:nvPr/>
        </p:nvSpPr>
        <p:spPr>
          <a:xfrm>
            <a:off x="3767328" y="4937760"/>
            <a:ext cx="1737360" cy="347472"/>
          </a:xfrm>
          <a:prstGeom prst="rect">
            <a:avLst/>
          </a:prstGeom>
          <a:noFill/>
          <a:ln/>
        </p:spPr>
        <p:txBody>
          <a:bodyPr wrap="square" lIns="0" tIns="0" rIns="0" bIns="0" rtlCol="0" anchor="ctr"/>
          <a:lstStyle/>
          <a:p>
            <a:pPr indent="0" marL="0">
              <a:buNone/>
            </a:pPr>
            <a:r>
              <a:rPr lang="en-US" sz="1050" dirty="0">
                <a:solidFill>
                  <a:srgbClr val="3A4557"/>
                </a:solidFill>
                <a:latin typeface="Calibri" pitchFamily="34" charset="0"/>
                <a:ea typeface="Calibri" pitchFamily="34" charset="-122"/>
                <a:cs typeface="Calibri" pitchFamily="34" charset="-120"/>
              </a:rPr>
              <a:t>no</a:t>
            </a:r>
            <a:endParaRPr lang="en-US" sz="1050" dirty="0"/>
          </a:p>
        </p:txBody>
      </p:sp>
      <p:sp>
        <p:nvSpPr>
          <p:cNvPr id="55" name="Text 52"/>
          <p:cNvSpPr/>
          <p:nvPr/>
        </p:nvSpPr>
        <p:spPr>
          <a:xfrm>
            <a:off x="5596128" y="4937760"/>
            <a:ext cx="1828800" cy="347472"/>
          </a:xfrm>
          <a:prstGeom prst="rect">
            <a:avLst/>
          </a:prstGeom>
          <a:noFill/>
          <a:ln/>
        </p:spPr>
        <p:txBody>
          <a:bodyPr wrap="square" lIns="0" tIns="0" rIns="0" bIns="0" rtlCol="0" anchor="ctr"/>
          <a:lstStyle/>
          <a:p>
            <a:pPr indent="0" marL="0">
              <a:buNone/>
            </a:pPr>
            <a:r>
              <a:rPr lang="en-US" sz="1050" dirty="0">
                <a:solidFill>
                  <a:srgbClr val="3A4557"/>
                </a:solidFill>
                <a:latin typeface="Calibri" pitchFamily="34" charset="0"/>
                <a:ea typeface="Calibri" pitchFamily="34" charset="-122"/>
                <a:cs typeface="Calibri" pitchFamily="34" charset="-120"/>
              </a:rPr>
              <a:t>&lt;team&gt;-nonprod</a:t>
            </a:r>
            <a:endParaRPr lang="en-US" sz="1050" dirty="0"/>
          </a:p>
        </p:txBody>
      </p:sp>
      <p:sp>
        <p:nvSpPr>
          <p:cNvPr id="56" name="Text 53"/>
          <p:cNvSpPr/>
          <p:nvPr/>
        </p:nvSpPr>
        <p:spPr>
          <a:xfrm>
            <a:off x="7516368" y="4937760"/>
            <a:ext cx="2011680" cy="347472"/>
          </a:xfrm>
          <a:prstGeom prst="rect">
            <a:avLst/>
          </a:prstGeom>
          <a:noFill/>
          <a:ln/>
        </p:spPr>
        <p:txBody>
          <a:bodyPr wrap="square" lIns="0" tIns="0" rIns="0" bIns="0" rtlCol="0" anchor="ctr"/>
          <a:lstStyle/>
          <a:p>
            <a:pPr indent="0" marL="0">
              <a:buNone/>
            </a:pPr>
            <a:r>
              <a:rPr lang="en-US" sz="1050" dirty="0">
                <a:solidFill>
                  <a:srgbClr val="3A4557"/>
                </a:solidFill>
                <a:latin typeface="Calibri" pitchFamily="34" charset="0"/>
                <a:ea typeface="Calibri" pitchFamily="34" charset="-122"/>
                <a:cs typeface="Calibri" pitchFamily="34" charset="-120"/>
              </a:rPr>
              <a:t>&lt;team&gt;-nonprod</a:t>
            </a:r>
            <a:endParaRPr lang="en-US" sz="1050" dirty="0"/>
          </a:p>
        </p:txBody>
      </p:sp>
      <p:sp>
        <p:nvSpPr>
          <p:cNvPr id="57" name="Text 54"/>
          <p:cNvSpPr/>
          <p:nvPr/>
        </p:nvSpPr>
        <p:spPr>
          <a:xfrm>
            <a:off x="9619488" y="4937760"/>
            <a:ext cx="1920240" cy="347472"/>
          </a:xfrm>
          <a:prstGeom prst="rect">
            <a:avLst/>
          </a:prstGeom>
          <a:noFill/>
          <a:ln/>
        </p:spPr>
        <p:txBody>
          <a:bodyPr wrap="square" lIns="0" tIns="0" rIns="0" bIns="0" rtlCol="0" anchor="ctr"/>
          <a:lstStyle/>
          <a:p>
            <a:pPr indent="0" marL="0">
              <a:buNone/>
            </a:pPr>
            <a:r>
              <a:rPr lang="en-US" sz="1050" dirty="0">
                <a:solidFill>
                  <a:srgbClr val="161C28"/>
                </a:solidFill>
                <a:latin typeface="Calibri" pitchFamily="34" charset="0"/>
                <a:ea typeface="Calibri" pitchFamily="34" charset="-122"/>
                <a:cs typeface="Calibri" pitchFamily="34" charset="-120"/>
              </a:rPr>
              <a:t>&lt;team&gt;</a:t>
            </a:r>
            <a:endParaRPr lang="en-US" sz="1050" dirty="0"/>
          </a:p>
        </p:txBody>
      </p:sp>
      <p:sp>
        <p:nvSpPr>
          <p:cNvPr id="58" name="Shape 55"/>
          <p:cNvSpPr/>
          <p:nvPr/>
        </p:nvSpPr>
        <p:spPr>
          <a:xfrm>
            <a:off x="566928" y="5285232"/>
            <a:ext cx="11057839" cy="347472"/>
          </a:xfrm>
          <a:prstGeom prst="rect">
            <a:avLst/>
          </a:prstGeom>
          <a:solidFill>
            <a:srgbClr val="F5F7FA"/>
          </a:solidFill>
          <a:ln w="12700">
            <a:solidFill>
              <a:srgbClr val="F5F7FA"/>
            </a:solidFill>
            <a:prstDash val="solid"/>
          </a:ln>
        </p:spPr>
      </p:sp>
      <p:sp>
        <p:nvSpPr>
          <p:cNvPr id="59" name="Text 56"/>
          <p:cNvSpPr/>
          <p:nvPr/>
        </p:nvSpPr>
        <p:spPr>
          <a:xfrm>
            <a:off x="749808" y="5285232"/>
            <a:ext cx="2926080" cy="347472"/>
          </a:xfrm>
          <a:prstGeom prst="rect">
            <a:avLst/>
          </a:prstGeom>
          <a:noFill/>
          <a:ln/>
        </p:spPr>
        <p:txBody>
          <a:bodyPr wrap="square" lIns="0" tIns="0" rIns="0" bIns="0" rtlCol="0" anchor="ctr"/>
          <a:lstStyle/>
          <a:p>
            <a:pPr indent="0" marL="0">
              <a:buNone/>
            </a:pPr>
            <a:r>
              <a:rPr lang="en-US" sz="1050" b="1" dirty="0">
                <a:solidFill>
                  <a:srgbClr val="161C28"/>
                </a:solidFill>
                <a:latin typeface="Calibri" pitchFamily="34" charset="0"/>
                <a:ea typeface="Calibri" pitchFamily="34" charset="-122"/>
                <a:cs typeface="Calibri" pitchFamily="34" charset="-120"/>
              </a:rPr>
              <a:t>Counts toward the SLO</a:t>
            </a:r>
            <a:endParaRPr lang="en-US" sz="1050" dirty="0"/>
          </a:p>
        </p:txBody>
      </p:sp>
      <p:sp>
        <p:nvSpPr>
          <p:cNvPr id="60" name="Text 57"/>
          <p:cNvSpPr/>
          <p:nvPr/>
        </p:nvSpPr>
        <p:spPr>
          <a:xfrm>
            <a:off x="3767328" y="5285232"/>
            <a:ext cx="1737360" cy="347472"/>
          </a:xfrm>
          <a:prstGeom prst="rect">
            <a:avLst/>
          </a:prstGeom>
          <a:noFill/>
          <a:ln/>
        </p:spPr>
        <p:txBody>
          <a:bodyPr wrap="square" lIns="0" tIns="0" rIns="0" bIns="0" rtlCol="0" anchor="ctr"/>
          <a:lstStyle/>
          <a:p>
            <a:pPr indent="0" marL="0">
              <a:buNone/>
            </a:pPr>
            <a:r>
              <a:rPr lang="en-US" sz="1050" dirty="0">
                <a:solidFill>
                  <a:srgbClr val="3A4557"/>
                </a:solidFill>
                <a:latin typeface="Calibri" pitchFamily="34" charset="0"/>
                <a:ea typeface="Calibri" pitchFamily="34" charset="-122"/>
                <a:cs typeface="Calibri" pitchFamily="34" charset="-120"/>
              </a:rPr>
              <a:t>no</a:t>
            </a:r>
            <a:endParaRPr lang="en-US" sz="1050" dirty="0"/>
          </a:p>
        </p:txBody>
      </p:sp>
      <p:sp>
        <p:nvSpPr>
          <p:cNvPr id="61" name="Text 58"/>
          <p:cNvSpPr/>
          <p:nvPr/>
        </p:nvSpPr>
        <p:spPr>
          <a:xfrm>
            <a:off x="5596128" y="5285232"/>
            <a:ext cx="1828800" cy="347472"/>
          </a:xfrm>
          <a:prstGeom prst="rect">
            <a:avLst/>
          </a:prstGeom>
          <a:noFill/>
          <a:ln/>
        </p:spPr>
        <p:txBody>
          <a:bodyPr wrap="square" lIns="0" tIns="0" rIns="0" bIns="0" rtlCol="0" anchor="ctr"/>
          <a:lstStyle/>
          <a:p>
            <a:pPr indent="0" marL="0">
              <a:buNone/>
            </a:pPr>
            <a:r>
              <a:rPr lang="en-US" sz="1050" dirty="0">
                <a:solidFill>
                  <a:srgbClr val="3A4557"/>
                </a:solidFill>
                <a:latin typeface="Calibri" pitchFamily="34" charset="0"/>
                <a:ea typeface="Calibri" pitchFamily="34" charset="-122"/>
                <a:cs typeface="Calibri" pitchFamily="34" charset="-120"/>
              </a:rPr>
              <a:t>no</a:t>
            </a:r>
            <a:endParaRPr lang="en-US" sz="1050" dirty="0"/>
          </a:p>
        </p:txBody>
      </p:sp>
      <p:sp>
        <p:nvSpPr>
          <p:cNvPr id="62" name="Text 59"/>
          <p:cNvSpPr/>
          <p:nvPr/>
        </p:nvSpPr>
        <p:spPr>
          <a:xfrm>
            <a:off x="7516368" y="5285232"/>
            <a:ext cx="2011680" cy="347472"/>
          </a:xfrm>
          <a:prstGeom prst="rect">
            <a:avLst/>
          </a:prstGeom>
          <a:noFill/>
          <a:ln/>
        </p:spPr>
        <p:txBody>
          <a:bodyPr wrap="square" lIns="0" tIns="0" rIns="0" bIns="0" rtlCol="0" anchor="ctr"/>
          <a:lstStyle/>
          <a:p>
            <a:pPr indent="0" marL="0">
              <a:buNone/>
            </a:pPr>
            <a:r>
              <a:rPr lang="en-US" sz="1050" dirty="0">
                <a:solidFill>
                  <a:srgbClr val="3A4557"/>
                </a:solidFill>
                <a:latin typeface="Calibri" pitchFamily="34" charset="0"/>
                <a:ea typeface="Calibri" pitchFamily="34" charset="-122"/>
                <a:cs typeface="Calibri" pitchFamily="34" charset="-120"/>
              </a:rPr>
              <a:t>no</a:t>
            </a:r>
            <a:endParaRPr lang="en-US" sz="1050" dirty="0"/>
          </a:p>
        </p:txBody>
      </p:sp>
      <p:sp>
        <p:nvSpPr>
          <p:cNvPr id="63" name="Text 60"/>
          <p:cNvSpPr/>
          <p:nvPr/>
        </p:nvSpPr>
        <p:spPr>
          <a:xfrm>
            <a:off x="9619488" y="5285232"/>
            <a:ext cx="1920240" cy="347472"/>
          </a:xfrm>
          <a:prstGeom prst="rect">
            <a:avLst/>
          </a:prstGeom>
          <a:noFill/>
          <a:ln/>
        </p:spPr>
        <p:txBody>
          <a:bodyPr wrap="square" lIns="0" tIns="0" rIns="0" bIns="0" rtlCol="0" anchor="ctr"/>
          <a:lstStyle/>
          <a:p>
            <a:pPr indent="0" marL="0">
              <a:buNone/>
            </a:pPr>
            <a:r>
              <a:rPr lang="en-US" sz="1050" dirty="0">
                <a:solidFill>
                  <a:srgbClr val="161C28"/>
                </a:solidFill>
                <a:latin typeface="Calibri" pitchFamily="34" charset="0"/>
                <a:ea typeface="Calibri" pitchFamily="34" charset="-122"/>
                <a:cs typeface="Calibri" pitchFamily="34" charset="-120"/>
              </a:rPr>
              <a:t>yes</a:t>
            </a:r>
            <a:endParaRPr lang="en-US" sz="1050" dirty="0"/>
          </a:p>
        </p:txBody>
      </p:sp>
      <p:sp>
        <p:nvSpPr>
          <p:cNvPr id="64" name="Text 61"/>
          <p:cNvSpPr/>
          <p:nvPr/>
        </p:nvSpPr>
        <p:spPr>
          <a:xfrm>
            <a:off x="749808" y="5632704"/>
            <a:ext cx="2926080" cy="347472"/>
          </a:xfrm>
          <a:prstGeom prst="rect">
            <a:avLst/>
          </a:prstGeom>
          <a:noFill/>
          <a:ln/>
        </p:spPr>
        <p:txBody>
          <a:bodyPr wrap="square" lIns="0" tIns="0" rIns="0" bIns="0" rtlCol="0" anchor="ctr"/>
          <a:lstStyle/>
          <a:p>
            <a:pPr indent="0" marL="0">
              <a:buNone/>
            </a:pPr>
            <a:r>
              <a:rPr lang="en-US" sz="1050" b="1" dirty="0">
                <a:solidFill>
                  <a:srgbClr val="161C28"/>
                </a:solidFill>
                <a:latin typeface="Calibri" pitchFamily="34" charset="0"/>
                <a:ea typeface="Calibri" pitchFamily="34" charset="-122"/>
                <a:cs typeface="Calibri" pitchFamily="34" charset="-120"/>
              </a:rPr>
              <a:t>Evaluation window</a:t>
            </a:r>
            <a:endParaRPr lang="en-US" sz="1050" dirty="0"/>
          </a:p>
        </p:txBody>
      </p:sp>
      <p:sp>
        <p:nvSpPr>
          <p:cNvPr id="65" name="Text 62"/>
          <p:cNvSpPr/>
          <p:nvPr/>
        </p:nvSpPr>
        <p:spPr>
          <a:xfrm>
            <a:off x="3767328" y="5632704"/>
            <a:ext cx="1737360" cy="347472"/>
          </a:xfrm>
          <a:prstGeom prst="rect">
            <a:avLst/>
          </a:prstGeom>
          <a:noFill/>
          <a:ln/>
        </p:spPr>
        <p:txBody>
          <a:bodyPr wrap="square" lIns="0" tIns="0" rIns="0" bIns="0" rtlCol="0" anchor="ctr"/>
          <a:lstStyle/>
          <a:p>
            <a:pPr indent="0" marL="0">
              <a:buNone/>
            </a:pPr>
            <a:r>
              <a:rPr lang="en-US" sz="1050" dirty="0">
                <a:solidFill>
                  <a:srgbClr val="3A4557"/>
                </a:solidFill>
                <a:latin typeface="Calibri" pitchFamily="34" charset="0"/>
                <a:ea typeface="Calibri" pitchFamily="34" charset="-122"/>
                <a:cs typeface="Calibri" pitchFamily="34" charset="-120"/>
              </a:rPr>
              <a:t>—</a:t>
            </a:r>
            <a:endParaRPr lang="en-US" sz="1050" dirty="0"/>
          </a:p>
        </p:txBody>
      </p:sp>
      <p:sp>
        <p:nvSpPr>
          <p:cNvPr id="66" name="Text 63"/>
          <p:cNvSpPr/>
          <p:nvPr/>
        </p:nvSpPr>
        <p:spPr>
          <a:xfrm>
            <a:off x="5596128" y="5632704"/>
            <a:ext cx="1828800" cy="347472"/>
          </a:xfrm>
          <a:prstGeom prst="rect">
            <a:avLst/>
          </a:prstGeom>
          <a:noFill/>
          <a:ln/>
        </p:spPr>
        <p:txBody>
          <a:bodyPr wrap="square" lIns="0" tIns="0" rIns="0" bIns="0" rtlCol="0" anchor="ctr"/>
          <a:lstStyle/>
          <a:p>
            <a:pPr indent="0" marL="0">
              <a:buNone/>
            </a:pPr>
            <a:r>
              <a:rPr lang="en-US" sz="1050" dirty="0">
                <a:solidFill>
                  <a:srgbClr val="3A4557"/>
                </a:solidFill>
                <a:latin typeface="Calibri" pitchFamily="34" charset="0"/>
                <a:ea typeface="Calibri" pitchFamily="34" charset="-122"/>
                <a:cs typeface="Calibri" pitchFamily="34" charset="-120"/>
              </a:rPr>
              <a:t>×2</a:t>
            </a:r>
            <a:endParaRPr lang="en-US" sz="1050" dirty="0"/>
          </a:p>
        </p:txBody>
      </p:sp>
      <p:sp>
        <p:nvSpPr>
          <p:cNvPr id="67" name="Text 64"/>
          <p:cNvSpPr/>
          <p:nvPr/>
        </p:nvSpPr>
        <p:spPr>
          <a:xfrm>
            <a:off x="7516368" y="5632704"/>
            <a:ext cx="2011680" cy="347472"/>
          </a:xfrm>
          <a:prstGeom prst="rect">
            <a:avLst/>
          </a:prstGeom>
          <a:noFill/>
          <a:ln/>
        </p:spPr>
        <p:txBody>
          <a:bodyPr wrap="square" lIns="0" tIns="0" rIns="0" bIns="0" rtlCol="0" anchor="ctr"/>
          <a:lstStyle/>
          <a:p>
            <a:pPr indent="0" marL="0">
              <a:buNone/>
            </a:pPr>
            <a:r>
              <a:rPr lang="en-US" sz="1050" dirty="0">
                <a:solidFill>
                  <a:srgbClr val="3A4557"/>
                </a:solidFill>
                <a:latin typeface="Calibri" pitchFamily="34" charset="0"/>
                <a:ea typeface="Calibri" pitchFamily="34" charset="-122"/>
                <a:cs typeface="Calibri" pitchFamily="34" charset="-120"/>
              </a:rPr>
              <a:t>×1.5</a:t>
            </a:r>
            <a:endParaRPr lang="en-US" sz="1050" dirty="0"/>
          </a:p>
        </p:txBody>
      </p:sp>
      <p:sp>
        <p:nvSpPr>
          <p:cNvPr id="68" name="Text 65"/>
          <p:cNvSpPr/>
          <p:nvPr/>
        </p:nvSpPr>
        <p:spPr>
          <a:xfrm>
            <a:off x="9619488" y="5632704"/>
            <a:ext cx="1920240" cy="347472"/>
          </a:xfrm>
          <a:prstGeom prst="rect">
            <a:avLst/>
          </a:prstGeom>
          <a:noFill/>
          <a:ln/>
        </p:spPr>
        <p:txBody>
          <a:bodyPr wrap="square" lIns="0" tIns="0" rIns="0" bIns="0" rtlCol="0" anchor="ctr"/>
          <a:lstStyle/>
          <a:p>
            <a:pPr indent="0" marL="0">
              <a:buNone/>
            </a:pPr>
            <a:r>
              <a:rPr lang="en-US" sz="1050" dirty="0">
                <a:solidFill>
                  <a:srgbClr val="161C28"/>
                </a:solidFill>
                <a:latin typeface="Calibri" pitchFamily="34" charset="0"/>
                <a:ea typeface="Calibri" pitchFamily="34" charset="-122"/>
                <a:cs typeface="Calibri" pitchFamily="34" charset="-120"/>
              </a:rPr>
              <a:t>×1.0</a:t>
            </a:r>
            <a:endParaRPr lang="en-US" sz="1050" dirty="0"/>
          </a:p>
        </p:txBody>
      </p:sp>
      <p:sp>
        <p:nvSpPr>
          <p:cNvPr id="69" name="Text 66"/>
          <p:cNvSpPr/>
          <p:nvPr/>
        </p:nvSpPr>
        <p:spPr>
          <a:xfrm>
            <a:off x="566928" y="6035040"/>
            <a:ext cx="11057839" cy="310896"/>
          </a:xfrm>
          <a:prstGeom prst="rect">
            <a:avLst/>
          </a:prstGeom>
          <a:noFill/>
          <a:ln/>
        </p:spPr>
        <p:txBody>
          <a:bodyPr wrap="square" lIns="0" tIns="0" rIns="0" bIns="0" rtlCol="0" anchor="t"/>
          <a:lstStyle/>
          <a:p>
            <a:pPr indent="0" marL="0">
              <a:buNone/>
            </a:pPr>
            <a:r>
              <a:rPr lang="en-US" sz="1000" dirty="0">
                <a:solidFill>
                  <a:srgbClr val="6B7891"/>
                </a:solidFill>
                <a:latin typeface="Calibri" pitchFamily="34" charset="0"/>
                <a:ea typeface="Calibri" pitchFamily="34" charset="-122"/>
                <a:cs typeface="Calibri" pitchFamily="34" charset="-120"/>
              </a:rPr>
              <a:t>Environments only make a signal quieter — no code path raises a priority outside production. Windows widen; thresholds are never rewritten anywhere (ADR-014).</a:t>
            </a:r>
            <a:endParaRPr lang="en-US" sz="10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8778240" cy="256032"/>
          </a:xfrm>
          <a:prstGeom prst="rect">
            <a:avLst/>
          </a:prstGeom>
          <a:noFill/>
          <a:ln/>
        </p:spPr>
        <p:txBody>
          <a:bodyPr wrap="square" lIns="0" tIns="0" rIns="0" bIns="0" rtlCol="0" anchor="ctr"/>
          <a:lstStyle/>
          <a:p>
            <a:pPr indent="0" marL="0">
              <a:buNone/>
            </a:pPr>
            <a:r>
              <a:rPr lang="en-US" sz="1050" b="1" spc="160" kern="0" dirty="0">
                <a:solidFill>
                  <a:srgbClr val="B87914"/>
                </a:solidFill>
                <a:latin typeface="Calibri" pitchFamily="34" charset="0"/>
                <a:ea typeface="Calibri" pitchFamily="34" charset="-122"/>
                <a:cs typeface="Calibri" pitchFamily="34" charset="-120"/>
              </a:rPr>
              <a:t>APPENDIX A6</a:t>
            </a:r>
            <a:endParaRPr lang="en-US" sz="1050" dirty="0"/>
          </a:p>
        </p:txBody>
      </p:sp>
      <p:sp>
        <p:nvSpPr>
          <p:cNvPr id="3" name="Text 1"/>
          <p:cNvSpPr/>
          <p:nvPr/>
        </p:nvSpPr>
        <p:spPr>
          <a:xfrm>
            <a:off x="566928" y="694944"/>
            <a:ext cx="10424160" cy="786384"/>
          </a:xfrm>
          <a:prstGeom prst="rect">
            <a:avLst/>
          </a:prstGeom>
          <a:noFill/>
          <a:ln/>
        </p:spPr>
        <p:txBody>
          <a:bodyPr wrap="square" lIns="0" tIns="0" rIns="0" bIns="0" rtlCol="0" anchor="ctr"/>
          <a:lstStyle/>
          <a:p>
            <a:pPr indent="0" marL="0">
              <a:buNone/>
            </a:pPr>
            <a:r>
              <a:rPr lang="en-US" sz="3100" b="1" dirty="0">
                <a:solidFill>
                  <a:srgbClr val="161C28"/>
                </a:solidFill>
                <a:latin typeface="Cambria" pitchFamily="34" charset="0"/>
                <a:ea typeface="Cambria" pitchFamily="34" charset="-122"/>
                <a:cs typeface="Cambria" pitchFamily="34" charset="-120"/>
              </a:rPr>
              <a:t>Routing matrix</a:t>
            </a:r>
            <a:endParaRPr lang="en-US" sz="3100" dirty="0"/>
          </a:p>
        </p:txBody>
      </p:sp>
      <p:sp>
        <p:nvSpPr>
          <p:cNvPr id="4" name="Text 2"/>
          <p:cNvSpPr/>
          <p:nvPr/>
        </p:nvSpPr>
        <p:spPr>
          <a:xfrm>
            <a:off x="566928" y="1481328"/>
            <a:ext cx="10698480" cy="457200"/>
          </a:xfrm>
          <a:prstGeom prst="rect">
            <a:avLst/>
          </a:prstGeom>
          <a:noFill/>
          <a:ln/>
        </p:spPr>
        <p:txBody>
          <a:bodyPr wrap="square" lIns="0" tIns="0" rIns="0" bIns="0" rtlCol="0" anchor="t"/>
          <a:lstStyle/>
          <a:p>
            <a:pPr indent="0" marL="0">
              <a:buNone/>
            </a:pPr>
            <a:r>
              <a:rPr lang="en-US" sz="1450" dirty="0">
                <a:solidFill>
                  <a:srgbClr val="3A4557"/>
                </a:solidFill>
                <a:latin typeface="Calibri" pitchFamily="34" charset="0"/>
                <a:ea typeface="Calibri" pitchFamily="34" charset="-122"/>
                <a:cs typeface="Calibri" pitchFamily="34" charset="-120"/>
              </a:rPr>
              <a:t>Monitors contain no destinations. 111 notification rules resolve notification profile × priority × pages × team into Teams, ServiceNow and On-Call.</a:t>
            </a:r>
            <a:endParaRPr lang="en-US" sz="1450" dirty="0"/>
          </a:p>
        </p:txBody>
      </p:sp>
      <p:sp>
        <p:nvSpPr>
          <p:cNvPr id="5" name="Text 3"/>
          <p:cNvSpPr/>
          <p:nvPr/>
        </p:nvSpPr>
        <p:spPr>
          <a:xfrm>
            <a:off x="566928" y="6345936"/>
            <a:ext cx="7315200" cy="274320"/>
          </a:xfrm>
          <a:prstGeom prst="rect">
            <a:avLst/>
          </a:prstGeom>
          <a:noFill/>
          <a:ln/>
        </p:spPr>
        <p:txBody>
          <a:bodyPr wrap="square" lIns="0" tIns="0" rIns="0" bIns="0" rtlCol="0" anchor="ctr"/>
          <a:lstStyle/>
          <a:p>
            <a:pPr indent="0" marL="0">
              <a:buNone/>
            </a:pPr>
            <a:r>
              <a:rPr lang="en-US" sz="900" dirty="0">
                <a:solidFill>
                  <a:srgbClr val="6B7891"/>
                </a:solidFill>
                <a:latin typeface="Calibri" pitchFamily="34" charset="0"/>
                <a:ea typeface="Calibri" pitchFamily="34" charset="-122"/>
                <a:cs typeface="Calibri" pitchFamily="34" charset="-120"/>
              </a:rPr>
              <a:t>Enterprise Observability  ·  policy-as-data on Datadog</a:t>
            </a:r>
            <a:endParaRPr lang="en-US" sz="900" dirty="0"/>
          </a:p>
        </p:txBody>
      </p:sp>
      <p:sp>
        <p:nvSpPr>
          <p:cNvPr id="6" name="Text 4"/>
          <p:cNvSpPr/>
          <p:nvPr/>
        </p:nvSpPr>
        <p:spPr>
          <a:xfrm>
            <a:off x="10710367" y="6345936"/>
            <a:ext cx="914400" cy="274320"/>
          </a:xfrm>
          <a:prstGeom prst="rect">
            <a:avLst/>
          </a:prstGeom>
          <a:noFill/>
          <a:ln/>
        </p:spPr>
        <p:txBody>
          <a:bodyPr wrap="square" lIns="0" tIns="0" rIns="0" bIns="0" rtlCol="0" anchor="ctr"/>
          <a:lstStyle/>
          <a:p>
            <a:pPr algn="r" indent="0" marL="0">
              <a:buNone/>
            </a:pPr>
            <a:r>
              <a:rPr lang="en-US" sz="900" dirty="0">
                <a:solidFill>
                  <a:srgbClr val="6B7891"/>
                </a:solidFill>
                <a:latin typeface="Calibri" pitchFamily="34" charset="0"/>
                <a:ea typeface="Calibri" pitchFamily="34" charset="-122"/>
                <a:cs typeface="Calibri" pitchFamily="34" charset="-120"/>
              </a:rPr>
              <a:t>50</a:t>
            </a:r>
            <a:endParaRPr lang="en-US" sz="900" dirty="0"/>
          </a:p>
        </p:txBody>
      </p:sp>
      <p:sp>
        <p:nvSpPr>
          <p:cNvPr id="8" name="Shape 5"/>
          <p:cNvSpPr/>
          <p:nvPr/>
        </p:nvSpPr>
        <p:spPr>
          <a:xfrm>
            <a:off x="566928" y="2148840"/>
            <a:ext cx="11057839" cy="530352"/>
          </a:xfrm>
          <a:prstGeom prst="roundRect">
            <a:avLst>
              <a:gd name="adj" fmla="val 8621"/>
            </a:avLst>
          </a:prstGeom>
          <a:solidFill>
            <a:srgbClr val="F5F7FA"/>
          </a:solidFill>
          <a:ln w="12700">
            <a:solidFill>
              <a:srgbClr val="F5F7FA"/>
            </a:solidFill>
            <a:prstDash val="solid"/>
          </a:ln>
        </p:spPr>
      </p:sp>
      <p:sp>
        <p:nvSpPr>
          <p:cNvPr id="9" name="Text 6"/>
          <p:cNvSpPr/>
          <p:nvPr/>
        </p:nvSpPr>
        <p:spPr>
          <a:xfrm>
            <a:off x="749808" y="2148840"/>
            <a:ext cx="2834640" cy="530352"/>
          </a:xfrm>
          <a:prstGeom prst="rect">
            <a:avLst/>
          </a:prstGeom>
          <a:noFill/>
          <a:ln/>
        </p:spPr>
        <p:txBody>
          <a:bodyPr wrap="square" lIns="0" tIns="0" rIns="0" bIns="0" rtlCol="0" anchor="ctr"/>
          <a:lstStyle/>
          <a:p>
            <a:pPr indent="0" marL="0">
              <a:buNone/>
            </a:pPr>
            <a:r>
              <a:rPr lang="en-US" sz="1150" b="1" dirty="0">
                <a:solidFill>
                  <a:srgbClr val="BE4A3F"/>
                </a:solidFill>
                <a:latin typeface="Courier New" pitchFamily="34" charset="0"/>
                <a:ea typeface="Courier New" pitchFamily="34" charset="-122"/>
                <a:cs typeface="Courier New" pitchFamily="34" charset="-120"/>
              </a:rPr>
              <a:t>production_critical</a:t>
            </a:r>
            <a:endParaRPr lang="en-US" sz="1150" dirty="0"/>
          </a:p>
        </p:txBody>
      </p:sp>
      <p:sp>
        <p:nvSpPr>
          <p:cNvPr id="10" name="Text 7"/>
          <p:cNvSpPr/>
          <p:nvPr/>
        </p:nvSpPr>
        <p:spPr>
          <a:xfrm>
            <a:off x="3675888" y="2148840"/>
            <a:ext cx="2743200" cy="530352"/>
          </a:xfrm>
          <a:prstGeom prst="rect">
            <a:avLst/>
          </a:prstGeom>
          <a:noFill/>
          <a:ln/>
        </p:spPr>
        <p:txBody>
          <a:bodyPr wrap="square" lIns="0" tIns="0" rIns="0" bIns="0" rtlCol="0" anchor="ctr"/>
          <a:lstStyle/>
          <a:p>
            <a:pPr indent="0" marL="0">
              <a:buNone/>
            </a:pPr>
            <a:r>
              <a:rPr lang="en-US" sz="1100" dirty="0">
                <a:solidFill>
                  <a:srgbClr val="6B7891"/>
                </a:solidFill>
                <a:latin typeface="Calibri" pitchFamily="34" charset="0"/>
                <a:ea typeface="Calibri" pitchFamily="34" charset="-122"/>
                <a:cs typeface="Calibri" pitchFamily="34" charset="-120"/>
              </a:rPr>
              <a:t>prod + critical band</a:t>
            </a:r>
            <a:endParaRPr lang="en-US" sz="1100" dirty="0"/>
          </a:p>
        </p:txBody>
      </p:sp>
      <p:sp>
        <p:nvSpPr>
          <p:cNvPr id="11" name="Text 8"/>
          <p:cNvSpPr/>
          <p:nvPr/>
        </p:nvSpPr>
        <p:spPr>
          <a:xfrm>
            <a:off x="6510528" y="2148840"/>
            <a:ext cx="4937760" cy="530352"/>
          </a:xfrm>
          <a:prstGeom prst="rect">
            <a:avLst/>
          </a:prstGeom>
          <a:noFill/>
          <a:ln/>
        </p:spPr>
        <p:txBody>
          <a:bodyPr wrap="square" lIns="0" tIns="0" rIns="0" bIns="0" rtlCol="0" anchor="ctr"/>
          <a:lstStyle/>
          <a:p>
            <a:pPr indent="0" marL="0">
              <a:buNone/>
            </a:pPr>
            <a:r>
              <a:rPr lang="en-US" sz="1100" dirty="0">
                <a:solidFill>
                  <a:srgbClr val="3A4557"/>
                </a:solidFill>
                <a:latin typeface="Calibri" pitchFamily="34" charset="0"/>
                <a:ea typeface="Calibri" pitchFamily="34" charset="-122"/>
                <a:cs typeface="Calibri" pitchFamily="34" charset="-120"/>
              </a:rPr>
              <a:t>Page + SEV-1 + SNOW P1 + team channel + major-incident + exec</a:t>
            </a:r>
            <a:endParaRPr lang="en-US" sz="1100" dirty="0"/>
          </a:p>
        </p:txBody>
      </p:sp>
      <p:sp>
        <p:nvSpPr>
          <p:cNvPr id="12" name="Shape 9"/>
          <p:cNvSpPr/>
          <p:nvPr/>
        </p:nvSpPr>
        <p:spPr>
          <a:xfrm>
            <a:off x="566928" y="2752344"/>
            <a:ext cx="11057839" cy="530352"/>
          </a:xfrm>
          <a:prstGeom prst="roundRect">
            <a:avLst>
              <a:gd name="adj" fmla="val 8621"/>
            </a:avLst>
          </a:prstGeom>
          <a:solidFill>
            <a:srgbClr val="F5F7FA"/>
          </a:solidFill>
          <a:ln w="12700">
            <a:solidFill>
              <a:srgbClr val="F5F7FA"/>
            </a:solidFill>
            <a:prstDash val="solid"/>
          </a:ln>
        </p:spPr>
      </p:sp>
      <p:sp>
        <p:nvSpPr>
          <p:cNvPr id="13" name="Text 10"/>
          <p:cNvSpPr/>
          <p:nvPr/>
        </p:nvSpPr>
        <p:spPr>
          <a:xfrm>
            <a:off x="749808" y="2752344"/>
            <a:ext cx="2834640" cy="530352"/>
          </a:xfrm>
          <a:prstGeom prst="rect">
            <a:avLst/>
          </a:prstGeom>
          <a:noFill/>
          <a:ln/>
        </p:spPr>
        <p:txBody>
          <a:bodyPr wrap="square" lIns="0" tIns="0" rIns="0" bIns="0" rtlCol="0" anchor="ctr"/>
          <a:lstStyle/>
          <a:p>
            <a:pPr indent="0" marL="0">
              <a:buNone/>
            </a:pPr>
            <a:r>
              <a:rPr lang="en-US" sz="1150" b="1" dirty="0">
                <a:solidFill>
                  <a:srgbClr val="E09A2E"/>
                </a:solidFill>
                <a:latin typeface="Courier New" pitchFamily="34" charset="0"/>
                <a:ea typeface="Courier New" pitchFamily="34" charset="-122"/>
                <a:cs typeface="Courier New" pitchFamily="34" charset="-120"/>
              </a:rPr>
              <a:t>production_standard</a:t>
            </a:r>
            <a:endParaRPr lang="en-US" sz="1150" dirty="0"/>
          </a:p>
        </p:txBody>
      </p:sp>
      <p:sp>
        <p:nvSpPr>
          <p:cNvPr id="14" name="Text 11"/>
          <p:cNvSpPr/>
          <p:nvPr/>
        </p:nvSpPr>
        <p:spPr>
          <a:xfrm>
            <a:off x="3675888" y="2752344"/>
            <a:ext cx="2743200" cy="530352"/>
          </a:xfrm>
          <a:prstGeom prst="rect">
            <a:avLst/>
          </a:prstGeom>
          <a:noFill/>
          <a:ln/>
        </p:spPr>
        <p:txBody>
          <a:bodyPr wrap="square" lIns="0" tIns="0" rIns="0" bIns="0" rtlCol="0" anchor="ctr"/>
          <a:lstStyle/>
          <a:p>
            <a:pPr indent="0" marL="0">
              <a:buNone/>
            </a:pPr>
            <a:r>
              <a:rPr lang="en-US" sz="1100" dirty="0">
                <a:solidFill>
                  <a:srgbClr val="6B7891"/>
                </a:solidFill>
                <a:latin typeface="Calibri" pitchFamily="34" charset="0"/>
                <a:ea typeface="Calibri" pitchFamily="34" charset="-122"/>
                <a:cs typeface="Calibri" pitchFamily="34" charset="-120"/>
              </a:rPr>
              <a:t>prod + standard band</a:t>
            </a:r>
            <a:endParaRPr lang="en-US" sz="1100" dirty="0"/>
          </a:p>
        </p:txBody>
      </p:sp>
      <p:sp>
        <p:nvSpPr>
          <p:cNvPr id="15" name="Text 12"/>
          <p:cNvSpPr/>
          <p:nvPr/>
        </p:nvSpPr>
        <p:spPr>
          <a:xfrm>
            <a:off x="6510528" y="2752344"/>
            <a:ext cx="4937760" cy="530352"/>
          </a:xfrm>
          <a:prstGeom prst="rect">
            <a:avLst/>
          </a:prstGeom>
          <a:noFill/>
          <a:ln/>
        </p:spPr>
        <p:txBody>
          <a:bodyPr wrap="square" lIns="0" tIns="0" rIns="0" bIns="0" rtlCol="0" anchor="ctr"/>
          <a:lstStyle/>
          <a:p>
            <a:pPr indent="0" marL="0">
              <a:buNone/>
            </a:pPr>
            <a:r>
              <a:rPr lang="en-US" sz="1100" dirty="0">
                <a:solidFill>
                  <a:srgbClr val="3A4557"/>
                </a:solidFill>
                <a:latin typeface="Calibri" pitchFamily="34" charset="0"/>
                <a:ea typeface="Calibri" pitchFamily="34" charset="-122"/>
                <a:cs typeface="Calibri" pitchFamily="34" charset="-120"/>
              </a:rPr>
              <a:t>SEV-2 + SNOW P2 + team channel — no page</a:t>
            </a:r>
            <a:endParaRPr lang="en-US" sz="1100" dirty="0"/>
          </a:p>
        </p:txBody>
      </p:sp>
      <p:sp>
        <p:nvSpPr>
          <p:cNvPr id="16" name="Shape 13"/>
          <p:cNvSpPr/>
          <p:nvPr/>
        </p:nvSpPr>
        <p:spPr>
          <a:xfrm>
            <a:off x="566928" y="3355848"/>
            <a:ext cx="11057839" cy="530352"/>
          </a:xfrm>
          <a:prstGeom prst="roundRect">
            <a:avLst>
              <a:gd name="adj" fmla="val 8621"/>
            </a:avLst>
          </a:prstGeom>
          <a:solidFill>
            <a:srgbClr val="F5F7FA"/>
          </a:solidFill>
          <a:ln w="12700">
            <a:solidFill>
              <a:srgbClr val="F5F7FA"/>
            </a:solidFill>
            <a:prstDash val="solid"/>
          </a:ln>
        </p:spPr>
      </p:sp>
      <p:sp>
        <p:nvSpPr>
          <p:cNvPr id="17" name="Text 14"/>
          <p:cNvSpPr/>
          <p:nvPr/>
        </p:nvSpPr>
        <p:spPr>
          <a:xfrm>
            <a:off x="749808" y="3355848"/>
            <a:ext cx="2834640" cy="530352"/>
          </a:xfrm>
          <a:prstGeom prst="rect">
            <a:avLst/>
          </a:prstGeom>
          <a:noFill/>
          <a:ln/>
        </p:spPr>
        <p:txBody>
          <a:bodyPr wrap="square" lIns="0" tIns="0" rIns="0" bIns="0" rtlCol="0" anchor="ctr"/>
          <a:lstStyle/>
          <a:p>
            <a:pPr indent="0" marL="0">
              <a:buNone/>
            </a:pPr>
            <a:r>
              <a:rPr lang="en-US" sz="1150" b="1" dirty="0">
                <a:solidFill>
                  <a:srgbClr val="5F7189"/>
                </a:solidFill>
                <a:latin typeface="Courier New" pitchFamily="34" charset="0"/>
                <a:ea typeface="Courier New" pitchFamily="34" charset="-122"/>
                <a:cs typeface="Courier New" pitchFamily="34" charset="-120"/>
              </a:rPr>
              <a:t>production_baseline</a:t>
            </a:r>
            <a:endParaRPr lang="en-US" sz="1150" dirty="0"/>
          </a:p>
        </p:txBody>
      </p:sp>
      <p:sp>
        <p:nvSpPr>
          <p:cNvPr id="18" name="Text 15"/>
          <p:cNvSpPr/>
          <p:nvPr/>
        </p:nvSpPr>
        <p:spPr>
          <a:xfrm>
            <a:off x="3675888" y="3355848"/>
            <a:ext cx="2743200" cy="530352"/>
          </a:xfrm>
          <a:prstGeom prst="rect">
            <a:avLst/>
          </a:prstGeom>
          <a:noFill/>
          <a:ln/>
        </p:spPr>
        <p:txBody>
          <a:bodyPr wrap="square" lIns="0" tIns="0" rIns="0" bIns="0" rtlCol="0" anchor="ctr"/>
          <a:lstStyle/>
          <a:p>
            <a:pPr indent="0" marL="0">
              <a:buNone/>
            </a:pPr>
            <a:r>
              <a:rPr lang="en-US" sz="1100" dirty="0">
                <a:solidFill>
                  <a:srgbClr val="6B7891"/>
                </a:solidFill>
                <a:latin typeface="Calibri" pitchFamily="34" charset="0"/>
                <a:ea typeface="Calibri" pitchFamily="34" charset="-122"/>
                <a:cs typeface="Calibri" pitchFamily="34" charset="-120"/>
              </a:rPr>
              <a:t>prod + baseline band</a:t>
            </a:r>
            <a:endParaRPr lang="en-US" sz="1100" dirty="0"/>
          </a:p>
        </p:txBody>
      </p:sp>
      <p:sp>
        <p:nvSpPr>
          <p:cNvPr id="19" name="Text 16"/>
          <p:cNvSpPr/>
          <p:nvPr/>
        </p:nvSpPr>
        <p:spPr>
          <a:xfrm>
            <a:off x="6510528" y="3355848"/>
            <a:ext cx="4937760" cy="530352"/>
          </a:xfrm>
          <a:prstGeom prst="rect">
            <a:avLst/>
          </a:prstGeom>
          <a:noFill/>
          <a:ln/>
        </p:spPr>
        <p:txBody>
          <a:bodyPr wrap="square" lIns="0" tIns="0" rIns="0" bIns="0" rtlCol="0" anchor="ctr"/>
          <a:lstStyle/>
          <a:p>
            <a:pPr indent="0" marL="0">
              <a:buNone/>
            </a:pPr>
            <a:r>
              <a:rPr lang="en-US" sz="1100" dirty="0">
                <a:solidFill>
                  <a:srgbClr val="3A4557"/>
                </a:solidFill>
                <a:latin typeface="Calibri" pitchFamily="34" charset="0"/>
                <a:ea typeface="Calibri" pitchFamily="34" charset="-122"/>
                <a:cs typeface="Calibri" pitchFamily="34" charset="-120"/>
              </a:rPr>
              <a:t>Low-noise channel; SNOW when sustained</a:t>
            </a:r>
            <a:endParaRPr lang="en-US" sz="1100" dirty="0"/>
          </a:p>
        </p:txBody>
      </p:sp>
      <p:sp>
        <p:nvSpPr>
          <p:cNvPr id="20" name="Shape 17"/>
          <p:cNvSpPr/>
          <p:nvPr/>
        </p:nvSpPr>
        <p:spPr>
          <a:xfrm>
            <a:off x="566928" y="3959352"/>
            <a:ext cx="11057839" cy="530352"/>
          </a:xfrm>
          <a:prstGeom prst="roundRect">
            <a:avLst>
              <a:gd name="adj" fmla="val 8621"/>
            </a:avLst>
          </a:prstGeom>
          <a:solidFill>
            <a:srgbClr val="F5F7FA"/>
          </a:solidFill>
          <a:ln w="12700">
            <a:solidFill>
              <a:srgbClr val="F5F7FA"/>
            </a:solidFill>
            <a:prstDash val="solid"/>
          </a:ln>
        </p:spPr>
      </p:sp>
      <p:sp>
        <p:nvSpPr>
          <p:cNvPr id="21" name="Text 18"/>
          <p:cNvSpPr/>
          <p:nvPr/>
        </p:nvSpPr>
        <p:spPr>
          <a:xfrm>
            <a:off x="749808" y="3959352"/>
            <a:ext cx="2834640" cy="530352"/>
          </a:xfrm>
          <a:prstGeom prst="rect">
            <a:avLst/>
          </a:prstGeom>
          <a:noFill/>
          <a:ln/>
        </p:spPr>
        <p:txBody>
          <a:bodyPr wrap="square" lIns="0" tIns="0" rIns="0" bIns="0" rtlCol="0" anchor="ctr"/>
          <a:lstStyle/>
          <a:p>
            <a:pPr indent="0" marL="0">
              <a:buNone/>
            </a:pPr>
            <a:r>
              <a:rPr lang="en-US" sz="1150" b="1" dirty="0">
                <a:solidFill>
                  <a:srgbClr val="5F7189"/>
                </a:solidFill>
                <a:latin typeface="Courier New" pitchFamily="34" charset="0"/>
                <a:ea typeface="Courier New" pitchFamily="34" charset="-122"/>
                <a:cs typeface="Courier New" pitchFamily="34" charset="-120"/>
              </a:rPr>
              <a:t>nonprod_standard</a:t>
            </a:r>
            <a:endParaRPr lang="en-US" sz="1150" dirty="0"/>
          </a:p>
        </p:txBody>
      </p:sp>
      <p:sp>
        <p:nvSpPr>
          <p:cNvPr id="22" name="Text 19"/>
          <p:cNvSpPr/>
          <p:nvPr/>
        </p:nvSpPr>
        <p:spPr>
          <a:xfrm>
            <a:off x="3675888" y="3959352"/>
            <a:ext cx="2743200" cy="530352"/>
          </a:xfrm>
          <a:prstGeom prst="rect">
            <a:avLst/>
          </a:prstGeom>
          <a:noFill/>
          <a:ln/>
        </p:spPr>
        <p:txBody>
          <a:bodyPr wrap="square" lIns="0" tIns="0" rIns="0" bIns="0" rtlCol="0" anchor="ctr"/>
          <a:lstStyle/>
          <a:p>
            <a:pPr indent="0" marL="0">
              <a:buNone/>
            </a:pPr>
            <a:r>
              <a:rPr lang="en-US" sz="1100" dirty="0">
                <a:solidFill>
                  <a:srgbClr val="6B7891"/>
                </a:solidFill>
                <a:latin typeface="Calibri" pitchFamily="34" charset="0"/>
                <a:ea typeface="Calibri" pitchFamily="34" charset="-122"/>
                <a:cs typeface="Calibri" pitchFamily="34" charset="-120"/>
              </a:rPr>
              <a:t>qa or stage</a:t>
            </a:r>
            <a:endParaRPr lang="en-US" sz="1100" dirty="0"/>
          </a:p>
        </p:txBody>
      </p:sp>
      <p:sp>
        <p:nvSpPr>
          <p:cNvPr id="23" name="Text 20"/>
          <p:cNvSpPr/>
          <p:nvPr/>
        </p:nvSpPr>
        <p:spPr>
          <a:xfrm>
            <a:off x="6510528" y="3959352"/>
            <a:ext cx="4937760" cy="530352"/>
          </a:xfrm>
          <a:prstGeom prst="rect">
            <a:avLst/>
          </a:prstGeom>
          <a:noFill/>
          <a:ln/>
        </p:spPr>
        <p:txBody>
          <a:bodyPr wrap="square" lIns="0" tIns="0" rIns="0" bIns="0" rtlCol="0" anchor="ctr"/>
          <a:lstStyle/>
          <a:p>
            <a:pPr indent="0" marL="0">
              <a:buNone/>
            </a:pPr>
            <a:r>
              <a:rPr lang="en-US" sz="1100" dirty="0">
                <a:solidFill>
                  <a:srgbClr val="3A4557"/>
                </a:solidFill>
                <a:latin typeface="Calibri" pitchFamily="34" charset="0"/>
                <a:ea typeface="Calibri" pitchFamily="34" charset="-122"/>
                <a:cs typeface="Calibri" pitchFamily="34" charset="-120"/>
              </a:rPr>
              <a:t>&lt;team&gt;-nonprod + ServiceNow task. Never pages</a:t>
            </a:r>
            <a:endParaRPr lang="en-US" sz="1100" dirty="0"/>
          </a:p>
        </p:txBody>
      </p:sp>
      <p:sp>
        <p:nvSpPr>
          <p:cNvPr id="24" name="Shape 21"/>
          <p:cNvSpPr/>
          <p:nvPr/>
        </p:nvSpPr>
        <p:spPr>
          <a:xfrm>
            <a:off x="566928" y="4562856"/>
            <a:ext cx="11057839" cy="530352"/>
          </a:xfrm>
          <a:prstGeom prst="roundRect">
            <a:avLst>
              <a:gd name="adj" fmla="val 8621"/>
            </a:avLst>
          </a:prstGeom>
          <a:solidFill>
            <a:srgbClr val="F5F7FA"/>
          </a:solidFill>
          <a:ln w="12700">
            <a:solidFill>
              <a:srgbClr val="F5F7FA"/>
            </a:solidFill>
            <a:prstDash val="solid"/>
          </a:ln>
        </p:spPr>
      </p:sp>
      <p:sp>
        <p:nvSpPr>
          <p:cNvPr id="25" name="Text 22"/>
          <p:cNvSpPr/>
          <p:nvPr/>
        </p:nvSpPr>
        <p:spPr>
          <a:xfrm>
            <a:off x="749808" y="4562856"/>
            <a:ext cx="2834640" cy="530352"/>
          </a:xfrm>
          <a:prstGeom prst="rect">
            <a:avLst/>
          </a:prstGeom>
          <a:noFill/>
          <a:ln/>
        </p:spPr>
        <p:txBody>
          <a:bodyPr wrap="square" lIns="0" tIns="0" rIns="0" bIns="0" rtlCol="0" anchor="ctr"/>
          <a:lstStyle/>
          <a:p>
            <a:pPr indent="0" marL="0">
              <a:buNone/>
            </a:pPr>
            <a:r>
              <a:rPr lang="en-US" sz="1150" b="1" dirty="0">
                <a:solidFill>
                  <a:srgbClr val="BE4A3F"/>
                </a:solidFill>
                <a:latin typeface="Courier New" pitchFamily="34" charset="0"/>
                <a:ea typeface="Courier New" pitchFamily="34" charset="-122"/>
                <a:cs typeface="Courier New" pitchFamily="34" charset="-120"/>
              </a:rPr>
              <a:t>security_operational</a:t>
            </a:r>
            <a:endParaRPr lang="en-US" sz="1150" dirty="0"/>
          </a:p>
        </p:txBody>
      </p:sp>
      <p:sp>
        <p:nvSpPr>
          <p:cNvPr id="26" name="Text 23"/>
          <p:cNvSpPr/>
          <p:nvPr/>
        </p:nvSpPr>
        <p:spPr>
          <a:xfrm>
            <a:off x="3675888" y="4562856"/>
            <a:ext cx="2743200" cy="530352"/>
          </a:xfrm>
          <a:prstGeom prst="rect">
            <a:avLst/>
          </a:prstGeom>
          <a:noFill/>
          <a:ln/>
        </p:spPr>
        <p:txBody>
          <a:bodyPr wrap="square" lIns="0" tIns="0" rIns="0" bIns="0" rtlCol="0" anchor="ctr"/>
          <a:lstStyle/>
          <a:p>
            <a:pPr indent="0" marL="0">
              <a:buNone/>
            </a:pPr>
            <a:r>
              <a:rPr lang="en-US" sz="1100" dirty="0">
                <a:solidFill>
                  <a:srgbClr val="6B7891"/>
                </a:solidFill>
                <a:latin typeface="Calibri" pitchFamily="34" charset="0"/>
                <a:ea typeface="Calibri" pitchFamily="34" charset="-122"/>
                <a:cs typeface="Calibri" pitchFamily="34" charset="-120"/>
              </a:rPr>
              <a:t>domain: security</a:t>
            </a:r>
            <a:endParaRPr lang="en-US" sz="1100" dirty="0"/>
          </a:p>
        </p:txBody>
      </p:sp>
      <p:sp>
        <p:nvSpPr>
          <p:cNvPr id="27" name="Text 24"/>
          <p:cNvSpPr/>
          <p:nvPr/>
        </p:nvSpPr>
        <p:spPr>
          <a:xfrm>
            <a:off x="6510528" y="4562856"/>
            <a:ext cx="4937760" cy="530352"/>
          </a:xfrm>
          <a:prstGeom prst="rect">
            <a:avLst/>
          </a:prstGeom>
          <a:noFill/>
          <a:ln/>
        </p:spPr>
        <p:txBody>
          <a:bodyPr wrap="square" lIns="0" tIns="0" rIns="0" bIns="0" rtlCol="0" anchor="ctr"/>
          <a:lstStyle/>
          <a:p>
            <a:pPr indent="0" marL="0">
              <a:buNone/>
            </a:pPr>
            <a:r>
              <a:rPr lang="en-US" sz="1100" dirty="0">
                <a:solidFill>
                  <a:srgbClr val="3A4557"/>
                </a:solidFill>
                <a:latin typeface="Calibri" pitchFamily="34" charset="0"/>
                <a:ea typeface="Calibri" pitchFamily="34" charset="-122"/>
                <a:cs typeface="Calibri" pitchFamily="34" charset="-120"/>
              </a:rPr>
              <a:t>Pages security + SEV-1 + SNOW P1, owner cc'd for context</a:t>
            </a:r>
            <a:endParaRPr lang="en-US" sz="1100" dirty="0"/>
          </a:p>
        </p:txBody>
      </p:sp>
      <p:sp>
        <p:nvSpPr>
          <p:cNvPr id="28" name="Shape 25"/>
          <p:cNvSpPr/>
          <p:nvPr/>
        </p:nvSpPr>
        <p:spPr>
          <a:xfrm>
            <a:off x="566928" y="5166360"/>
            <a:ext cx="11057839" cy="530352"/>
          </a:xfrm>
          <a:prstGeom prst="roundRect">
            <a:avLst>
              <a:gd name="adj" fmla="val 8621"/>
            </a:avLst>
          </a:prstGeom>
          <a:solidFill>
            <a:srgbClr val="F5F7FA"/>
          </a:solidFill>
          <a:ln w="12700">
            <a:solidFill>
              <a:srgbClr val="F5F7FA"/>
            </a:solidFill>
            <a:prstDash val="solid"/>
          </a:ln>
        </p:spPr>
      </p:sp>
      <p:sp>
        <p:nvSpPr>
          <p:cNvPr id="29" name="Text 26"/>
          <p:cNvSpPr/>
          <p:nvPr/>
        </p:nvSpPr>
        <p:spPr>
          <a:xfrm>
            <a:off x="749808" y="5166360"/>
            <a:ext cx="2834640" cy="530352"/>
          </a:xfrm>
          <a:prstGeom prst="rect">
            <a:avLst/>
          </a:prstGeom>
          <a:noFill/>
          <a:ln/>
        </p:spPr>
        <p:txBody>
          <a:bodyPr wrap="square" lIns="0" tIns="0" rIns="0" bIns="0" rtlCol="0" anchor="ctr"/>
          <a:lstStyle/>
          <a:p>
            <a:pPr indent="0" marL="0">
              <a:buNone/>
            </a:pPr>
            <a:r>
              <a:rPr lang="en-US" sz="1150" b="1" dirty="0">
                <a:solidFill>
                  <a:srgbClr val="6B7891"/>
                </a:solidFill>
                <a:latin typeface="Courier New" pitchFamily="34" charset="0"/>
                <a:ea typeface="Courier New" pitchFamily="34" charset="-122"/>
                <a:cs typeface="Courier New" pitchFamily="34" charset="-120"/>
              </a:rPr>
              <a:t>release_gate</a:t>
            </a:r>
            <a:endParaRPr lang="en-US" sz="1150" dirty="0"/>
          </a:p>
        </p:txBody>
      </p:sp>
      <p:sp>
        <p:nvSpPr>
          <p:cNvPr id="30" name="Text 27"/>
          <p:cNvSpPr/>
          <p:nvPr/>
        </p:nvSpPr>
        <p:spPr>
          <a:xfrm>
            <a:off x="3675888" y="5166360"/>
            <a:ext cx="2743200" cy="530352"/>
          </a:xfrm>
          <a:prstGeom prst="rect">
            <a:avLst/>
          </a:prstGeom>
          <a:noFill/>
          <a:ln/>
        </p:spPr>
        <p:txBody>
          <a:bodyPr wrap="square" lIns="0" tIns="0" rIns="0" bIns="0" rtlCol="0" anchor="ctr"/>
          <a:lstStyle/>
          <a:p>
            <a:pPr indent="0" marL="0">
              <a:buNone/>
            </a:pPr>
            <a:r>
              <a:rPr lang="en-US" sz="1100" dirty="0">
                <a:solidFill>
                  <a:srgbClr val="6B7891"/>
                </a:solidFill>
                <a:latin typeface="Calibri" pitchFamily="34" charset="0"/>
                <a:ea typeface="Calibri" pitchFamily="34" charset="-122"/>
                <a:cs typeface="Calibri" pitchFamily="34" charset="-120"/>
              </a:rPr>
              <a:t>stage + tier0 + release window</a:t>
            </a:r>
            <a:endParaRPr lang="en-US" sz="1100" dirty="0"/>
          </a:p>
        </p:txBody>
      </p:sp>
      <p:sp>
        <p:nvSpPr>
          <p:cNvPr id="31" name="Text 28"/>
          <p:cNvSpPr/>
          <p:nvPr/>
        </p:nvSpPr>
        <p:spPr>
          <a:xfrm>
            <a:off x="6510528" y="5166360"/>
            <a:ext cx="4937760" cy="530352"/>
          </a:xfrm>
          <a:prstGeom prst="rect">
            <a:avLst/>
          </a:prstGeom>
          <a:noFill/>
          <a:ln/>
        </p:spPr>
        <p:txBody>
          <a:bodyPr wrap="square" lIns="0" tIns="0" rIns="0" bIns="0" rtlCol="0" anchor="ctr"/>
          <a:lstStyle/>
          <a:p>
            <a:pPr indent="0" marL="0">
              <a:buNone/>
            </a:pPr>
            <a:r>
              <a:rPr lang="en-US" sz="1100" dirty="0">
                <a:solidFill>
                  <a:srgbClr val="3A4557"/>
                </a:solidFill>
                <a:latin typeface="Calibri" pitchFamily="34" charset="0"/>
                <a:ea typeface="Calibri" pitchFamily="34" charset="-122"/>
                <a:cs typeface="Calibri" pitchFamily="34" charset="-120"/>
              </a:rPr>
              <a:t>Release channel + SNOW task. Defined, not yet provisioned</a:t>
            </a:r>
            <a:endParaRPr lang="en-US" sz="1100" dirty="0"/>
          </a:p>
        </p:txBody>
      </p:sp>
      <p:sp>
        <p:nvSpPr>
          <p:cNvPr id="32" name="Text 29"/>
          <p:cNvSpPr/>
          <p:nvPr/>
        </p:nvSpPr>
        <p:spPr>
          <a:xfrm>
            <a:off x="566928" y="5870448"/>
            <a:ext cx="11057839" cy="457200"/>
          </a:xfrm>
          <a:prstGeom prst="rect">
            <a:avLst/>
          </a:prstGeom>
          <a:noFill/>
          <a:ln/>
        </p:spPr>
        <p:txBody>
          <a:bodyPr wrap="square" lIns="0" tIns="0" rIns="0" bIns="0" rtlCol="0" anchor="t"/>
          <a:lstStyle/>
          <a:p>
            <a:pPr indent="0" marL="0">
              <a:buNone/>
            </a:pPr>
            <a:r>
              <a:rPr lang="en-US" sz="1150" b="1" dirty="0">
                <a:solidFill>
                  <a:srgbClr val="3A4557"/>
                </a:solidFill>
                <a:latin typeface="Calibri" pitchFamily="34" charset="0"/>
                <a:ea typeface="Calibri" pitchFamily="34" charset="-122"/>
                <a:cs typeface="Calibri" pitchFamily="34" charset="-120"/>
              </a:rPr>
              <a:t>111 notification rules</a:t>
            </a:r>
            <a:pPr indent="0" marL="0">
              <a:buNone/>
            </a:pPr>
            <a:r>
              <a:rPr lang="en-US" sz="1150" dirty="0">
                <a:solidFill>
                  <a:srgbClr val="3A4557"/>
                </a:solidFill>
                <a:latin typeface="Calibri" pitchFamily="34" charset="0"/>
                <a:ea typeface="Calibri" pitchFamily="34" charset="-122"/>
                <a:cs typeface="Calibri" pitchFamily="34" charset="-120"/>
              </a:rPr>
              <a:t> = 18 routing rows × the teams each applies to. Adding a team adds its routing automatically; adding a monitor adds none. Where a team's P1s go is one line in teams.yaml and touches zero monitors — no monitor contains a destination string anywhere in the estate.</a:t>
            </a:r>
            <a:endParaRPr lang="en-US" sz="115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8778240" cy="256032"/>
          </a:xfrm>
          <a:prstGeom prst="rect">
            <a:avLst/>
          </a:prstGeom>
          <a:noFill/>
          <a:ln/>
        </p:spPr>
        <p:txBody>
          <a:bodyPr wrap="square" lIns="0" tIns="0" rIns="0" bIns="0" rtlCol="0" anchor="ctr"/>
          <a:lstStyle/>
          <a:p>
            <a:pPr indent="0" marL="0">
              <a:buNone/>
            </a:pPr>
            <a:r>
              <a:rPr lang="en-US" sz="1050" b="1" spc="160" kern="0" dirty="0">
                <a:solidFill>
                  <a:srgbClr val="B87914"/>
                </a:solidFill>
                <a:latin typeface="Calibri" pitchFamily="34" charset="0"/>
                <a:ea typeface="Calibri" pitchFamily="34" charset="-122"/>
                <a:cs typeface="Calibri" pitchFamily="34" charset="-120"/>
              </a:rPr>
              <a:t>APPENDIX A7</a:t>
            </a:r>
            <a:endParaRPr lang="en-US" sz="1050" dirty="0"/>
          </a:p>
        </p:txBody>
      </p:sp>
      <p:sp>
        <p:nvSpPr>
          <p:cNvPr id="3" name="Text 1"/>
          <p:cNvSpPr/>
          <p:nvPr/>
        </p:nvSpPr>
        <p:spPr>
          <a:xfrm>
            <a:off x="566928" y="694944"/>
            <a:ext cx="10424160" cy="786384"/>
          </a:xfrm>
          <a:prstGeom prst="rect">
            <a:avLst/>
          </a:prstGeom>
          <a:noFill/>
          <a:ln/>
        </p:spPr>
        <p:txBody>
          <a:bodyPr wrap="square" lIns="0" tIns="0" rIns="0" bIns="0" rtlCol="0" anchor="ctr"/>
          <a:lstStyle/>
          <a:p>
            <a:pPr indent="0" marL="0">
              <a:buNone/>
            </a:pPr>
            <a:r>
              <a:rPr lang="en-US" sz="3100" b="1" dirty="0">
                <a:solidFill>
                  <a:srgbClr val="161C28"/>
                </a:solidFill>
                <a:latin typeface="Cambria" pitchFamily="34" charset="0"/>
                <a:ea typeface="Cambria" pitchFamily="34" charset="-122"/>
                <a:cs typeface="Cambria" pitchFamily="34" charset="-120"/>
              </a:rPr>
              <a:t>SLO catalog and burn windows</a:t>
            </a:r>
            <a:endParaRPr lang="en-US" sz="3100" dirty="0"/>
          </a:p>
        </p:txBody>
      </p:sp>
      <p:sp>
        <p:nvSpPr>
          <p:cNvPr id="4" name="Text 2"/>
          <p:cNvSpPr/>
          <p:nvPr/>
        </p:nvSpPr>
        <p:spPr>
          <a:xfrm>
            <a:off x="566928" y="1481328"/>
            <a:ext cx="10698480" cy="457200"/>
          </a:xfrm>
          <a:prstGeom prst="rect">
            <a:avLst/>
          </a:prstGeom>
          <a:noFill/>
          <a:ln/>
        </p:spPr>
        <p:txBody>
          <a:bodyPr wrap="square" lIns="0" tIns="0" rIns="0" bIns="0" rtlCol="0" anchor="t"/>
          <a:lstStyle/>
          <a:p>
            <a:pPr indent="0" marL="0">
              <a:buNone/>
            </a:pPr>
            <a:r>
              <a:rPr lang="en-US" sz="1450" dirty="0">
                <a:solidFill>
                  <a:srgbClr val="3A4557"/>
                </a:solidFill>
                <a:latin typeface="Calibri" pitchFamily="34" charset="0"/>
                <a:ea typeface="Calibri" pitchFamily="34" charset="-122"/>
                <a:cs typeface="Calibri" pitchFamily="34" charset="-120"/>
              </a:rPr>
              <a:t>21 domain objectives cover tier1 and tier2 across the whole estate; tier0 services each add their own. 22 SLOs today, driving 41 burn-rate monitors.</a:t>
            </a:r>
            <a:endParaRPr lang="en-US" sz="1450" dirty="0"/>
          </a:p>
        </p:txBody>
      </p:sp>
      <p:sp>
        <p:nvSpPr>
          <p:cNvPr id="5" name="Text 3"/>
          <p:cNvSpPr/>
          <p:nvPr/>
        </p:nvSpPr>
        <p:spPr>
          <a:xfrm>
            <a:off x="566928" y="6345936"/>
            <a:ext cx="7315200" cy="274320"/>
          </a:xfrm>
          <a:prstGeom prst="rect">
            <a:avLst/>
          </a:prstGeom>
          <a:noFill/>
          <a:ln/>
        </p:spPr>
        <p:txBody>
          <a:bodyPr wrap="square" lIns="0" tIns="0" rIns="0" bIns="0" rtlCol="0" anchor="ctr"/>
          <a:lstStyle/>
          <a:p>
            <a:pPr indent="0" marL="0">
              <a:buNone/>
            </a:pPr>
            <a:r>
              <a:rPr lang="en-US" sz="900" dirty="0">
                <a:solidFill>
                  <a:srgbClr val="6B7891"/>
                </a:solidFill>
                <a:latin typeface="Calibri" pitchFamily="34" charset="0"/>
                <a:ea typeface="Calibri" pitchFamily="34" charset="-122"/>
                <a:cs typeface="Calibri" pitchFamily="34" charset="-120"/>
              </a:rPr>
              <a:t>Enterprise Observability  ·  policy-as-data on Datadog</a:t>
            </a:r>
            <a:endParaRPr lang="en-US" sz="900" dirty="0"/>
          </a:p>
        </p:txBody>
      </p:sp>
      <p:sp>
        <p:nvSpPr>
          <p:cNvPr id="6" name="Text 4"/>
          <p:cNvSpPr/>
          <p:nvPr/>
        </p:nvSpPr>
        <p:spPr>
          <a:xfrm>
            <a:off x="10710367" y="6345936"/>
            <a:ext cx="914400" cy="274320"/>
          </a:xfrm>
          <a:prstGeom prst="rect">
            <a:avLst/>
          </a:prstGeom>
          <a:noFill/>
          <a:ln/>
        </p:spPr>
        <p:txBody>
          <a:bodyPr wrap="square" lIns="0" tIns="0" rIns="0" bIns="0" rtlCol="0" anchor="ctr"/>
          <a:lstStyle/>
          <a:p>
            <a:pPr algn="r" indent="0" marL="0">
              <a:buNone/>
            </a:pPr>
            <a:r>
              <a:rPr lang="en-US" sz="900" dirty="0">
                <a:solidFill>
                  <a:srgbClr val="6B7891"/>
                </a:solidFill>
                <a:latin typeface="Calibri" pitchFamily="34" charset="0"/>
                <a:ea typeface="Calibri" pitchFamily="34" charset="-122"/>
                <a:cs typeface="Calibri" pitchFamily="34" charset="-120"/>
              </a:rPr>
              <a:t>51</a:t>
            </a:r>
            <a:endParaRPr lang="en-US" sz="900" dirty="0"/>
          </a:p>
        </p:txBody>
      </p:sp>
      <p:sp>
        <p:nvSpPr>
          <p:cNvPr id="8" name="Shape 5"/>
          <p:cNvSpPr/>
          <p:nvPr/>
        </p:nvSpPr>
        <p:spPr>
          <a:xfrm>
            <a:off x="566928" y="2121408"/>
            <a:ext cx="3538728" cy="365760"/>
          </a:xfrm>
          <a:prstGeom prst="roundRect">
            <a:avLst>
              <a:gd name="adj" fmla="val 10000"/>
            </a:avLst>
          </a:prstGeom>
          <a:solidFill>
            <a:srgbClr val="F5F7FA"/>
          </a:solidFill>
          <a:ln w="12700">
            <a:solidFill>
              <a:srgbClr val="F5F7FA"/>
            </a:solidFill>
            <a:prstDash val="solid"/>
          </a:ln>
        </p:spPr>
      </p:sp>
      <p:sp>
        <p:nvSpPr>
          <p:cNvPr id="9" name="Text 6"/>
          <p:cNvSpPr/>
          <p:nvPr/>
        </p:nvSpPr>
        <p:spPr>
          <a:xfrm>
            <a:off x="713232" y="2121408"/>
            <a:ext cx="3291840" cy="365760"/>
          </a:xfrm>
          <a:prstGeom prst="rect">
            <a:avLst/>
          </a:prstGeom>
          <a:noFill/>
          <a:ln/>
        </p:spPr>
        <p:txBody>
          <a:bodyPr wrap="square" lIns="0" tIns="0" rIns="0" bIns="0" rtlCol="0" anchor="ctr"/>
          <a:lstStyle/>
          <a:p>
            <a:pPr indent="0" marL="0">
              <a:buNone/>
            </a:pPr>
            <a:r>
              <a:rPr lang="en-US" sz="1050" dirty="0">
                <a:solidFill>
                  <a:srgbClr val="3A4557"/>
                </a:solidFill>
                <a:latin typeface="Courier New" pitchFamily="34" charset="0"/>
                <a:ea typeface="Courier New" pitchFamily="34" charset="-122"/>
                <a:cs typeface="Courier New" pitchFamily="34" charset="-120"/>
              </a:rPr>
              <a:t>slo-app-availability</a:t>
            </a:r>
            <a:endParaRPr lang="en-US" sz="1050" dirty="0"/>
          </a:p>
        </p:txBody>
      </p:sp>
      <p:sp>
        <p:nvSpPr>
          <p:cNvPr id="10" name="Shape 7"/>
          <p:cNvSpPr/>
          <p:nvPr/>
        </p:nvSpPr>
        <p:spPr>
          <a:xfrm>
            <a:off x="4315968" y="2121408"/>
            <a:ext cx="3538728" cy="365760"/>
          </a:xfrm>
          <a:prstGeom prst="roundRect">
            <a:avLst>
              <a:gd name="adj" fmla="val 10000"/>
            </a:avLst>
          </a:prstGeom>
          <a:solidFill>
            <a:srgbClr val="F5F7FA"/>
          </a:solidFill>
          <a:ln w="12700">
            <a:solidFill>
              <a:srgbClr val="F5F7FA"/>
            </a:solidFill>
            <a:prstDash val="solid"/>
          </a:ln>
        </p:spPr>
      </p:sp>
      <p:sp>
        <p:nvSpPr>
          <p:cNvPr id="11" name="Text 8"/>
          <p:cNvSpPr/>
          <p:nvPr/>
        </p:nvSpPr>
        <p:spPr>
          <a:xfrm>
            <a:off x="4462272" y="2121408"/>
            <a:ext cx="3291840" cy="365760"/>
          </a:xfrm>
          <a:prstGeom prst="rect">
            <a:avLst/>
          </a:prstGeom>
          <a:noFill/>
          <a:ln/>
        </p:spPr>
        <p:txBody>
          <a:bodyPr wrap="square" lIns="0" tIns="0" rIns="0" bIns="0" rtlCol="0" anchor="ctr"/>
          <a:lstStyle/>
          <a:p>
            <a:pPr indent="0" marL="0">
              <a:buNone/>
            </a:pPr>
            <a:r>
              <a:rPr lang="en-US" sz="1050" dirty="0">
                <a:solidFill>
                  <a:srgbClr val="3A4557"/>
                </a:solidFill>
                <a:latin typeface="Courier New" pitchFamily="34" charset="0"/>
                <a:ea typeface="Courier New" pitchFamily="34" charset="-122"/>
                <a:cs typeface="Courier New" pitchFamily="34" charset="-120"/>
              </a:rPr>
              <a:t>slo-app-latency</a:t>
            </a:r>
            <a:endParaRPr lang="en-US" sz="1050" dirty="0"/>
          </a:p>
        </p:txBody>
      </p:sp>
      <p:sp>
        <p:nvSpPr>
          <p:cNvPr id="12" name="Shape 9"/>
          <p:cNvSpPr/>
          <p:nvPr/>
        </p:nvSpPr>
        <p:spPr>
          <a:xfrm>
            <a:off x="8065008" y="2121408"/>
            <a:ext cx="3538728" cy="365760"/>
          </a:xfrm>
          <a:prstGeom prst="roundRect">
            <a:avLst>
              <a:gd name="adj" fmla="val 10000"/>
            </a:avLst>
          </a:prstGeom>
          <a:solidFill>
            <a:srgbClr val="F5F7FA"/>
          </a:solidFill>
          <a:ln w="12700">
            <a:solidFill>
              <a:srgbClr val="F5F7FA"/>
            </a:solidFill>
            <a:prstDash val="solid"/>
          </a:ln>
        </p:spPr>
      </p:sp>
      <p:sp>
        <p:nvSpPr>
          <p:cNvPr id="13" name="Text 10"/>
          <p:cNvSpPr/>
          <p:nvPr/>
        </p:nvSpPr>
        <p:spPr>
          <a:xfrm>
            <a:off x="8211312" y="2121408"/>
            <a:ext cx="3291840" cy="365760"/>
          </a:xfrm>
          <a:prstGeom prst="rect">
            <a:avLst/>
          </a:prstGeom>
          <a:noFill/>
          <a:ln/>
        </p:spPr>
        <p:txBody>
          <a:bodyPr wrap="square" lIns="0" tIns="0" rIns="0" bIns="0" rtlCol="0" anchor="ctr"/>
          <a:lstStyle/>
          <a:p>
            <a:pPr indent="0" marL="0">
              <a:buNone/>
            </a:pPr>
            <a:r>
              <a:rPr lang="en-US" sz="1050" dirty="0">
                <a:solidFill>
                  <a:srgbClr val="3A4557"/>
                </a:solidFill>
                <a:latin typeface="Courier New" pitchFamily="34" charset="0"/>
                <a:ea typeface="Courier New" pitchFamily="34" charset="-122"/>
                <a:cs typeface="Courier New" pitchFamily="34" charset="-120"/>
              </a:rPr>
              <a:t>slo-web-availability</a:t>
            </a:r>
            <a:endParaRPr lang="en-US" sz="1050" dirty="0"/>
          </a:p>
        </p:txBody>
      </p:sp>
      <p:sp>
        <p:nvSpPr>
          <p:cNvPr id="14" name="Shape 11"/>
          <p:cNvSpPr/>
          <p:nvPr/>
        </p:nvSpPr>
        <p:spPr>
          <a:xfrm>
            <a:off x="566928" y="2542032"/>
            <a:ext cx="3538728" cy="365760"/>
          </a:xfrm>
          <a:prstGeom prst="roundRect">
            <a:avLst>
              <a:gd name="adj" fmla="val 10000"/>
            </a:avLst>
          </a:prstGeom>
          <a:solidFill>
            <a:srgbClr val="F5F7FA"/>
          </a:solidFill>
          <a:ln w="12700">
            <a:solidFill>
              <a:srgbClr val="F5F7FA"/>
            </a:solidFill>
            <a:prstDash val="solid"/>
          </a:ln>
        </p:spPr>
      </p:sp>
      <p:sp>
        <p:nvSpPr>
          <p:cNvPr id="15" name="Text 12"/>
          <p:cNvSpPr/>
          <p:nvPr/>
        </p:nvSpPr>
        <p:spPr>
          <a:xfrm>
            <a:off x="713232" y="2542032"/>
            <a:ext cx="3291840" cy="365760"/>
          </a:xfrm>
          <a:prstGeom prst="rect">
            <a:avLst/>
          </a:prstGeom>
          <a:noFill/>
          <a:ln/>
        </p:spPr>
        <p:txBody>
          <a:bodyPr wrap="square" lIns="0" tIns="0" rIns="0" bIns="0" rtlCol="0" anchor="ctr"/>
          <a:lstStyle/>
          <a:p>
            <a:pPr indent="0" marL="0">
              <a:buNone/>
            </a:pPr>
            <a:r>
              <a:rPr lang="en-US" sz="1050" dirty="0">
                <a:solidFill>
                  <a:srgbClr val="3A4557"/>
                </a:solidFill>
                <a:latin typeface="Courier New" pitchFamily="34" charset="0"/>
                <a:ea typeface="Courier New" pitchFamily="34" charset="-122"/>
                <a:cs typeface="Courier New" pitchFamily="34" charset="-120"/>
              </a:rPr>
              <a:t>slo-worker-throughput</a:t>
            </a:r>
            <a:endParaRPr lang="en-US" sz="1050" dirty="0"/>
          </a:p>
        </p:txBody>
      </p:sp>
      <p:sp>
        <p:nvSpPr>
          <p:cNvPr id="16" name="Shape 13"/>
          <p:cNvSpPr/>
          <p:nvPr/>
        </p:nvSpPr>
        <p:spPr>
          <a:xfrm>
            <a:off x="4315968" y="2542032"/>
            <a:ext cx="3538728" cy="365760"/>
          </a:xfrm>
          <a:prstGeom prst="roundRect">
            <a:avLst>
              <a:gd name="adj" fmla="val 10000"/>
            </a:avLst>
          </a:prstGeom>
          <a:solidFill>
            <a:srgbClr val="F5F7FA"/>
          </a:solidFill>
          <a:ln w="12700">
            <a:solidFill>
              <a:srgbClr val="F5F7FA"/>
            </a:solidFill>
            <a:prstDash val="solid"/>
          </a:ln>
        </p:spPr>
      </p:sp>
      <p:sp>
        <p:nvSpPr>
          <p:cNvPr id="17" name="Text 14"/>
          <p:cNvSpPr/>
          <p:nvPr/>
        </p:nvSpPr>
        <p:spPr>
          <a:xfrm>
            <a:off x="4462272" y="2542032"/>
            <a:ext cx="3291840" cy="365760"/>
          </a:xfrm>
          <a:prstGeom prst="rect">
            <a:avLst/>
          </a:prstGeom>
          <a:noFill/>
          <a:ln/>
        </p:spPr>
        <p:txBody>
          <a:bodyPr wrap="square" lIns="0" tIns="0" rIns="0" bIns="0" rtlCol="0" anchor="ctr"/>
          <a:lstStyle/>
          <a:p>
            <a:pPr indent="0" marL="0">
              <a:buNone/>
            </a:pPr>
            <a:r>
              <a:rPr lang="en-US" sz="1050" dirty="0">
                <a:solidFill>
                  <a:srgbClr val="3A4557"/>
                </a:solidFill>
                <a:latin typeface="Courier New" pitchFamily="34" charset="0"/>
                <a:ea typeface="Courier New" pitchFamily="34" charset="-122"/>
                <a:cs typeface="Courier New" pitchFamily="34" charset="-120"/>
              </a:rPr>
              <a:t>slo-api-availability</a:t>
            </a:r>
            <a:endParaRPr lang="en-US" sz="1050" dirty="0"/>
          </a:p>
        </p:txBody>
      </p:sp>
      <p:sp>
        <p:nvSpPr>
          <p:cNvPr id="18" name="Shape 15"/>
          <p:cNvSpPr/>
          <p:nvPr/>
        </p:nvSpPr>
        <p:spPr>
          <a:xfrm>
            <a:off x="8065008" y="2542032"/>
            <a:ext cx="3538728" cy="365760"/>
          </a:xfrm>
          <a:prstGeom prst="roundRect">
            <a:avLst>
              <a:gd name="adj" fmla="val 10000"/>
            </a:avLst>
          </a:prstGeom>
          <a:solidFill>
            <a:srgbClr val="F5F7FA"/>
          </a:solidFill>
          <a:ln w="12700">
            <a:solidFill>
              <a:srgbClr val="F5F7FA"/>
            </a:solidFill>
            <a:prstDash val="solid"/>
          </a:ln>
        </p:spPr>
      </p:sp>
      <p:sp>
        <p:nvSpPr>
          <p:cNvPr id="19" name="Text 16"/>
          <p:cNvSpPr/>
          <p:nvPr/>
        </p:nvSpPr>
        <p:spPr>
          <a:xfrm>
            <a:off x="8211312" y="2542032"/>
            <a:ext cx="3291840" cy="365760"/>
          </a:xfrm>
          <a:prstGeom prst="rect">
            <a:avLst/>
          </a:prstGeom>
          <a:noFill/>
          <a:ln/>
        </p:spPr>
        <p:txBody>
          <a:bodyPr wrap="square" lIns="0" tIns="0" rIns="0" bIns="0" rtlCol="0" anchor="ctr"/>
          <a:lstStyle/>
          <a:p>
            <a:pPr indent="0" marL="0">
              <a:buNone/>
            </a:pPr>
            <a:r>
              <a:rPr lang="en-US" sz="1050" dirty="0">
                <a:solidFill>
                  <a:srgbClr val="3A4557"/>
                </a:solidFill>
                <a:latin typeface="Courier New" pitchFamily="34" charset="0"/>
                <a:ea typeface="Courier New" pitchFamily="34" charset="-122"/>
                <a:cs typeface="Courier New" pitchFamily="34" charset="-120"/>
              </a:rPr>
              <a:t>slo-api-latency</a:t>
            </a:r>
            <a:endParaRPr lang="en-US" sz="1050" dirty="0"/>
          </a:p>
        </p:txBody>
      </p:sp>
      <p:sp>
        <p:nvSpPr>
          <p:cNvPr id="20" name="Shape 17"/>
          <p:cNvSpPr/>
          <p:nvPr/>
        </p:nvSpPr>
        <p:spPr>
          <a:xfrm>
            <a:off x="566928" y="2962656"/>
            <a:ext cx="3538728" cy="365760"/>
          </a:xfrm>
          <a:prstGeom prst="roundRect">
            <a:avLst>
              <a:gd name="adj" fmla="val 10000"/>
            </a:avLst>
          </a:prstGeom>
          <a:solidFill>
            <a:srgbClr val="F5F7FA"/>
          </a:solidFill>
          <a:ln w="12700">
            <a:solidFill>
              <a:srgbClr val="F5F7FA"/>
            </a:solidFill>
            <a:prstDash val="solid"/>
          </a:ln>
        </p:spPr>
      </p:sp>
      <p:sp>
        <p:nvSpPr>
          <p:cNvPr id="21" name="Text 18"/>
          <p:cNvSpPr/>
          <p:nvPr/>
        </p:nvSpPr>
        <p:spPr>
          <a:xfrm>
            <a:off x="713232" y="2962656"/>
            <a:ext cx="3291840" cy="365760"/>
          </a:xfrm>
          <a:prstGeom prst="rect">
            <a:avLst/>
          </a:prstGeom>
          <a:noFill/>
          <a:ln/>
        </p:spPr>
        <p:txBody>
          <a:bodyPr wrap="square" lIns="0" tIns="0" rIns="0" bIns="0" rtlCol="0" anchor="ctr"/>
          <a:lstStyle/>
          <a:p>
            <a:pPr indent="0" marL="0">
              <a:buNone/>
            </a:pPr>
            <a:r>
              <a:rPr lang="en-US" sz="1050" dirty="0">
                <a:solidFill>
                  <a:srgbClr val="3A4557"/>
                </a:solidFill>
                <a:latin typeface="Courier New" pitchFamily="34" charset="0"/>
                <a:ea typeface="Courier New" pitchFamily="34" charset="-122"/>
                <a:cs typeface="Courier New" pitchFamily="34" charset="-120"/>
              </a:rPr>
              <a:t>slo-k8s-workload-availability</a:t>
            </a:r>
            <a:endParaRPr lang="en-US" sz="1050" dirty="0"/>
          </a:p>
        </p:txBody>
      </p:sp>
      <p:sp>
        <p:nvSpPr>
          <p:cNvPr id="22" name="Shape 19"/>
          <p:cNvSpPr/>
          <p:nvPr/>
        </p:nvSpPr>
        <p:spPr>
          <a:xfrm>
            <a:off x="4315968" y="2962656"/>
            <a:ext cx="3538728" cy="365760"/>
          </a:xfrm>
          <a:prstGeom prst="roundRect">
            <a:avLst>
              <a:gd name="adj" fmla="val 10000"/>
            </a:avLst>
          </a:prstGeom>
          <a:solidFill>
            <a:srgbClr val="F5F7FA"/>
          </a:solidFill>
          <a:ln w="12700">
            <a:solidFill>
              <a:srgbClr val="F5F7FA"/>
            </a:solidFill>
            <a:prstDash val="solid"/>
          </a:ln>
        </p:spPr>
      </p:sp>
      <p:sp>
        <p:nvSpPr>
          <p:cNvPr id="23" name="Text 20"/>
          <p:cNvSpPr/>
          <p:nvPr/>
        </p:nvSpPr>
        <p:spPr>
          <a:xfrm>
            <a:off x="4462272" y="2962656"/>
            <a:ext cx="3291840" cy="365760"/>
          </a:xfrm>
          <a:prstGeom prst="rect">
            <a:avLst/>
          </a:prstGeom>
          <a:noFill/>
          <a:ln/>
        </p:spPr>
        <p:txBody>
          <a:bodyPr wrap="square" lIns="0" tIns="0" rIns="0" bIns="0" rtlCol="0" anchor="ctr"/>
          <a:lstStyle/>
          <a:p>
            <a:pPr indent="0" marL="0">
              <a:buNone/>
            </a:pPr>
            <a:r>
              <a:rPr lang="en-US" sz="1050" dirty="0">
                <a:solidFill>
                  <a:srgbClr val="3A4557"/>
                </a:solidFill>
                <a:latin typeface="Courier New" pitchFamily="34" charset="0"/>
                <a:ea typeface="Courier New" pitchFamily="34" charset="-122"/>
                <a:cs typeface="Courier New" pitchFamily="34" charset="-120"/>
              </a:rPr>
              <a:t>slo-infra-compute-availability</a:t>
            </a:r>
            <a:endParaRPr lang="en-US" sz="1050" dirty="0"/>
          </a:p>
        </p:txBody>
      </p:sp>
      <p:sp>
        <p:nvSpPr>
          <p:cNvPr id="24" name="Shape 21"/>
          <p:cNvSpPr/>
          <p:nvPr/>
        </p:nvSpPr>
        <p:spPr>
          <a:xfrm>
            <a:off x="8065008" y="2962656"/>
            <a:ext cx="3538728" cy="365760"/>
          </a:xfrm>
          <a:prstGeom prst="roundRect">
            <a:avLst>
              <a:gd name="adj" fmla="val 10000"/>
            </a:avLst>
          </a:prstGeom>
          <a:solidFill>
            <a:srgbClr val="F5F7FA"/>
          </a:solidFill>
          <a:ln w="12700">
            <a:solidFill>
              <a:srgbClr val="F5F7FA"/>
            </a:solidFill>
            <a:prstDash val="solid"/>
          </a:ln>
        </p:spPr>
      </p:sp>
      <p:sp>
        <p:nvSpPr>
          <p:cNvPr id="25" name="Text 22"/>
          <p:cNvSpPr/>
          <p:nvPr/>
        </p:nvSpPr>
        <p:spPr>
          <a:xfrm>
            <a:off x="8211312" y="2962656"/>
            <a:ext cx="3291840" cy="365760"/>
          </a:xfrm>
          <a:prstGeom prst="rect">
            <a:avLst/>
          </a:prstGeom>
          <a:noFill/>
          <a:ln/>
        </p:spPr>
        <p:txBody>
          <a:bodyPr wrap="square" lIns="0" tIns="0" rIns="0" bIns="0" rtlCol="0" anchor="ctr"/>
          <a:lstStyle/>
          <a:p>
            <a:pPr indent="0" marL="0">
              <a:buNone/>
            </a:pPr>
            <a:r>
              <a:rPr lang="en-US" sz="1050" dirty="0">
                <a:solidFill>
                  <a:srgbClr val="3A4557"/>
                </a:solidFill>
                <a:latin typeface="Courier New" pitchFamily="34" charset="0"/>
                <a:ea typeface="Courier New" pitchFamily="34" charset="-122"/>
                <a:cs typeface="Courier New" pitchFamily="34" charset="-120"/>
              </a:rPr>
              <a:t>slo-infra-backup-success</a:t>
            </a:r>
            <a:endParaRPr lang="en-US" sz="1050" dirty="0"/>
          </a:p>
        </p:txBody>
      </p:sp>
      <p:sp>
        <p:nvSpPr>
          <p:cNvPr id="26" name="Shape 23"/>
          <p:cNvSpPr/>
          <p:nvPr/>
        </p:nvSpPr>
        <p:spPr>
          <a:xfrm>
            <a:off x="566928" y="3383280"/>
            <a:ext cx="3538728" cy="365760"/>
          </a:xfrm>
          <a:prstGeom prst="roundRect">
            <a:avLst>
              <a:gd name="adj" fmla="val 10000"/>
            </a:avLst>
          </a:prstGeom>
          <a:solidFill>
            <a:srgbClr val="F5F7FA"/>
          </a:solidFill>
          <a:ln w="12700">
            <a:solidFill>
              <a:srgbClr val="F5F7FA"/>
            </a:solidFill>
            <a:prstDash val="solid"/>
          </a:ln>
        </p:spPr>
      </p:sp>
      <p:sp>
        <p:nvSpPr>
          <p:cNvPr id="27" name="Text 24"/>
          <p:cNvSpPr/>
          <p:nvPr/>
        </p:nvSpPr>
        <p:spPr>
          <a:xfrm>
            <a:off x="713232" y="3383280"/>
            <a:ext cx="3291840" cy="365760"/>
          </a:xfrm>
          <a:prstGeom prst="rect">
            <a:avLst/>
          </a:prstGeom>
          <a:noFill/>
          <a:ln/>
        </p:spPr>
        <p:txBody>
          <a:bodyPr wrap="square" lIns="0" tIns="0" rIns="0" bIns="0" rtlCol="0" anchor="ctr"/>
          <a:lstStyle/>
          <a:p>
            <a:pPr indent="0" marL="0">
              <a:buNone/>
            </a:pPr>
            <a:r>
              <a:rPr lang="en-US" sz="1050" dirty="0">
                <a:solidFill>
                  <a:srgbClr val="3A4557"/>
                </a:solidFill>
                <a:latin typeface="Courier New" pitchFamily="34" charset="0"/>
                <a:ea typeface="Courier New" pitchFamily="34" charset="-122"/>
                <a:cs typeface="Courier New" pitchFamily="34" charset="-120"/>
              </a:rPr>
              <a:t>slo-vmware-cluster-availability</a:t>
            </a:r>
            <a:endParaRPr lang="en-US" sz="1050" dirty="0"/>
          </a:p>
        </p:txBody>
      </p:sp>
      <p:sp>
        <p:nvSpPr>
          <p:cNvPr id="28" name="Shape 25"/>
          <p:cNvSpPr/>
          <p:nvPr/>
        </p:nvSpPr>
        <p:spPr>
          <a:xfrm>
            <a:off x="4315968" y="3383280"/>
            <a:ext cx="3538728" cy="365760"/>
          </a:xfrm>
          <a:prstGeom prst="roundRect">
            <a:avLst>
              <a:gd name="adj" fmla="val 10000"/>
            </a:avLst>
          </a:prstGeom>
          <a:solidFill>
            <a:srgbClr val="F5F7FA"/>
          </a:solidFill>
          <a:ln w="12700">
            <a:solidFill>
              <a:srgbClr val="F5F7FA"/>
            </a:solidFill>
            <a:prstDash val="solid"/>
          </a:ln>
        </p:spPr>
      </p:sp>
      <p:sp>
        <p:nvSpPr>
          <p:cNvPr id="29" name="Text 26"/>
          <p:cNvSpPr/>
          <p:nvPr/>
        </p:nvSpPr>
        <p:spPr>
          <a:xfrm>
            <a:off x="4462272" y="3383280"/>
            <a:ext cx="3291840" cy="365760"/>
          </a:xfrm>
          <a:prstGeom prst="rect">
            <a:avLst/>
          </a:prstGeom>
          <a:noFill/>
          <a:ln/>
        </p:spPr>
        <p:txBody>
          <a:bodyPr wrap="square" lIns="0" tIns="0" rIns="0" bIns="0" rtlCol="0" anchor="ctr"/>
          <a:lstStyle/>
          <a:p>
            <a:pPr indent="0" marL="0">
              <a:buNone/>
            </a:pPr>
            <a:r>
              <a:rPr lang="en-US" sz="1050" dirty="0">
                <a:solidFill>
                  <a:srgbClr val="3A4557"/>
                </a:solidFill>
                <a:latin typeface="Courier New" pitchFamily="34" charset="0"/>
                <a:ea typeface="Courier New" pitchFamily="34" charset="-122"/>
                <a:cs typeface="Courier New" pitchFamily="34" charset="-120"/>
              </a:rPr>
              <a:t>slo-cloud-platform-availability</a:t>
            </a:r>
            <a:endParaRPr lang="en-US" sz="1050" dirty="0"/>
          </a:p>
        </p:txBody>
      </p:sp>
      <p:sp>
        <p:nvSpPr>
          <p:cNvPr id="30" name="Shape 27"/>
          <p:cNvSpPr/>
          <p:nvPr/>
        </p:nvSpPr>
        <p:spPr>
          <a:xfrm>
            <a:off x="8065008" y="3383280"/>
            <a:ext cx="3538728" cy="365760"/>
          </a:xfrm>
          <a:prstGeom prst="roundRect">
            <a:avLst>
              <a:gd name="adj" fmla="val 10000"/>
            </a:avLst>
          </a:prstGeom>
          <a:solidFill>
            <a:srgbClr val="F5F7FA"/>
          </a:solidFill>
          <a:ln w="12700">
            <a:solidFill>
              <a:srgbClr val="F5F7FA"/>
            </a:solidFill>
            <a:prstDash val="solid"/>
          </a:ln>
        </p:spPr>
      </p:sp>
      <p:sp>
        <p:nvSpPr>
          <p:cNvPr id="31" name="Text 28"/>
          <p:cNvSpPr/>
          <p:nvPr/>
        </p:nvSpPr>
        <p:spPr>
          <a:xfrm>
            <a:off x="8211312" y="3383280"/>
            <a:ext cx="3291840" cy="365760"/>
          </a:xfrm>
          <a:prstGeom prst="rect">
            <a:avLst/>
          </a:prstGeom>
          <a:noFill/>
          <a:ln/>
        </p:spPr>
        <p:txBody>
          <a:bodyPr wrap="square" lIns="0" tIns="0" rIns="0" bIns="0" rtlCol="0" anchor="ctr"/>
          <a:lstStyle/>
          <a:p>
            <a:pPr indent="0" marL="0">
              <a:buNone/>
            </a:pPr>
            <a:r>
              <a:rPr lang="en-US" sz="1050" dirty="0">
                <a:solidFill>
                  <a:srgbClr val="3A4557"/>
                </a:solidFill>
                <a:latin typeface="Courier New" pitchFamily="34" charset="0"/>
                <a:ea typeface="Courier New" pitchFamily="34" charset="-122"/>
                <a:cs typeface="Courier New" pitchFamily="34" charset="-120"/>
              </a:rPr>
              <a:t>slo-database-availability</a:t>
            </a:r>
            <a:endParaRPr lang="en-US" sz="1050" dirty="0"/>
          </a:p>
        </p:txBody>
      </p:sp>
      <p:sp>
        <p:nvSpPr>
          <p:cNvPr id="32" name="Shape 29"/>
          <p:cNvSpPr/>
          <p:nvPr/>
        </p:nvSpPr>
        <p:spPr>
          <a:xfrm>
            <a:off x="566928" y="3803904"/>
            <a:ext cx="3538728" cy="365760"/>
          </a:xfrm>
          <a:prstGeom prst="roundRect">
            <a:avLst>
              <a:gd name="adj" fmla="val 10000"/>
            </a:avLst>
          </a:prstGeom>
          <a:solidFill>
            <a:srgbClr val="F5F7FA"/>
          </a:solidFill>
          <a:ln w="12700">
            <a:solidFill>
              <a:srgbClr val="F5F7FA"/>
            </a:solidFill>
            <a:prstDash val="solid"/>
          </a:ln>
        </p:spPr>
      </p:sp>
      <p:sp>
        <p:nvSpPr>
          <p:cNvPr id="33" name="Text 30"/>
          <p:cNvSpPr/>
          <p:nvPr/>
        </p:nvSpPr>
        <p:spPr>
          <a:xfrm>
            <a:off x="713232" y="3803904"/>
            <a:ext cx="3291840" cy="365760"/>
          </a:xfrm>
          <a:prstGeom prst="rect">
            <a:avLst/>
          </a:prstGeom>
          <a:noFill/>
          <a:ln/>
        </p:spPr>
        <p:txBody>
          <a:bodyPr wrap="square" lIns="0" tIns="0" rIns="0" bIns="0" rtlCol="0" anchor="ctr"/>
          <a:lstStyle/>
          <a:p>
            <a:pPr indent="0" marL="0">
              <a:buNone/>
            </a:pPr>
            <a:r>
              <a:rPr lang="en-US" sz="1050" dirty="0">
                <a:solidFill>
                  <a:srgbClr val="3A4557"/>
                </a:solidFill>
                <a:latin typeface="Courier New" pitchFamily="34" charset="0"/>
                <a:ea typeface="Courier New" pitchFamily="34" charset="-122"/>
                <a:cs typeface="Courier New" pitchFamily="34" charset="-120"/>
              </a:rPr>
              <a:t>slo-database-latency</a:t>
            </a:r>
            <a:endParaRPr lang="en-US" sz="1050" dirty="0"/>
          </a:p>
        </p:txBody>
      </p:sp>
      <p:sp>
        <p:nvSpPr>
          <p:cNvPr id="34" name="Shape 31"/>
          <p:cNvSpPr/>
          <p:nvPr/>
        </p:nvSpPr>
        <p:spPr>
          <a:xfrm>
            <a:off x="4315968" y="3803904"/>
            <a:ext cx="3538728" cy="365760"/>
          </a:xfrm>
          <a:prstGeom prst="roundRect">
            <a:avLst>
              <a:gd name="adj" fmla="val 10000"/>
            </a:avLst>
          </a:prstGeom>
          <a:solidFill>
            <a:srgbClr val="F5F7FA"/>
          </a:solidFill>
          <a:ln w="12700">
            <a:solidFill>
              <a:srgbClr val="F5F7FA"/>
            </a:solidFill>
            <a:prstDash val="solid"/>
          </a:ln>
        </p:spPr>
      </p:sp>
      <p:sp>
        <p:nvSpPr>
          <p:cNvPr id="35" name="Text 32"/>
          <p:cNvSpPr/>
          <p:nvPr/>
        </p:nvSpPr>
        <p:spPr>
          <a:xfrm>
            <a:off x="4462272" y="3803904"/>
            <a:ext cx="3291840" cy="365760"/>
          </a:xfrm>
          <a:prstGeom prst="rect">
            <a:avLst/>
          </a:prstGeom>
          <a:noFill/>
          <a:ln/>
        </p:spPr>
        <p:txBody>
          <a:bodyPr wrap="square" lIns="0" tIns="0" rIns="0" bIns="0" rtlCol="0" anchor="ctr"/>
          <a:lstStyle/>
          <a:p>
            <a:pPr indent="0" marL="0">
              <a:buNone/>
            </a:pPr>
            <a:r>
              <a:rPr lang="en-US" sz="1050" dirty="0">
                <a:solidFill>
                  <a:srgbClr val="3A4557"/>
                </a:solidFill>
                <a:latin typeface="Courier New" pitchFamily="34" charset="0"/>
                <a:ea typeface="Courier New" pitchFamily="34" charset="-122"/>
                <a:cs typeface="Courier New" pitchFamily="34" charset="-120"/>
              </a:rPr>
              <a:t>slo-data-freshness</a:t>
            </a:r>
            <a:endParaRPr lang="en-US" sz="1050" dirty="0"/>
          </a:p>
        </p:txBody>
      </p:sp>
      <p:sp>
        <p:nvSpPr>
          <p:cNvPr id="36" name="Shape 33"/>
          <p:cNvSpPr/>
          <p:nvPr/>
        </p:nvSpPr>
        <p:spPr>
          <a:xfrm>
            <a:off x="8065008" y="3803904"/>
            <a:ext cx="3538728" cy="365760"/>
          </a:xfrm>
          <a:prstGeom prst="roundRect">
            <a:avLst>
              <a:gd name="adj" fmla="val 10000"/>
            </a:avLst>
          </a:prstGeom>
          <a:solidFill>
            <a:srgbClr val="F5F7FA"/>
          </a:solidFill>
          <a:ln w="12700">
            <a:solidFill>
              <a:srgbClr val="F5F7FA"/>
            </a:solidFill>
            <a:prstDash val="solid"/>
          </a:ln>
        </p:spPr>
      </p:sp>
      <p:sp>
        <p:nvSpPr>
          <p:cNvPr id="37" name="Text 34"/>
          <p:cNvSpPr/>
          <p:nvPr/>
        </p:nvSpPr>
        <p:spPr>
          <a:xfrm>
            <a:off x="8211312" y="3803904"/>
            <a:ext cx="3291840" cy="365760"/>
          </a:xfrm>
          <a:prstGeom prst="rect">
            <a:avLst/>
          </a:prstGeom>
          <a:noFill/>
          <a:ln/>
        </p:spPr>
        <p:txBody>
          <a:bodyPr wrap="square" lIns="0" tIns="0" rIns="0" bIns="0" rtlCol="0" anchor="ctr"/>
          <a:lstStyle/>
          <a:p>
            <a:pPr indent="0" marL="0">
              <a:buNone/>
            </a:pPr>
            <a:r>
              <a:rPr lang="en-US" sz="1050" dirty="0">
                <a:solidFill>
                  <a:srgbClr val="3A4557"/>
                </a:solidFill>
                <a:latin typeface="Courier New" pitchFamily="34" charset="0"/>
                <a:ea typeface="Courier New" pitchFamily="34" charset="-122"/>
                <a:cs typeface="Courier New" pitchFamily="34" charset="-120"/>
              </a:rPr>
              <a:t>slo-messaging-delivery</a:t>
            </a:r>
            <a:endParaRPr lang="en-US" sz="1050" dirty="0"/>
          </a:p>
        </p:txBody>
      </p:sp>
      <p:sp>
        <p:nvSpPr>
          <p:cNvPr id="38" name="Shape 35"/>
          <p:cNvSpPr/>
          <p:nvPr/>
        </p:nvSpPr>
        <p:spPr>
          <a:xfrm>
            <a:off x="566928" y="4224528"/>
            <a:ext cx="3538728" cy="365760"/>
          </a:xfrm>
          <a:prstGeom prst="roundRect">
            <a:avLst>
              <a:gd name="adj" fmla="val 10000"/>
            </a:avLst>
          </a:prstGeom>
          <a:solidFill>
            <a:srgbClr val="F5F7FA"/>
          </a:solidFill>
          <a:ln w="12700">
            <a:solidFill>
              <a:srgbClr val="F5F7FA"/>
            </a:solidFill>
            <a:prstDash val="solid"/>
          </a:ln>
        </p:spPr>
      </p:sp>
      <p:sp>
        <p:nvSpPr>
          <p:cNvPr id="39" name="Text 36"/>
          <p:cNvSpPr/>
          <p:nvPr/>
        </p:nvSpPr>
        <p:spPr>
          <a:xfrm>
            <a:off x="713232" y="4224528"/>
            <a:ext cx="3291840" cy="365760"/>
          </a:xfrm>
          <a:prstGeom prst="rect">
            <a:avLst/>
          </a:prstGeom>
          <a:noFill/>
          <a:ln/>
        </p:spPr>
        <p:txBody>
          <a:bodyPr wrap="square" lIns="0" tIns="0" rIns="0" bIns="0" rtlCol="0" anchor="ctr"/>
          <a:lstStyle/>
          <a:p>
            <a:pPr indent="0" marL="0">
              <a:buNone/>
            </a:pPr>
            <a:r>
              <a:rPr lang="en-US" sz="1050" dirty="0">
                <a:solidFill>
                  <a:srgbClr val="3A4557"/>
                </a:solidFill>
                <a:latin typeface="Courier New" pitchFamily="34" charset="0"/>
                <a:ea typeface="Courier New" pitchFamily="34" charset="-122"/>
                <a:cs typeface="Courier New" pitchFamily="34" charset="-120"/>
              </a:rPr>
              <a:t>slo-network-availability</a:t>
            </a:r>
            <a:endParaRPr lang="en-US" sz="1050" dirty="0"/>
          </a:p>
        </p:txBody>
      </p:sp>
      <p:sp>
        <p:nvSpPr>
          <p:cNvPr id="40" name="Shape 37"/>
          <p:cNvSpPr/>
          <p:nvPr/>
        </p:nvSpPr>
        <p:spPr>
          <a:xfrm>
            <a:off x="4315968" y="4224528"/>
            <a:ext cx="3538728" cy="365760"/>
          </a:xfrm>
          <a:prstGeom prst="roundRect">
            <a:avLst>
              <a:gd name="adj" fmla="val 10000"/>
            </a:avLst>
          </a:prstGeom>
          <a:solidFill>
            <a:srgbClr val="F5F7FA"/>
          </a:solidFill>
          <a:ln w="12700">
            <a:solidFill>
              <a:srgbClr val="F5F7FA"/>
            </a:solidFill>
            <a:prstDash val="solid"/>
          </a:ln>
        </p:spPr>
      </p:sp>
      <p:sp>
        <p:nvSpPr>
          <p:cNvPr id="41" name="Text 38"/>
          <p:cNvSpPr/>
          <p:nvPr/>
        </p:nvSpPr>
        <p:spPr>
          <a:xfrm>
            <a:off x="4462272" y="4224528"/>
            <a:ext cx="3291840" cy="365760"/>
          </a:xfrm>
          <a:prstGeom prst="rect">
            <a:avLst/>
          </a:prstGeom>
          <a:noFill/>
          <a:ln/>
        </p:spPr>
        <p:txBody>
          <a:bodyPr wrap="square" lIns="0" tIns="0" rIns="0" bIns="0" rtlCol="0" anchor="ctr"/>
          <a:lstStyle/>
          <a:p>
            <a:pPr indent="0" marL="0">
              <a:buNone/>
            </a:pPr>
            <a:r>
              <a:rPr lang="en-US" sz="1050" dirty="0">
                <a:solidFill>
                  <a:srgbClr val="3A4557"/>
                </a:solidFill>
                <a:latin typeface="Courier New" pitchFamily="34" charset="0"/>
                <a:ea typeface="Courier New" pitchFamily="34" charset="-122"/>
                <a:cs typeface="Courier New" pitchFamily="34" charset="-120"/>
              </a:rPr>
              <a:t>slo-security-telemetry</a:t>
            </a:r>
            <a:endParaRPr lang="en-US" sz="1050" dirty="0"/>
          </a:p>
        </p:txBody>
      </p:sp>
      <p:sp>
        <p:nvSpPr>
          <p:cNvPr id="42" name="Shape 39"/>
          <p:cNvSpPr/>
          <p:nvPr/>
        </p:nvSpPr>
        <p:spPr>
          <a:xfrm>
            <a:off x="8065008" y="4224528"/>
            <a:ext cx="3538728" cy="365760"/>
          </a:xfrm>
          <a:prstGeom prst="roundRect">
            <a:avLst>
              <a:gd name="adj" fmla="val 10000"/>
            </a:avLst>
          </a:prstGeom>
          <a:solidFill>
            <a:srgbClr val="F5F7FA"/>
          </a:solidFill>
          <a:ln w="12700">
            <a:solidFill>
              <a:srgbClr val="F5F7FA"/>
            </a:solidFill>
            <a:prstDash val="solid"/>
          </a:ln>
        </p:spPr>
      </p:sp>
      <p:sp>
        <p:nvSpPr>
          <p:cNvPr id="43" name="Text 40"/>
          <p:cNvSpPr/>
          <p:nvPr/>
        </p:nvSpPr>
        <p:spPr>
          <a:xfrm>
            <a:off x="8211312" y="4224528"/>
            <a:ext cx="3291840" cy="365760"/>
          </a:xfrm>
          <a:prstGeom prst="rect">
            <a:avLst/>
          </a:prstGeom>
          <a:noFill/>
          <a:ln/>
        </p:spPr>
        <p:txBody>
          <a:bodyPr wrap="square" lIns="0" tIns="0" rIns="0" bIns="0" rtlCol="0" anchor="ctr"/>
          <a:lstStyle/>
          <a:p>
            <a:pPr indent="0" marL="0">
              <a:buNone/>
            </a:pPr>
            <a:r>
              <a:rPr lang="en-US" sz="1050" dirty="0">
                <a:solidFill>
                  <a:srgbClr val="3A4557"/>
                </a:solidFill>
                <a:latin typeface="Courier New" pitchFamily="34" charset="0"/>
                <a:ea typeface="Courier New" pitchFamily="34" charset="-122"/>
                <a:cs typeface="Courier New" pitchFamily="34" charset="-120"/>
              </a:rPr>
              <a:t>slo-external-dependency</a:t>
            </a:r>
            <a:endParaRPr lang="en-US" sz="1050" dirty="0"/>
          </a:p>
        </p:txBody>
      </p:sp>
      <p:sp>
        <p:nvSpPr>
          <p:cNvPr id="44" name="Shape 41"/>
          <p:cNvSpPr/>
          <p:nvPr/>
        </p:nvSpPr>
        <p:spPr>
          <a:xfrm>
            <a:off x="566928" y="4645152"/>
            <a:ext cx="3538728" cy="365760"/>
          </a:xfrm>
          <a:prstGeom prst="roundRect">
            <a:avLst>
              <a:gd name="adj" fmla="val 10000"/>
            </a:avLst>
          </a:prstGeom>
          <a:solidFill>
            <a:srgbClr val="F5F7FA"/>
          </a:solidFill>
          <a:ln w="12700">
            <a:solidFill>
              <a:srgbClr val="F5F7FA"/>
            </a:solidFill>
            <a:prstDash val="solid"/>
          </a:ln>
        </p:spPr>
      </p:sp>
      <p:sp>
        <p:nvSpPr>
          <p:cNvPr id="45" name="Text 42"/>
          <p:cNvSpPr/>
          <p:nvPr/>
        </p:nvSpPr>
        <p:spPr>
          <a:xfrm>
            <a:off x="713232" y="4645152"/>
            <a:ext cx="3291840" cy="365760"/>
          </a:xfrm>
          <a:prstGeom prst="rect">
            <a:avLst/>
          </a:prstGeom>
          <a:noFill/>
          <a:ln/>
        </p:spPr>
        <p:txBody>
          <a:bodyPr wrap="square" lIns="0" tIns="0" rIns="0" bIns="0" rtlCol="0" anchor="ctr"/>
          <a:lstStyle/>
          <a:p>
            <a:pPr indent="0" marL="0">
              <a:buNone/>
            </a:pPr>
            <a:r>
              <a:rPr lang="en-US" sz="1050" dirty="0">
                <a:solidFill>
                  <a:srgbClr val="3A4557"/>
                </a:solidFill>
                <a:latin typeface="Courier New" pitchFamily="34" charset="0"/>
                <a:ea typeface="Courier New" pitchFamily="34" charset="-122"/>
                <a:cs typeface="Courier New" pitchFamily="34" charset="-120"/>
              </a:rPr>
              <a:t>slo-integration-delivery</a:t>
            </a:r>
            <a:endParaRPr lang="en-US" sz="1050" dirty="0"/>
          </a:p>
        </p:txBody>
      </p:sp>
      <p:sp>
        <p:nvSpPr>
          <p:cNvPr id="46" name="Shape 43"/>
          <p:cNvSpPr/>
          <p:nvPr/>
        </p:nvSpPr>
        <p:spPr>
          <a:xfrm>
            <a:off x="4315968" y="4645152"/>
            <a:ext cx="3538728" cy="365760"/>
          </a:xfrm>
          <a:prstGeom prst="roundRect">
            <a:avLst>
              <a:gd name="adj" fmla="val 10000"/>
            </a:avLst>
          </a:prstGeom>
          <a:solidFill>
            <a:srgbClr val="F5F7FA"/>
          </a:solidFill>
          <a:ln w="12700">
            <a:solidFill>
              <a:srgbClr val="F5F7FA"/>
            </a:solidFill>
            <a:prstDash val="solid"/>
          </a:ln>
        </p:spPr>
      </p:sp>
      <p:sp>
        <p:nvSpPr>
          <p:cNvPr id="47" name="Text 44"/>
          <p:cNvSpPr/>
          <p:nvPr/>
        </p:nvSpPr>
        <p:spPr>
          <a:xfrm>
            <a:off x="4462272" y="4645152"/>
            <a:ext cx="3291840" cy="365760"/>
          </a:xfrm>
          <a:prstGeom prst="rect">
            <a:avLst/>
          </a:prstGeom>
          <a:noFill/>
          <a:ln/>
        </p:spPr>
        <p:txBody>
          <a:bodyPr wrap="square" lIns="0" tIns="0" rIns="0" bIns="0" rtlCol="0" anchor="ctr"/>
          <a:lstStyle/>
          <a:p>
            <a:pPr indent="0" marL="0">
              <a:buNone/>
            </a:pPr>
            <a:r>
              <a:rPr lang="en-US" sz="1050" dirty="0">
                <a:solidFill>
                  <a:srgbClr val="3A4557"/>
                </a:solidFill>
                <a:latin typeface="Courier New" pitchFamily="34" charset="0"/>
                <a:ea typeface="Courier New" pitchFamily="34" charset="-122"/>
                <a:cs typeface="Courier New" pitchFamily="34" charset="-120"/>
              </a:rPr>
              <a:t>slo-batch-completion</a:t>
            </a:r>
            <a:endParaRPr lang="en-US" sz="1050" dirty="0"/>
          </a:p>
        </p:txBody>
      </p:sp>
      <p:sp>
        <p:nvSpPr>
          <p:cNvPr id="48" name="Shape 45"/>
          <p:cNvSpPr/>
          <p:nvPr/>
        </p:nvSpPr>
        <p:spPr>
          <a:xfrm>
            <a:off x="8065008" y="4645152"/>
            <a:ext cx="3538728" cy="365760"/>
          </a:xfrm>
          <a:prstGeom prst="roundRect">
            <a:avLst>
              <a:gd name="adj" fmla="val 10000"/>
            </a:avLst>
          </a:prstGeom>
          <a:solidFill>
            <a:srgbClr val="F5F7FA"/>
          </a:solidFill>
          <a:ln w="12700">
            <a:solidFill>
              <a:srgbClr val="F5F7FA"/>
            </a:solidFill>
            <a:prstDash val="solid"/>
          </a:ln>
        </p:spPr>
      </p:sp>
      <p:sp>
        <p:nvSpPr>
          <p:cNvPr id="49" name="Text 46"/>
          <p:cNvSpPr/>
          <p:nvPr/>
        </p:nvSpPr>
        <p:spPr>
          <a:xfrm>
            <a:off x="8211312" y="4645152"/>
            <a:ext cx="3291840" cy="365760"/>
          </a:xfrm>
          <a:prstGeom prst="rect">
            <a:avLst/>
          </a:prstGeom>
          <a:noFill/>
          <a:ln/>
        </p:spPr>
        <p:txBody>
          <a:bodyPr wrap="square" lIns="0" tIns="0" rIns="0" bIns="0" rtlCol="0" anchor="ctr"/>
          <a:lstStyle/>
          <a:p>
            <a:pPr indent="0" marL="0">
              <a:buNone/>
            </a:pPr>
            <a:r>
              <a:rPr lang="en-US" sz="1050" dirty="0">
                <a:solidFill>
                  <a:srgbClr val="3A4557"/>
                </a:solidFill>
                <a:latin typeface="Courier New" pitchFamily="34" charset="0"/>
                <a:ea typeface="Courier New" pitchFamily="34" charset="-122"/>
                <a:cs typeface="Courier New" pitchFamily="34" charset="-120"/>
              </a:rPr>
              <a:t>slo-platform-services</a:t>
            </a:r>
            <a:endParaRPr lang="en-US" sz="1050" dirty="0"/>
          </a:p>
        </p:txBody>
      </p:sp>
      <p:sp>
        <p:nvSpPr>
          <p:cNvPr id="50" name="Shape 47"/>
          <p:cNvSpPr/>
          <p:nvPr/>
        </p:nvSpPr>
        <p:spPr>
          <a:xfrm>
            <a:off x="566928" y="5212080"/>
            <a:ext cx="5349240" cy="868680"/>
          </a:xfrm>
          <a:prstGeom prst="roundRect">
            <a:avLst>
              <a:gd name="adj" fmla="val 6316"/>
            </a:avLst>
          </a:prstGeom>
          <a:solidFill>
            <a:srgbClr val="12161F"/>
          </a:solidFill>
          <a:ln w="12700">
            <a:solidFill>
              <a:srgbClr val="12161F"/>
            </a:solidFill>
            <a:prstDash val="solid"/>
          </a:ln>
        </p:spPr>
      </p:sp>
      <p:sp>
        <p:nvSpPr>
          <p:cNvPr id="51" name="Text 48"/>
          <p:cNvSpPr/>
          <p:nvPr/>
        </p:nvSpPr>
        <p:spPr>
          <a:xfrm>
            <a:off x="822960" y="5321808"/>
            <a:ext cx="4846320" cy="274320"/>
          </a:xfrm>
          <a:prstGeom prst="rect">
            <a:avLst/>
          </a:prstGeom>
          <a:noFill/>
          <a:ln/>
        </p:spPr>
        <p:txBody>
          <a:bodyPr wrap="square" lIns="0" tIns="0" rIns="0" bIns="0" rtlCol="0" anchor="ctr"/>
          <a:lstStyle/>
          <a:p>
            <a:pPr indent="0" marL="0">
              <a:buNone/>
            </a:pPr>
            <a:r>
              <a:rPr lang="en-US" sz="1250" b="1" dirty="0">
                <a:solidFill>
                  <a:srgbClr val="E09A2E"/>
                </a:solidFill>
                <a:latin typeface="Calibri" pitchFamily="34" charset="0"/>
                <a:ea typeface="Calibri" pitchFamily="34" charset="-122"/>
                <a:cs typeface="Calibri" pitchFamily="34" charset="-120"/>
              </a:rPr>
              <a:t>+ one per tier0 service</a:t>
            </a:r>
            <a:endParaRPr lang="en-US" sz="1250" dirty="0"/>
          </a:p>
        </p:txBody>
      </p:sp>
      <p:sp>
        <p:nvSpPr>
          <p:cNvPr id="52" name="Text 49"/>
          <p:cNvSpPr/>
          <p:nvPr/>
        </p:nvSpPr>
        <p:spPr>
          <a:xfrm>
            <a:off x="822960" y="5559552"/>
            <a:ext cx="4846320" cy="512064"/>
          </a:xfrm>
          <a:prstGeom prst="rect">
            <a:avLst/>
          </a:prstGeom>
          <a:noFill/>
          <a:ln/>
        </p:spPr>
        <p:txBody>
          <a:bodyPr wrap="square" lIns="0" tIns="0" rIns="0" bIns="0" rtlCol="0" anchor="t"/>
          <a:lstStyle/>
          <a:p>
            <a:pPr indent="0" marL="0">
              <a:buNone/>
            </a:pPr>
            <a:r>
              <a:rPr lang="en-US" sz="1050" dirty="0">
                <a:solidFill>
                  <a:srgbClr val="AEBACD"/>
                </a:solidFill>
                <a:latin typeface="Calibri" pitchFamily="34" charset="0"/>
                <a:ea typeface="Calibri" pitchFamily="34" charset="-122"/>
                <a:cs typeface="Calibri" pitchFamily="34" charset="-120"/>
              </a:rPr>
              <a:t>Today: identity-api. Total 22 objectives → 41 burn-rate monitors. Infrastructure carries no SLO, deliberately — a host has no customer-facing objective; the service on it does.</a:t>
            </a:r>
            <a:endParaRPr lang="en-US" sz="1050" dirty="0"/>
          </a:p>
        </p:txBody>
      </p:sp>
      <p:sp>
        <p:nvSpPr>
          <p:cNvPr id="53" name="Shape 50"/>
          <p:cNvSpPr/>
          <p:nvPr/>
        </p:nvSpPr>
        <p:spPr>
          <a:xfrm>
            <a:off x="6281928" y="5166360"/>
            <a:ext cx="2560320" cy="384048"/>
          </a:xfrm>
          <a:prstGeom prst="roundRect">
            <a:avLst>
              <a:gd name="adj" fmla="val 9524"/>
            </a:avLst>
          </a:prstGeom>
          <a:solidFill>
            <a:srgbClr val="FBF1E2"/>
          </a:solidFill>
          <a:ln w="12700">
            <a:solidFill>
              <a:srgbClr val="FBF1E2"/>
            </a:solidFill>
            <a:prstDash val="solid"/>
          </a:ln>
        </p:spPr>
      </p:sp>
      <p:sp>
        <p:nvSpPr>
          <p:cNvPr id="54" name="Text 51"/>
          <p:cNvSpPr/>
          <p:nvPr/>
        </p:nvSpPr>
        <p:spPr>
          <a:xfrm>
            <a:off x="6409944" y="5166360"/>
            <a:ext cx="1828800" cy="384048"/>
          </a:xfrm>
          <a:prstGeom prst="rect">
            <a:avLst/>
          </a:prstGeom>
          <a:noFill/>
          <a:ln/>
        </p:spPr>
        <p:txBody>
          <a:bodyPr wrap="square" lIns="0" tIns="0" rIns="0" bIns="0" rtlCol="0" anchor="ctr"/>
          <a:lstStyle/>
          <a:p>
            <a:pPr indent="0" marL="0">
              <a:buNone/>
            </a:pPr>
            <a:r>
              <a:rPr lang="en-US" sz="1000" b="1" dirty="0">
                <a:solidFill>
                  <a:srgbClr val="161C28"/>
                </a:solidFill>
                <a:latin typeface="Calibri" pitchFamily="34" charset="0"/>
                <a:ea typeface="Calibri" pitchFamily="34" charset="-122"/>
                <a:cs typeface="Calibri" pitchFamily="34" charset="-120"/>
              </a:rPr>
              <a:t>fast  1h / 5m · 14.4×</a:t>
            </a:r>
            <a:endParaRPr lang="en-US" sz="1000" dirty="0"/>
          </a:p>
        </p:txBody>
      </p:sp>
      <p:sp>
        <p:nvSpPr>
          <p:cNvPr id="55" name="Text 52"/>
          <p:cNvSpPr/>
          <p:nvPr/>
        </p:nvSpPr>
        <p:spPr>
          <a:xfrm>
            <a:off x="8156448" y="5166360"/>
            <a:ext cx="594360" cy="384048"/>
          </a:xfrm>
          <a:prstGeom prst="rect">
            <a:avLst/>
          </a:prstGeom>
          <a:noFill/>
          <a:ln/>
        </p:spPr>
        <p:txBody>
          <a:bodyPr wrap="square" lIns="0" tIns="0" rIns="0" bIns="0" rtlCol="0" anchor="ctr"/>
          <a:lstStyle/>
          <a:p>
            <a:pPr algn="r" indent="0" marL="0">
              <a:buNone/>
            </a:pPr>
            <a:r>
              <a:rPr lang="en-US" sz="850" b="1" dirty="0">
                <a:solidFill>
                  <a:srgbClr val="BE4A3F"/>
                </a:solidFill>
                <a:latin typeface="Calibri" pitchFamily="34" charset="0"/>
                <a:ea typeface="Calibri" pitchFamily="34" charset="-122"/>
                <a:cs typeface="Calibri" pitchFamily="34" charset="-120"/>
              </a:rPr>
              <a:t>PAGE</a:t>
            </a:r>
            <a:endParaRPr lang="en-US" sz="850" dirty="0"/>
          </a:p>
        </p:txBody>
      </p:sp>
      <p:sp>
        <p:nvSpPr>
          <p:cNvPr id="56" name="Shape 53"/>
          <p:cNvSpPr/>
          <p:nvPr/>
        </p:nvSpPr>
        <p:spPr>
          <a:xfrm>
            <a:off x="8979408" y="5166360"/>
            <a:ext cx="2560320" cy="384048"/>
          </a:xfrm>
          <a:prstGeom prst="roundRect">
            <a:avLst>
              <a:gd name="adj" fmla="val 9524"/>
            </a:avLst>
          </a:prstGeom>
          <a:solidFill>
            <a:srgbClr val="FBF1E2"/>
          </a:solidFill>
          <a:ln w="12700">
            <a:solidFill>
              <a:srgbClr val="FBF1E2"/>
            </a:solidFill>
            <a:prstDash val="solid"/>
          </a:ln>
        </p:spPr>
      </p:sp>
      <p:sp>
        <p:nvSpPr>
          <p:cNvPr id="57" name="Text 54"/>
          <p:cNvSpPr/>
          <p:nvPr/>
        </p:nvSpPr>
        <p:spPr>
          <a:xfrm>
            <a:off x="9107424" y="5166360"/>
            <a:ext cx="1828800" cy="384048"/>
          </a:xfrm>
          <a:prstGeom prst="rect">
            <a:avLst/>
          </a:prstGeom>
          <a:noFill/>
          <a:ln/>
        </p:spPr>
        <p:txBody>
          <a:bodyPr wrap="square" lIns="0" tIns="0" rIns="0" bIns="0" rtlCol="0" anchor="ctr"/>
          <a:lstStyle/>
          <a:p>
            <a:pPr indent="0" marL="0">
              <a:buNone/>
            </a:pPr>
            <a:r>
              <a:rPr lang="en-US" sz="1000" b="1" dirty="0">
                <a:solidFill>
                  <a:srgbClr val="161C28"/>
                </a:solidFill>
                <a:latin typeface="Calibri" pitchFamily="34" charset="0"/>
                <a:ea typeface="Calibri" pitchFamily="34" charset="-122"/>
                <a:cs typeface="Calibri" pitchFamily="34" charset="-120"/>
              </a:rPr>
              <a:t>medium  6h / 30m · 6×</a:t>
            </a:r>
            <a:endParaRPr lang="en-US" sz="1000" dirty="0"/>
          </a:p>
        </p:txBody>
      </p:sp>
      <p:sp>
        <p:nvSpPr>
          <p:cNvPr id="58" name="Text 55"/>
          <p:cNvSpPr/>
          <p:nvPr/>
        </p:nvSpPr>
        <p:spPr>
          <a:xfrm>
            <a:off x="10853928" y="5166360"/>
            <a:ext cx="594360" cy="384048"/>
          </a:xfrm>
          <a:prstGeom prst="rect">
            <a:avLst/>
          </a:prstGeom>
          <a:noFill/>
          <a:ln/>
        </p:spPr>
        <p:txBody>
          <a:bodyPr wrap="square" lIns="0" tIns="0" rIns="0" bIns="0" rtlCol="0" anchor="ctr"/>
          <a:lstStyle/>
          <a:p>
            <a:pPr algn="r" indent="0" marL="0">
              <a:buNone/>
            </a:pPr>
            <a:r>
              <a:rPr lang="en-US" sz="850" b="1" dirty="0">
                <a:solidFill>
                  <a:srgbClr val="BE4A3F"/>
                </a:solidFill>
                <a:latin typeface="Calibri" pitchFamily="34" charset="0"/>
                <a:ea typeface="Calibri" pitchFamily="34" charset="-122"/>
                <a:cs typeface="Calibri" pitchFamily="34" charset="-120"/>
              </a:rPr>
              <a:t>PAGE</a:t>
            </a:r>
            <a:endParaRPr lang="en-US" sz="850" dirty="0"/>
          </a:p>
        </p:txBody>
      </p:sp>
      <p:sp>
        <p:nvSpPr>
          <p:cNvPr id="59" name="Shape 56"/>
          <p:cNvSpPr/>
          <p:nvPr/>
        </p:nvSpPr>
        <p:spPr>
          <a:xfrm>
            <a:off x="6281928" y="5605272"/>
            <a:ext cx="2560320" cy="384048"/>
          </a:xfrm>
          <a:prstGeom prst="roundRect">
            <a:avLst>
              <a:gd name="adj" fmla="val 9524"/>
            </a:avLst>
          </a:prstGeom>
          <a:solidFill>
            <a:srgbClr val="F5F7FA"/>
          </a:solidFill>
          <a:ln w="12700">
            <a:solidFill>
              <a:srgbClr val="F5F7FA"/>
            </a:solidFill>
            <a:prstDash val="solid"/>
          </a:ln>
        </p:spPr>
      </p:sp>
      <p:sp>
        <p:nvSpPr>
          <p:cNvPr id="60" name="Text 57"/>
          <p:cNvSpPr/>
          <p:nvPr/>
        </p:nvSpPr>
        <p:spPr>
          <a:xfrm>
            <a:off x="6409944" y="5605272"/>
            <a:ext cx="1828800" cy="384048"/>
          </a:xfrm>
          <a:prstGeom prst="rect">
            <a:avLst/>
          </a:prstGeom>
          <a:noFill/>
          <a:ln/>
        </p:spPr>
        <p:txBody>
          <a:bodyPr wrap="square" lIns="0" tIns="0" rIns="0" bIns="0" rtlCol="0" anchor="ctr"/>
          <a:lstStyle/>
          <a:p>
            <a:pPr indent="0" marL="0">
              <a:buNone/>
            </a:pPr>
            <a:r>
              <a:rPr lang="en-US" sz="1000" b="1" dirty="0">
                <a:solidFill>
                  <a:srgbClr val="161C28"/>
                </a:solidFill>
                <a:latin typeface="Calibri" pitchFamily="34" charset="0"/>
                <a:ea typeface="Calibri" pitchFamily="34" charset="-122"/>
                <a:cs typeface="Calibri" pitchFamily="34" charset="-120"/>
              </a:rPr>
              <a:t>slow  24h / 2h · 3×</a:t>
            </a:r>
            <a:endParaRPr lang="en-US" sz="1000" dirty="0"/>
          </a:p>
        </p:txBody>
      </p:sp>
      <p:sp>
        <p:nvSpPr>
          <p:cNvPr id="61" name="Text 58"/>
          <p:cNvSpPr/>
          <p:nvPr/>
        </p:nvSpPr>
        <p:spPr>
          <a:xfrm>
            <a:off x="8156448" y="5605272"/>
            <a:ext cx="594360" cy="384048"/>
          </a:xfrm>
          <a:prstGeom prst="rect">
            <a:avLst/>
          </a:prstGeom>
          <a:noFill/>
          <a:ln/>
        </p:spPr>
        <p:txBody>
          <a:bodyPr wrap="square" lIns="0" tIns="0" rIns="0" bIns="0" rtlCol="0" anchor="ctr"/>
          <a:lstStyle/>
          <a:p>
            <a:pPr algn="r" indent="0" marL="0">
              <a:buNone/>
            </a:pPr>
            <a:r>
              <a:rPr lang="en-US" sz="850" b="1" dirty="0">
                <a:solidFill>
                  <a:srgbClr val="6B7891"/>
                </a:solidFill>
                <a:latin typeface="Calibri" pitchFamily="34" charset="0"/>
                <a:ea typeface="Calibri" pitchFamily="34" charset="-122"/>
                <a:cs typeface="Calibri" pitchFamily="34" charset="-120"/>
              </a:rPr>
              <a:t>ticket</a:t>
            </a:r>
            <a:endParaRPr lang="en-US" sz="850" dirty="0"/>
          </a:p>
        </p:txBody>
      </p:sp>
      <p:sp>
        <p:nvSpPr>
          <p:cNvPr id="62" name="Shape 59"/>
          <p:cNvSpPr/>
          <p:nvPr/>
        </p:nvSpPr>
        <p:spPr>
          <a:xfrm>
            <a:off x="8979408" y="5605272"/>
            <a:ext cx="2560320" cy="384048"/>
          </a:xfrm>
          <a:prstGeom prst="roundRect">
            <a:avLst>
              <a:gd name="adj" fmla="val 9524"/>
            </a:avLst>
          </a:prstGeom>
          <a:solidFill>
            <a:srgbClr val="F5F7FA"/>
          </a:solidFill>
          <a:ln w="12700">
            <a:solidFill>
              <a:srgbClr val="F5F7FA"/>
            </a:solidFill>
            <a:prstDash val="solid"/>
          </a:ln>
        </p:spPr>
      </p:sp>
      <p:sp>
        <p:nvSpPr>
          <p:cNvPr id="63" name="Text 60"/>
          <p:cNvSpPr/>
          <p:nvPr/>
        </p:nvSpPr>
        <p:spPr>
          <a:xfrm>
            <a:off x="9107424" y="5605272"/>
            <a:ext cx="1828800" cy="384048"/>
          </a:xfrm>
          <a:prstGeom prst="rect">
            <a:avLst/>
          </a:prstGeom>
          <a:noFill/>
          <a:ln/>
        </p:spPr>
        <p:txBody>
          <a:bodyPr wrap="square" lIns="0" tIns="0" rIns="0" bIns="0" rtlCol="0" anchor="ctr"/>
          <a:lstStyle/>
          <a:p>
            <a:pPr indent="0" marL="0">
              <a:buNone/>
            </a:pPr>
            <a:r>
              <a:rPr lang="en-US" sz="1000" b="1" dirty="0">
                <a:solidFill>
                  <a:srgbClr val="161C28"/>
                </a:solidFill>
                <a:latin typeface="Calibri" pitchFamily="34" charset="0"/>
                <a:ea typeface="Calibri" pitchFamily="34" charset="-122"/>
                <a:cs typeface="Calibri" pitchFamily="34" charset="-120"/>
              </a:rPr>
              <a:t>trend  72h / 6h · 1×</a:t>
            </a:r>
            <a:endParaRPr lang="en-US" sz="1000" dirty="0"/>
          </a:p>
        </p:txBody>
      </p:sp>
      <p:sp>
        <p:nvSpPr>
          <p:cNvPr id="64" name="Text 61"/>
          <p:cNvSpPr/>
          <p:nvPr/>
        </p:nvSpPr>
        <p:spPr>
          <a:xfrm>
            <a:off x="10853928" y="5605272"/>
            <a:ext cx="594360" cy="384048"/>
          </a:xfrm>
          <a:prstGeom prst="rect">
            <a:avLst/>
          </a:prstGeom>
          <a:noFill/>
          <a:ln/>
        </p:spPr>
        <p:txBody>
          <a:bodyPr wrap="square" lIns="0" tIns="0" rIns="0" bIns="0" rtlCol="0" anchor="ctr"/>
          <a:lstStyle/>
          <a:p>
            <a:pPr algn="r" indent="0" marL="0">
              <a:buNone/>
            </a:pPr>
            <a:r>
              <a:rPr lang="en-US" sz="850" b="1" dirty="0">
                <a:solidFill>
                  <a:srgbClr val="6B7891"/>
                </a:solidFill>
                <a:latin typeface="Calibri" pitchFamily="34" charset="0"/>
                <a:ea typeface="Calibri" pitchFamily="34" charset="-122"/>
                <a:cs typeface="Calibri" pitchFamily="34" charset="-120"/>
              </a:rPr>
              <a:t>informational</a:t>
            </a:r>
            <a:endParaRPr lang="en-US" sz="850" dirty="0"/>
          </a:p>
        </p:txBody>
      </p:sp>
      <p:sp>
        <p:nvSpPr>
          <p:cNvPr id="65" name="Text 62"/>
          <p:cNvSpPr/>
          <p:nvPr/>
        </p:nvSpPr>
        <p:spPr>
          <a:xfrm>
            <a:off x="6281928" y="6053328"/>
            <a:ext cx="5349240" cy="274320"/>
          </a:xfrm>
          <a:prstGeom prst="rect">
            <a:avLst/>
          </a:prstGeom>
          <a:noFill/>
          <a:ln/>
        </p:spPr>
        <p:txBody>
          <a:bodyPr wrap="square" lIns="0" tIns="0" rIns="0" bIns="0" rtlCol="0" anchor="ctr"/>
          <a:lstStyle/>
          <a:p>
            <a:pPr indent="0" marL="0">
              <a:buNone/>
            </a:pPr>
            <a:r>
              <a:rPr lang="en-US" sz="1050" dirty="0">
                <a:solidFill>
                  <a:srgbClr val="6B7891"/>
                </a:solidFill>
                <a:latin typeface="Calibri" pitchFamily="34" charset="0"/>
                <a:ea typeface="Calibri" pitchFamily="34" charset="-122"/>
                <a:cs typeface="Calibri" pitchFamily="34" charset="-120"/>
              </a:rPr>
              <a:t>tier0 gets fast + medium + slow · tier1 fast + slow · tier2 slow only</a:t>
            </a:r>
            <a:endParaRPr lang="en-US" sz="105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8778240" cy="256032"/>
          </a:xfrm>
          <a:prstGeom prst="rect">
            <a:avLst/>
          </a:prstGeom>
          <a:noFill/>
          <a:ln/>
        </p:spPr>
        <p:txBody>
          <a:bodyPr wrap="square" lIns="0" tIns="0" rIns="0" bIns="0" rtlCol="0" anchor="ctr"/>
          <a:lstStyle/>
          <a:p>
            <a:pPr indent="0" marL="0">
              <a:buNone/>
            </a:pPr>
            <a:r>
              <a:rPr lang="en-US" sz="1050" b="1" spc="160" kern="0" dirty="0">
                <a:solidFill>
                  <a:srgbClr val="B87914"/>
                </a:solidFill>
                <a:latin typeface="Calibri" pitchFamily="34" charset="0"/>
                <a:ea typeface="Calibri" pitchFamily="34" charset="-122"/>
                <a:cs typeface="Calibri" pitchFamily="34" charset="-120"/>
              </a:rPr>
              <a:t>APPENDIX A8</a:t>
            </a:r>
            <a:endParaRPr lang="en-US" sz="1050" dirty="0"/>
          </a:p>
        </p:txBody>
      </p:sp>
      <p:sp>
        <p:nvSpPr>
          <p:cNvPr id="3" name="Text 1"/>
          <p:cNvSpPr/>
          <p:nvPr/>
        </p:nvSpPr>
        <p:spPr>
          <a:xfrm>
            <a:off x="566928" y="694944"/>
            <a:ext cx="10424160" cy="786384"/>
          </a:xfrm>
          <a:prstGeom prst="rect">
            <a:avLst/>
          </a:prstGeom>
          <a:noFill/>
          <a:ln/>
        </p:spPr>
        <p:txBody>
          <a:bodyPr wrap="square" lIns="0" tIns="0" rIns="0" bIns="0" rtlCol="0" anchor="ctr"/>
          <a:lstStyle/>
          <a:p>
            <a:pPr indent="0" marL="0">
              <a:buNone/>
            </a:pPr>
            <a:r>
              <a:rPr lang="en-US" sz="3100" b="1" dirty="0">
                <a:solidFill>
                  <a:srgbClr val="161C28"/>
                </a:solidFill>
                <a:latin typeface="Cambria" pitchFamily="34" charset="0"/>
                <a:ea typeface="Cambria" pitchFamily="34" charset="-122"/>
                <a:cs typeface="Cambria" pitchFamily="34" charset="-120"/>
              </a:rPr>
              <a:t>Coverage checks C1–C17</a:t>
            </a:r>
            <a:endParaRPr lang="en-US" sz="3100" dirty="0"/>
          </a:p>
        </p:txBody>
      </p:sp>
      <p:sp>
        <p:nvSpPr>
          <p:cNvPr id="4" name="Text 2"/>
          <p:cNvSpPr/>
          <p:nvPr/>
        </p:nvSpPr>
        <p:spPr>
          <a:xfrm>
            <a:off x="566928" y="1481328"/>
            <a:ext cx="10698480" cy="457200"/>
          </a:xfrm>
          <a:prstGeom prst="rect">
            <a:avLst/>
          </a:prstGeom>
          <a:noFill/>
          <a:ln/>
        </p:spPr>
        <p:txBody>
          <a:bodyPr wrap="square" lIns="0" tIns="0" rIns="0" bIns="0" rtlCol="0" anchor="t"/>
          <a:lstStyle/>
          <a:p>
            <a:pPr indent="0" marL="0">
              <a:buNone/>
            </a:pPr>
            <a:r>
              <a:rPr lang="en-US" sz="1450" dirty="0">
                <a:solidFill>
                  <a:srgbClr val="3A4557"/>
                </a:solidFill>
                <a:latin typeface="Calibri" pitchFamily="34" charset="0"/>
                <a:ea typeface="Calibri" pitchFamily="34" charset="-122"/>
                <a:cs typeface="Calibri" pitchFamily="34" charset="-120"/>
              </a:rPr>
              <a:t>Every check maps to a promise the framework makes. A red report is a governance incident for the platform team, not a warning.</a:t>
            </a:r>
            <a:endParaRPr lang="en-US" sz="1450" dirty="0"/>
          </a:p>
        </p:txBody>
      </p:sp>
      <p:sp>
        <p:nvSpPr>
          <p:cNvPr id="5" name="Text 3"/>
          <p:cNvSpPr/>
          <p:nvPr/>
        </p:nvSpPr>
        <p:spPr>
          <a:xfrm>
            <a:off x="566928" y="6345936"/>
            <a:ext cx="7315200" cy="274320"/>
          </a:xfrm>
          <a:prstGeom prst="rect">
            <a:avLst/>
          </a:prstGeom>
          <a:noFill/>
          <a:ln/>
        </p:spPr>
        <p:txBody>
          <a:bodyPr wrap="square" lIns="0" tIns="0" rIns="0" bIns="0" rtlCol="0" anchor="ctr"/>
          <a:lstStyle/>
          <a:p>
            <a:pPr indent="0" marL="0">
              <a:buNone/>
            </a:pPr>
            <a:r>
              <a:rPr lang="en-US" sz="900" dirty="0">
                <a:solidFill>
                  <a:srgbClr val="6B7891"/>
                </a:solidFill>
                <a:latin typeface="Calibri" pitchFamily="34" charset="0"/>
                <a:ea typeface="Calibri" pitchFamily="34" charset="-122"/>
                <a:cs typeface="Calibri" pitchFamily="34" charset="-120"/>
              </a:rPr>
              <a:t>Enterprise Observability  ·  policy-as-data on Datadog</a:t>
            </a:r>
            <a:endParaRPr lang="en-US" sz="900" dirty="0"/>
          </a:p>
        </p:txBody>
      </p:sp>
      <p:sp>
        <p:nvSpPr>
          <p:cNvPr id="6" name="Text 4"/>
          <p:cNvSpPr/>
          <p:nvPr/>
        </p:nvSpPr>
        <p:spPr>
          <a:xfrm>
            <a:off x="10710367" y="6345936"/>
            <a:ext cx="914400" cy="274320"/>
          </a:xfrm>
          <a:prstGeom prst="rect">
            <a:avLst/>
          </a:prstGeom>
          <a:noFill/>
          <a:ln/>
        </p:spPr>
        <p:txBody>
          <a:bodyPr wrap="square" lIns="0" tIns="0" rIns="0" bIns="0" rtlCol="0" anchor="ctr"/>
          <a:lstStyle/>
          <a:p>
            <a:pPr algn="r" indent="0" marL="0">
              <a:buNone/>
            </a:pPr>
            <a:r>
              <a:rPr lang="en-US" sz="900" dirty="0">
                <a:solidFill>
                  <a:srgbClr val="6B7891"/>
                </a:solidFill>
                <a:latin typeface="Calibri" pitchFamily="34" charset="0"/>
                <a:ea typeface="Calibri" pitchFamily="34" charset="-122"/>
                <a:cs typeface="Calibri" pitchFamily="34" charset="-120"/>
              </a:rPr>
              <a:t>52</a:t>
            </a:r>
            <a:endParaRPr lang="en-US" sz="900" dirty="0"/>
          </a:p>
        </p:txBody>
      </p:sp>
      <p:sp>
        <p:nvSpPr>
          <p:cNvPr id="8" name="Shape 5"/>
          <p:cNvSpPr/>
          <p:nvPr/>
        </p:nvSpPr>
        <p:spPr>
          <a:xfrm>
            <a:off x="566928" y="2084832"/>
            <a:ext cx="5349240" cy="384048"/>
          </a:xfrm>
          <a:prstGeom prst="roundRect">
            <a:avLst>
              <a:gd name="adj" fmla="val 9524"/>
            </a:avLst>
          </a:prstGeom>
          <a:solidFill>
            <a:srgbClr val="F5F7FA"/>
          </a:solidFill>
          <a:ln w="12700">
            <a:solidFill>
              <a:srgbClr val="F5F7FA"/>
            </a:solidFill>
            <a:prstDash val="solid"/>
          </a:ln>
        </p:spPr>
      </p:sp>
      <p:sp>
        <p:nvSpPr>
          <p:cNvPr id="9" name="Text 6"/>
          <p:cNvSpPr/>
          <p:nvPr/>
        </p:nvSpPr>
        <p:spPr>
          <a:xfrm>
            <a:off x="713232" y="2084832"/>
            <a:ext cx="502920" cy="384048"/>
          </a:xfrm>
          <a:prstGeom prst="rect">
            <a:avLst/>
          </a:prstGeom>
          <a:noFill/>
          <a:ln/>
        </p:spPr>
        <p:txBody>
          <a:bodyPr wrap="square" lIns="0" tIns="0" rIns="0" bIns="0" rtlCol="0" anchor="ctr"/>
          <a:lstStyle/>
          <a:p>
            <a:pPr indent="0" marL="0">
              <a:buNone/>
            </a:pPr>
            <a:r>
              <a:rPr lang="en-US" sz="1050" b="1" dirty="0">
                <a:solidFill>
                  <a:srgbClr val="B87914"/>
                </a:solidFill>
                <a:latin typeface="Calibri" pitchFamily="34" charset="0"/>
                <a:ea typeface="Calibri" pitchFamily="34" charset="-122"/>
                <a:cs typeface="Calibri" pitchFamily="34" charset="-120"/>
              </a:rPr>
              <a:t>C1</a:t>
            </a:r>
            <a:endParaRPr lang="en-US" sz="1050" dirty="0"/>
          </a:p>
        </p:txBody>
      </p:sp>
      <p:sp>
        <p:nvSpPr>
          <p:cNvPr id="10" name="Text 7"/>
          <p:cNvSpPr/>
          <p:nvPr/>
        </p:nvSpPr>
        <p:spPr>
          <a:xfrm>
            <a:off x="1252728" y="2084832"/>
            <a:ext cx="4572000" cy="384048"/>
          </a:xfrm>
          <a:prstGeom prst="rect">
            <a:avLst/>
          </a:prstGeom>
          <a:noFill/>
          <a:ln/>
        </p:spPr>
        <p:txBody>
          <a:bodyPr wrap="square" lIns="0" tIns="0" rIns="0" bIns="0" rtlCol="0" anchor="ctr"/>
          <a:lstStyle/>
          <a:p>
            <a:pPr indent="0" marL="0">
              <a:buNone/>
            </a:pPr>
            <a:r>
              <a:rPr lang="en-US" sz="1050" dirty="0">
                <a:solidFill>
                  <a:srgbClr val="3A4557"/>
                </a:solidFill>
                <a:latin typeface="Calibri" pitchFamily="34" charset="0"/>
                <a:ea typeface="Calibri" pitchFamily="34" charset="-122"/>
                <a:cs typeface="Calibri" pitchFamily="34" charset="-120"/>
              </a:rPr>
              <a:t>Resources with an alerting band but no covering monitor pack</a:t>
            </a:r>
            <a:endParaRPr lang="en-US" sz="1050" dirty="0"/>
          </a:p>
        </p:txBody>
      </p:sp>
      <p:sp>
        <p:nvSpPr>
          <p:cNvPr id="11" name="Shape 8"/>
          <p:cNvSpPr/>
          <p:nvPr/>
        </p:nvSpPr>
        <p:spPr>
          <a:xfrm>
            <a:off x="6144768" y="2084832"/>
            <a:ext cx="5349240" cy="384048"/>
          </a:xfrm>
          <a:prstGeom prst="roundRect">
            <a:avLst>
              <a:gd name="adj" fmla="val 9524"/>
            </a:avLst>
          </a:prstGeom>
          <a:solidFill>
            <a:srgbClr val="F5F7FA"/>
          </a:solidFill>
          <a:ln w="12700">
            <a:solidFill>
              <a:srgbClr val="F5F7FA"/>
            </a:solidFill>
            <a:prstDash val="solid"/>
          </a:ln>
        </p:spPr>
      </p:sp>
      <p:sp>
        <p:nvSpPr>
          <p:cNvPr id="12" name="Text 9"/>
          <p:cNvSpPr/>
          <p:nvPr/>
        </p:nvSpPr>
        <p:spPr>
          <a:xfrm>
            <a:off x="6291072" y="2084832"/>
            <a:ext cx="502920" cy="384048"/>
          </a:xfrm>
          <a:prstGeom prst="rect">
            <a:avLst/>
          </a:prstGeom>
          <a:noFill/>
          <a:ln/>
        </p:spPr>
        <p:txBody>
          <a:bodyPr wrap="square" lIns="0" tIns="0" rIns="0" bIns="0" rtlCol="0" anchor="ctr"/>
          <a:lstStyle/>
          <a:p>
            <a:pPr indent="0" marL="0">
              <a:buNone/>
            </a:pPr>
            <a:r>
              <a:rPr lang="en-US" sz="1050" b="1" dirty="0">
                <a:solidFill>
                  <a:srgbClr val="B87914"/>
                </a:solidFill>
                <a:latin typeface="Calibri" pitchFamily="34" charset="0"/>
                <a:ea typeface="Calibri" pitchFamily="34" charset="-122"/>
                <a:cs typeface="Calibri" pitchFamily="34" charset="-120"/>
              </a:rPr>
              <a:t>C2</a:t>
            </a:r>
            <a:endParaRPr lang="en-US" sz="1050" dirty="0"/>
          </a:p>
        </p:txBody>
      </p:sp>
      <p:sp>
        <p:nvSpPr>
          <p:cNvPr id="13" name="Text 10"/>
          <p:cNvSpPr/>
          <p:nvPr/>
        </p:nvSpPr>
        <p:spPr>
          <a:xfrm>
            <a:off x="6830568" y="2084832"/>
            <a:ext cx="4572000" cy="384048"/>
          </a:xfrm>
          <a:prstGeom prst="rect">
            <a:avLst/>
          </a:prstGeom>
          <a:noFill/>
          <a:ln/>
        </p:spPr>
        <p:txBody>
          <a:bodyPr wrap="square" lIns="0" tIns="0" rIns="0" bIns="0" rtlCol="0" anchor="ctr"/>
          <a:lstStyle/>
          <a:p>
            <a:pPr indent="0" marL="0">
              <a:buNone/>
            </a:pPr>
            <a:r>
              <a:rPr lang="en-US" sz="1050" dirty="0">
                <a:solidFill>
                  <a:srgbClr val="3A4557"/>
                </a:solidFill>
                <a:latin typeface="Calibri" pitchFamily="34" charset="0"/>
                <a:ea typeface="Calibri" pitchFamily="34" charset="-122"/>
                <a:cs typeface="Calibri" pitchFamily="34" charset="-120"/>
              </a:rPr>
              <a:t>Resources without a resolvable owner — 14-day SLA</a:t>
            </a:r>
            <a:endParaRPr lang="en-US" sz="1050" dirty="0"/>
          </a:p>
        </p:txBody>
      </p:sp>
      <p:sp>
        <p:nvSpPr>
          <p:cNvPr id="14" name="Shape 11"/>
          <p:cNvSpPr/>
          <p:nvPr/>
        </p:nvSpPr>
        <p:spPr>
          <a:xfrm>
            <a:off x="566928" y="2523744"/>
            <a:ext cx="5349240" cy="384048"/>
          </a:xfrm>
          <a:prstGeom prst="roundRect">
            <a:avLst>
              <a:gd name="adj" fmla="val 9524"/>
            </a:avLst>
          </a:prstGeom>
          <a:solidFill>
            <a:srgbClr val="F5F7FA"/>
          </a:solidFill>
          <a:ln w="12700">
            <a:solidFill>
              <a:srgbClr val="F5F7FA"/>
            </a:solidFill>
            <a:prstDash val="solid"/>
          </a:ln>
        </p:spPr>
      </p:sp>
      <p:sp>
        <p:nvSpPr>
          <p:cNvPr id="15" name="Text 12"/>
          <p:cNvSpPr/>
          <p:nvPr/>
        </p:nvSpPr>
        <p:spPr>
          <a:xfrm>
            <a:off x="713232" y="2523744"/>
            <a:ext cx="502920" cy="384048"/>
          </a:xfrm>
          <a:prstGeom prst="rect">
            <a:avLst/>
          </a:prstGeom>
          <a:noFill/>
          <a:ln/>
        </p:spPr>
        <p:txBody>
          <a:bodyPr wrap="square" lIns="0" tIns="0" rIns="0" bIns="0" rtlCol="0" anchor="ctr"/>
          <a:lstStyle/>
          <a:p>
            <a:pPr indent="0" marL="0">
              <a:buNone/>
            </a:pPr>
            <a:r>
              <a:rPr lang="en-US" sz="1050" b="1" dirty="0">
                <a:solidFill>
                  <a:srgbClr val="B87914"/>
                </a:solidFill>
                <a:latin typeface="Calibri" pitchFamily="34" charset="0"/>
                <a:ea typeface="Calibri" pitchFamily="34" charset="-122"/>
                <a:cs typeface="Calibri" pitchFamily="34" charset="-120"/>
              </a:rPr>
              <a:t>C3</a:t>
            </a:r>
            <a:endParaRPr lang="en-US" sz="1050" dirty="0"/>
          </a:p>
        </p:txBody>
      </p:sp>
      <p:sp>
        <p:nvSpPr>
          <p:cNvPr id="16" name="Text 13"/>
          <p:cNvSpPr/>
          <p:nvPr/>
        </p:nvSpPr>
        <p:spPr>
          <a:xfrm>
            <a:off x="1252728" y="2523744"/>
            <a:ext cx="4572000" cy="384048"/>
          </a:xfrm>
          <a:prstGeom prst="rect">
            <a:avLst/>
          </a:prstGeom>
          <a:noFill/>
          <a:ln/>
        </p:spPr>
        <p:txBody>
          <a:bodyPr wrap="square" lIns="0" tIns="0" rIns="0" bIns="0" rtlCol="0" anchor="ctr"/>
          <a:lstStyle/>
          <a:p>
            <a:pPr indent="0" marL="0">
              <a:buNone/>
            </a:pPr>
            <a:r>
              <a:rPr lang="en-US" sz="1050" dirty="0">
                <a:solidFill>
                  <a:srgbClr val="3A4557"/>
                </a:solidFill>
                <a:latin typeface="Calibri" pitchFamily="34" charset="0"/>
                <a:ea typeface="Calibri" pitchFamily="34" charset="-122"/>
                <a:cs typeface="Calibri" pitchFamily="34" charset="-120"/>
              </a:rPr>
              <a:t>Missing or invalid required tags, on resources and monitors</a:t>
            </a:r>
            <a:endParaRPr lang="en-US" sz="1050" dirty="0"/>
          </a:p>
        </p:txBody>
      </p:sp>
      <p:sp>
        <p:nvSpPr>
          <p:cNvPr id="17" name="Shape 14"/>
          <p:cNvSpPr/>
          <p:nvPr/>
        </p:nvSpPr>
        <p:spPr>
          <a:xfrm>
            <a:off x="6144768" y="2523744"/>
            <a:ext cx="5349240" cy="384048"/>
          </a:xfrm>
          <a:prstGeom prst="roundRect">
            <a:avLst>
              <a:gd name="adj" fmla="val 9524"/>
            </a:avLst>
          </a:prstGeom>
          <a:solidFill>
            <a:srgbClr val="F5F7FA"/>
          </a:solidFill>
          <a:ln w="12700">
            <a:solidFill>
              <a:srgbClr val="F5F7FA"/>
            </a:solidFill>
            <a:prstDash val="solid"/>
          </a:ln>
        </p:spPr>
      </p:sp>
      <p:sp>
        <p:nvSpPr>
          <p:cNvPr id="18" name="Text 15"/>
          <p:cNvSpPr/>
          <p:nvPr/>
        </p:nvSpPr>
        <p:spPr>
          <a:xfrm>
            <a:off x="6291072" y="2523744"/>
            <a:ext cx="502920" cy="384048"/>
          </a:xfrm>
          <a:prstGeom prst="rect">
            <a:avLst/>
          </a:prstGeom>
          <a:noFill/>
          <a:ln/>
        </p:spPr>
        <p:txBody>
          <a:bodyPr wrap="square" lIns="0" tIns="0" rIns="0" bIns="0" rtlCol="0" anchor="ctr"/>
          <a:lstStyle/>
          <a:p>
            <a:pPr indent="0" marL="0">
              <a:buNone/>
            </a:pPr>
            <a:r>
              <a:rPr lang="en-US" sz="1050" b="1" dirty="0">
                <a:solidFill>
                  <a:srgbClr val="B87914"/>
                </a:solidFill>
                <a:latin typeface="Calibri" pitchFamily="34" charset="0"/>
                <a:ea typeface="Calibri" pitchFamily="34" charset="-122"/>
                <a:cs typeface="Calibri" pitchFamily="34" charset="-120"/>
              </a:rPr>
              <a:t>C4</a:t>
            </a:r>
            <a:endParaRPr lang="en-US" sz="1050" dirty="0"/>
          </a:p>
        </p:txBody>
      </p:sp>
      <p:sp>
        <p:nvSpPr>
          <p:cNvPr id="19" name="Text 16"/>
          <p:cNvSpPr/>
          <p:nvPr/>
        </p:nvSpPr>
        <p:spPr>
          <a:xfrm>
            <a:off x="6830568" y="2523744"/>
            <a:ext cx="4572000" cy="384048"/>
          </a:xfrm>
          <a:prstGeom prst="rect">
            <a:avLst/>
          </a:prstGeom>
          <a:noFill/>
          <a:ln/>
        </p:spPr>
        <p:txBody>
          <a:bodyPr wrap="square" lIns="0" tIns="0" rIns="0" bIns="0" rtlCol="0" anchor="ctr"/>
          <a:lstStyle/>
          <a:p>
            <a:pPr indent="0" marL="0">
              <a:buNone/>
            </a:pPr>
            <a:r>
              <a:rPr lang="en-US" sz="1050" dirty="0">
                <a:solidFill>
                  <a:srgbClr val="3A4557"/>
                </a:solidFill>
                <a:latin typeface="Calibri" pitchFamily="34" charset="0"/>
                <a:ea typeface="Calibri" pitchFamily="34" charset="-122"/>
                <a:cs typeface="Calibri" pitchFamily="34" charset="-120"/>
              </a:rPr>
              <a:t>Services with no SLO association</a:t>
            </a:r>
            <a:endParaRPr lang="en-US" sz="1050" dirty="0"/>
          </a:p>
        </p:txBody>
      </p:sp>
      <p:sp>
        <p:nvSpPr>
          <p:cNvPr id="20" name="Shape 17"/>
          <p:cNvSpPr/>
          <p:nvPr/>
        </p:nvSpPr>
        <p:spPr>
          <a:xfrm>
            <a:off x="566928" y="2962656"/>
            <a:ext cx="5349240" cy="384048"/>
          </a:xfrm>
          <a:prstGeom prst="roundRect">
            <a:avLst>
              <a:gd name="adj" fmla="val 9524"/>
            </a:avLst>
          </a:prstGeom>
          <a:solidFill>
            <a:srgbClr val="F5F7FA"/>
          </a:solidFill>
          <a:ln w="12700">
            <a:solidFill>
              <a:srgbClr val="F5F7FA"/>
            </a:solidFill>
            <a:prstDash val="solid"/>
          </a:ln>
        </p:spPr>
      </p:sp>
      <p:sp>
        <p:nvSpPr>
          <p:cNvPr id="21" name="Text 18"/>
          <p:cNvSpPr/>
          <p:nvPr/>
        </p:nvSpPr>
        <p:spPr>
          <a:xfrm>
            <a:off x="713232" y="2962656"/>
            <a:ext cx="502920" cy="384048"/>
          </a:xfrm>
          <a:prstGeom prst="rect">
            <a:avLst/>
          </a:prstGeom>
          <a:noFill/>
          <a:ln/>
        </p:spPr>
        <p:txBody>
          <a:bodyPr wrap="square" lIns="0" tIns="0" rIns="0" bIns="0" rtlCol="0" anchor="ctr"/>
          <a:lstStyle/>
          <a:p>
            <a:pPr indent="0" marL="0">
              <a:buNone/>
            </a:pPr>
            <a:r>
              <a:rPr lang="en-US" sz="1050" b="1" dirty="0">
                <a:solidFill>
                  <a:srgbClr val="B87914"/>
                </a:solidFill>
                <a:latin typeface="Calibri" pitchFamily="34" charset="0"/>
                <a:ea typeface="Calibri" pitchFamily="34" charset="-122"/>
                <a:cs typeface="Calibri" pitchFamily="34" charset="-120"/>
              </a:rPr>
              <a:t>C5</a:t>
            </a:r>
            <a:endParaRPr lang="en-US" sz="1050" dirty="0"/>
          </a:p>
        </p:txBody>
      </p:sp>
      <p:sp>
        <p:nvSpPr>
          <p:cNvPr id="22" name="Text 19"/>
          <p:cNvSpPr/>
          <p:nvPr/>
        </p:nvSpPr>
        <p:spPr>
          <a:xfrm>
            <a:off x="1252728" y="2962656"/>
            <a:ext cx="4572000" cy="384048"/>
          </a:xfrm>
          <a:prstGeom prst="rect">
            <a:avLst/>
          </a:prstGeom>
          <a:noFill/>
          <a:ln/>
        </p:spPr>
        <p:txBody>
          <a:bodyPr wrap="square" lIns="0" tIns="0" rIns="0" bIns="0" rtlCol="0" anchor="ctr"/>
          <a:lstStyle/>
          <a:p>
            <a:pPr indent="0" marL="0">
              <a:buNone/>
            </a:pPr>
            <a:r>
              <a:rPr lang="en-US" sz="1050" dirty="0">
                <a:solidFill>
                  <a:srgbClr val="3A4557"/>
                </a:solidFill>
                <a:latin typeface="Calibri" pitchFamily="34" charset="0"/>
                <a:ea typeface="Calibri" pitchFamily="34" charset="-122"/>
                <a:cs typeface="Calibri" pitchFamily="34" charset="-120"/>
              </a:rPr>
              <a:t>Monitors without a runbook</a:t>
            </a:r>
            <a:endParaRPr lang="en-US" sz="1050" dirty="0"/>
          </a:p>
        </p:txBody>
      </p:sp>
      <p:sp>
        <p:nvSpPr>
          <p:cNvPr id="23" name="Shape 20"/>
          <p:cNvSpPr/>
          <p:nvPr/>
        </p:nvSpPr>
        <p:spPr>
          <a:xfrm>
            <a:off x="6144768" y="2962656"/>
            <a:ext cx="5349240" cy="384048"/>
          </a:xfrm>
          <a:prstGeom prst="roundRect">
            <a:avLst>
              <a:gd name="adj" fmla="val 9524"/>
            </a:avLst>
          </a:prstGeom>
          <a:solidFill>
            <a:srgbClr val="F5F7FA"/>
          </a:solidFill>
          <a:ln w="12700">
            <a:solidFill>
              <a:srgbClr val="F5F7FA"/>
            </a:solidFill>
            <a:prstDash val="solid"/>
          </a:ln>
        </p:spPr>
      </p:sp>
      <p:sp>
        <p:nvSpPr>
          <p:cNvPr id="24" name="Text 21"/>
          <p:cNvSpPr/>
          <p:nvPr/>
        </p:nvSpPr>
        <p:spPr>
          <a:xfrm>
            <a:off x="6291072" y="2962656"/>
            <a:ext cx="502920" cy="384048"/>
          </a:xfrm>
          <a:prstGeom prst="rect">
            <a:avLst/>
          </a:prstGeom>
          <a:noFill/>
          <a:ln/>
        </p:spPr>
        <p:txBody>
          <a:bodyPr wrap="square" lIns="0" tIns="0" rIns="0" bIns="0" rtlCol="0" anchor="ctr"/>
          <a:lstStyle/>
          <a:p>
            <a:pPr indent="0" marL="0">
              <a:buNone/>
            </a:pPr>
            <a:r>
              <a:rPr lang="en-US" sz="1050" b="1" dirty="0">
                <a:solidFill>
                  <a:srgbClr val="B87914"/>
                </a:solidFill>
                <a:latin typeface="Calibri" pitchFamily="34" charset="0"/>
                <a:ea typeface="Calibri" pitchFamily="34" charset="-122"/>
                <a:cs typeface="Calibri" pitchFamily="34" charset="-120"/>
              </a:rPr>
              <a:t>C6</a:t>
            </a:r>
            <a:endParaRPr lang="en-US" sz="1050" dirty="0"/>
          </a:p>
        </p:txBody>
      </p:sp>
      <p:sp>
        <p:nvSpPr>
          <p:cNvPr id="25" name="Text 22"/>
          <p:cNvSpPr/>
          <p:nvPr/>
        </p:nvSpPr>
        <p:spPr>
          <a:xfrm>
            <a:off x="6830568" y="2962656"/>
            <a:ext cx="4572000" cy="384048"/>
          </a:xfrm>
          <a:prstGeom prst="rect">
            <a:avLst/>
          </a:prstGeom>
          <a:noFill/>
          <a:ln/>
        </p:spPr>
        <p:txBody>
          <a:bodyPr wrap="square" lIns="0" tIns="0" rIns="0" bIns="0" rtlCol="0" anchor="ctr"/>
          <a:lstStyle/>
          <a:p>
            <a:pPr indent="0" marL="0">
              <a:buNone/>
            </a:pPr>
            <a:r>
              <a:rPr lang="en-US" sz="1050" dirty="0">
                <a:solidFill>
                  <a:srgbClr val="3A4557"/>
                </a:solidFill>
                <a:latin typeface="Calibri" pitchFamily="34" charset="0"/>
                <a:ea typeface="Calibri" pitchFamily="34" charset="-122"/>
                <a:cs typeface="Calibri" pitchFamily="34" charset="-120"/>
              </a:rPr>
              <a:t>Monitors without workflow automation</a:t>
            </a:r>
            <a:endParaRPr lang="en-US" sz="1050" dirty="0"/>
          </a:p>
        </p:txBody>
      </p:sp>
      <p:sp>
        <p:nvSpPr>
          <p:cNvPr id="26" name="Shape 23"/>
          <p:cNvSpPr/>
          <p:nvPr/>
        </p:nvSpPr>
        <p:spPr>
          <a:xfrm>
            <a:off x="566928" y="3401568"/>
            <a:ext cx="5349240" cy="384048"/>
          </a:xfrm>
          <a:prstGeom prst="roundRect">
            <a:avLst>
              <a:gd name="adj" fmla="val 9524"/>
            </a:avLst>
          </a:prstGeom>
          <a:solidFill>
            <a:srgbClr val="F5F7FA"/>
          </a:solidFill>
          <a:ln w="12700">
            <a:solidFill>
              <a:srgbClr val="F5F7FA"/>
            </a:solidFill>
            <a:prstDash val="solid"/>
          </a:ln>
        </p:spPr>
      </p:sp>
      <p:sp>
        <p:nvSpPr>
          <p:cNvPr id="27" name="Text 24"/>
          <p:cNvSpPr/>
          <p:nvPr/>
        </p:nvSpPr>
        <p:spPr>
          <a:xfrm>
            <a:off x="713232" y="3401568"/>
            <a:ext cx="502920" cy="384048"/>
          </a:xfrm>
          <a:prstGeom prst="rect">
            <a:avLst/>
          </a:prstGeom>
          <a:noFill/>
          <a:ln/>
        </p:spPr>
        <p:txBody>
          <a:bodyPr wrap="square" lIns="0" tIns="0" rIns="0" bIns="0" rtlCol="0" anchor="ctr"/>
          <a:lstStyle/>
          <a:p>
            <a:pPr indent="0" marL="0">
              <a:buNone/>
            </a:pPr>
            <a:r>
              <a:rPr lang="en-US" sz="1050" b="1" dirty="0">
                <a:solidFill>
                  <a:srgbClr val="B87914"/>
                </a:solidFill>
                <a:latin typeface="Calibri" pitchFamily="34" charset="0"/>
                <a:ea typeface="Calibri" pitchFamily="34" charset="-122"/>
                <a:cs typeface="Calibri" pitchFamily="34" charset="-120"/>
              </a:rPr>
              <a:t>C7</a:t>
            </a:r>
            <a:endParaRPr lang="en-US" sz="1050" dirty="0"/>
          </a:p>
        </p:txBody>
      </p:sp>
      <p:sp>
        <p:nvSpPr>
          <p:cNvPr id="28" name="Text 25"/>
          <p:cNvSpPr/>
          <p:nvPr/>
        </p:nvSpPr>
        <p:spPr>
          <a:xfrm>
            <a:off x="1252728" y="3401568"/>
            <a:ext cx="4572000" cy="384048"/>
          </a:xfrm>
          <a:prstGeom prst="rect">
            <a:avLst/>
          </a:prstGeom>
          <a:noFill/>
          <a:ln/>
        </p:spPr>
        <p:txBody>
          <a:bodyPr wrap="square" lIns="0" tIns="0" rIns="0" bIns="0" rtlCol="0" anchor="ctr"/>
          <a:lstStyle/>
          <a:p>
            <a:pPr indent="0" marL="0">
              <a:buNone/>
            </a:pPr>
            <a:r>
              <a:rPr lang="en-US" sz="1050" dirty="0">
                <a:solidFill>
                  <a:srgbClr val="3A4557"/>
                </a:solidFill>
                <a:latin typeface="Calibri" pitchFamily="34" charset="0"/>
                <a:ea typeface="Calibri" pitchFamily="34" charset="-122"/>
                <a:cs typeface="Calibri" pitchFamily="34" charset="-120"/>
              </a:rPr>
              <a:t>Monitors without resolvable routing (team + priority + profile)</a:t>
            </a:r>
            <a:endParaRPr lang="en-US" sz="1050" dirty="0"/>
          </a:p>
        </p:txBody>
      </p:sp>
      <p:sp>
        <p:nvSpPr>
          <p:cNvPr id="29" name="Shape 26"/>
          <p:cNvSpPr/>
          <p:nvPr/>
        </p:nvSpPr>
        <p:spPr>
          <a:xfrm>
            <a:off x="6144768" y="3401568"/>
            <a:ext cx="5349240" cy="384048"/>
          </a:xfrm>
          <a:prstGeom prst="roundRect">
            <a:avLst>
              <a:gd name="adj" fmla="val 9524"/>
            </a:avLst>
          </a:prstGeom>
          <a:solidFill>
            <a:srgbClr val="F5F7FA"/>
          </a:solidFill>
          <a:ln w="12700">
            <a:solidFill>
              <a:srgbClr val="F5F7FA"/>
            </a:solidFill>
            <a:prstDash val="solid"/>
          </a:ln>
        </p:spPr>
      </p:sp>
      <p:sp>
        <p:nvSpPr>
          <p:cNvPr id="30" name="Text 27"/>
          <p:cNvSpPr/>
          <p:nvPr/>
        </p:nvSpPr>
        <p:spPr>
          <a:xfrm>
            <a:off x="6291072" y="3401568"/>
            <a:ext cx="502920" cy="384048"/>
          </a:xfrm>
          <a:prstGeom prst="rect">
            <a:avLst/>
          </a:prstGeom>
          <a:noFill/>
          <a:ln/>
        </p:spPr>
        <p:txBody>
          <a:bodyPr wrap="square" lIns="0" tIns="0" rIns="0" bIns="0" rtlCol="0" anchor="ctr"/>
          <a:lstStyle/>
          <a:p>
            <a:pPr indent="0" marL="0">
              <a:buNone/>
            </a:pPr>
            <a:r>
              <a:rPr lang="en-US" sz="1050" b="1" dirty="0">
                <a:solidFill>
                  <a:srgbClr val="B87914"/>
                </a:solidFill>
                <a:latin typeface="Calibri" pitchFamily="34" charset="0"/>
                <a:ea typeface="Calibri" pitchFamily="34" charset="-122"/>
                <a:cs typeface="Calibri" pitchFamily="34" charset="-120"/>
              </a:rPr>
              <a:t>C8</a:t>
            </a:r>
            <a:endParaRPr lang="en-US" sz="1050" dirty="0"/>
          </a:p>
        </p:txBody>
      </p:sp>
      <p:sp>
        <p:nvSpPr>
          <p:cNvPr id="31" name="Text 28"/>
          <p:cNvSpPr/>
          <p:nvPr/>
        </p:nvSpPr>
        <p:spPr>
          <a:xfrm>
            <a:off x="6830568" y="3401568"/>
            <a:ext cx="4572000" cy="384048"/>
          </a:xfrm>
          <a:prstGeom prst="rect">
            <a:avLst/>
          </a:prstGeom>
          <a:noFill/>
          <a:ln/>
        </p:spPr>
        <p:txBody>
          <a:bodyPr wrap="square" lIns="0" tIns="0" rIns="0" bIns="0" rtlCol="0" anchor="ctr"/>
          <a:lstStyle/>
          <a:p>
            <a:pPr indent="0" marL="0">
              <a:buNone/>
            </a:pPr>
            <a:r>
              <a:rPr lang="en-US" sz="1050" dirty="0">
                <a:solidFill>
                  <a:srgbClr val="3A4557"/>
                </a:solidFill>
                <a:latin typeface="Calibri" pitchFamily="34" charset="0"/>
                <a:ea typeface="Calibri" pitchFamily="34" charset="-122"/>
                <a:cs typeface="Calibri" pitchFamily="34" charset="-120"/>
              </a:rPr>
              <a:t>Duplicate or overlapping monitors</a:t>
            </a:r>
            <a:endParaRPr lang="en-US" sz="1050" dirty="0"/>
          </a:p>
        </p:txBody>
      </p:sp>
      <p:sp>
        <p:nvSpPr>
          <p:cNvPr id="32" name="Shape 29"/>
          <p:cNvSpPr/>
          <p:nvPr/>
        </p:nvSpPr>
        <p:spPr>
          <a:xfrm>
            <a:off x="566928" y="3840480"/>
            <a:ext cx="5349240" cy="384048"/>
          </a:xfrm>
          <a:prstGeom prst="roundRect">
            <a:avLst>
              <a:gd name="adj" fmla="val 9524"/>
            </a:avLst>
          </a:prstGeom>
          <a:solidFill>
            <a:srgbClr val="F5F7FA"/>
          </a:solidFill>
          <a:ln w="12700">
            <a:solidFill>
              <a:srgbClr val="F5F7FA"/>
            </a:solidFill>
            <a:prstDash val="solid"/>
          </a:ln>
        </p:spPr>
      </p:sp>
      <p:sp>
        <p:nvSpPr>
          <p:cNvPr id="33" name="Text 30"/>
          <p:cNvSpPr/>
          <p:nvPr/>
        </p:nvSpPr>
        <p:spPr>
          <a:xfrm>
            <a:off x="713232" y="3840480"/>
            <a:ext cx="502920" cy="384048"/>
          </a:xfrm>
          <a:prstGeom prst="rect">
            <a:avLst/>
          </a:prstGeom>
          <a:noFill/>
          <a:ln/>
        </p:spPr>
        <p:txBody>
          <a:bodyPr wrap="square" lIns="0" tIns="0" rIns="0" bIns="0" rtlCol="0" anchor="ctr"/>
          <a:lstStyle/>
          <a:p>
            <a:pPr indent="0" marL="0">
              <a:buNone/>
            </a:pPr>
            <a:r>
              <a:rPr lang="en-US" sz="1050" b="1" dirty="0">
                <a:solidFill>
                  <a:srgbClr val="B87914"/>
                </a:solidFill>
                <a:latin typeface="Calibri" pitchFamily="34" charset="0"/>
                <a:ea typeface="Calibri" pitchFamily="34" charset="-122"/>
                <a:cs typeface="Calibri" pitchFamily="34" charset="-120"/>
              </a:rPr>
              <a:t>C9</a:t>
            </a:r>
            <a:endParaRPr lang="en-US" sz="1050" dirty="0"/>
          </a:p>
        </p:txBody>
      </p:sp>
      <p:sp>
        <p:nvSpPr>
          <p:cNvPr id="34" name="Text 31"/>
          <p:cNvSpPr/>
          <p:nvPr/>
        </p:nvSpPr>
        <p:spPr>
          <a:xfrm>
            <a:off x="1252728" y="3840480"/>
            <a:ext cx="4572000" cy="384048"/>
          </a:xfrm>
          <a:prstGeom prst="rect">
            <a:avLst/>
          </a:prstGeom>
          <a:noFill/>
          <a:ln/>
        </p:spPr>
        <p:txBody>
          <a:bodyPr wrap="square" lIns="0" tIns="0" rIns="0" bIns="0" rtlCol="0" anchor="ctr"/>
          <a:lstStyle/>
          <a:p>
            <a:pPr indent="0" marL="0">
              <a:buNone/>
            </a:pPr>
            <a:r>
              <a:rPr lang="en-US" sz="1050" dirty="0">
                <a:solidFill>
                  <a:srgbClr val="3A4557"/>
                </a:solidFill>
                <a:latin typeface="Calibri" pitchFamily="34" charset="0"/>
                <a:ea typeface="Calibri" pitchFamily="34" charset="-122"/>
                <a:cs typeface="Calibri" pitchFamily="34" charset="-120"/>
              </a:rPr>
              <a:t>Unmanaged click-ops monitors — next-business-day SLA</a:t>
            </a:r>
            <a:endParaRPr lang="en-US" sz="1050" dirty="0"/>
          </a:p>
        </p:txBody>
      </p:sp>
      <p:sp>
        <p:nvSpPr>
          <p:cNvPr id="35" name="Shape 32"/>
          <p:cNvSpPr/>
          <p:nvPr/>
        </p:nvSpPr>
        <p:spPr>
          <a:xfrm>
            <a:off x="6144768" y="3840480"/>
            <a:ext cx="5349240" cy="384048"/>
          </a:xfrm>
          <a:prstGeom prst="roundRect">
            <a:avLst>
              <a:gd name="adj" fmla="val 9524"/>
            </a:avLst>
          </a:prstGeom>
          <a:solidFill>
            <a:srgbClr val="F5F7FA"/>
          </a:solidFill>
          <a:ln w="12700">
            <a:solidFill>
              <a:srgbClr val="F5F7FA"/>
            </a:solidFill>
            <a:prstDash val="solid"/>
          </a:ln>
        </p:spPr>
      </p:sp>
      <p:sp>
        <p:nvSpPr>
          <p:cNvPr id="36" name="Text 33"/>
          <p:cNvSpPr/>
          <p:nvPr/>
        </p:nvSpPr>
        <p:spPr>
          <a:xfrm>
            <a:off x="6291072" y="3840480"/>
            <a:ext cx="502920" cy="384048"/>
          </a:xfrm>
          <a:prstGeom prst="rect">
            <a:avLst/>
          </a:prstGeom>
          <a:noFill/>
          <a:ln/>
        </p:spPr>
        <p:txBody>
          <a:bodyPr wrap="square" lIns="0" tIns="0" rIns="0" bIns="0" rtlCol="0" anchor="ctr"/>
          <a:lstStyle/>
          <a:p>
            <a:pPr indent="0" marL="0">
              <a:buNone/>
            </a:pPr>
            <a:r>
              <a:rPr lang="en-US" sz="1050" b="1" dirty="0">
                <a:solidFill>
                  <a:srgbClr val="B87914"/>
                </a:solidFill>
                <a:latin typeface="Calibri" pitchFamily="34" charset="0"/>
                <a:ea typeface="Calibri" pitchFamily="34" charset="-122"/>
                <a:cs typeface="Calibri" pitchFamily="34" charset="-120"/>
              </a:rPr>
              <a:t>C10</a:t>
            </a:r>
            <a:endParaRPr lang="en-US" sz="1050" dirty="0"/>
          </a:p>
        </p:txBody>
      </p:sp>
      <p:sp>
        <p:nvSpPr>
          <p:cNvPr id="37" name="Text 34"/>
          <p:cNvSpPr/>
          <p:nvPr/>
        </p:nvSpPr>
        <p:spPr>
          <a:xfrm>
            <a:off x="6830568" y="3840480"/>
            <a:ext cx="4572000" cy="384048"/>
          </a:xfrm>
          <a:prstGeom prst="rect">
            <a:avLst/>
          </a:prstGeom>
          <a:noFill/>
          <a:ln/>
        </p:spPr>
        <p:txBody>
          <a:bodyPr wrap="square" lIns="0" tIns="0" rIns="0" bIns="0" rtlCol="0" anchor="ctr"/>
          <a:lstStyle/>
          <a:p>
            <a:pPr indent="0" marL="0">
              <a:buNone/>
            </a:pPr>
            <a:r>
              <a:rPr lang="en-US" sz="1050" dirty="0">
                <a:solidFill>
                  <a:srgbClr val="3A4557"/>
                </a:solidFill>
                <a:latin typeface="Calibri" pitchFamily="34" charset="0"/>
                <a:ea typeface="Calibri" pitchFamily="34" charset="-122"/>
                <a:cs typeface="Calibri" pitchFamily="34" charset="-120"/>
              </a:rPr>
              <a:t>Resources on the wrong monitoring profile</a:t>
            </a:r>
            <a:endParaRPr lang="en-US" sz="1050" dirty="0"/>
          </a:p>
        </p:txBody>
      </p:sp>
      <p:sp>
        <p:nvSpPr>
          <p:cNvPr id="38" name="Shape 35"/>
          <p:cNvSpPr/>
          <p:nvPr/>
        </p:nvSpPr>
        <p:spPr>
          <a:xfrm>
            <a:off x="566928" y="4279392"/>
            <a:ext cx="5349240" cy="384048"/>
          </a:xfrm>
          <a:prstGeom prst="roundRect">
            <a:avLst>
              <a:gd name="adj" fmla="val 9524"/>
            </a:avLst>
          </a:prstGeom>
          <a:solidFill>
            <a:srgbClr val="F5F7FA"/>
          </a:solidFill>
          <a:ln w="12700">
            <a:solidFill>
              <a:srgbClr val="F5F7FA"/>
            </a:solidFill>
            <a:prstDash val="solid"/>
          </a:ln>
        </p:spPr>
      </p:sp>
      <p:sp>
        <p:nvSpPr>
          <p:cNvPr id="39" name="Text 36"/>
          <p:cNvSpPr/>
          <p:nvPr/>
        </p:nvSpPr>
        <p:spPr>
          <a:xfrm>
            <a:off x="713232" y="4279392"/>
            <a:ext cx="502920" cy="384048"/>
          </a:xfrm>
          <a:prstGeom prst="rect">
            <a:avLst/>
          </a:prstGeom>
          <a:noFill/>
          <a:ln/>
        </p:spPr>
        <p:txBody>
          <a:bodyPr wrap="square" lIns="0" tIns="0" rIns="0" bIns="0" rtlCol="0" anchor="ctr"/>
          <a:lstStyle/>
          <a:p>
            <a:pPr indent="0" marL="0">
              <a:buNone/>
            </a:pPr>
            <a:r>
              <a:rPr lang="en-US" sz="1050" b="1" dirty="0">
                <a:solidFill>
                  <a:srgbClr val="B87914"/>
                </a:solidFill>
                <a:latin typeface="Calibri" pitchFamily="34" charset="0"/>
                <a:ea typeface="Calibri" pitchFamily="34" charset="-122"/>
                <a:cs typeface="Calibri" pitchFamily="34" charset="-120"/>
              </a:rPr>
              <a:t>C11</a:t>
            </a:r>
            <a:endParaRPr lang="en-US" sz="1050" dirty="0"/>
          </a:p>
        </p:txBody>
      </p:sp>
      <p:sp>
        <p:nvSpPr>
          <p:cNvPr id="40" name="Text 37"/>
          <p:cNvSpPr/>
          <p:nvPr/>
        </p:nvSpPr>
        <p:spPr>
          <a:xfrm>
            <a:off x="1252728" y="4279392"/>
            <a:ext cx="4572000" cy="384048"/>
          </a:xfrm>
          <a:prstGeom prst="rect">
            <a:avLst/>
          </a:prstGeom>
          <a:noFill/>
          <a:ln/>
        </p:spPr>
        <p:txBody>
          <a:bodyPr wrap="square" lIns="0" tIns="0" rIns="0" bIns="0" rtlCol="0" anchor="ctr"/>
          <a:lstStyle/>
          <a:p>
            <a:pPr indent="0" marL="0">
              <a:buNone/>
            </a:pPr>
            <a:r>
              <a:rPr lang="en-US" sz="1050" dirty="0">
                <a:solidFill>
                  <a:srgbClr val="3A4557"/>
                </a:solidFill>
                <a:latin typeface="Calibri" pitchFamily="34" charset="0"/>
                <a:ea typeface="Calibri" pitchFamily="34" charset="-122"/>
                <a:cs typeface="Calibri" pitchFamily="34" charset="-120"/>
              </a:rPr>
              <a:t>Cardinality risk: too many group keys, or a missing collapse key</a:t>
            </a:r>
            <a:endParaRPr lang="en-US" sz="1050" dirty="0"/>
          </a:p>
        </p:txBody>
      </p:sp>
      <p:sp>
        <p:nvSpPr>
          <p:cNvPr id="41" name="Shape 38"/>
          <p:cNvSpPr/>
          <p:nvPr/>
        </p:nvSpPr>
        <p:spPr>
          <a:xfrm>
            <a:off x="6144768" y="4279392"/>
            <a:ext cx="5349240" cy="384048"/>
          </a:xfrm>
          <a:prstGeom prst="roundRect">
            <a:avLst>
              <a:gd name="adj" fmla="val 9524"/>
            </a:avLst>
          </a:prstGeom>
          <a:solidFill>
            <a:srgbClr val="F5F7FA"/>
          </a:solidFill>
          <a:ln w="12700">
            <a:solidFill>
              <a:srgbClr val="F5F7FA"/>
            </a:solidFill>
            <a:prstDash val="solid"/>
          </a:ln>
        </p:spPr>
      </p:sp>
      <p:sp>
        <p:nvSpPr>
          <p:cNvPr id="42" name="Text 39"/>
          <p:cNvSpPr/>
          <p:nvPr/>
        </p:nvSpPr>
        <p:spPr>
          <a:xfrm>
            <a:off x="6291072" y="4279392"/>
            <a:ext cx="502920" cy="384048"/>
          </a:xfrm>
          <a:prstGeom prst="rect">
            <a:avLst/>
          </a:prstGeom>
          <a:noFill/>
          <a:ln/>
        </p:spPr>
        <p:txBody>
          <a:bodyPr wrap="square" lIns="0" tIns="0" rIns="0" bIns="0" rtlCol="0" anchor="ctr"/>
          <a:lstStyle/>
          <a:p>
            <a:pPr indent="0" marL="0">
              <a:buNone/>
            </a:pPr>
            <a:r>
              <a:rPr lang="en-US" sz="1050" b="1" dirty="0">
                <a:solidFill>
                  <a:srgbClr val="B87914"/>
                </a:solidFill>
                <a:latin typeface="Calibri" pitchFamily="34" charset="0"/>
                <a:ea typeface="Calibri" pitchFamily="34" charset="-122"/>
                <a:cs typeface="Calibri" pitchFamily="34" charset="-120"/>
              </a:rPr>
              <a:t>C12</a:t>
            </a:r>
            <a:endParaRPr lang="en-US" sz="1050" dirty="0"/>
          </a:p>
        </p:txBody>
      </p:sp>
      <p:sp>
        <p:nvSpPr>
          <p:cNvPr id="43" name="Text 40"/>
          <p:cNvSpPr/>
          <p:nvPr/>
        </p:nvSpPr>
        <p:spPr>
          <a:xfrm>
            <a:off x="6830568" y="4279392"/>
            <a:ext cx="4572000" cy="384048"/>
          </a:xfrm>
          <a:prstGeom prst="rect">
            <a:avLst/>
          </a:prstGeom>
          <a:noFill/>
          <a:ln/>
        </p:spPr>
        <p:txBody>
          <a:bodyPr wrap="square" lIns="0" tIns="0" rIns="0" bIns="0" rtlCol="0" anchor="ctr"/>
          <a:lstStyle/>
          <a:p>
            <a:pPr indent="0" marL="0">
              <a:buNone/>
            </a:pPr>
            <a:r>
              <a:rPr lang="en-US" sz="1050" dirty="0">
                <a:solidFill>
                  <a:srgbClr val="3A4557"/>
                </a:solidFill>
                <a:latin typeface="Calibri" pitchFamily="34" charset="0"/>
                <a:ea typeface="Calibri" pitchFamily="34" charset="-122"/>
                <a:cs typeface="Calibri" pitchFamily="34" charset="-120"/>
              </a:rPr>
              <a:t>Expired exceptions</a:t>
            </a:r>
            <a:endParaRPr lang="en-US" sz="1050" dirty="0"/>
          </a:p>
        </p:txBody>
      </p:sp>
      <p:sp>
        <p:nvSpPr>
          <p:cNvPr id="44" name="Shape 41"/>
          <p:cNvSpPr/>
          <p:nvPr/>
        </p:nvSpPr>
        <p:spPr>
          <a:xfrm>
            <a:off x="566928" y="4718304"/>
            <a:ext cx="5349240" cy="384048"/>
          </a:xfrm>
          <a:prstGeom prst="roundRect">
            <a:avLst>
              <a:gd name="adj" fmla="val 9524"/>
            </a:avLst>
          </a:prstGeom>
          <a:solidFill>
            <a:srgbClr val="F5F7FA"/>
          </a:solidFill>
          <a:ln w="12700">
            <a:solidFill>
              <a:srgbClr val="F5F7FA"/>
            </a:solidFill>
            <a:prstDash val="solid"/>
          </a:ln>
        </p:spPr>
      </p:sp>
      <p:sp>
        <p:nvSpPr>
          <p:cNvPr id="45" name="Text 42"/>
          <p:cNvSpPr/>
          <p:nvPr/>
        </p:nvSpPr>
        <p:spPr>
          <a:xfrm>
            <a:off x="713232" y="4718304"/>
            <a:ext cx="502920" cy="384048"/>
          </a:xfrm>
          <a:prstGeom prst="rect">
            <a:avLst/>
          </a:prstGeom>
          <a:noFill/>
          <a:ln/>
        </p:spPr>
        <p:txBody>
          <a:bodyPr wrap="square" lIns="0" tIns="0" rIns="0" bIns="0" rtlCol="0" anchor="ctr"/>
          <a:lstStyle/>
          <a:p>
            <a:pPr indent="0" marL="0">
              <a:buNone/>
            </a:pPr>
            <a:r>
              <a:rPr lang="en-US" sz="1050" b="1" dirty="0">
                <a:solidFill>
                  <a:srgbClr val="B87914"/>
                </a:solidFill>
                <a:latin typeface="Calibri" pitchFamily="34" charset="0"/>
                <a:ea typeface="Calibri" pitchFamily="34" charset="-122"/>
                <a:cs typeface="Calibri" pitchFamily="34" charset="-120"/>
              </a:rPr>
              <a:t>C13</a:t>
            </a:r>
            <a:endParaRPr lang="en-US" sz="1050" dirty="0"/>
          </a:p>
        </p:txBody>
      </p:sp>
      <p:sp>
        <p:nvSpPr>
          <p:cNvPr id="46" name="Text 43"/>
          <p:cNvSpPr/>
          <p:nvPr/>
        </p:nvSpPr>
        <p:spPr>
          <a:xfrm>
            <a:off x="1252728" y="4718304"/>
            <a:ext cx="4572000" cy="384048"/>
          </a:xfrm>
          <a:prstGeom prst="rect">
            <a:avLst/>
          </a:prstGeom>
          <a:noFill/>
          <a:ln/>
        </p:spPr>
        <p:txBody>
          <a:bodyPr wrap="square" lIns="0" tIns="0" rIns="0" bIns="0" rtlCol="0" anchor="ctr"/>
          <a:lstStyle/>
          <a:p>
            <a:pPr indent="0" marL="0">
              <a:buNone/>
            </a:pPr>
            <a:r>
              <a:rPr lang="en-US" sz="1050" dirty="0">
                <a:solidFill>
                  <a:srgbClr val="3A4557"/>
                </a:solidFill>
                <a:latin typeface="Calibri" pitchFamily="34" charset="0"/>
                <a:ea typeface="Calibri" pitchFamily="34" charset="-122"/>
                <a:cs typeface="Calibri" pitchFamily="34" charset="-120"/>
              </a:rPr>
              <a:t>SLO integrity — missing SLOs and silent telemetry</a:t>
            </a:r>
            <a:endParaRPr lang="en-US" sz="1050" dirty="0"/>
          </a:p>
        </p:txBody>
      </p:sp>
      <p:sp>
        <p:nvSpPr>
          <p:cNvPr id="47" name="Shape 44"/>
          <p:cNvSpPr/>
          <p:nvPr/>
        </p:nvSpPr>
        <p:spPr>
          <a:xfrm>
            <a:off x="6144768" y="4718304"/>
            <a:ext cx="5349240" cy="384048"/>
          </a:xfrm>
          <a:prstGeom prst="roundRect">
            <a:avLst>
              <a:gd name="adj" fmla="val 9524"/>
            </a:avLst>
          </a:prstGeom>
          <a:solidFill>
            <a:srgbClr val="F5F7FA"/>
          </a:solidFill>
          <a:ln w="12700">
            <a:solidFill>
              <a:srgbClr val="F5F7FA"/>
            </a:solidFill>
            <a:prstDash val="solid"/>
          </a:ln>
        </p:spPr>
      </p:sp>
      <p:sp>
        <p:nvSpPr>
          <p:cNvPr id="48" name="Text 45"/>
          <p:cNvSpPr/>
          <p:nvPr/>
        </p:nvSpPr>
        <p:spPr>
          <a:xfrm>
            <a:off x="6291072" y="4718304"/>
            <a:ext cx="502920" cy="384048"/>
          </a:xfrm>
          <a:prstGeom prst="rect">
            <a:avLst/>
          </a:prstGeom>
          <a:noFill/>
          <a:ln/>
        </p:spPr>
        <p:txBody>
          <a:bodyPr wrap="square" lIns="0" tIns="0" rIns="0" bIns="0" rtlCol="0" anchor="ctr"/>
          <a:lstStyle/>
          <a:p>
            <a:pPr indent="0" marL="0">
              <a:buNone/>
            </a:pPr>
            <a:r>
              <a:rPr lang="en-US" sz="1050" b="1" dirty="0">
                <a:solidFill>
                  <a:srgbClr val="B87914"/>
                </a:solidFill>
                <a:latin typeface="Calibri" pitchFamily="34" charset="0"/>
                <a:ea typeface="Calibri" pitchFamily="34" charset="-122"/>
                <a:cs typeface="Calibri" pitchFamily="34" charset="-120"/>
              </a:rPr>
              <a:t>C14</a:t>
            </a:r>
            <a:endParaRPr lang="en-US" sz="1050" dirty="0"/>
          </a:p>
        </p:txBody>
      </p:sp>
      <p:sp>
        <p:nvSpPr>
          <p:cNvPr id="49" name="Text 46"/>
          <p:cNvSpPr/>
          <p:nvPr/>
        </p:nvSpPr>
        <p:spPr>
          <a:xfrm>
            <a:off x="6830568" y="4718304"/>
            <a:ext cx="4572000" cy="384048"/>
          </a:xfrm>
          <a:prstGeom prst="rect">
            <a:avLst/>
          </a:prstGeom>
          <a:noFill/>
          <a:ln/>
        </p:spPr>
        <p:txBody>
          <a:bodyPr wrap="square" lIns="0" tIns="0" rIns="0" bIns="0" rtlCol="0" anchor="ctr"/>
          <a:lstStyle/>
          <a:p>
            <a:pPr indent="0" marL="0">
              <a:buNone/>
            </a:pPr>
            <a:r>
              <a:rPr lang="en-US" sz="1050" dirty="0">
                <a:solidFill>
                  <a:srgbClr val="3A4557"/>
                </a:solidFill>
                <a:latin typeface="Calibri" pitchFamily="34" charset="0"/>
                <a:ea typeface="Calibri" pitchFamily="34" charset="-122"/>
                <a:cs typeface="Calibri" pitchFamily="34" charset="-120"/>
              </a:rPr>
              <a:t>Paging discipline: anything paging that policy says should not</a:t>
            </a:r>
            <a:endParaRPr lang="en-US" sz="1050" dirty="0"/>
          </a:p>
        </p:txBody>
      </p:sp>
      <p:sp>
        <p:nvSpPr>
          <p:cNvPr id="50" name="Shape 47"/>
          <p:cNvSpPr/>
          <p:nvPr/>
        </p:nvSpPr>
        <p:spPr>
          <a:xfrm>
            <a:off x="566928" y="5157216"/>
            <a:ext cx="5349240" cy="384048"/>
          </a:xfrm>
          <a:prstGeom prst="roundRect">
            <a:avLst>
              <a:gd name="adj" fmla="val 9524"/>
            </a:avLst>
          </a:prstGeom>
          <a:solidFill>
            <a:srgbClr val="F5F7FA"/>
          </a:solidFill>
          <a:ln w="12700">
            <a:solidFill>
              <a:srgbClr val="F5F7FA"/>
            </a:solidFill>
            <a:prstDash val="solid"/>
          </a:ln>
        </p:spPr>
      </p:sp>
      <p:sp>
        <p:nvSpPr>
          <p:cNvPr id="51" name="Text 48"/>
          <p:cNvSpPr/>
          <p:nvPr/>
        </p:nvSpPr>
        <p:spPr>
          <a:xfrm>
            <a:off x="713232" y="5157216"/>
            <a:ext cx="502920" cy="384048"/>
          </a:xfrm>
          <a:prstGeom prst="rect">
            <a:avLst/>
          </a:prstGeom>
          <a:noFill/>
          <a:ln/>
        </p:spPr>
        <p:txBody>
          <a:bodyPr wrap="square" lIns="0" tIns="0" rIns="0" bIns="0" rtlCol="0" anchor="ctr"/>
          <a:lstStyle/>
          <a:p>
            <a:pPr indent="0" marL="0">
              <a:buNone/>
            </a:pPr>
            <a:r>
              <a:rPr lang="en-US" sz="1050" b="1" dirty="0">
                <a:solidFill>
                  <a:srgbClr val="B87914"/>
                </a:solidFill>
                <a:latin typeface="Calibri" pitchFamily="34" charset="0"/>
                <a:ea typeface="Calibri" pitchFamily="34" charset="-122"/>
                <a:cs typeface="Calibri" pitchFamily="34" charset="-120"/>
              </a:rPr>
              <a:t>C15</a:t>
            </a:r>
            <a:endParaRPr lang="en-US" sz="1050" dirty="0"/>
          </a:p>
        </p:txBody>
      </p:sp>
      <p:sp>
        <p:nvSpPr>
          <p:cNvPr id="52" name="Text 49"/>
          <p:cNvSpPr/>
          <p:nvPr/>
        </p:nvSpPr>
        <p:spPr>
          <a:xfrm>
            <a:off x="1252728" y="5157216"/>
            <a:ext cx="4572000" cy="384048"/>
          </a:xfrm>
          <a:prstGeom prst="rect">
            <a:avLst/>
          </a:prstGeom>
          <a:noFill/>
          <a:ln/>
        </p:spPr>
        <p:txBody>
          <a:bodyPr wrap="square" lIns="0" tIns="0" rIns="0" bIns="0" rtlCol="0" anchor="ctr"/>
          <a:lstStyle/>
          <a:p>
            <a:pPr indent="0" marL="0">
              <a:buNone/>
            </a:pPr>
            <a:r>
              <a:rPr lang="en-US" sz="1050" dirty="0">
                <a:solidFill>
                  <a:srgbClr val="3A4557"/>
                </a:solidFill>
                <a:latin typeface="Calibri" pitchFamily="34" charset="0"/>
                <a:ea typeface="Calibri" pitchFamily="34" charset="-122"/>
                <a:cs typeface="Calibri" pitchFamily="34" charset="-120"/>
              </a:rPr>
              <a:t>Monitors with no actionable response</a:t>
            </a:r>
            <a:endParaRPr lang="en-US" sz="1050" dirty="0"/>
          </a:p>
        </p:txBody>
      </p:sp>
      <p:sp>
        <p:nvSpPr>
          <p:cNvPr id="53" name="Shape 50"/>
          <p:cNvSpPr/>
          <p:nvPr/>
        </p:nvSpPr>
        <p:spPr>
          <a:xfrm>
            <a:off x="6144768" y="5157216"/>
            <a:ext cx="5349240" cy="384048"/>
          </a:xfrm>
          <a:prstGeom prst="roundRect">
            <a:avLst>
              <a:gd name="adj" fmla="val 9524"/>
            </a:avLst>
          </a:prstGeom>
          <a:solidFill>
            <a:srgbClr val="F5F7FA"/>
          </a:solidFill>
          <a:ln w="12700">
            <a:solidFill>
              <a:srgbClr val="F5F7FA"/>
            </a:solidFill>
            <a:prstDash val="solid"/>
          </a:ln>
        </p:spPr>
      </p:sp>
      <p:sp>
        <p:nvSpPr>
          <p:cNvPr id="54" name="Text 51"/>
          <p:cNvSpPr/>
          <p:nvPr/>
        </p:nvSpPr>
        <p:spPr>
          <a:xfrm>
            <a:off x="6291072" y="5157216"/>
            <a:ext cx="502920" cy="384048"/>
          </a:xfrm>
          <a:prstGeom prst="rect">
            <a:avLst/>
          </a:prstGeom>
          <a:noFill/>
          <a:ln/>
        </p:spPr>
        <p:txBody>
          <a:bodyPr wrap="square" lIns="0" tIns="0" rIns="0" bIns="0" rtlCol="0" anchor="ctr"/>
          <a:lstStyle/>
          <a:p>
            <a:pPr indent="0" marL="0">
              <a:buNone/>
            </a:pPr>
            <a:r>
              <a:rPr lang="en-US" sz="1050" b="1" dirty="0">
                <a:solidFill>
                  <a:srgbClr val="B87914"/>
                </a:solidFill>
                <a:latin typeface="Calibri" pitchFamily="34" charset="0"/>
                <a:ea typeface="Calibri" pitchFamily="34" charset="-122"/>
                <a:cs typeface="Calibri" pitchFamily="34" charset="-120"/>
              </a:rPr>
              <a:t>C16</a:t>
            </a:r>
            <a:endParaRPr lang="en-US" sz="1050" dirty="0"/>
          </a:p>
        </p:txBody>
      </p:sp>
      <p:sp>
        <p:nvSpPr>
          <p:cNvPr id="55" name="Text 52"/>
          <p:cNvSpPr/>
          <p:nvPr/>
        </p:nvSpPr>
        <p:spPr>
          <a:xfrm>
            <a:off x="6830568" y="5157216"/>
            <a:ext cx="4572000" cy="384048"/>
          </a:xfrm>
          <a:prstGeom prst="rect">
            <a:avLst/>
          </a:prstGeom>
          <a:noFill/>
          <a:ln/>
        </p:spPr>
        <p:txBody>
          <a:bodyPr wrap="square" lIns="0" tIns="0" rIns="0" bIns="0" rtlCol="0" anchor="ctr"/>
          <a:lstStyle/>
          <a:p>
            <a:pPr indent="0" marL="0">
              <a:buNone/>
            </a:pPr>
            <a:r>
              <a:rPr lang="en-US" sz="1050" dirty="0">
                <a:solidFill>
                  <a:srgbClr val="3A4557"/>
                </a:solidFill>
                <a:latin typeface="Calibri" pitchFamily="34" charset="0"/>
                <a:ea typeface="Calibri" pitchFamily="34" charset="-122"/>
                <a:cs typeface="Calibri" pitchFamily="34" charset="-120"/>
              </a:rPr>
              <a:t>Monitors with no native runbook attachment</a:t>
            </a:r>
            <a:endParaRPr lang="en-US" sz="1050" dirty="0"/>
          </a:p>
        </p:txBody>
      </p:sp>
      <p:sp>
        <p:nvSpPr>
          <p:cNvPr id="56" name="Shape 53"/>
          <p:cNvSpPr/>
          <p:nvPr/>
        </p:nvSpPr>
        <p:spPr>
          <a:xfrm>
            <a:off x="566928" y="5596128"/>
            <a:ext cx="5349240" cy="384048"/>
          </a:xfrm>
          <a:prstGeom prst="roundRect">
            <a:avLst>
              <a:gd name="adj" fmla="val 9524"/>
            </a:avLst>
          </a:prstGeom>
          <a:solidFill>
            <a:srgbClr val="F5F7FA"/>
          </a:solidFill>
          <a:ln w="12700">
            <a:solidFill>
              <a:srgbClr val="F5F7FA"/>
            </a:solidFill>
            <a:prstDash val="solid"/>
          </a:ln>
        </p:spPr>
      </p:sp>
      <p:sp>
        <p:nvSpPr>
          <p:cNvPr id="57" name="Text 54"/>
          <p:cNvSpPr/>
          <p:nvPr/>
        </p:nvSpPr>
        <p:spPr>
          <a:xfrm>
            <a:off x="713232" y="5596128"/>
            <a:ext cx="502920" cy="384048"/>
          </a:xfrm>
          <a:prstGeom prst="rect">
            <a:avLst/>
          </a:prstGeom>
          <a:noFill/>
          <a:ln/>
        </p:spPr>
        <p:txBody>
          <a:bodyPr wrap="square" lIns="0" tIns="0" rIns="0" bIns="0" rtlCol="0" anchor="ctr"/>
          <a:lstStyle/>
          <a:p>
            <a:pPr indent="0" marL="0">
              <a:buNone/>
            </a:pPr>
            <a:r>
              <a:rPr lang="en-US" sz="1050" b="1" dirty="0">
                <a:solidFill>
                  <a:srgbClr val="B87914"/>
                </a:solidFill>
                <a:latin typeface="Calibri" pitchFamily="34" charset="0"/>
                <a:ea typeface="Calibri" pitchFamily="34" charset="-122"/>
                <a:cs typeface="Calibri" pitchFamily="34" charset="-120"/>
              </a:rPr>
              <a:t>C17</a:t>
            </a:r>
            <a:endParaRPr lang="en-US" sz="1050" dirty="0"/>
          </a:p>
        </p:txBody>
      </p:sp>
      <p:sp>
        <p:nvSpPr>
          <p:cNvPr id="58" name="Text 55"/>
          <p:cNvSpPr/>
          <p:nvPr/>
        </p:nvSpPr>
        <p:spPr>
          <a:xfrm>
            <a:off x="1252728" y="5596128"/>
            <a:ext cx="4572000" cy="384048"/>
          </a:xfrm>
          <a:prstGeom prst="rect">
            <a:avLst/>
          </a:prstGeom>
          <a:noFill/>
          <a:ln/>
        </p:spPr>
        <p:txBody>
          <a:bodyPr wrap="square" lIns="0" tIns="0" rIns="0" bIns="0" rtlCol="0" anchor="ctr"/>
          <a:lstStyle/>
          <a:p>
            <a:pPr indent="0" marL="0">
              <a:buNone/>
            </a:pPr>
            <a:r>
              <a:rPr lang="en-US" sz="1050" dirty="0">
                <a:solidFill>
                  <a:srgbClr val="3A4557"/>
                </a:solidFill>
                <a:latin typeface="Calibri" pitchFamily="34" charset="0"/>
                <a:ea typeface="Calibri" pitchFamily="34" charset="-122"/>
                <a:cs typeface="Calibri" pitchFamily="34" charset="-120"/>
              </a:rPr>
              <a:t>Monitors with no auto-resolve window (timeout_h)</a:t>
            </a:r>
            <a:endParaRPr lang="en-US" sz="1050" dirty="0"/>
          </a:p>
        </p:txBody>
      </p:sp>
      <p:sp>
        <p:nvSpPr>
          <p:cNvPr id="59" name="Text 56"/>
          <p:cNvSpPr/>
          <p:nvPr/>
        </p:nvSpPr>
        <p:spPr>
          <a:xfrm>
            <a:off x="566928" y="5989320"/>
            <a:ext cx="11057839" cy="347472"/>
          </a:xfrm>
          <a:prstGeom prst="rect">
            <a:avLst/>
          </a:prstGeom>
          <a:noFill/>
          <a:ln/>
        </p:spPr>
        <p:txBody>
          <a:bodyPr wrap="square" lIns="0" tIns="0" rIns="0" bIns="0" rtlCol="0" anchor="t"/>
          <a:lstStyle/>
          <a:p>
            <a:pPr indent="0" marL="0">
              <a:buNone/>
            </a:pPr>
            <a:r>
              <a:rPr lang="en-US" sz="1000" dirty="0">
                <a:solidFill>
                  <a:srgbClr val="6B7891"/>
                </a:solidFill>
                <a:latin typeface="Calibri" pitchFamily="34" charset="0"/>
                <a:ea typeface="Calibri" pitchFamily="34" charset="-122"/>
                <a:cs typeface="Calibri" pitchFamily="34" charset="-120"/>
              </a:rPr>
              <a:t>The deploy gate blocks on platform-integrity findings only; the nightly governance gate blocks on every finding and opens an issue — a deploy must not go permanently red over a tag on a resource the platform does not own.</a:t>
            </a:r>
            <a:endParaRPr lang="en-US" sz="10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8778240" cy="256032"/>
          </a:xfrm>
          <a:prstGeom prst="rect">
            <a:avLst/>
          </a:prstGeom>
          <a:noFill/>
          <a:ln/>
        </p:spPr>
        <p:txBody>
          <a:bodyPr wrap="square" lIns="0" tIns="0" rIns="0" bIns="0" rtlCol="0" anchor="ctr"/>
          <a:lstStyle/>
          <a:p>
            <a:pPr indent="0" marL="0">
              <a:buNone/>
            </a:pPr>
            <a:r>
              <a:rPr lang="en-US" sz="1050" b="1" spc="160" kern="0" dirty="0">
                <a:solidFill>
                  <a:srgbClr val="B87914"/>
                </a:solidFill>
                <a:latin typeface="Calibri" pitchFamily="34" charset="0"/>
                <a:ea typeface="Calibri" pitchFamily="34" charset="-122"/>
                <a:cs typeface="Calibri" pitchFamily="34" charset="-120"/>
              </a:rPr>
              <a:t>APPENDIX A9</a:t>
            </a:r>
            <a:endParaRPr lang="en-US" sz="1050" dirty="0"/>
          </a:p>
        </p:txBody>
      </p:sp>
      <p:sp>
        <p:nvSpPr>
          <p:cNvPr id="3" name="Text 1"/>
          <p:cNvSpPr/>
          <p:nvPr/>
        </p:nvSpPr>
        <p:spPr>
          <a:xfrm>
            <a:off x="566928" y="694944"/>
            <a:ext cx="10424160" cy="786384"/>
          </a:xfrm>
          <a:prstGeom prst="rect">
            <a:avLst/>
          </a:prstGeom>
          <a:noFill/>
          <a:ln/>
        </p:spPr>
        <p:txBody>
          <a:bodyPr wrap="square" lIns="0" tIns="0" rIns="0" bIns="0" rtlCol="0" anchor="ctr"/>
          <a:lstStyle/>
          <a:p>
            <a:pPr indent="0" marL="0">
              <a:buNone/>
            </a:pPr>
            <a:r>
              <a:rPr lang="en-US" sz="3100" b="1" dirty="0">
                <a:solidFill>
                  <a:srgbClr val="161C28"/>
                </a:solidFill>
                <a:latin typeface="Cambria" pitchFamily="34" charset="0"/>
                <a:ea typeface="Cambria" pitchFamily="34" charset="-122"/>
                <a:cs typeface="Cambria" pitchFamily="34" charset="-120"/>
              </a:rPr>
              <a:t>The tagging contract</a:t>
            </a:r>
            <a:endParaRPr lang="en-US" sz="3100" dirty="0"/>
          </a:p>
        </p:txBody>
      </p:sp>
      <p:sp>
        <p:nvSpPr>
          <p:cNvPr id="4" name="Text 2"/>
          <p:cNvSpPr/>
          <p:nvPr/>
        </p:nvSpPr>
        <p:spPr>
          <a:xfrm>
            <a:off x="566928" y="1481328"/>
            <a:ext cx="10698480" cy="457200"/>
          </a:xfrm>
          <a:prstGeom prst="rect">
            <a:avLst/>
          </a:prstGeom>
          <a:noFill/>
          <a:ln/>
        </p:spPr>
        <p:txBody>
          <a:bodyPr wrap="square" lIns="0" tIns="0" rIns="0" bIns="0" rtlCol="0" anchor="t"/>
          <a:lstStyle/>
          <a:p>
            <a:pPr indent="0" marL="0">
              <a:buNone/>
            </a:pPr>
            <a:r>
              <a:rPr lang="en-US" sz="1450" dirty="0">
                <a:solidFill>
                  <a:srgbClr val="3A4557"/>
                </a:solidFill>
                <a:latin typeface="Calibri" pitchFamily="34" charset="0"/>
                <a:ea typeface="Calibri" pitchFamily="34" charset="-122"/>
                <a:cs typeface="Calibri" pitchFamily="34" charset="-120"/>
              </a:rPr>
              <a:t>Six tags on the telemetry, applied at the source. Everything else — priority, routing, runbook, SLO, escalation, on-call, auto-resolve — is derived.</a:t>
            </a:r>
            <a:endParaRPr lang="en-US" sz="1450" dirty="0"/>
          </a:p>
        </p:txBody>
      </p:sp>
      <p:sp>
        <p:nvSpPr>
          <p:cNvPr id="5" name="Text 3"/>
          <p:cNvSpPr/>
          <p:nvPr/>
        </p:nvSpPr>
        <p:spPr>
          <a:xfrm>
            <a:off x="566928" y="6345936"/>
            <a:ext cx="7315200" cy="274320"/>
          </a:xfrm>
          <a:prstGeom prst="rect">
            <a:avLst/>
          </a:prstGeom>
          <a:noFill/>
          <a:ln/>
        </p:spPr>
        <p:txBody>
          <a:bodyPr wrap="square" lIns="0" tIns="0" rIns="0" bIns="0" rtlCol="0" anchor="ctr"/>
          <a:lstStyle/>
          <a:p>
            <a:pPr indent="0" marL="0">
              <a:buNone/>
            </a:pPr>
            <a:r>
              <a:rPr lang="en-US" sz="900" dirty="0">
                <a:solidFill>
                  <a:srgbClr val="6B7891"/>
                </a:solidFill>
                <a:latin typeface="Calibri" pitchFamily="34" charset="0"/>
                <a:ea typeface="Calibri" pitchFamily="34" charset="-122"/>
                <a:cs typeface="Calibri" pitchFamily="34" charset="-120"/>
              </a:rPr>
              <a:t>Enterprise Observability  ·  policy-as-data on Datadog</a:t>
            </a:r>
            <a:endParaRPr lang="en-US" sz="900" dirty="0"/>
          </a:p>
        </p:txBody>
      </p:sp>
      <p:sp>
        <p:nvSpPr>
          <p:cNvPr id="6" name="Text 4"/>
          <p:cNvSpPr/>
          <p:nvPr/>
        </p:nvSpPr>
        <p:spPr>
          <a:xfrm>
            <a:off x="10710367" y="6345936"/>
            <a:ext cx="914400" cy="274320"/>
          </a:xfrm>
          <a:prstGeom prst="rect">
            <a:avLst/>
          </a:prstGeom>
          <a:noFill/>
          <a:ln/>
        </p:spPr>
        <p:txBody>
          <a:bodyPr wrap="square" lIns="0" tIns="0" rIns="0" bIns="0" rtlCol="0" anchor="ctr"/>
          <a:lstStyle/>
          <a:p>
            <a:pPr algn="r" indent="0" marL="0">
              <a:buNone/>
            </a:pPr>
            <a:r>
              <a:rPr lang="en-US" sz="900" dirty="0">
                <a:solidFill>
                  <a:srgbClr val="6B7891"/>
                </a:solidFill>
                <a:latin typeface="Calibri" pitchFamily="34" charset="0"/>
                <a:ea typeface="Calibri" pitchFamily="34" charset="-122"/>
                <a:cs typeface="Calibri" pitchFamily="34" charset="-120"/>
              </a:rPr>
              <a:t>53</a:t>
            </a:r>
            <a:endParaRPr lang="en-US" sz="900" dirty="0"/>
          </a:p>
        </p:txBody>
      </p:sp>
      <p:sp>
        <p:nvSpPr>
          <p:cNvPr id="8" name="Shape 5"/>
          <p:cNvSpPr/>
          <p:nvPr/>
        </p:nvSpPr>
        <p:spPr>
          <a:xfrm>
            <a:off x="566928" y="2103120"/>
            <a:ext cx="5349240" cy="960120"/>
          </a:xfrm>
          <a:prstGeom prst="roundRect">
            <a:avLst>
              <a:gd name="adj" fmla="val 5714"/>
            </a:avLst>
          </a:prstGeom>
          <a:solidFill>
            <a:srgbClr val="12161F"/>
          </a:solidFill>
          <a:ln w="12700">
            <a:solidFill>
              <a:srgbClr val="12161F"/>
            </a:solidFill>
            <a:prstDash val="solid"/>
          </a:ln>
        </p:spPr>
      </p:sp>
      <p:sp>
        <p:nvSpPr>
          <p:cNvPr id="9" name="Text 6"/>
          <p:cNvSpPr/>
          <p:nvPr/>
        </p:nvSpPr>
        <p:spPr>
          <a:xfrm>
            <a:off x="841248" y="2194560"/>
            <a:ext cx="4846320" cy="777240"/>
          </a:xfrm>
          <a:prstGeom prst="rect">
            <a:avLst/>
          </a:prstGeom>
          <a:noFill/>
          <a:ln/>
        </p:spPr>
        <p:txBody>
          <a:bodyPr wrap="square" lIns="0" tIns="0" rIns="0" bIns="0" rtlCol="0" anchor="ctr"/>
          <a:lstStyle/>
          <a:p>
            <a:pPr indent="0" marL="0">
              <a:lnSpc>
                <a:spcPct val="110000"/>
              </a:lnSpc>
              <a:buNone/>
            </a:pPr>
            <a:r>
              <a:rPr lang="en-US" sz="1500" b="1" dirty="0">
                <a:solidFill>
                  <a:srgbClr val="E09A2E"/>
                </a:solidFill>
                <a:latin typeface="Courier New" pitchFamily="34" charset="0"/>
                <a:ea typeface="Courier New" pitchFamily="34" charset="-122"/>
                <a:cs typeface="Courier New" pitchFamily="34" charset="-120"/>
              </a:rPr>
              <a:t>env    service    team    tier</a:t>
            </a:r>
            <a:endParaRPr lang="en-US" sz="1500" dirty="0"/>
          </a:p>
          <a:p>
            <a:pPr indent="0" marL="0">
              <a:lnSpc>
                <a:spcPct val="110000"/>
              </a:lnSpc>
              <a:buNone/>
            </a:pPr>
            <a:r>
              <a:rPr lang="en-US" sz="1500" b="1" dirty="0">
                <a:solidFill>
                  <a:srgbClr val="E09A2E"/>
                </a:solidFill>
                <a:latin typeface="Courier New" pitchFamily="34" charset="0"/>
                <a:ea typeface="Courier New" pitchFamily="34" charset="-122"/>
                <a:cs typeface="Courier New" pitchFamily="34" charset="-120"/>
              </a:rPr>
              <a:t>service_archetype    alert_band</a:t>
            </a:r>
            <a:endParaRPr lang="en-US" sz="1500" dirty="0"/>
          </a:p>
        </p:txBody>
      </p:sp>
      <p:sp>
        <p:nvSpPr>
          <p:cNvPr id="10" name="Shape 7"/>
          <p:cNvSpPr/>
          <p:nvPr/>
        </p:nvSpPr>
        <p:spPr>
          <a:xfrm>
            <a:off x="566928" y="3246120"/>
            <a:ext cx="5349240" cy="1298448"/>
          </a:xfrm>
          <a:prstGeom prst="roundRect">
            <a:avLst>
              <a:gd name="adj" fmla="val 4225"/>
            </a:avLst>
          </a:prstGeom>
          <a:solidFill>
            <a:srgbClr val="EFF2F6"/>
          </a:solidFill>
          <a:ln w="12700">
            <a:solidFill>
              <a:srgbClr val="EFF2F6"/>
            </a:solidFill>
            <a:prstDash val="solid"/>
          </a:ln>
        </p:spPr>
      </p:sp>
      <p:sp>
        <p:nvSpPr>
          <p:cNvPr id="11" name="Text 8"/>
          <p:cNvSpPr/>
          <p:nvPr/>
        </p:nvSpPr>
        <p:spPr>
          <a:xfrm>
            <a:off x="768096" y="3337560"/>
            <a:ext cx="4937760" cy="256032"/>
          </a:xfrm>
          <a:prstGeom prst="rect">
            <a:avLst/>
          </a:prstGeom>
          <a:noFill/>
          <a:ln/>
        </p:spPr>
        <p:txBody>
          <a:bodyPr wrap="square" lIns="0" tIns="0" rIns="0" bIns="0" rtlCol="0" anchor="ctr"/>
          <a:lstStyle/>
          <a:p>
            <a:pPr indent="0" marL="0">
              <a:buNone/>
            </a:pPr>
            <a:r>
              <a:rPr lang="en-US" sz="1150" b="1" dirty="0">
                <a:solidFill>
                  <a:srgbClr val="B87914"/>
                </a:solidFill>
                <a:latin typeface="Calibri" pitchFamily="34" charset="0"/>
                <a:ea typeface="Calibri" pitchFamily="34" charset="-122"/>
                <a:cs typeface="Calibri" pitchFamily="34" charset="-120"/>
              </a:rPr>
              <a:t>Agent — datadog.yaml</a:t>
            </a:r>
            <a:endParaRPr lang="en-US" sz="1150" dirty="0"/>
          </a:p>
        </p:txBody>
      </p:sp>
      <p:sp>
        <p:nvSpPr>
          <p:cNvPr id="12" name="Text 9"/>
          <p:cNvSpPr/>
          <p:nvPr/>
        </p:nvSpPr>
        <p:spPr>
          <a:xfrm>
            <a:off x="768096" y="3593592"/>
            <a:ext cx="4937760" cy="896112"/>
          </a:xfrm>
          <a:prstGeom prst="rect">
            <a:avLst/>
          </a:prstGeom>
          <a:noFill/>
          <a:ln/>
        </p:spPr>
        <p:txBody>
          <a:bodyPr wrap="square" lIns="0" tIns="0" rIns="0" bIns="0" rtlCol="0" anchor="t"/>
          <a:lstStyle/>
          <a:p>
            <a:pPr indent="0" marL="0">
              <a:lnSpc>
                <a:spcPct val="102000"/>
              </a:lnSpc>
              <a:buNone/>
            </a:pPr>
            <a:r>
              <a:rPr lang="en-US" sz="950" dirty="0">
                <a:solidFill>
                  <a:srgbClr val="3A4557"/>
                </a:solidFill>
                <a:latin typeface="Courier New" pitchFamily="34" charset="0"/>
                <a:ea typeface="Courier New" pitchFamily="34" charset="-122"/>
                <a:cs typeface="Courier New" pitchFamily="34" charset="-120"/>
              </a:rPr>
              <a:t>tags:</a:t>
            </a:r>
            <a:endParaRPr lang="en-US" sz="950" dirty="0"/>
          </a:p>
          <a:p>
            <a:pPr indent="0" marL="0">
              <a:lnSpc>
                <a:spcPct val="102000"/>
              </a:lnSpc>
              <a:buNone/>
            </a:pPr>
            <a:r>
              <a:rPr lang="en-US" sz="950" dirty="0">
                <a:solidFill>
                  <a:srgbClr val="3A4557"/>
                </a:solidFill>
                <a:latin typeface="Courier New" pitchFamily="34" charset="0"/>
                <a:ea typeface="Courier New" pitchFamily="34" charset="-122"/>
                <a:cs typeface="Courier New" pitchFamily="34" charset="-120"/>
              </a:rPr>
              <a:t>  - env:prod</a:t>
            </a:r>
            <a:endParaRPr lang="en-US" sz="950" dirty="0"/>
          </a:p>
          <a:p>
            <a:pPr indent="0" marL="0">
              <a:lnSpc>
                <a:spcPct val="102000"/>
              </a:lnSpc>
              <a:buNone/>
            </a:pPr>
            <a:r>
              <a:rPr lang="en-US" sz="950" dirty="0">
                <a:solidFill>
                  <a:srgbClr val="3A4557"/>
                </a:solidFill>
                <a:latin typeface="Courier New" pitchFamily="34" charset="0"/>
                <a:ea typeface="Courier New" pitchFamily="34" charset="-122"/>
                <a:cs typeface="Courier New" pitchFamily="34" charset="-120"/>
              </a:rPr>
              <a:t>  - service:orders-sql</a:t>
            </a:r>
            <a:endParaRPr lang="en-US" sz="950" dirty="0"/>
          </a:p>
          <a:p>
            <a:pPr indent="0" marL="0">
              <a:lnSpc>
                <a:spcPct val="102000"/>
              </a:lnSpc>
              <a:buNone/>
            </a:pPr>
            <a:r>
              <a:rPr lang="en-US" sz="950" dirty="0">
                <a:solidFill>
                  <a:srgbClr val="3A4557"/>
                </a:solidFill>
                <a:latin typeface="Courier New" pitchFamily="34" charset="0"/>
                <a:ea typeface="Courier New" pitchFamily="34" charset="-122"/>
                <a:cs typeface="Courier New" pitchFamily="34" charset="-120"/>
              </a:rPr>
              <a:t>  - tier:tier0</a:t>
            </a:r>
            <a:endParaRPr lang="en-US" sz="950" dirty="0"/>
          </a:p>
          <a:p>
            <a:pPr indent="0" marL="0">
              <a:lnSpc>
                <a:spcPct val="102000"/>
              </a:lnSpc>
              <a:buNone/>
            </a:pPr>
            <a:r>
              <a:rPr lang="en-US" sz="950" dirty="0">
                <a:solidFill>
                  <a:srgbClr val="3A4557"/>
                </a:solidFill>
                <a:latin typeface="Courier New" pitchFamily="34" charset="0"/>
                <a:ea typeface="Courier New" pitchFamily="34" charset="-122"/>
                <a:cs typeface="Courier New" pitchFamily="34" charset="-120"/>
              </a:rPr>
              <a:t>  - service_archetype:datastore</a:t>
            </a:r>
            <a:endParaRPr lang="en-US" sz="950" dirty="0"/>
          </a:p>
          <a:p>
            <a:pPr indent="0" marL="0">
              <a:lnSpc>
                <a:spcPct val="102000"/>
              </a:lnSpc>
              <a:buNone/>
            </a:pPr>
            <a:r>
              <a:rPr lang="en-US" sz="950" dirty="0">
                <a:solidFill>
                  <a:srgbClr val="3A4557"/>
                </a:solidFill>
                <a:latin typeface="Courier New" pitchFamily="34" charset="0"/>
                <a:ea typeface="Courier New" pitchFamily="34" charset="-122"/>
                <a:cs typeface="Courier New" pitchFamily="34" charset="-120"/>
              </a:rPr>
              <a:t>  - alert_band:critical</a:t>
            </a:r>
            <a:endParaRPr lang="en-US" sz="950" dirty="0"/>
          </a:p>
        </p:txBody>
      </p:sp>
      <p:sp>
        <p:nvSpPr>
          <p:cNvPr id="13" name="Shape 10"/>
          <p:cNvSpPr/>
          <p:nvPr/>
        </p:nvSpPr>
        <p:spPr>
          <a:xfrm>
            <a:off x="6144768" y="3246120"/>
            <a:ext cx="5349240" cy="1298448"/>
          </a:xfrm>
          <a:prstGeom prst="roundRect">
            <a:avLst>
              <a:gd name="adj" fmla="val 4225"/>
            </a:avLst>
          </a:prstGeom>
          <a:solidFill>
            <a:srgbClr val="EFF2F6"/>
          </a:solidFill>
          <a:ln w="12700">
            <a:solidFill>
              <a:srgbClr val="EFF2F6"/>
            </a:solidFill>
            <a:prstDash val="solid"/>
          </a:ln>
        </p:spPr>
      </p:sp>
      <p:sp>
        <p:nvSpPr>
          <p:cNvPr id="14" name="Text 11"/>
          <p:cNvSpPr/>
          <p:nvPr/>
        </p:nvSpPr>
        <p:spPr>
          <a:xfrm>
            <a:off x="6345936" y="3337560"/>
            <a:ext cx="4937760" cy="256032"/>
          </a:xfrm>
          <a:prstGeom prst="rect">
            <a:avLst/>
          </a:prstGeom>
          <a:noFill/>
          <a:ln/>
        </p:spPr>
        <p:txBody>
          <a:bodyPr wrap="square" lIns="0" tIns="0" rIns="0" bIns="0" rtlCol="0" anchor="ctr"/>
          <a:lstStyle/>
          <a:p>
            <a:pPr indent="0" marL="0">
              <a:buNone/>
            </a:pPr>
            <a:r>
              <a:rPr lang="en-US" sz="1150" b="1" dirty="0">
                <a:solidFill>
                  <a:srgbClr val="B87914"/>
                </a:solidFill>
                <a:latin typeface="Calibri" pitchFamily="34" charset="0"/>
                <a:ea typeface="Calibri" pitchFamily="34" charset="-122"/>
                <a:cs typeface="Calibri" pitchFamily="34" charset="-120"/>
              </a:rPr>
              <a:t>Azure — resource tags</a:t>
            </a:r>
            <a:endParaRPr lang="en-US" sz="1150" dirty="0"/>
          </a:p>
        </p:txBody>
      </p:sp>
      <p:sp>
        <p:nvSpPr>
          <p:cNvPr id="15" name="Text 12"/>
          <p:cNvSpPr/>
          <p:nvPr/>
        </p:nvSpPr>
        <p:spPr>
          <a:xfrm>
            <a:off x="6345936" y="3593592"/>
            <a:ext cx="4937760" cy="896112"/>
          </a:xfrm>
          <a:prstGeom prst="rect">
            <a:avLst/>
          </a:prstGeom>
          <a:noFill/>
          <a:ln/>
        </p:spPr>
        <p:txBody>
          <a:bodyPr wrap="square" lIns="0" tIns="0" rIns="0" bIns="0" rtlCol="0" anchor="t"/>
          <a:lstStyle/>
          <a:p>
            <a:pPr indent="0" marL="0">
              <a:lnSpc>
                <a:spcPct val="102000"/>
              </a:lnSpc>
              <a:buNone/>
            </a:pPr>
            <a:r>
              <a:rPr lang="en-US" sz="950" dirty="0">
                <a:solidFill>
                  <a:srgbClr val="3A4557"/>
                </a:solidFill>
                <a:latin typeface="Courier New" pitchFamily="34" charset="0"/>
                <a:ea typeface="Courier New" pitchFamily="34" charset="-122"/>
                <a:cs typeface="Courier New" pitchFamily="34" charset="-120"/>
              </a:rPr>
              <a:t>env = prod</a:t>
            </a:r>
            <a:endParaRPr lang="en-US" sz="950" dirty="0"/>
          </a:p>
          <a:p>
            <a:pPr indent="0" marL="0">
              <a:lnSpc>
                <a:spcPct val="102000"/>
              </a:lnSpc>
              <a:buNone/>
            </a:pPr>
            <a:r>
              <a:rPr lang="en-US" sz="950" dirty="0">
                <a:solidFill>
                  <a:srgbClr val="3A4557"/>
                </a:solidFill>
                <a:latin typeface="Courier New" pitchFamily="34" charset="0"/>
                <a:ea typeface="Courier New" pitchFamily="34" charset="-122"/>
                <a:cs typeface="Courier New" pitchFamily="34" charset="-120"/>
              </a:rPr>
              <a:t>service = checkout-api</a:t>
            </a:r>
            <a:endParaRPr lang="en-US" sz="950" dirty="0"/>
          </a:p>
          <a:p>
            <a:pPr indent="0" marL="0">
              <a:lnSpc>
                <a:spcPct val="102000"/>
              </a:lnSpc>
              <a:buNone/>
            </a:pPr>
            <a:r>
              <a:rPr lang="en-US" sz="950" dirty="0">
                <a:solidFill>
                  <a:srgbClr val="3A4557"/>
                </a:solidFill>
                <a:latin typeface="Courier New" pitchFamily="34" charset="0"/>
                <a:ea typeface="Courier New" pitchFamily="34" charset="-122"/>
                <a:cs typeface="Courier New" pitchFamily="34" charset="-120"/>
              </a:rPr>
              <a:t>tier = tier0</a:t>
            </a:r>
            <a:endParaRPr lang="en-US" sz="950" dirty="0"/>
          </a:p>
          <a:p>
            <a:pPr indent="0" marL="0">
              <a:lnSpc>
                <a:spcPct val="102000"/>
              </a:lnSpc>
              <a:buNone/>
            </a:pPr>
            <a:r>
              <a:rPr lang="en-US" sz="950" dirty="0">
                <a:solidFill>
                  <a:srgbClr val="3A4557"/>
                </a:solidFill>
                <a:latin typeface="Courier New" pitchFamily="34" charset="0"/>
                <a:ea typeface="Courier New" pitchFamily="34" charset="-122"/>
                <a:cs typeface="Courier New" pitchFamily="34" charset="-120"/>
              </a:rPr>
              <a:t>service_archetype = api</a:t>
            </a:r>
            <a:endParaRPr lang="en-US" sz="950" dirty="0"/>
          </a:p>
          <a:p>
            <a:pPr indent="0" marL="0">
              <a:lnSpc>
                <a:spcPct val="102000"/>
              </a:lnSpc>
              <a:buNone/>
            </a:pPr>
            <a:r>
              <a:rPr lang="en-US" sz="950" dirty="0">
                <a:solidFill>
                  <a:srgbClr val="3A4557"/>
                </a:solidFill>
                <a:latin typeface="Courier New" pitchFamily="34" charset="0"/>
                <a:ea typeface="Courier New" pitchFamily="34" charset="-122"/>
                <a:cs typeface="Courier New" pitchFamily="34" charset="-120"/>
              </a:rPr>
              <a:t>alert_band = critical</a:t>
            </a:r>
            <a:endParaRPr lang="en-US" sz="950" dirty="0"/>
          </a:p>
          <a:p>
            <a:pPr indent="0" marL="0">
              <a:lnSpc>
                <a:spcPct val="102000"/>
              </a:lnSpc>
              <a:buNone/>
            </a:pPr>
            <a:r>
              <a:rPr lang="en-US" sz="950" dirty="0">
                <a:solidFill>
                  <a:srgbClr val="3A4557"/>
                </a:solidFill>
                <a:latin typeface="Courier New" pitchFamily="34" charset="0"/>
                <a:ea typeface="Courier New" pitchFamily="34" charset="-122"/>
                <a:cs typeface="Courier New" pitchFamily="34" charset="-120"/>
              </a:rPr>
              <a:t>cost_center = cc-identity</a:t>
            </a:r>
            <a:endParaRPr lang="en-US" sz="950" dirty="0"/>
          </a:p>
        </p:txBody>
      </p:sp>
      <p:sp>
        <p:nvSpPr>
          <p:cNvPr id="16" name="Shape 13"/>
          <p:cNvSpPr/>
          <p:nvPr/>
        </p:nvSpPr>
        <p:spPr>
          <a:xfrm>
            <a:off x="566928" y="4663440"/>
            <a:ext cx="5349240" cy="1298448"/>
          </a:xfrm>
          <a:prstGeom prst="roundRect">
            <a:avLst>
              <a:gd name="adj" fmla="val 4225"/>
            </a:avLst>
          </a:prstGeom>
          <a:solidFill>
            <a:srgbClr val="EFF2F6"/>
          </a:solidFill>
          <a:ln w="12700">
            <a:solidFill>
              <a:srgbClr val="EFF2F6"/>
            </a:solidFill>
            <a:prstDash val="solid"/>
          </a:ln>
        </p:spPr>
      </p:sp>
      <p:sp>
        <p:nvSpPr>
          <p:cNvPr id="17" name="Text 14"/>
          <p:cNvSpPr/>
          <p:nvPr/>
        </p:nvSpPr>
        <p:spPr>
          <a:xfrm>
            <a:off x="768096" y="4754880"/>
            <a:ext cx="4937760" cy="256032"/>
          </a:xfrm>
          <a:prstGeom prst="rect">
            <a:avLst/>
          </a:prstGeom>
          <a:noFill/>
          <a:ln/>
        </p:spPr>
        <p:txBody>
          <a:bodyPr wrap="square" lIns="0" tIns="0" rIns="0" bIns="0" rtlCol="0" anchor="ctr"/>
          <a:lstStyle/>
          <a:p>
            <a:pPr indent="0" marL="0">
              <a:buNone/>
            </a:pPr>
            <a:r>
              <a:rPr lang="en-US" sz="1150" b="1" dirty="0">
                <a:solidFill>
                  <a:srgbClr val="B87914"/>
                </a:solidFill>
                <a:latin typeface="Calibri" pitchFamily="34" charset="0"/>
                <a:ea typeface="Calibri" pitchFamily="34" charset="-122"/>
                <a:cs typeface="Calibri" pitchFamily="34" charset="-120"/>
              </a:rPr>
              <a:t>Kubernetes — labels</a:t>
            </a:r>
            <a:endParaRPr lang="en-US" sz="1150" dirty="0"/>
          </a:p>
        </p:txBody>
      </p:sp>
      <p:sp>
        <p:nvSpPr>
          <p:cNvPr id="18" name="Text 15"/>
          <p:cNvSpPr/>
          <p:nvPr/>
        </p:nvSpPr>
        <p:spPr>
          <a:xfrm>
            <a:off x="768096" y="5010912"/>
            <a:ext cx="4937760" cy="896112"/>
          </a:xfrm>
          <a:prstGeom prst="rect">
            <a:avLst/>
          </a:prstGeom>
          <a:noFill/>
          <a:ln/>
        </p:spPr>
        <p:txBody>
          <a:bodyPr wrap="square" lIns="0" tIns="0" rIns="0" bIns="0" rtlCol="0" anchor="t"/>
          <a:lstStyle/>
          <a:p>
            <a:pPr indent="0" marL="0">
              <a:lnSpc>
                <a:spcPct val="102000"/>
              </a:lnSpc>
              <a:buNone/>
            </a:pPr>
            <a:r>
              <a:rPr lang="en-US" sz="950" dirty="0">
                <a:solidFill>
                  <a:srgbClr val="3A4557"/>
                </a:solidFill>
                <a:latin typeface="Courier New" pitchFamily="34" charset="0"/>
                <a:ea typeface="Courier New" pitchFamily="34" charset="-122"/>
                <a:cs typeface="Courier New" pitchFamily="34" charset="-120"/>
              </a:rPr>
              <a:t>tags.datadoghq.com/env: prod</a:t>
            </a:r>
            <a:endParaRPr lang="en-US" sz="950" dirty="0"/>
          </a:p>
          <a:p>
            <a:pPr indent="0" marL="0">
              <a:lnSpc>
                <a:spcPct val="102000"/>
              </a:lnSpc>
              <a:buNone/>
            </a:pPr>
            <a:r>
              <a:rPr lang="en-US" sz="950" dirty="0">
                <a:solidFill>
                  <a:srgbClr val="3A4557"/>
                </a:solidFill>
                <a:latin typeface="Courier New" pitchFamily="34" charset="0"/>
                <a:ea typeface="Courier New" pitchFamily="34" charset="-122"/>
                <a:cs typeface="Courier New" pitchFamily="34" charset="-120"/>
              </a:rPr>
              <a:t>tags.datadoghq.com/service: ...</a:t>
            </a:r>
            <a:endParaRPr lang="en-US" sz="950" dirty="0"/>
          </a:p>
          <a:p>
            <a:pPr indent="0" marL="0">
              <a:lnSpc>
                <a:spcPct val="102000"/>
              </a:lnSpc>
              <a:buNone/>
            </a:pPr>
            <a:r>
              <a:rPr lang="en-US" sz="950" dirty="0">
                <a:solidFill>
                  <a:srgbClr val="3A4557"/>
                </a:solidFill>
                <a:latin typeface="Courier New" pitchFamily="34" charset="0"/>
                <a:ea typeface="Courier New" pitchFamily="34" charset="-122"/>
                <a:cs typeface="Courier New" pitchFamily="34" charset="-120"/>
              </a:rPr>
              <a:t>tags.datadoghq.com/version: ...</a:t>
            </a:r>
            <a:endParaRPr lang="en-US" sz="950" dirty="0"/>
          </a:p>
          <a:p>
            <a:pPr indent="0" marL="0">
              <a:lnSpc>
                <a:spcPct val="102000"/>
              </a:lnSpc>
              <a:buNone/>
            </a:pPr>
            <a:r>
              <a:rPr lang="en-US" sz="950" dirty="0">
                <a:solidFill>
                  <a:srgbClr val="3A4557"/>
                </a:solidFill>
                <a:latin typeface="Courier New" pitchFamily="34" charset="0"/>
                <a:ea typeface="Courier New" pitchFamily="34" charset="-122"/>
                <a:cs typeface="Courier New" pitchFamily="34" charset="-120"/>
              </a:rPr>
              <a:t>team / tier / service_archetype</a:t>
            </a:r>
            <a:endParaRPr lang="en-US" sz="950" dirty="0"/>
          </a:p>
          <a:p>
            <a:pPr indent="0" marL="0">
              <a:lnSpc>
                <a:spcPct val="102000"/>
              </a:lnSpc>
              <a:buNone/>
            </a:pPr>
            <a:r>
              <a:rPr lang="en-US" sz="950" dirty="0">
                <a:solidFill>
                  <a:srgbClr val="3A4557"/>
                </a:solidFill>
                <a:latin typeface="Courier New" pitchFamily="34" charset="0"/>
                <a:ea typeface="Courier New" pitchFamily="34" charset="-122"/>
                <a:cs typeface="Courier New" pitchFamily="34" charset="-120"/>
              </a:rPr>
              <a:t>(DD_KUBERNETES_POD_LABELS_AS_TAGS)</a:t>
            </a:r>
            <a:endParaRPr lang="en-US" sz="950" dirty="0"/>
          </a:p>
        </p:txBody>
      </p:sp>
      <p:sp>
        <p:nvSpPr>
          <p:cNvPr id="19" name="Shape 16"/>
          <p:cNvSpPr/>
          <p:nvPr/>
        </p:nvSpPr>
        <p:spPr>
          <a:xfrm>
            <a:off x="6144768" y="4663440"/>
            <a:ext cx="5349240" cy="1298448"/>
          </a:xfrm>
          <a:prstGeom prst="roundRect">
            <a:avLst>
              <a:gd name="adj" fmla="val 4225"/>
            </a:avLst>
          </a:prstGeom>
          <a:solidFill>
            <a:srgbClr val="EFF2F6"/>
          </a:solidFill>
          <a:ln w="12700">
            <a:solidFill>
              <a:srgbClr val="EFF2F6"/>
            </a:solidFill>
            <a:prstDash val="solid"/>
          </a:ln>
        </p:spPr>
      </p:sp>
      <p:sp>
        <p:nvSpPr>
          <p:cNvPr id="20" name="Text 17"/>
          <p:cNvSpPr/>
          <p:nvPr/>
        </p:nvSpPr>
        <p:spPr>
          <a:xfrm>
            <a:off x="6345936" y="4754880"/>
            <a:ext cx="4937760" cy="256032"/>
          </a:xfrm>
          <a:prstGeom prst="rect">
            <a:avLst/>
          </a:prstGeom>
          <a:noFill/>
          <a:ln/>
        </p:spPr>
        <p:txBody>
          <a:bodyPr wrap="square" lIns="0" tIns="0" rIns="0" bIns="0" rtlCol="0" anchor="ctr"/>
          <a:lstStyle/>
          <a:p>
            <a:pPr indent="0" marL="0">
              <a:buNone/>
            </a:pPr>
            <a:r>
              <a:rPr lang="en-US" sz="1150" b="1" dirty="0">
                <a:solidFill>
                  <a:srgbClr val="B87914"/>
                </a:solidFill>
                <a:latin typeface="Calibri" pitchFamily="34" charset="0"/>
                <a:ea typeface="Calibri" pitchFamily="34" charset="-122"/>
                <a:cs typeface="Calibri" pitchFamily="34" charset="-120"/>
              </a:rPr>
              <a:t>APM — environment</a:t>
            </a:r>
            <a:endParaRPr lang="en-US" sz="1150" dirty="0"/>
          </a:p>
        </p:txBody>
      </p:sp>
      <p:sp>
        <p:nvSpPr>
          <p:cNvPr id="21" name="Text 18"/>
          <p:cNvSpPr/>
          <p:nvPr/>
        </p:nvSpPr>
        <p:spPr>
          <a:xfrm>
            <a:off x="6345936" y="5010912"/>
            <a:ext cx="4937760" cy="896112"/>
          </a:xfrm>
          <a:prstGeom prst="rect">
            <a:avLst/>
          </a:prstGeom>
          <a:noFill/>
          <a:ln/>
        </p:spPr>
        <p:txBody>
          <a:bodyPr wrap="square" lIns="0" tIns="0" rIns="0" bIns="0" rtlCol="0" anchor="t"/>
          <a:lstStyle/>
          <a:p>
            <a:pPr indent="0" marL="0">
              <a:lnSpc>
                <a:spcPct val="102000"/>
              </a:lnSpc>
              <a:buNone/>
            </a:pPr>
            <a:r>
              <a:rPr lang="en-US" sz="950" dirty="0">
                <a:solidFill>
                  <a:srgbClr val="3A4557"/>
                </a:solidFill>
                <a:latin typeface="Courier New" pitchFamily="34" charset="0"/>
                <a:ea typeface="Courier New" pitchFamily="34" charset="-122"/>
                <a:cs typeface="Courier New" pitchFamily="34" charset="-120"/>
              </a:rPr>
              <a:t>DD_ENV=prod</a:t>
            </a:r>
            <a:endParaRPr lang="en-US" sz="950" dirty="0"/>
          </a:p>
          <a:p>
            <a:pPr indent="0" marL="0">
              <a:lnSpc>
                <a:spcPct val="102000"/>
              </a:lnSpc>
              <a:buNone/>
            </a:pPr>
            <a:r>
              <a:rPr lang="en-US" sz="950" dirty="0">
                <a:solidFill>
                  <a:srgbClr val="3A4557"/>
                </a:solidFill>
                <a:latin typeface="Courier New" pitchFamily="34" charset="0"/>
                <a:ea typeface="Courier New" pitchFamily="34" charset="-122"/>
                <a:cs typeface="Courier New" pitchFamily="34" charset="-120"/>
              </a:rPr>
              <a:t>DD_SERVICE=checkout-api</a:t>
            </a:r>
            <a:endParaRPr lang="en-US" sz="950" dirty="0"/>
          </a:p>
          <a:p>
            <a:pPr indent="0" marL="0">
              <a:lnSpc>
                <a:spcPct val="102000"/>
              </a:lnSpc>
              <a:buNone/>
            </a:pPr>
            <a:r>
              <a:rPr lang="en-US" sz="950" dirty="0">
                <a:solidFill>
                  <a:srgbClr val="3A4557"/>
                </a:solidFill>
                <a:latin typeface="Courier New" pitchFamily="34" charset="0"/>
                <a:ea typeface="Courier New" pitchFamily="34" charset="-122"/>
                <a:cs typeface="Courier New" pitchFamily="34" charset="-120"/>
              </a:rPr>
              <a:t>DD_VERSION=2026.08.19</a:t>
            </a:r>
            <a:endParaRPr lang="en-US" sz="950" dirty="0"/>
          </a:p>
          <a:p>
            <a:pPr indent="0" marL="0">
              <a:lnSpc>
                <a:spcPct val="102000"/>
              </a:lnSpc>
              <a:buNone/>
            </a:pPr>
            <a:r>
              <a:rPr lang="en-US" sz="950" dirty="0">
                <a:solidFill>
                  <a:srgbClr val="3A4557"/>
                </a:solidFill>
                <a:latin typeface="Courier New" pitchFamily="34" charset="0"/>
                <a:ea typeface="Courier New" pitchFamily="34" charset="-122"/>
                <a:cs typeface="Courier New" pitchFamily="34" charset="-120"/>
              </a:rPr>
              <a:t>DD_GIT_COMMIT_SHA=&lt;sha&gt;</a:t>
            </a:r>
            <a:endParaRPr lang="en-US" sz="950" dirty="0"/>
          </a:p>
          <a:p>
            <a:pPr indent="0" marL="0">
              <a:lnSpc>
                <a:spcPct val="102000"/>
              </a:lnSpc>
              <a:buNone/>
            </a:pPr>
            <a:r>
              <a:rPr lang="en-US" sz="950" dirty="0">
                <a:solidFill>
                  <a:srgbClr val="3A4557"/>
                </a:solidFill>
                <a:latin typeface="Courier New" pitchFamily="34" charset="0"/>
                <a:ea typeface="Courier New" pitchFamily="34" charset="-122"/>
                <a:cs typeface="Courier New" pitchFamily="34" charset="-120"/>
              </a:rPr>
              <a:t>DD_TAGS="team:...,tier:..."</a:t>
            </a:r>
            <a:endParaRPr lang="en-US" sz="950" dirty="0"/>
          </a:p>
        </p:txBody>
      </p:sp>
      <p:sp>
        <p:nvSpPr>
          <p:cNvPr id="22" name="Shape 19"/>
          <p:cNvSpPr/>
          <p:nvPr/>
        </p:nvSpPr>
        <p:spPr>
          <a:xfrm>
            <a:off x="6281928" y="2103120"/>
            <a:ext cx="5349240" cy="960120"/>
          </a:xfrm>
          <a:prstGeom prst="roundRect">
            <a:avLst>
              <a:gd name="adj" fmla="val 5714"/>
            </a:avLst>
          </a:prstGeom>
          <a:solidFill>
            <a:srgbClr val="FBEEEB"/>
          </a:solidFill>
          <a:ln w="12700">
            <a:solidFill>
              <a:srgbClr val="FBEEEB"/>
            </a:solidFill>
            <a:prstDash val="solid"/>
          </a:ln>
        </p:spPr>
      </p:sp>
      <p:sp>
        <p:nvSpPr>
          <p:cNvPr id="23" name="Text 20"/>
          <p:cNvSpPr/>
          <p:nvPr/>
        </p:nvSpPr>
        <p:spPr>
          <a:xfrm>
            <a:off x="6510528" y="2176272"/>
            <a:ext cx="4937760" cy="237744"/>
          </a:xfrm>
          <a:prstGeom prst="rect">
            <a:avLst/>
          </a:prstGeom>
          <a:noFill/>
          <a:ln/>
        </p:spPr>
        <p:txBody>
          <a:bodyPr wrap="square" lIns="0" tIns="0" rIns="0" bIns="0" rtlCol="0" anchor="ctr"/>
          <a:lstStyle/>
          <a:p>
            <a:pPr indent="0" marL="0">
              <a:buNone/>
            </a:pPr>
            <a:r>
              <a:rPr lang="en-US" sz="1050" b="1" dirty="0">
                <a:solidFill>
                  <a:srgbClr val="BE4A3F"/>
                </a:solidFill>
                <a:latin typeface="Calibri" pitchFamily="34" charset="0"/>
                <a:ea typeface="Calibri" pitchFamily="34" charset="-122"/>
                <a:cs typeface="Calibri" pitchFamily="34" charset="-120"/>
              </a:rPr>
              <a:t>Never group by:</a:t>
            </a:r>
            <a:endParaRPr lang="en-US" sz="1050" dirty="0"/>
          </a:p>
        </p:txBody>
      </p:sp>
      <p:sp>
        <p:nvSpPr>
          <p:cNvPr id="24" name="Text 21"/>
          <p:cNvSpPr/>
          <p:nvPr/>
        </p:nvSpPr>
        <p:spPr>
          <a:xfrm>
            <a:off x="6510528" y="2414016"/>
            <a:ext cx="4937760" cy="594360"/>
          </a:xfrm>
          <a:prstGeom prst="rect">
            <a:avLst/>
          </a:prstGeom>
          <a:noFill/>
          <a:ln/>
        </p:spPr>
        <p:txBody>
          <a:bodyPr wrap="square" lIns="0" tIns="0" rIns="0" bIns="0" rtlCol="0" anchor="t"/>
          <a:lstStyle/>
          <a:p>
            <a:pPr indent="0" marL="0">
              <a:buNone/>
            </a:pPr>
            <a:r>
              <a:rPr lang="en-US" sz="1050" dirty="0">
                <a:solidFill>
                  <a:srgbClr val="7A2E24"/>
                </a:solidFill>
                <a:latin typeface="Calibri" pitchFamily="34" charset="0"/>
                <a:ea typeface="Calibri" pitchFamily="34" charset="-122"/>
                <a:cs typeface="Calibri" pitchFamily="34" charset="-120"/>
              </a:rPr>
              <a:t>host_ip · container_id · pod_name · request_id · trace_id · path · url · user_id · session_id · instance_id · uuid — each turns one alert into thousands. Maximum 3 group keys, enforced at plan time.</a:t>
            </a:r>
            <a:endParaRPr lang="en-US" sz="105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12161F"/>
        </a:solidFill>
      </p:bgPr>
    </p:bg>
    <p:spTree>
      <p:nvGrpSpPr>
        <p:cNvPr id="1" name=""/>
        <p:cNvGrpSpPr/>
        <p:nvPr/>
      </p:nvGrpSpPr>
      <p:grpSpPr>
        <a:xfrm>
          <a:off x="0" y="0"/>
          <a:ext cx="0" cy="0"/>
          <a:chOff x="0" y="0"/>
          <a:chExt cx="0" cy="0"/>
        </a:xfrm>
      </p:grpSpPr>
      <p:sp>
        <p:nvSpPr>
          <p:cNvPr id="2" name="Text 0"/>
          <p:cNvSpPr/>
          <p:nvPr/>
        </p:nvSpPr>
        <p:spPr>
          <a:xfrm>
            <a:off x="566928" y="402336"/>
            <a:ext cx="8778240" cy="256032"/>
          </a:xfrm>
          <a:prstGeom prst="rect">
            <a:avLst/>
          </a:prstGeom>
          <a:noFill/>
          <a:ln/>
        </p:spPr>
        <p:txBody>
          <a:bodyPr wrap="square" lIns="0" tIns="0" rIns="0" bIns="0" rtlCol="0" anchor="ctr"/>
          <a:lstStyle/>
          <a:p>
            <a:pPr indent="0" marL="0">
              <a:buNone/>
            </a:pPr>
            <a:r>
              <a:rPr lang="en-US" sz="1050" b="1" spc="160" kern="0" dirty="0">
                <a:solidFill>
                  <a:srgbClr val="E09A2E"/>
                </a:solidFill>
                <a:latin typeface="Calibri" pitchFamily="34" charset="0"/>
                <a:ea typeface="Calibri" pitchFamily="34" charset="-122"/>
                <a:cs typeface="Calibri" pitchFamily="34" charset="-120"/>
              </a:rPr>
              <a:t>APPENDIX A10</a:t>
            </a:r>
            <a:endParaRPr lang="en-US" sz="1050" dirty="0"/>
          </a:p>
        </p:txBody>
      </p:sp>
      <p:sp>
        <p:nvSpPr>
          <p:cNvPr id="3" name="Text 1"/>
          <p:cNvSpPr/>
          <p:nvPr/>
        </p:nvSpPr>
        <p:spPr>
          <a:xfrm>
            <a:off x="566928" y="694944"/>
            <a:ext cx="10424160" cy="786384"/>
          </a:xfrm>
          <a:prstGeom prst="rect">
            <a:avLst/>
          </a:prstGeom>
          <a:noFill/>
          <a:ln/>
        </p:spPr>
        <p:txBody>
          <a:bodyPr wrap="square" lIns="0" tIns="0" rIns="0" bIns="0" rtlCol="0" anchor="ctr"/>
          <a:lstStyle/>
          <a:p>
            <a:pPr indent="0" marL="0">
              <a:buNone/>
            </a:pPr>
            <a:r>
              <a:rPr lang="en-US" sz="3100" b="1" dirty="0">
                <a:solidFill>
                  <a:srgbClr val="FFFFFF"/>
                </a:solidFill>
                <a:latin typeface="Cambria" pitchFamily="34" charset="0"/>
                <a:ea typeface="Cambria" pitchFamily="34" charset="-122"/>
                <a:cs typeface="Cambria" pitchFamily="34" charset="-120"/>
              </a:rPr>
              <a:t>What this deck does not claim</a:t>
            </a:r>
            <a:endParaRPr lang="en-US" sz="3100" dirty="0"/>
          </a:p>
        </p:txBody>
      </p:sp>
      <p:sp>
        <p:nvSpPr>
          <p:cNvPr id="4" name="Text 2"/>
          <p:cNvSpPr/>
          <p:nvPr/>
        </p:nvSpPr>
        <p:spPr>
          <a:xfrm>
            <a:off x="566928" y="1481328"/>
            <a:ext cx="10698480" cy="457200"/>
          </a:xfrm>
          <a:prstGeom prst="rect">
            <a:avLst/>
          </a:prstGeom>
          <a:noFill/>
          <a:ln/>
        </p:spPr>
        <p:txBody>
          <a:bodyPr wrap="square" lIns="0" tIns="0" rIns="0" bIns="0" rtlCol="0" anchor="t"/>
          <a:lstStyle/>
          <a:p>
            <a:pPr indent="0" marL="0">
              <a:buNone/>
            </a:pPr>
            <a:r>
              <a:rPr lang="en-US" sz="1450" dirty="0">
                <a:solidFill>
                  <a:srgbClr val="AFBBCE"/>
                </a:solidFill>
                <a:latin typeface="Calibri" pitchFamily="34" charset="0"/>
                <a:ea typeface="Calibri" pitchFamily="34" charset="-122"/>
                <a:cs typeface="Calibri" pitchFamily="34" charset="-120"/>
              </a:rPr>
              <a:t>The complete register of gaps, in one place, so nobody has to reconstruct it from the individual slides.</a:t>
            </a:r>
            <a:endParaRPr lang="en-US" sz="1450" dirty="0"/>
          </a:p>
        </p:txBody>
      </p:sp>
      <p:sp>
        <p:nvSpPr>
          <p:cNvPr id="5" name="Text 3"/>
          <p:cNvSpPr/>
          <p:nvPr/>
        </p:nvSpPr>
        <p:spPr>
          <a:xfrm>
            <a:off x="566928" y="6345936"/>
            <a:ext cx="7315200" cy="274320"/>
          </a:xfrm>
          <a:prstGeom prst="rect">
            <a:avLst/>
          </a:prstGeom>
          <a:noFill/>
          <a:ln/>
        </p:spPr>
        <p:txBody>
          <a:bodyPr wrap="square" lIns="0" tIns="0" rIns="0" bIns="0" rtlCol="0" anchor="ctr"/>
          <a:lstStyle/>
          <a:p>
            <a:pPr indent="0" marL="0">
              <a:buNone/>
            </a:pPr>
            <a:r>
              <a:rPr lang="en-US" sz="900" dirty="0">
                <a:solidFill>
                  <a:srgbClr val="6E7B92"/>
                </a:solidFill>
                <a:latin typeface="Calibri" pitchFamily="34" charset="0"/>
                <a:ea typeface="Calibri" pitchFamily="34" charset="-122"/>
                <a:cs typeface="Calibri" pitchFamily="34" charset="-120"/>
              </a:rPr>
              <a:t>Enterprise Observability  ·  policy-as-data on Datadog</a:t>
            </a:r>
            <a:endParaRPr lang="en-US" sz="900" dirty="0"/>
          </a:p>
        </p:txBody>
      </p:sp>
      <p:sp>
        <p:nvSpPr>
          <p:cNvPr id="6" name="Text 4"/>
          <p:cNvSpPr/>
          <p:nvPr/>
        </p:nvSpPr>
        <p:spPr>
          <a:xfrm>
            <a:off x="10710367" y="6345936"/>
            <a:ext cx="914400" cy="274320"/>
          </a:xfrm>
          <a:prstGeom prst="rect">
            <a:avLst/>
          </a:prstGeom>
          <a:noFill/>
          <a:ln/>
        </p:spPr>
        <p:txBody>
          <a:bodyPr wrap="square" lIns="0" tIns="0" rIns="0" bIns="0" rtlCol="0" anchor="ctr"/>
          <a:lstStyle/>
          <a:p>
            <a:pPr algn="r" indent="0" marL="0">
              <a:buNone/>
            </a:pPr>
            <a:r>
              <a:rPr lang="en-US" sz="900" dirty="0">
                <a:solidFill>
                  <a:srgbClr val="6E7B92"/>
                </a:solidFill>
                <a:latin typeface="Calibri" pitchFamily="34" charset="0"/>
                <a:ea typeface="Calibri" pitchFamily="34" charset="-122"/>
                <a:cs typeface="Calibri" pitchFamily="34" charset="-120"/>
              </a:rPr>
              <a:t>54</a:t>
            </a:r>
            <a:endParaRPr lang="en-US" sz="900" dirty="0"/>
          </a:p>
        </p:txBody>
      </p:sp>
      <p:sp>
        <p:nvSpPr>
          <p:cNvPr id="8" name="Shape 5"/>
          <p:cNvSpPr/>
          <p:nvPr/>
        </p:nvSpPr>
        <p:spPr>
          <a:xfrm>
            <a:off x="566928" y="2011680"/>
            <a:ext cx="5349240" cy="457200"/>
          </a:xfrm>
          <a:prstGeom prst="roundRect">
            <a:avLst>
              <a:gd name="adj" fmla="val 8000"/>
            </a:avLst>
          </a:prstGeom>
          <a:solidFill>
            <a:srgbClr val="1E2531"/>
          </a:solidFill>
          <a:ln w="12700">
            <a:solidFill>
              <a:srgbClr val="1E2531"/>
            </a:solidFill>
            <a:prstDash val="solid"/>
          </a:ln>
        </p:spPr>
      </p:sp>
      <p:sp>
        <p:nvSpPr>
          <p:cNvPr id="9" name="Text 6"/>
          <p:cNvSpPr/>
          <p:nvPr/>
        </p:nvSpPr>
        <p:spPr>
          <a:xfrm>
            <a:off x="713232" y="2029968"/>
            <a:ext cx="4206240" cy="219456"/>
          </a:xfrm>
          <a:prstGeom prst="rect">
            <a:avLst/>
          </a:prstGeom>
          <a:noFill/>
          <a:ln/>
        </p:spPr>
        <p:txBody>
          <a:bodyPr wrap="square" lIns="0" tIns="0" rIns="0" bIns="0" rtlCol="0" anchor="ctr"/>
          <a:lstStyle/>
          <a:p>
            <a:pPr indent="0" marL="0">
              <a:buNone/>
            </a:pPr>
            <a:r>
              <a:rPr lang="en-US" sz="1050" b="1" dirty="0">
                <a:solidFill>
                  <a:srgbClr val="E6ECF5"/>
                </a:solidFill>
                <a:latin typeface="Calibri" pitchFamily="34" charset="0"/>
                <a:ea typeface="Calibri" pitchFamily="34" charset="-122"/>
                <a:cs typeface="Calibri" pitchFamily="34" charset="-120"/>
              </a:rPr>
              <a:t>Telemetry does not carry alert_band</a:t>
            </a:r>
            <a:endParaRPr lang="en-US" sz="1050" dirty="0"/>
          </a:p>
        </p:txBody>
      </p:sp>
      <p:sp>
        <p:nvSpPr>
          <p:cNvPr id="10" name="Text 7"/>
          <p:cNvSpPr/>
          <p:nvPr/>
        </p:nvSpPr>
        <p:spPr>
          <a:xfrm>
            <a:off x="713232" y="2240280"/>
            <a:ext cx="4206240" cy="219456"/>
          </a:xfrm>
          <a:prstGeom prst="rect">
            <a:avLst/>
          </a:prstGeom>
          <a:noFill/>
          <a:ln/>
        </p:spPr>
        <p:txBody>
          <a:bodyPr wrap="square" lIns="0" tIns="0" rIns="0" bIns="0" rtlCol="0" anchor="ctr"/>
          <a:lstStyle/>
          <a:p>
            <a:pPr indent="0" marL="0">
              <a:buNone/>
            </a:pPr>
            <a:r>
              <a:rPr lang="en-US" sz="950" dirty="0">
                <a:solidFill>
                  <a:srgbClr val="8E9DB5"/>
                </a:solidFill>
                <a:latin typeface="Calibri" pitchFamily="34" charset="0"/>
                <a:ea typeface="Calibri" pitchFamily="34" charset="-122"/>
                <a:cs typeface="Calibri" pitchFamily="34" charset="-120"/>
              </a:rPr>
              <a:t>Every archetype query resolves to an empty set today</a:t>
            </a:r>
            <a:endParaRPr lang="en-US" sz="950" dirty="0"/>
          </a:p>
        </p:txBody>
      </p:sp>
      <p:sp>
        <p:nvSpPr>
          <p:cNvPr id="11" name="Text 8"/>
          <p:cNvSpPr/>
          <p:nvPr/>
        </p:nvSpPr>
        <p:spPr>
          <a:xfrm>
            <a:off x="4956048" y="2011680"/>
            <a:ext cx="822960" cy="457200"/>
          </a:xfrm>
          <a:prstGeom prst="rect">
            <a:avLst/>
          </a:prstGeom>
          <a:noFill/>
          <a:ln/>
        </p:spPr>
        <p:txBody>
          <a:bodyPr wrap="square" lIns="0" tIns="0" rIns="0" bIns="0" rtlCol="0" anchor="ctr"/>
          <a:lstStyle/>
          <a:p>
            <a:pPr algn="r" indent="0" marL="0">
              <a:buNone/>
            </a:pPr>
            <a:r>
              <a:rPr lang="en-US" sz="900" b="1" dirty="0">
                <a:solidFill>
                  <a:srgbClr val="E09A2E"/>
                </a:solidFill>
                <a:latin typeface="Calibri" pitchFamily="34" charset="0"/>
                <a:ea typeface="Calibri" pitchFamily="34" charset="-122"/>
                <a:cs typeface="Calibri" pitchFamily="34" charset="-120"/>
              </a:rPr>
              <a:t>phase 2/3</a:t>
            </a:r>
            <a:endParaRPr lang="en-US" sz="900" dirty="0"/>
          </a:p>
        </p:txBody>
      </p:sp>
      <p:sp>
        <p:nvSpPr>
          <p:cNvPr id="12" name="Shape 9"/>
          <p:cNvSpPr/>
          <p:nvPr/>
        </p:nvSpPr>
        <p:spPr>
          <a:xfrm>
            <a:off x="6144768" y="2011680"/>
            <a:ext cx="5349240" cy="457200"/>
          </a:xfrm>
          <a:prstGeom prst="roundRect">
            <a:avLst>
              <a:gd name="adj" fmla="val 8000"/>
            </a:avLst>
          </a:prstGeom>
          <a:solidFill>
            <a:srgbClr val="1E2531"/>
          </a:solidFill>
          <a:ln w="12700">
            <a:solidFill>
              <a:srgbClr val="1E2531"/>
            </a:solidFill>
            <a:prstDash val="solid"/>
          </a:ln>
        </p:spPr>
      </p:sp>
      <p:sp>
        <p:nvSpPr>
          <p:cNvPr id="13" name="Text 10"/>
          <p:cNvSpPr/>
          <p:nvPr/>
        </p:nvSpPr>
        <p:spPr>
          <a:xfrm>
            <a:off x="6291072" y="2029968"/>
            <a:ext cx="4206240" cy="219456"/>
          </a:xfrm>
          <a:prstGeom prst="rect">
            <a:avLst/>
          </a:prstGeom>
          <a:noFill/>
          <a:ln/>
        </p:spPr>
        <p:txBody>
          <a:bodyPr wrap="square" lIns="0" tIns="0" rIns="0" bIns="0" rtlCol="0" anchor="ctr"/>
          <a:lstStyle/>
          <a:p>
            <a:pPr indent="0" marL="0">
              <a:buNone/>
            </a:pPr>
            <a:r>
              <a:rPr lang="en-US" sz="1050" b="1" dirty="0">
                <a:solidFill>
                  <a:srgbClr val="E6ECF5"/>
                </a:solidFill>
                <a:latin typeface="Calibri" pitchFamily="34" charset="0"/>
                <a:ea typeface="Calibri" pitchFamily="34" charset="-122"/>
                <a:cs typeface="Calibri" pitchFamily="34" charset="-120"/>
              </a:rPr>
              <a:t>No CI/CD deployment metadata</a:t>
            </a:r>
            <a:endParaRPr lang="en-US" sz="1050" dirty="0"/>
          </a:p>
        </p:txBody>
      </p:sp>
      <p:sp>
        <p:nvSpPr>
          <p:cNvPr id="14" name="Text 11"/>
          <p:cNvSpPr/>
          <p:nvPr/>
        </p:nvSpPr>
        <p:spPr>
          <a:xfrm>
            <a:off x="6291072" y="2240280"/>
            <a:ext cx="4206240" cy="219456"/>
          </a:xfrm>
          <a:prstGeom prst="rect">
            <a:avLst/>
          </a:prstGeom>
          <a:noFill/>
          <a:ln/>
        </p:spPr>
        <p:txBody>
          <a:bodyPr wrap="square" lIns="0" tIns="0" rIns="0" bIns="0" rtlCol="0" anchor="ctr"/>
          <a:lstStyle/>
          <a:p>
            <a:pPr indent="0" marL="0">
              <a:buNone/>
            </a:pPr>
            <a:r>
              <a:rPr lang="en-US" sz="950" dirty="0">
                <a:solidFill>
                  <a:srgbClr val="8E9DB5"/>
                </a:solidFill>
                <a:latin typeface="Calibri" pitchFamily="34" charset="0"/>
                <a:ea typeface="Calibri" pitchFamily="34" charset="-122"/>
                <a:cs typeface="Calibri" pitchFamily="34" charset="-120"/>
              </a:rPr>
              <a:t>No pipeline sets DD_VERSION or DD_GIT_COMMIT_SHA</a:t>
            </a:r>
            <a:endParaRPr lang="en-US" sz="950" dirty="0"/>
          </a:p>
        </p:txBody>
      </p:sp>
      <p:sp>
        <p:nvSpPr>
          <p:cNvPr id="15" name="Text 12"/>
          <p:cNvSpPr/>
          <p:nvPr/>
        </p:nvSpPr>
        <p:spPr>
          <a:xfrm>
            <a:off x="10533888" y="2011680"/>
            <a:ext cx="822960" cy="457200"/>
          </a:xfrm>
          <a:prstGeom prst="rect">
            <a:avLst/>
          </a:prstGeom>
          <a:noFill/>
          <a:ln/>
        </p:spPr>
        <p:txBody>
          <a:bodyPr wrap="square" lIns="0" tIns="0" rIns="0" bIns="0" rtlCol="0" anchor="ctr"/>
          <a:lstStyle/>
          <a:p>
            <a:pPr algn="r" indent="0" marL="0">
              <a:buNone/>
            </a:pPr>
            <a:r>
              <a:rPr lang="en-US" sz="900" b="1" dirty="0">
                <a:solidFill>
                  <a:srgbClr val="E09A2E"/>
                </a:solidFill>
                <a:latin typeface="Calibri" pitchFamily="34" charset="0"/>
                <a:ea typeface="Calibri" pitchFamily="34" charset="-122"/>
                <a:cs typeface="Calibri" pitchFamily="34" charset="-120"/>
              </a:rPr>
              <a:t>phase 3</a:t>
            </a:r>
            <a:endParaRPr lang="en-US" sz="900" dirty="0"/>
          </a:p>
        </p:txBody>
      </p:sp>
      <p:sp>
        <p:nvSpPr>
          <p:cNvPr id="16" name="Shape 13"/>
          <p:cNvSpPr/>
          <p:nvPr/>
        </p:nvSpPr>
        <p:spPr>
          <a:xfrm>
            <a:off x="566928" y="2542032"/>
            <a:ext cx="5349240" cy="457200"/>
          </a:xfrm>
          <a:prstGeom prst="roundRect">
            <a:avLst>
              <a:gd name="adj" fmla="val 8000"/>
            </a:avLst>
          </a:prstGeom>
          <a:solidFill>
            <a:srgbClr val="1E2531"/>
          </a:solidFill>
          <a:ln w="12700">
            <a:solidFill>
              <a:srgbClr val="1E2531"/>
            </a:solidFill>
            <a:prstDash val="solid"/>
          </a:ln>
        </p:spPr>
      </p:sp>
      <p:sp>
        <p:nvSpPr>
          <p:cNvPr id="17" name="Text 14"/>
          <p:cNvSpPr/>
          <p:nvPr/>
        </p:nvSpPr>
        <p:spPr>
          <a:xfrm>
            <a:off x="713232" y="2560320"/>
            <a:ext cx="4206240" cy="219456"/>
          </a:xfrm>
          <a:prstGeom prst="rect">
            <a:avLst/>
          </a:prstGeom>
          <a:noFill/>
          <a:ln/>
        </p:spPr>
        <p:txBody>
          <a:bodyPr wrap="square" lIns="0" tIns="0" rIns="0" bIns="0" rtlCol="0" anchor="ctr"/>
          <a:lstStyle/>
          <a:p>
            <a:pPr indent="0" marL="0">
              <a:buNone/>
            </a:pPr>
            <a:r>
              <a:rPr lang="en-US" sz="1050" b="1" dirty="0">
                <a:solidFill>
                  <a:srgbClr val="E6ECF5"/>
                </a:solidFill>
                <a:latin typeface="Calibri" pitchFamily="34" charset="0"/>
                <a:ea typeface="Calibri" pitchFamily="34" charset="-122"/>
                <a:cs typeface="Calibri" pitchFamily="34" charset="-120"/>
              </a:rPr>
              <a:t>Catalog has one entity kind</a:t>
            </a:r>
            <a:endParaRPr lang="en-US" sz="1050" dirty="0"/>
          </a:p>
        </p:txBody>
      </p:sp>
      <p:sp>
        <p:nvSpPr>
          <p:cNvPr id="18" name="Text 15"/>
          <p:cNvSpPr/>
          <p:nvPr/>
        </p:nvSpPr>
        <p:spPr>
          <a:xfrm>
            <a:off x="713232" y="2770632"/>
            <a:ext cx="4206240" cy="219456"/>
          </a:xfrm>
          <a:prstGeom prst="rect">
            <a:avLst/>
          </a:prstGeom>
          <a:noFill/>
          <a:ln/>
        </p:spPr>
        <p:txBody>
          <a:bodyPr wrap="square" lIns="0" tIns="0" rIns="0" bIns="0" rtlCol="0" anchor="ctr"/>
          <a:lstStyle/>
          <a:p>
            <a:pPr indent="0" marL="0">
              <a:buNone/>
            </a:pPr>
            <a:r>
              <a:rPr lang="en-US" sz="950" dirty="0">
                <a:solidFill>
                  <a:srgbClr val="8E9DB5"/>
                </a:solidFill>
                <a:latin typeface="Calibri" pitchFamily="34" charset="0"/>
                <a:ea typeface="Calibri" pitchFamily="34" charset="-122"/>
                <a:cs typeface="Calibri" pitchFamily="34" charset="-120"/>
              </a:rPr>
              <a:t>Every object is a Service; 3 of 27 live entries are managed</a:t>
            </a:r>
            <a:endParaRPr lang="en-US" sz="950" dirty="0"/>
          </a:p>
        </p:txBody>
      </p:sp>
      <p:sp>
        <p:nvSpPr>
          <p:cNvPr id="19" name="Text 16"/>
          <p:cNvSpPr/>
          <p:nvPr/>
        </p:nvSpPr>
        <p:spPr>
          <a:xfrm>
            <a:off x="4956048" y="2542032"/>
            <a:ext cx="822960" cy="457200"/>
          </a:xfrm>
          <a:prstGeom prst="rect">
            <a:avLst/>
          </a:prstGeom>
          <a:noFill/>
          <a:ln/>
        </p:spPr>
        <p:txBody>
          <a:bodyPr wrap="square" lIns="0" tIns="0" rIns="0" bIns="0" rtlCol="0" anchor="ctr"/>
          <a:lstStyle/>
          <a:p>
            <a:pPr algn="r" indent="0" marL="0">
              <a:buNone/>
            </a:pPr>
            <a:r>
              <a:rPr lang="en-US" sz="900" b="1" dirty="0">
                <a:solidFill>
                  <a:srgbClr val="E09A2E"/>
                </a:solidFill>
                <a:latin typeface="Calibri" pitchFamily="34" charset="0"/>
                <a:ea typeface="Calibri" pitchFamily="34" charset="-122"/>
                <a:cs typeface="Calibri" pitchFamily="34" charset="-120"/>
              </a:rPr>
              <a:t>phase 1</a:t>
            </a:r>
            <a:endParaRPr lang="en-US" sz="900" dirty="0"/>
          </a:p>
        </p:txBody>
      </p:sp>
      <p:sp>
        <p:nvSpPr>
          <p:cNvPr id="20" name="Shape 17"/>
          <p:cNvSpPr/>
          <p:nvPr/>
        </p:nvSpPr>
        <p:spPr>
          <a:xfrm>
            <a:off x="6144768" y="2542032"/>
            <a:ext cx="5349240" cy="457200"/>
          </a:xfrm>
          <a:prstGeom prst="roundRect">
            <a:avLst>
              <a:gd name="adj" fmla="val 8000"/>
            </a:avLst>
          </a:prstGeom>
          <a:solidFill>
            <a:srgbClr val="1E2531"/>
          </a:solidFill>
          <a:ln w="12700">
            <a:solidFill>
              <a:srgbClr val="1E2531"/>
            </a:solidFill>
            <a:prstDash val="solid"/>
          </a:ln>
        </p:spPr>
      </p:sp>
      <p:sp>
        <p:nvSpPr>
          <p:cNvPr id="21" name="Text 18"/>
          <p:cNvSpPr/>
          <p:nvPr/>
        </p:nvSpPr>
        <p:spPr>
          <a:xfrm>
            <a:off x="6291072" y="2560320"/>
            <a:ext cx="4206240" cy="219456"/>
          </a:xfrm>
          <a:prstGeom prst="rect">
            <a:avLst/>
          </a:prstGeom>
          <a:noFill/>
          <a:ln/>
        </p:spPr>
        <p:txBody>
          <a:bodyPr wrap="square" lIns="0" tIns="0" rIns="0" bIns="0" rtlCol="0" anchor="ctr"/>
          <a:lstStyle/>
          <a:p>
            <a:pPr indent="0" marL="0">
              <a:buNone/>
            </a:pPr>
            <a:r>
              <a:rPr lang="en-US" sz="1050" b="1" dirty="0">
                <a:solidFill>
                  <a:srgbClr val="E6ECF5"/>
                </a:solidFill>
                <a:latin typeface="Calibri" pitchFamily="34" charset="0"/>
                <a:ea typeface="Calibri" pitchFamily="34" charset="-122"/>
                <a:cs typeface="Calibri" pitchFamily="34" charset="-120"/>
              </a:rPr>
              <a:t>No fleet or agent management</a:t>
            </a:r>
            <a:endParaRPr lang="en-US" sz="1050" dirty="0"/>
          </a:p>
        </p:txBody>
      </p:sp>
      <p:sp>
        <p:nvSpPr>
          <p:cNvPr id="22" name="Text 19"/>
          <p:cNvSpPr/>
          <p:nvPr/>
        </p:nvSpPr>
        <p:spPr>
          <a:xfrm>
            <a:off x="6291072" y="2770632"/>
            <a:ext cx="4206240" cy="219456"/>
          </a:xfrm>
          <a:prstGeom prst="rect">
            <a:avLst/>
          </a:prstGeom>
          <a:noFill/>
          <a:ln/>
        </p:spPr>
        <p:txBody>
          <a:bodyPr wrap="square" lIns="0" tIns="0" rIns="0" bIns="0" rtlCol="0" anchor="ctr"/>
          <a:lstStyle/>
          <a:p>
            <a:pPr indent="0" marL="0">
              <a:buNone/>
            </a:pPr>
            <a:r>
              <a:rPr lang="en-US" sz="950" dirty="0">
                <a:solidFill>
                  <a:srgbClr val="8E9DB5"/>
                </a:solidFill>
                <a:latin typeface="Calibri" pitchFamily="34" charset="0"/>
                <a:ea typeface="Calibri" pitchFamily="34" charset="-122"/>
                <a:cs typeface="Calibri" pitchFamily="34" charset="-120"/>
              </a:rPr>
              <a:t>No deployment automation, no agent profiles, no compliance %</a:t>
            </a:r>
            <a:endParaRPr lang="en-US" sz="950" dirty="0"/>
          </a:p>
        </p:txBody>
      </p:sp>
      <p:sp>
        <p:nvSpPr>
          <p:cNvPr id="23" name="Text 20"/>
          <p:cNvSpPr/>
          <p:nvPr/>
        </p:nvSpPr>
        <p:spPr>
          <a:xfrm>
            <a:off x="10533888" y="2542032"/>
            <a:ext cx="822960" cy="457200"/>
          </a:xfrm>
          <a:prstGeom prst="rect">
            <a:avLst/>
          </a:prstGeom>
          <a:noFill/>
          <a:ln/>
        </p:spPr>
        <p:txBody>
          <a:bodyPr wrap="square" lIns="0" tIns="0" rIns="0" bIns="0" rtlCol="0" anchor="ctr"/>
          <a:lstStyle/>
          <a:p>
            <a:pPr algn="r" indent="0" marL="0">
              <a:buNone/>
            </a:pPr>
            <a:r>
              <a:rPr lang="en-US" sz="900" b="1" dirty="0">
                <a:solidFill>
                  <a:srgbClr val="E09A2E"/>
                </a:solidFill>
                <a:latin typeface="Calibri" pitchFamily="34" charset="0"/>
                <a:ea typeface="Calibri" pitchFamily="34" charset="-122"/>
                <a:cs typeface="Calibri" pitchFamily="34" charset="-120"/>
              </a:rPr>
              <a:t>phase 3</a:t>
            </a:r>
            <a:endParaRPr lang="en-US" sz="900" dirty="0"/>
          </a:p>
        </p:txBody>
      </p:sp>
      <p:sp>
        <p:nvSpPr>
          <p:cNvPr id="24" name="Shape 21"/>
          <p:cNvSpPr/>
          <p:nvPr/>
        </p:nvSpPr>
        <p:spPr>
          <a:xfrm>
            <a:off x="566928" y="3072384"/>
            <a:ext cx="5349240" cy="457200"/>
          </a:xfrm>
          <a:prstGeom prst="roundRect">
            <a:avLst>
              <a:gd name="adj" fmla="val 8000"/>
            </a:avLst>
          </a:prstGeom>
          <a:solidFill>
            <a:srgbClr val="1E2531"/>
          </a:solidFill>
          <a:ln w="12700">
            <a:solidFill>
              <a:srgbClr val="1E2531"/>
            </a:solidFill>
            <a:prstDash val="solid"/>
          </a:ln>
        </p:spPr>
      </p:sp>
      <p:sp>
        <p:nvSpPr>
          <p:cNvPr id="25" name="Text 22"/>
          <p:cNvSpPr/>
          <p:nvPr/>
        </p:nvSpPr>
        <p:spPr>
          <a:xfrm>
            <a:off x="713232" y="3090672"/>
            <a:ext cx="4206240" cy="219456"/>
          </a:xfrm>
          <a:prstGeom prst="rect">
            <a:avLst/>
          </a:prstGeom>
          <a:noFill/>
          <a:ln/>
        </p:spPr>
        <p:txBody>
          <a:bodyPr wrap="square" lIns="0" tIns="0" rIns="0" bIns="0" rtlCol="0" anchor="ctr"/>
          <a:lstStyle/>
          <a:p>
            <a:pPr indent="0" marL="0">
              <a:buNone/>
            </a:pPr>
            <a:r>
              <a:rPr lang="en-US" sz="1050" b="1" dirty="0">
                <a:solidFill>
                  <a:srgbClr val="E6ECF5"/>
                </a:solidFill>
                <a:latin typeface="Calibri" pitchFamily="34" charset="0"/>
                <a:ea typeface="Calibri" pitchFamily="34" charset="-122"/>
                <a:cs typeface="Calibri" pitchFamily="34" charset="-120"/>
              </a:rPr>
              <a:t>No Control-M integration</a:t>
            </a:r>
            <a:endParaRPr lang="en-US" sz="1050" dirty="0"/>
          </a:p>
        </p:txBody>
      </p:sp>
      <p:sp>
        <p:nvSpPr>
          <p:cNvPr id="26" name="Text 23"/>
          <p:cNvSpPr/>
          <p:nvPr/>
        </p:nvSpPr>
        <p:spPr>
          <a:xfrm>
            <a:off x="713232" y="3300984"/>
            <a:ext cx="4206240" cy="219456"/>
          </a:xfrm>
          <a:prstGeom prst="rect">
            <a:avLst/>
          </a:prstGeom>
          <a:noFill/>
          <a:ln/>
        </p:spPr>
        <p:txBody>
          <a:bodyPr wrap="square" lIns="0" tIns="0" rIns="0" bIns="0" rtlCol="0" anchor="ctr"/>
          <a:lstStyle/>
          <a:p>
            <a:pPr indent="0" marL="0">
              <a:buNone/>
            </a:pPr>
            <a:r>
              <a:rPr lang="en-US" sz="950" dirty="0">
                <a:solidFill>
                  <a:srgbClr val="8E9DB5"/>
                </a:solidFill>
                <a:latin typeface="Calibri" pitchFamily="34" charset="0"/>
                <a:ea typeface="Calibri" pitchFamily="34" charset="-122"/>
                <a:cs typeface="Calibri" pitchFamily="34" charset="-120"/>
              </a:rPr>
              <a:t>Repository-wide search returns zero files</a:t>
            </a:r>
            <a:endParaRPr lang="en-US" sz="950" dirty="0"/>
          </a:p>
        </p:txBody>
      </p:sp>
      <p:sp>
        <p:nvSpPr>
          <p:cNvPr id="27" name="Text 24"/>
          <p:cNvSpPr/>
          <p:nvPr/>
        </p:nvSpPr>
        <p:spPr>
          <a:xfrm>
            <a:off x="4956048" y="3072384"/>
            <a:ext cx="822960" cy="457200"/>
          </a:xfrm>
          <a:prstGeom prst="rect">
            <a:avLst/>
          </a:prstGeom>
          <a:noFill/>
          <a:ln/>
        </p:spPr>
        <p:txBody>
          <a:bodyPr wrap="square" lIns="0" tIns="0" rIns="0" bIns="0" rtlCol="0" anchor="ctr"/>
          <a:lstStyle/>
          <a:p>
            <a:pPr algn="r" indent="0" marL="0">
              <a:buNone/>
            </a:pPr>
            <a:r>
              <a:rPr lang="en-US" sz="900" b="1" dirty="0">
                <a:solidFill>
                  <a:srgbClr val="E09A2E"/>
                </a:solidFill>
                <a:latin typeface="Calibri" pitchFamily="34" charset="0"/>
                <a:ea typeface="Calibri" pitchFamily="34" charset="-122"/>
                <a:cs typeface="Calibri" pitchFamily="34" charset="-120"/>
              </a:rPr>
              <a:t>phase 5</a:t>
            </a:r>
            <a:endParaRPr lang="en-US" sz="900" dirty="0"/>
          </a:p>
        </p:txBody>
      </p:sp>
      <p:sp>
        <p:nvSpPr>
          <p:cNvPr id="28" name="Shape 25"/>
          <p:cNvSpPr/>
          <p:nvPr/>
        </p:nvSpPr>
        <p:spPr>
          <a:xfrm>
            <a:off x="6144768" y="3072384"/>
            <a:ext cx="5349240" cy="457200"/>
          </a:xfrm>
          <a:prstGeom prst="roundRect">
            <a:avLst>
              <a:gd name="adj" fmla="val 8000"/>
            </a:avLst>
          </a:prstGeom>
          <a:solidFill>
            <a:srgbClr val="1E2531"/>
          </a:solidFill>
          <a:ln w="12700">
            <a:solidFill>
              <a:srgbClr val="1E2531"/>
            </a:solidFill>
            <a:prstDash val="solid"/>
          </a:ln>
        </p:spPr>
      </p:sp>
      <p:sp>
        <p:nvSpPr>
          <p:cNvPr id="29" name="Text 26"/>
          <p:cNvSpPr/>
          <p:nvPr/>
        </p:nvSpPr>
        <p:spPr>
          <a:xfrm>
            <a:off x="6291072" y="3090672"/>
            <a:ext cx="4206240" cy="219456"/>
          </a:xfrm>
          <a:prstGeom prst="rect">
            <a:avLst/>
          </a:prstGeom>
          <a:noFill/>
          <a:ln/>
        </p:spPr>
        <p:txBody>
          <a:bodyPr wrap="square" lIns="0" tIns="0" rIns="0" bIns="0" rtlCol="0" anchor="ctr"/>
          <a:lstStyle/>
          <a:p>
            <a:pPr indent="0" marL="0">
              <a:buNone/>
            </a:pPr>
            <a:r>
              <a:rPr lang="en-US" sz="1050" b="1" dirty="0">
                <a:solidFill>
                  <a:srgbClr val="E6ECF5"/>
                </a:solidFill>
                <a:latin typeface="Calibri" pitchFamily="34" charset="0"/>
                <a:ea typeface="Calibri" pitchFamily="34" charset="-122"/>
                <a:cs typeface="Calibri" pitchFamily="34" charset="-120"/>
              </a:rPr>
              <a:t>On-call rosters are empty</a:t>
            </a:r>
            <a:endParaRPr lang="en-US" sz="1050" dirty="0"/>
          </a:p>
        </p:txBody>
      </p:sp>
      <p:sp>
        <p:nvSpPr>
          <p:cNvPr id="30" name="Text 27"/>
          <p:cNvSpPr/>
          <p:nvPr/>
        </p:nvSpPr>
        <p:spPr>
          <a:xfrm>
            <a:off x="6291072" y="3300984"/>
            <a:ext cx="4206240" cy="219456"/>
          </a:xfrm>
          <a:prstGeom prst="rect">
            <a:avLst/>
          </a:prstGeom>
          <a:noFill/>
          <a:ln/>
        </p:spPr>
        <p:txBody>
          <a:bodyPr wrap="square" lIns="0" tIns="0" rIns="0" bIns="0" rtlCol="0" anchor="ctr"/>
          <a:lstStyle/>
          <a:p>
            <a:pPr indent="0" marL="0">
              <a:buNone/>
            </a:pPr>
            <a:r>
              <a:rPr lang="en-US" sz="950" dirty="0">
                <a:solidFill>
                  <a:srgbClr val="8E9DB5"/>
                </a:solidFill>
                <a:latin typeface="Calibri" pitchFamily="34" charset="0"/>
                <a:ea typeface="Calibri" pitchFamily="34" charset="-122"/>
                <a:cs typeface="Calibri" pitchFamily="34" charset="-120"/>
              </a:rPr>
              <a:t>Every schedule position is unassigned — a page reaches nobody</a:t>
            </a:r>
            <a:endParaRPr lang="en-US" sz="950" dirty="0"/>
          </a:p>
        </p:txBody>
      </p:sp>
      <p:sp>
        <p:nvSpPr>
          <p:cNvPr id="31" name="Text 28"/>
          <p:cNvSpPr/>
          <p:nvPr/>
        </p:nvSpPr>
        <p:spPr>
          <a:xfrm>
            <a:off x="10533888" y="3072384"/>
            <a:ext cx="822960" cy="457200"/>
          </a:xfrm>
          <a:prstGeom prst="rect">
            <a:avLst/>
          </a:prstGeom>
          <a:noFill/>
          <a:ln/>
        </p:spPr>
        <p:txBody>
          <a:bodyPr wrap="square" lIns="0" tIns="0" rIns="0" bIns="0" rtlCol="0" anchor="ctr"/>
          <a:lstStyle/>
          <a:p>
            <a:pPr algn="r" indent="0" marL="0">
              <a:buNone/>
            </a:pPr>
            <a:r>
              <a:rPr lang="en-US" sz="900" b="1" dirty="0">
                <a:solidFill>
                  <a:srgbClr val="E09A2E"/>
                </a:solidFill>
                <a:latin typeface="Calibri" pitchFamily="34" charset="0"/>
                <a:ea typeface="Calibri" pitchFamily="34" charset="-122"/>
                <a:cs typeface="Calibri" pitchFamily="34" charset="-120"/>
              </a:rPr>
              <a:t>people</a:t>
            </a:r>
            <a:endParaRPr lang="en-US" sz="900" dirty="0"/>
          </a:p>
        </p:txBody>
      </p:sp>
      <p:sp>
        <p:nvSpPr>
          <p:cNvPr id="32" name="Shape 29"/>
          <p:cNvSpPr/>
          <p:nvPr/>
        </p:nvSpPr>
        <p:spPr>
          <a:xfrm>
            <a:off x="566928" y="3602736"/>
            <a:ext cx="5349240" cy="457200"/>
          </a:xfrm>
          <a:prstGeom prst="roundRect">
            <a:avLst>
              <a:gd name="adj" fmla="val 8000"/>
            </a:avLst>
          </a:prstGeom>
          <a:solidFill>
            <a:srgbClr val="1E2531"/>
          </a:solidFill>
          <a:ln w="12700">
            <a:solidFill>
              <a:srgbClr val="1E2531"/>
            </a:solidFill>
            <a:prstDash val="solid"/>
          </a:ln>
        </p:spPr>
      </p:sp>
      <p:sp>
        <p:nvSpPr>
          <p:cNvPr id="33" name="Text 30"/>
          <p:cNvSpPr/>
          <p:nvPr/>
        </p:nvSpPr>
        <p:spPr>
          <a:xfrm>
            <a:off x="713232" y="3621024"/>
            <a:ext cx="4206240" cy="219456"/>
          </a:xfrm>
          <a:prstGeom prst="rect">
            <a:avLst/>
          </a:prstGeom>
          <a:noFill/>
          <a:ln/>
        </p:spPr>
        <p:txBody>
          <a:bodyPr wrap="square" lIns="0" tIns="0" rIns="0" bIns="0" rtlCol="0" anchor="ctr"/>
          <a:lstStyle/>
          <a:p>
            <a:pPr indent="0" marL="0">
              <a:buNone/>
            </a:pPr>
            <a:r>
              <a:rPr lang="en-US" sz="1050" b="1" dirty="0">
                <a:solidFill>
                  <a:srgbClr val="E6ECF5"/>
                </a:solidFill>
                <a:latin typeface="Calibri" pitchFamily="34" charset="0"/>
                <a:ea typeface="Calibri" pitchFamily="34" charset="-122"/>
                <a:cs typeface="Calibri" pitchFamily="34" charset="-120"/>
              </a:rPr>
              <a:t>No incident-command role model</a:t>
            </a:r>
            <a:endParaRPr lang="en-US" sz="1050" dirty="0"/>
          </a:p>
        </p:txBody>
      </p:sp>
      <p:sp>
        <p:nvSpPr>
          <p:cNvPr id="34" name="Text 31"/>
          <p:cNvSpPr/>
          <p:nvPr/>
        </p:nvSpPr>
        <p:spPr>
          <a:xfrm>
            <a:off x="713232" y="3831336"/>
            <a:ext cx="4206240" cy="219456"/>
          </a:xfrm>
          <a:prstGeom prst="rect">
            <a:avLst/>
          </a:prstGeom>
          <a:noFill/>
          <a:ln/>
        </p:spPr>
        <p:txBody>
          <a:bodyPr wrap="square" lIns="0" tIns="0" rIns="0" bIns="0" rtlCol="0" anchor="ctr"/>
          <a:lstStyle/>
          <a:p>
            <a:pPr indent="0" marL="0">
              <a:buNone/>
            </a:pPr>
            <a:r>
              <a:rPr lang="en-US" sz="950" dirty="0">
                <a:solidFill>
                  <a:srgbClr val="8E9DB5"/>
                </a:solidFill>
                <a:latin typeface="Calibri" pitchFamily="34" charset="0"/>
                <a:ea typeface="Calibri" pitchFamily="34" charset="-122"/>
                <a:cs typeface="Calibri" pitchFamily="34" charset="-120"/>
              </a:rPr>
              <a:t>No timeline capture, no post-incident-review automation</a:t>
            </a:r>
            <a:endParaRPr lang="en-US" sz="950" dirty="0"/>
          </a:p>
        </p:txBody>
      </p:sp>
      <p:sp>
        <p:nvSpPr>
          <p:cNvPr id="35" name="Text 32"/>
          <p:cNvSpPr/>
          <p:nvPr/>
        </p:nvSpPr>
        <p:spPr>
          <a:xfrm>
            <a:off x="4956048" y="3602736"/>
            <a:ext cx="822960" cy="457200"/>
          </a:xfrm>
          <a:prstGeom prst="rect">
            <a:avLst/>
          </a:prstGeom>
          <a:noFill/>
          <a:ln/>
        </p:spPr>
        <p:txBody>
          <a:bodyPr wrap="square" lIns="0" tIns="0" rIns="0" bIns="0" rtlCol="0" anchor="ctr"/>
          <a:lstStyle/>
          <a:p>
            <a:pPr algn="r" indent="0" marL="0">
              <a:buNone/>
            </a:pPr>
            <a:r>
              <a:rPr lang="en-US" sz="900" b="1" dirty="0">
                <a:solidFill>
                  <a:srgbClr val="E09A2E"/>
                </a:solidFill>
                <a:latin typeface="Calibri" pitchFamily="34" charset="0"/>
                <a:ea typeface="Calibri" pitchFamily="34" charset="-122"/>
                <a:cs typeface="Calibri" pitchFamily="34" charset="-120"/>
              </a:rPr>
              <a:t>phase 6</a:t>
            </a:r>
            <a:endParaRPr lang="en-US" sz="900" dirty="0"/>
          </a:p>
        </p:txBody>
      </p:sp>
      <p:sp>
        <p:nvSpPr>
          <p:cNvPr id="36" name="Shape 33"/>
          <p:cNvSpPr/>
          <p:nvPr/>
        </p:nvSpPr>
        <p:spPr>
          <a:xfrm>
            <a:off x="6144768" y="3602736"/>
            <a:ext cx="5349240" cy="457200"/>
          </a:xfrm>
          <a:prstGeom prst="roundRect">
            <a:avLst>
              <a:gd name="adj" fmla="val 8000"/>
            </a:avLst>
          </a:prstGeom>
          <a:solidFill>
            <a:srgbClr val="1E2531"/>
          </a:solidFill>
          <a:ln w="12700">
            <a:solidFill>
              <a:srgbClr val="1E2531"/>
            </a:solidFill>
            <a:prstDash val="solid"/>
          </a:ln>
        </p:spPr>
      </p:sp>
      <p:sp>
        <p:nvSpPr>
          <p:cNvPr id="37" name="Text 34"/>
          <p:cNvSpPr/>
          <p:nvPr/>
        </p:nvSpPr>
        <p:spPr>
          <a:xfrm>
            <a:off x="6291072" y="3621024"/>
            <a:ext cx="4206240" cy="219456"/>
          </a:xfrm>
          <a:prstGeom prst="rect">
            <a:avLst/>
          </a:prstGeom>
          <a:noFill/>
          <a:ln/>
        </p:spPr>
        <p:txBody>
          <a:bodyPr wrap="square" lIns="0" tIns="0" rIns="0" bIns="0" rtlCol="0" anchor="ctr"/>
          <a:lstStyle/>
          <a:p>
            <a:pPr indent="0" marL="0">
              <a:buNone/>
            </a:pPr>
            <a:r>
              <a:rPr lang="en-US" sz="1050" b="1" dirty="0">
                <a:solidFill>
                  <a:srgbClr val="E6ECF5"/>
                </a:solidFill>
                <a:latin typeface="Calibri" pitchFamily="34" charset="0"/>
                <a:ea typeface="Calibri" pitchFamily="34" charset="-122"/>
                <a:cs typeface="Calibri" pitchFamily="34" charset="-120"/>
              </a:rPr>
              <a:t>25 of 27 workflows undeployed</a:t>
            </a:r>
            <a:endParaRPr lang="en-US" sz="1050" dirty="0"/>
          </a:p>
        </p:txBody>
      </p:sp>
      <p:sp>
        <p:nvSpPr>
          <p:cNvPr id="38" name="Text 35"/>
          <p:cNvSpPr/>
          <p:nvPr/>
        </p:nvSpPr>
        <p:spPr>
          <a:xfrm>
            <a:off x="6291072" y="3831336"/>
            <a:ext cx="4206240" cy="219456"/>
          </a:xfrm>
          <a:prstGeom prst="rect">
            <a:avLst/>
          </a:prstGeom>
          <a:noFill/>
          <a:ln/>
        </p:spPr>
        <p:txBody>
          <a:bodyPr wrap="square" lIns="0" tIns="0" rIns="0" bIns="0" rtlCol="0" anchor="ctr"/>
          <a:lstStyle/>
          <a:p>
            <a:pPr indent="0" marL="0">
              <a:buNone/>
            </a:pPr>
            <a:r>
              <a:rPr lang="en-US" sz="950" dirty="0">
                <a:solidFill>
                  <a:srgbClr val="8E9DB5"/>
                </a:solidFill>
                <a:latin typeface="Calibri" pitchFamily="34" charset="0"/>
                <a:ea typeface="Calibri" pitchFamily="34" charset="-122"/>
                <a:cs typeface="Calibri" pitchFamily="34" charset="-120"/>
              </a:rPr>
              <a:t>Org workflow quota held by 18 legacy workflows</a:t>
            </a:r>
            <a:endParaRPr lang="en-US" sz="950" dirty="0"/>
          </a:p>
        </p:txBody>
      </p:sp>
      <p:sp>
        <p:nvSpPr>
          <p:cNvPr id="39" name="Text 36"/>
          <p:cNvSpPr/>
          <p:nvPr/>
        </p:nvSpPr>
        <p:spPr>
          <a:xfrm>
            <a:off x="10533888" y="3602736"/>
            <a:ext cx="822960" cy="457200"/>
          </a:xfrm>
          <a:prstGeom prst="rect">
            <a:avLst/>
          </a:prstGeom>
          <a:noFill/>
          <a:ln/>
        </p:spPr>
        <p:txBody>
          <a:bodyPr wrap="square" lIns="0" tIns="0" rIns="0" bIns="0" rtlCol="0" anchor="ctr"/>
          <a:lstStyle/>
          <a:p>
            <a:pPr algn="r" indent="0" marL="0">
              <a:buNone/>
            </a:pPr>
            <a:r>
              <a:rPr lang="en-US" sz="900" b="1" dirty="0">
                <a:solidFill>
                  <a:srgbClr val="E09A2E"/>
                </a:solidFill>
                <a:latin typeface="Calibri" pitchFamily="34" charset="0"/>
                <a:ea typeface="Calibri" pitchFamily="34" charset="-122"/>
                <a:cs typeface="Calibri" pitchFamily="34" charset="-120"/>
              </a:rPr>
              <a:t>quota</a:t>
            </a:r>
            <a:endParaRPr lang="en-US" sz="900" dirty="0"/>
          </a:p>
        </p:txBody>
      </p:sp>
      <p:sp>
        <p:nvSpPr>
          <p:cNvPr id="40" name="Shape 37"/>
          <p:cNvSpPr/>
          <p:nvPr/>
        </p:nvSpPr>
        <p:spPr>
          <a:xfrm>
            <a:off x="566928" y="4133088"/>
            <a:ext cx="5349240" cy="457200"/>
          </a:xfrm>
          <a:prstGeom prst="roundRect">
            <a:avLst>
              <a:gd name="adj" fmla="val 8000"/>
            </a:avLst>
          </a:prstGeom>
          <a:solidFill>
            <a:srgbClr val="1E2531"/>
          </a:solidFill>
          <a:ln w="12700">
            <a:solidFill>
              <a:srgbClr val="1E2531"/>
            </a:solidFill>
            <a:prstDash val="solid"/>
          </a:ln>
        </p:spPr>
      </p:sp>
      <p:sp>
        <p:nvSpPr>
          <p:cNvPr id="41" name="Text 38"/>
          <p:cNvSpPr/>
          <p:nvPr/>
        </p:nvSpPr>
        <p:spPr>
          <a:xfrm>
            <a:off x="713232" y="4151376"/>
            <a:ext cx="4206240" cy="219456"/>
          </a:xfrm>
          <a:prstGeom prst="rect">
            <a:avLst/>
          </a:prstGeom>
          <a:noFill/>
          <a:ln/>
        </p:spPr>
        <p:txBody>
          <a:bodyPr wrap="square" lIns="0" tIns="0" rIns="0" bIns="0" rtlCol="0" anchor="ctr"/>
          <a:lstStyle/>
          <a:p>
            <a:pPr indent="0" marL="0">
              <a:buNone/>
            </a:pPr>
            <a:r>
              <a:rPr lang="en-US" sz="1050" b="1" dirty="0">
                <a:solidFill>
                  <a:srgbClr val="E6ECF5"/>
                </a:solidFill>
                <a:latin typeface="Calibri" pitchFamily="34" charset="0"/>
                <a:ea typeface="Calibri" pitchFamily="34" charset="-122"/>
                <a:cs typeface="Calibri" pitchFamily="34" charset="-120"/>
              </a:rPr>
              <a:t>18 dashboards, not 4</a:t>
            </a:r>
            <a:endParaRPr lang="en-US" sz="1050" dirty="0"/>
          </a:p>
        </p:txBody>
      </p:sp>
      <p:sp>
        <p:nvSpPr>
          <p:cNvPr id="42" name="Text 39"/>
          <p:cNvSpPr/>
          <p:nvPr/>
        </p:nvSpPr>
        <p:spPr>
          <a:xfrm>
            <a:off x="713232" y="4361688"/>
            <a:ext cx="4206240" cy="219456"/>
          </a:xfrm>
          <a:prstGeom prst="rect">
            <a:avLst/>
          </a:prstGeom>
          <a:noFill/>
          <a:ln/>
        </p:spPr>
        <p:txBody>
          <a:bodyPr wrap="square" lIns="0" tIns="0" rIns="0" bIns="0" rtlCol="0" anchor="ctr"/>
          <a:lstStyle/>
          <a:p>
            <a:pPr indent="0" marL="0">
              <a:buNone/>
            </a:pPr>
            <a:r>
              <a:rPr lang="en-US" sz="950" dirty="0">
                <a:solidFill>
                  <a:srgbClr val="8E9DB5"/>
                </a:solidFill>
                <a:latin typeface="Calibri" pitchFamily="34" charset="0"/>
                <a:ea typeface="Calibri" pitchFamily="34" charset="-122"/>
                <a:cs typeface="Calibri" pitchFamily="34" charset="-120"/>
              </a:rPr>
              <a:t>Per-domain generator still running alongside the four boards</a:t>
            </a:r>
            <a:endParaRPr lang="en-US" sz="950" dirty="0"/>
          </a:p>
        </p:txBody>
      </p:sp>
      <p:sp>
        <p:nvSpPr>
          <p:cNvPr id="43" name="Text 40"/>
          <p:cNvSpPr/>
          <p:nvPr/>
        </p:nvSpPr>
        <p:spPr>
          <a:xfrm>
            <a:off x="4956048" y="4133088"/>
            <a:ext cx="822960" cy="457200"/>
          </a:xfrm>
          <a:prstGeom prst="rect">
            <a:avLst/>
          </a:prstGeom>
          <a:noFill/>
          <a:ln/>
        </p:spPr>
        <p:txBody>
          <a:bodyPr wrap="square" lIns="0" tIns="0" rIns="0" bIns="0" rtlCol="0" anchor="ctr"/>
          <a:lstStyle/>
          <a:p>
            <a:pPr algn="r" indent="0" marL="0">
              <a:buNone/>
            </a:pPr>
            <a:r>
              <a:rPr lang="en-US" sz="900" b="1" dirty="0">
                <a:solidFill>
                  <a:srgbClr val="E09A2E"/>
                </a:solidFill>
                <a:latin typeface="Calibri" pitchFamily="34" charset="0"/>
                <a:ea typeface="Calibri" pitchFamily="34" charset="-122"/>
                <a:cs typeface="Calibri" pitchFamily="34" charset="-120"/>
              </a:rPr>
              <a:t>phase 6</a:t>
            </a:r>
            <a:endParaRPr lang="en-US" sz="900" dirty="0"/>
          </a:p>
        </p:txBody>
      </p:sp>
      <p:sp>
        <p:nvSpPr>
          <p:cNvPr id="44" name="Shape 41"/>
          <p:cNvSpPr/>
          <p:nvPr/>
        </p:nvSpPr>
        <p:spPr>
          <a:xfrm>
            <a:off x="6144768" y="4133088"/>
            <a:ext cx="5349240" cy="457200"/>
          </a:xfrm>
          <a:prstGeom prst="roundRect">
            <a:avLst>
              <a:gd name="adj" fmla="val 8000"/>
            </a:avLst>
          </a:prstGeom>
          <a:solidFill>
            <a:srgbClr val="1E2531"/>
          </a:solidFill>
          <a:ln w="12700">
            <a:solidFill>
              <a:srgbClr val="1E2531"/>
            </a:solidFill>
            <a:prstDash val="solid"/>
          </a:ln>
        </p:spPr>
      </p:sp>
      <p:sp>
        <p:nvSpPr>
          <p:cNvPr id="45" name="Text 42"/>
          <p:cNvSpPr/>
          <p:nvPr/>
        </p:nvSpPr>
        <p:spPr>
          <a:xfrm>
            <a:off x="6291072" y="4151376"/>
            <a:ext cx="4206240" cy="219456"/>
          </a:xfrm>
          <a:prstGeom prst="rect">
            <a:avLst/>
          </a:prstGeom>
          <a:noFill/>
          <a:ln/>
        </p:spPr>
        <p:txBody>
          <a:bodyPr wrap="square" lIns="0" tIns="0" rIns="0" bIns="0" rtlCol="0" anchor="ctr"/>
          <a:lstStyle/>
          <a:p>
            <a:pPr indent="0" marL="0">
              <a:buNone/>
            </a:pPr>
            <a:r>
              <a:rPr lang="en-US" sz="1050" b="1" dirty="0">
                <a:solidFill>
                  <a:srgbClr val="E6ECF5"/>
                </a:solidFill>
                <a:latin typeface="Calibri" pitchFamily="34" charset="0"/>
                <a:ea typeface="Calibri" pitchFamily="34" charset="-122"/>
                <a:cs typeface="Calibri" pitchFamily="34" charset="-120"/>
              </a:rPr>
              <a:t>No report catalog</a:t>
            </a:r>
            <a:endParaRPr lang="en-US" sz="1050" dirty="0"/>
          </a:p>
        </p:txBody>
      </p:sp>
      <p:sp>
        <p:nvSpPr>
          <p:cNvPr id="46" name="Text 43"/>
          <p:cNvSpPr/>
          <p:nvPr/>
        </p:nvSpPr>
        <p:spPr>
          <a:xfrm>
            <a:off x="6291072" y="4361688"/>
            <a:ext cx="4206240" cy="219456"/>
          </a:xfrm>
          <a:prstGeom prst="rect">
            <a:avLst/>
          </a:prstGeom>
          <a:noFill/>
          <a:ln/>
        </p:spPr>
        <p:txBody>
          <a:bodyPr wrap="square" lIns="0" tIns="0" rIns="0" bIns="0" rtlCol="0" anchor="ctr"/>
          <a:lstStyle/>
          <a:p>
            <a:pPr indent="0" marL="0">
              <a:buNone/>
            </a:pPr>
            <a:r>
              <a:rPr lang="en-US" sz="950" dirty="0">
                <a:solidFill>
                  <a:srgbClr val="8E9DB5"/>
                </a:solidFill>
                <a:latin typeface="Calibri" pitchFamily="34" charset="0"/>
                <a:ea typeface="Calibri" pitchFamily="34" charset="-122"/>
                <a:cs typeface="Calibri" pitchFamily="34" charset="-120"/>
              </a:rPr>
              <a:t>The five audience-facing report families do not exist</a:t>
            </a:r>
            <a:endParaRPr lang="en-US" sz="950" dirty="0"/>
          </a:p>
        </p:txBody>
      </p:sp>
      <p:sp>
        <p:nvSpPr>
          <p:cNvPr id="47" name="Text 44"/>
          <p:cNvSpPr/>
          <p:nvPr/>
        </p:nvSpPr>
        <p:spPr>
          <a:xfrm>
            <a:off x="10533888" y="4133088"/>
            <a:ext cx="822960" cy="457200"/>
          </a:xfrm>
          <a:prstGeom prst="rect">
            <a:avLst/>
          </a:prstGeom>
          <a:noFill/>
          <a:ln/>
        </p:spPr>
        <p:txBody>
          <a:bodyPr wrap="square" lIns="0" tIns="0" rIns="0" bIns="0" rtlCol="0" anchor="ctr"/>
          <a:lstStyle/>
          <a:p>
            <a:pPr algn="r" indent="0" marL="0">
              <a:buNone/>
            </a:pPr>
            <a:r>
              <a:rPr lang="en-US" sz="900" b="1" dirty="0">
                <a:solidFill>
                  <a:srgbClr val="E09A2E"/>
                </a:solidFill>
                <a:latin typeface="Calibri" pitchFamily="34" charset="0"/>
                <a:ea typeface="Calibri" pitchFamily="34" charset="-122"/>
                <a:cs typeface="Calibri" pitchFamily="34" charset="-120"/>
              </a:rPr>
              <a:t>phase 6</a:t>
            </a:r>
            <a:endParaRPr lang="en-US" sz="900" dirty="0"/>
          </a:p>
        </p:txBody>
      </p:sp>
      <p:sp>
        <p:nvSpPr>
          <p:cNvPr id="48" name="Shape 45"/>
          <p:cNvSpPr/>
          <p:nvPr/>
        </p:nvSpPr>
        <p:spPr>
          <a:xfrm>
            <a:off x="566928" y="4663440"/>
            <a:ext cx="5349240" cy="457200"/>
          </a:xfrm>
          <a:prstGeom prst="roundRect">
            <a:avLst>
              <a:gd name="adj" fmla="val 8000"/>
            </a:avLst>
          </a:prstGeom>
          <a:solidFill>
            <a:srgbClr val="1E2531"/>
          </a:solidFill>
          <a:ln w="12700">
            <a:solidFill>
              <a:srgbClr val="1E2531"/>
            </a:solidFill>
            <a:prstDash val="solid"/>
          </a:ln>
        </p:spPr>
      </p:sp>
      <p:sp>
        <p:nvSpPr>
          <p:cNvPr id="49" name="Text 46"/>
          <p:cNvSpPr/>
          <p:nvPr/>
        </p:nvSpPr>
        <p:spPr>
          <a:xfrm>
            <a:off x="713232" y="4681728"/>
            <a:ext cx="4206240" cy="219456"/>
          </a:xfrm>
          <a:prstGeom prst="rect">
            <a:avLst/>
          </a:prstGeom>
          <a:noFill/>
          <a:ln/>
        </p:spPr>
        <p:txBody>
          <a:bodyPr wrap="square" lIns="0" tIns="0" rIns="0" bIns="0" rtlCol="0" anchor="ctr"/>
          <a:lstStyle/>
          <a:p>
            <a:pPr indent="0" marL="0">
              <a:buNone/>
            </a:pPr>
            <a:r>
              <a:rPr lang="en-US" sz="1050" b="1" dirty="0">
                <a:solidFill>
                  <a:srgbClr val="E6ECF5"/>
                </a:solidFill>
                <a:latin typeface="Calibri" pitchFamily="34" charset="0"/>
                <a:ea typeface="Calibri" pitchFamily="34" charset="-122"/>
                <a:cs typeface="Calibri" pitchFamily="34" charset="-120"/>
              </a:rPr>
              <a:t>No observability survey</a:t>
            </a:r>
            <a:endParaRPr lang="en-US" sz="1050" dirty="0"/>
          </a:p>
        </p:txBody>
      </p:sp>
      <p:sp>
        <p:nvSpPr>
          <p:cNvPr id="50" name="Text 47"/>
          <p:cNvSpPr/>
          <p:nvPr/>
        </p:nvSpPr>
        <p:spPr>
          <a:xfrm>
            <a:off x="713232" y="4892040"/>
            <a:ext cx="4206240" cy="219456"/>
          </a:xfrm>
          <a:prstGeom prst="rect">
            <a:avLst/>
          </a:prstGeom>
          <a:noFill/>
          <a:ln/>
        </p:spPr>
        <p:txBody>
          <a:bodyPr wrap="square" lIns="0" tIns="0" rIns="0" bIns="0" rtlCol="0" anchor="ctr"/>
          <a:lstStyle/>
          <a:p>
            <a:pPr indent="0" marL="0">
              <a:buNone/>
            </a:pPr>
            <a:r>
              <a:rPr lang="en-US" sz="950" dirty="0">
                <a:solidFill>
                  <a:srgbClr val="8E9DB5"/>
                </a:solidFill>
                <a:latin typeface="Calibri" pitchFamily="34" charset="0"/>
                <a:ea typeface="Calibri" pitchFamily="34" charset="-122"/>
                <a:cs typeface="Calibri" pitchFamily="34" charset="-120"/>
              </a:rPr>
              <a:t>Repository-wide search returns zero files</a:t>
            </a:r>
            <a:endParaRPr lang="en-US" sz="950" dirty="0"/>
          </a:p>
        </p:txBody>
      </p:sp>
      <p:sp>
        <p:nvSpPr>
          <p:cNvPr id="51" name="Text 48"/>
          <p:cNvSpPr/>
          <p:nvPr/>
        </p:nvSpPr>
        <p:spPr>
          <a:xfrm>
            <a:off x="4956048" y="4663440"/>
            <a:ext cx="822960" cy="457200"/>
          </a:xfrm>
          <a:prstGeom prst="rect">
            <a:avLst/>
          </a:prstGeom>
          <a:noFill/>
          <a:ln/>
        </p:spPr>
        <p:txBody>
          <a:bodyPr wrap="square" lIns="0" tIns="0" rIns="0" bIns="0" rtlCol="0" anchor="ctr"/>
          <a:lstStyle/>
          <a:p>
            <a:pPr algn="r" indent="0" marL="0">
              <a:buNone/>
            </a:pPr>
            <a:r>
              <a:rPr lang="en-US" sz="900" b="1" dirty="0">
                <a:solidFill>
                  <a:srgbClr val="E09A2E"/>
                </a:solidFill>
                <a:latin typeface="Calibri" pitchFamily="34" charset="0"/>
                <a:ea typeface="Calibri" pitchFamily="34" charset="-122"/>
                <a:cs typeface="Calibri" pitchFamily="34" charset="-120"/>
              </a:rPr>
              <a:t>phase 6</a:t>
            </a:r>
            <a:endParaRPr lang="en-US" sz="900" dirty="0"/>
          </a:p>
        </p:txBody>
      </p:sp>
      <p:sp>
        <p:nvSpPr>
          <p:cNvPr id="52" name="Shape 49"/>
          <p:cNvSpPr/>
          <p:nvPr/>
        </p:nvSpPr>
        <p:spPr>
          <a:xfrm>
            <a:off x="6144768" y="4663440"/>
            <a:ext cx="5349240" cy="457200"/>
          </a:xfrm>
          <a:prstGeom prst="roundRect">
            <a:avLst>
              <a:gd name="adj" fmla="val 8000"/>
            </a:avLst>
          </a:prstGeom>
          <a:solidFill>
            <a:srgbClr val="1E2531"/>
          </a:solidFill>
          <a:ln w="12700">
            <a:solidFill>
              <a:srgbClr val="1E2531"/>
            </a:solidFill>
            <a:prstDash val="solid"/>
          </a:ln>
        </p:spPr>
      </p:sp>
      <p:sp>
        <p:nvSpPr>
          <p:cNvPr id="53" name="Text 50"/>
          <p:cNvSpPr/>
          <p:nvPr/>
        </p:nvSpPr>
        <p:spPr>
          <a:xfrm>
            <a:off x="6291072" y="4681728"/>
            <a:ext cx="4206240" cy="219456"/>
          </a:xfrm>
          <a:prstGeom prst="rect">
            <a:avLst/>
          </a:prstGeom>
          <a:noFill/>
          <a:ln/>
        </p:spPr>
        <p:txBody>
          <a:bodyPr wrap="square" lIns="0" tIns="0" rIns="0" bIns="0" rtlCol="0" anchor="ctr"/>
          <a:lstStyle/>
          <a:p>
            <a:pPr indent="0" marL="0">
              <a:buNone/>
            </a:pPr>
            <a:r>
              <a:rPr lang="en-US" sz="1050" b="1" dirty="0">
                <a:solidFill>
                  <a:srgbClr val="E6ECF5"/>
                </a:solidFill>
                <a:latin typeface="Calibri" pitchFamily="34" charset="0"/>
                <a:ea typeface="Calibri" pitchFamily="34" charset="-122"/>
                <a:cs typeface="Calibri" pitchFamily="34" charset="-120"/>
              </a:rPr>
              <a:t>No MCP server</a:t>
            </a:r>
            <a:endParaRPr lang="en-US" sz="1050" dirty="0"/>
          </a:p>
        </p:txBody>
      </p:sp>
      <p:sp>
        <p:nvSpPr>
          <p:cNvPr id="54" name="Text 51"/>
          <p:cNvSpPr/>
          <p:nvPr/>
        </p:nvSpPr>
        <p:spPr>
          <a:xfrm>
            <a:off x="6291072" y="4892040"/>
            <a:ext cx="4206240" cy="219456"/>
          </a:xfrm>
          <a:prstGeom prst="rect">
            <a:avLst/>
          </a:prstGeom>
          <a:noFill/>
          <a:ln/>
        </p:spPr>
        <p:txBody>
          <a:bodyPr wrap="square" lIns="0" tIns="0" rIns="0" bIns="0" rtlCol="0" anchor="ctr"/>
          <a:lstStyle/>
          <a:p>
            <a:pPr indent="0" marL="0">
              <a:buNone/>
            </a:pPr>
            <a:r>
              <a:rPr lang="en-US" sz="950" dirty="0">
                <a:solidFill>
                  <a:srgbClr val="8E9DB5"/>
                </a:solidFill>
                <a:latin typeface="Calibri" pitchFamily="34" charset="0"/>
                <a:ea typeface="Calibri" pitchFamily="34" charset="-122"/>
                <a:cs typeface="Calibri" pitchFamily="34" charset="-120"/>
              </a:rPr>
              <a:t>Ask, Act and governance: zero files exist</a:t>
            </a:r>
            <a:endParaRPr lang="en-US" sz="950" dirty="0"/>
          </a:p>
        </p:txBody>
      </p:sp>
      <p:sp>
        <p:nvSpPr>
          <p:cNvPr id="55" name="Text 52"/>
          <p:cNvSpPr/>
          <p:nvPr/>
        </p:nvSpPr>
        <p:spPr>
          <a:xfrm>
            <a:off x="10533888" y="4663440"/>
            <a:ext cx="822960" cy="457200"/>
          </a:xfrm>
          <a:prstGeom prst="rect">
            <a:avLst/>
          </a:prstGeom>
          <a:noFill/>
          <a:ln/>
        </p:spPr>
        <p:txBody>
          <a:bodyPr wrap="square" lIns="0" tIns="0" rIns="0" bIns="0" rtlCol="0" anchor="ctr"/>
          <a:lstStyle/>
          <a:p>
            <a:pPr algn="r" indent="0" marL="0">
              <a:buNone/>
            </a:pPr>
            <a:r>
              <a:rPr lang="en-US" sz="900" b="1" dirty="0">
                <a:solidFill>
                  <a:srgbClr val="E09A2E"/>
                </a:solidFill>
                <a:latin typeface="Calibri" pitchFamily="34" charset="0"/>
                <a:ea typeface="Calibri" pitchFamily="34" charset="-122"/>
                <a:cs typeface="Calibri" pitchFamily="34" charset="-120"/>
              </a:rPr>
              <a:t>phase 7</a:t>
            </a:r>
            <a:endParaRPr lang="en-US" sz="900" dirty="0"/>
          </a:p>
        </p:txBody>
      </p:sp>
      <p:sp>
        <p:nvSpPr>
          <p:cNvPr id="56" name="Shape 53"/>
          <p:cNvSpPr/>
          <p:nvPr/>
        </p:nvSpPr>
        <p:spPr>
          <a:xfrm>
            <a:off x="566928" y="5193792"/>
            <a:ext cx="5349240" cy="457200"/>
          </a:xfrm>
          <a:prstGeom prst="roundRect">
            <a:avLst>
              <a:gd name="adj" fmla="val 8000"/>
            </a:avLst>
          </a:prstGeom>
          <a:solidFill>
            <a:srgbClr val="1E2531"/>
          </a:solidFill>
          <a:ln w="12700">
            <a:solidFill>
              <a:srgbClr val="1E2531"/>
            </a:solidFill>
            <a:prstDash val="solid"/>
          </a:ln>
        </p:spPr>
      </p:sp>
      <p:sp>
        <p:nvSpPr>
          <p:cNvPr id="57" name="Text 54"/>
          <p:cNvSpPr/>
          <p:nvPr/>
        </p:nvSpPr>
        <p:spPr>
          <a:xfrm>
            <a:off x="713232" y="5212080"/>
            <a:ext cx="4206240" cy="219456"/>
          </a:xfrm>
          <a:prstGeom prst="rect">
            <a:avLst/>
          </a:prstGeom>
          <a:noFill/>
          <a:ln/>
        </p:spPr>
        <p:txBody>
          <a:bodyPr wrap="square" lIns="0" tIns="0" rIns="0" bIns="0" rtlCol="0" anchor="ctr"/>
          <a:lstStyle/>
          <a:p>
            <a:pPr indent="0" marL="0">
              <a:buNone/>
            </a:pPr>
            <a:r>
              <a:rPr lang="en-US" sz="1050" b="1" dirty="0">
                <a:solidFill>
                  <a:srgbClr val="E6ECF5"/>
                </a:solidFill>
                <a:latin typeface="Calibri" pitchFamily="34" charset="0"/>
                <a:ea typeface="Calibri" pitchFamily="34" charset="-122"/>
                <a:cs typeface="Calibri" pitchFamily="34" charset="-120"/>
              </a:rPr>
              <a:t>No executive portal</a:t>
            </a:r>
            <a:endParaRPr lang="en-US" sz="1050" dirty="0"/>
          </a:p>
        </p:txBody>
      </p:sp>
      <p:sp>
        <p:nvSpPr>
          <p:cNvPr id="58" name="Text 55"/>
          <p:cNvSpPr/>
          <p:nvPr/>
        </p:nvSpPr>
        <p:spPr>
          <a:xfrm>
            <a:off x="713232" y="5422392"/>
            <a:ext cx="4206240" cy="219456"/>
          </a:xfrm>
          <a:prstGeom prst="rect">
            <a:avLst/>
          </a:prstGeom>
          <a:noFill/>
          <a:ln/>
        </p:spPr>
        <p:txBody>
          <a:bodyPr wrap="square" lIns="0" tIns="0" rIns="0" bIns="0" rtlCol="0" anchor="ctr"/>
          <a:lstStyle/>
          <a:p>
            <a:pPr indent="0" marL="0">
              <a:buNone/>
            </a:pPr>
            <a:r>
              <a:rPr lang="en-US" sz="950" dirty="0">
                <a:solidFill>
                  <a:srgbClr val="8E9DB5"/>
                </a:solidFill>
                <a:latin typeface="Calibri" pitchFamily="34" charset="0"/>
                <a:ea typeface="Calibri" pitchFamily="34" charset="-122"/>
                <a:cs typeface="Calibri" pitchFamily="34" charset="-120"/>
              </a:rPr>
              <a:t>No web application in the repository</a:t>
            </a:r>
            <a:endParaRPr lang="en-US" sz="950" dirty="0"/>
          </a:p>
        </p:txBody>
      </p:sp>
      <p:sp>
        <p:nvSpPr>
          <p:cNvPr id="59" name="Text 56"/>
          <p:cNvSpPr/>
          <p:nvPr/>
        </p:nvSpPr>
        <p:spPr>
          <a:xfrm>
            <a:off x="4956048" y="5193792"/>
            <a:ext cx="822960" cy="457200"/>
          </a:xfrm>
          <a:prstGeom prst="rect">
            <a:avLst/>
          </a:prstGeom>
          <a:noFill/>
          <a:ln/>
        </p:spPr>
        <p:txBody>
          <a:bodyPr wrap="square" lIns="0" tIns="0" rIns="0" bIns="0" rtlCol="0" anchor="ctr"/>
          <a:lstStyle/>
          <a:p>
            <a:pPr algn="r" indent="0" marL="0">
              <a:buNone/>
            </a:pPr>
            <a:r>
              <a:rPr lang="en-US" sz="900" b="1" dirty="0">
                <a:solidFill>
                  <a:srgbClr val="E09A2E"/>
                </a:solidFill>
                <a:latin typeface="Calibri" pitchFamily="34" charset="0"/>
                <a:ea typeface="Calibri" pitchFamily="34" charset="-122"/>
                <a:cs typeface="Calibri" pitchFamily="34" charset="-120"/>
              </a:rPr>
              <a:t>phase 8</a:t>
            </a:r>
            <a:endParaRPr lang="en-US" sz="900" dirty="0"/>
          </a:p>
        </p:txBody>
      </p:sp>
      <p:sp>
        <p:nvSpPr>
          <p:cNvPr id="60" name="Shape 57"/>
          <p:cNvSpPr/>
          <p:nvPr/>
        </p:nvSpPr>
        <p:spPr>
          <a:xfrm>
            <a:off x="6144768" y="5193792"/>
            <a:ext cx="5349240" cy="457200"/>
          </a:xfrm>
          <a:prstGeom prst="roundRect">
            <a:avLst>
              <a:gd name="adj" fmla="val 8000"/>
            </a:avLst>
          </a:prstGeom>
          <a:solidFill>
            <a:srgbClr val="1E2531"/>
          </a:solidFill>
          <a:ln w="12700">
            <a:solidFill>
              <a:srgbClr val="1E2531"/>
            </a:solidFill>
            <a:prstDash val="solid"/>
          </a:ln>
        </p:spPr>
      </p:sp>
      <p:sp>
        <p:nvSpPr>
          <p:cNvPr id="61" name="Text 58"/>
          <p:cNvSpPr/>
          <p:nvPr/>
        </p:nvSpPr>
        <p:spPr>
          <a:xfrm>
            <a:off x="6291072" y="5212080"/>
            <a:ext cx="4206240" cy="219456"/>
          </a:xfrm>
          <a:prstGeom prst="rect">
            <a:avLst/>
          </a:prstGeom>
          <a:noFill/>
          <a:ln/>
        </p:spPr>
        <p:txBody>
          <a:bodyPr wrap="square" lIns="0" tIns="0" rIns="0" bIns="0" rtlCol="0" anchor="ctr"/>
          <a:lstStyle/>
          <a:p>
            <a:pPr indent="0" marL="0">
              <a:buNone/>
            </a:pPr>
            <a:r>
              <a:rPr lang="en-US" sz="1050" b="1" dirty="0">
                <a:solidFill>
                  <a:srgbClr val="E6ECF5"/>
                </a:solidFill>
                <a:latin typeface="Calibri" pitchFamily="34" charset="0"/>
                <a:ea typeface="Calibri" pitchFamily="34" charset="-122"/>
                <a:cs typeface="Calibri" pitchFamily="34" charset="-120"/>
              </a:rPr>
              <a:t>Scorecards are local, not Datadog</a:t>
            </a:r>
            <a:endParaRPr lang="en-US" sz="1050" dirty="0"/>
          </a:p>
        </p:txBody>
      </p:sp>
      <p:sp>
        <p:nvSpPr>
          <p:cNvPr id="62" name="Text 59"/>
          <p:cNvSpPr/>
          <p:nvPr/>
        </p:nvSpPr>
        <p:spPr>
          <a:xfrm>
            <a:off x="6291072" y="5422392"/>
            <a:ext cx="4206240" cy="219456"/>
          </a:xfrm>
          <a:prstGeom prst="rect">
            <a:avLst/>
          </a:prstGeom>
          <a:noFill/>
          <a:ln/>
        </p:spPr>
        <p:txBody>
          <a:bodyPr wrap="square" lIns="0" tIns="0" rIns="0" bIns="0" rtlCol="0" anchor="ctr"/>
          <a:lstStyle/>
          <a:p>
            <a:pPr indent="0" marL="0">
              <a:buNone/>
            </a:pPr>
            <a:r>
              <a:rPr lang="en-US" sz="950" dirty="0">
                <a:solidFill>
                  <a:srgbClr val="8E9DB5"/>
                </a:solidFill>
                <a:latin typeface="Calibri" pitchFamily="34" charset="0"/>
                <a:ea typeface="Calibri" pitchFamily="34" charset="-122"/>
                <a:cs typeface="Calibri" pitchFamily="34" charset="-120"/>
              </a:rPr>
              <a:t>A Python scorecard over monitors, not entity-aware Datadog Scorecards</a:t>
            </a:r>
            <a:endParaRPr lang="en-US" sz="950" dirty="0"/>
          </a:p>
        </p:txBody>
      </p:sp>
      <p:sp>
        <p:nvSpPr>
          <p:cNvPr id="63" name="Text 60"/>
          <p:cNvSpPr/>
          <p:nvPr/>
        </p:nvSpPr>
        <p:spPr>
          <a:xfrm>
            <a:off x="10533888" y="5193792"/>
            <a:ext cx="822960" cy="457200"/>
          </a:xfrm>
          <a:prstGeom prst="rect">
            <a:avLst/>
          </a:prstGeom>
          <a:noFill/>
          <a:ln/>
        </p:spPr>
        <p:txBody>
          <a:bodyPr wrap="square" lIns="0" tIns="0" rIns="0" bIns="0" rtlCol="0" anchor="ctr"/>
          <a:lstStyle/>
          <a:p>
            <a:pPr algn="r" indent="0" marL="0">
              <a:buNone/>
            </a:pPr>
            <a:r>
              <a:rPr lang="en-US" sz="900" b="1" dirty="0">
                <a:solidFill>
                  <a:srgbClr val="E09A2E"/>
                </a:solidFill>
                <a:latin typeface="Calibri" pitchFamily="34" charset="0"/>
                <a:ea typeface="Calibri" pitchFamily="34" charset="-122"/>
                <a:cs typeface="Calibri" pitchFamily="34" charset="-120"/>
              </a:rPr>
              <a:t>phase 6</a:t>
            </a:r>
            <a:endParaRPr lang="en-US" sz="900" dirty="0"/>
          </a:p>
        </p:txBody>
      </p:sp>
      <p:sp>
        <p:nvSpPr>
          <p:cNvPr id="64" name="Shape 61"/>
          <p:cNvSpPr/>
          <p:nvPr/>
        </p:nvSpPr>
        <p:spPr>
          <a:xfrm>
            <a:off x="566928" y="5724144"/>
            <a:ext cx="5349240" cy="457200"/>
          </a:xfrm>
          <a:prstGeom prst="roundRect">
            <a:avLst>
              <a:gd name="adj" fmla="val 8000"/>
            </a:avLst>
          </a:prstGeom>
          <a:solidFill>
            <a:srgbClr val="1E2531"/>
          </a:solidFill>
          <a:ln w="12700">
            <a:solidFill>
              <a:srgbClr val="1E2531"/>
            </a:solidFill>
            <a:prstDash val="solid"/>
          </a:ln>
        </p:spPr>
      </p:sp>
      <p:sp>
        <p:nvSpPr>
          <p:cNvPr id="65" name="Text 62"/>
          <p:cNvSpPr/>
          <p:nvPr/>
        </p:nvSpPr>
        <p:spPr>
          <a:xfrm>
            <a:off x="713232" y="5742432"/>
            <a:ext cx="4206240" cy="219456"/>
          </a:xfrm>
          <a:prstGeom prst="rect">
            <a:avLst/>
          </a:prstGeom>
          <a:noFill/>
          <a:ln/>
        </p:spPr>
        <p:txBody>
          <a:bodyPr wrap="square" lIns="0" tIns="0" rIns="0" bIns="0" rtlCol="0" anchor="ctr"/>
          <a:lstStyle/>
          <a:p>
            <a:pPr indent="0" marL="0">
              <a:buNone/>
            </a:pPr>
            <a:r>
              <a:rPr lang="en-US" sz="1050" b="1" dirty="0">
                <a:solidFill>
                  <a:srgbClr val="E6ECF5"/>
                </a:solidFill>
                <a:latin typeface="Calibri" pitchFamily="34" charset="0"/>
                <a:ea typeface="Calibri" pitchFamily="34" charset="-122"/>
                <a:cs typeface="Calibri" pitchFamily="34" charset="-120"/>
              </a:rPr>
              <a:t>No monitor-to-SLO relation</a:t>
            </a:r>
            <a:endParaRPr lang="en-US" sz="1050" dirty="0"/>
          </a:p>
        </p:txBody>
      </p:sp>
      <p:sp>
        <p:nvSpPr>
          <p:cNvPr id="66" name="Text 63"/>
          <p:cNvSpPr/>
          <p:nvPr/>
        </p:nvSpPr>
        <p:spPr>
          <a:xfrm>
            <a:off x="713232" y="5952744"/>
            <a:ext cx="4206240" cy="219456"/>
          </a:xfrm>
          <a:prstGeom prst="rect">
            <a:avLst/>
          </a:prstGeom>
          <a:noFill/>
          <a:ln/>
        </p:spPr>
        <p:txBody>
          <a:bodyPr wrap="square" lIns="0" tIns="0" rIns="0" bIns="0" rtlCol="0" anchor="ctr"/>
          <a:lstStyle/>
          <a:p>
            <a:pPr indent="0" marL="0">
              <a:buNone/>
            </a:pPr>
            <a:r>
              <a:rPr lang="en-US" sz="950" dirty="0">
                <a:solidFill>
                  <a:srgbClr val="8E9DB5"/>
                </a:solidFill>
                <a:latin typeface="Calibri" pitchFamily="34" charset="0"/>
                <a:ea typeface="Calibri" pitchFamily="34" charset="-122"/>
                <a:cs typeface="Calibri" pitchFamily="34" charset="-120"/>
              </a:rPr>
              <a:t>Monitors carry slo_id but not SLI-producing / supporting / impacting</a:t>
            </a:r>
            <a:endParaRPr lang="en-US" sz="950" dirty="0"/>
          </a:p>
        </p:txBody>
      </p:sp>
      <p:sp>
        <p:nvSpPr>
          <p:cNvPr id="67" name="Text 64"/>
          <p:cNvSpPr/>
          <p:nvPr/>
        </p:nvSpPr>
        <p:spPr>
          <a:xfrm>
            <a:off x="4956048" y="5724144"/>
            <a:ext cx="822960" cy="457200"/>
          </a:xfrm>
          <a:prstGeom prst="rect">
            <a:avLst/>
          </a:prstGeom>
          <a:noFill/>
          <a:ln/>
        </p:spPr>
        <p:txBody>
          <a:bodyPr wrap="square" lIns="0" tIns="0" rIns="0" bIns="0" rtlCol="0" anchor="ctr"/>
          <a:lstStyle/>
          <a:p>
            <a:pPr algn="r" indent="0" marL="0">
              <a:buNone/>
            </a:pPr>
            <a:r>
              <a:rPr lang="en-US" sz="900" b="1" dirty="0">
                <a:solidFill>
                  <a:srgbClr val="E09A2E"/>
                </a:solidFill>
                <a:latin typeface="Calibri" pitchFamily="34" charset="0"/>
                <a:ea typeface="Calibri" pitchFamily="34" charset="-122"/>
                <a:cs typeface="Calibri" pitchFamily="34" charset="-120"/>
              </a:rPr>
              <a:t>phase 4</a:t>
            </a:r>
            <a:endParaRPr lang="en-US" sz="900" dirty="0"/>
          </a:p>
        </p:txBody>
      </p:sp>
      <p:sp>
        <p:nvSpPr>
          <p:cNvPr id="68" name="Shape 65"/>
          <p:cNvSpPr/>
          <p:nvPr/>
        </p:nvSpPr>
        <p:spPr>
          <a:xfrm>
            <a:off x="6144768" y="5724144"/>
            <a:ext cx="5349240" cy="457200"/>
          </a:xfrm>
          <a:prstGeom prst="roundRect">
            <a:avLst>
              <a:gd name="adj" fmla="val 8000"/>
            </a:avLst>
          </a:prstGeom>
          <a:solidFill>
            <a:srgbClr val="1E2531"/>
          </a:solidFill>
          <a:ln w="12700">
            <a:solidFill>
              <a:srgbClr val="1E2531"/>
            </a:solidFill>
            <a:prstDash val="solid"/>
          </a:ln>
        </p:spPr>
      </p:sp>
      <p:sp>
        <p:nvSpPr>
          <p:cNvPr id="69" name="Text 66"/>
          <p:cNvSpPr/>
          <p:nvPr/>
        </p:nvSpPr>
        <p:spPr>
          <a:xfrm>
            <a:off x="6291072" y="5742432"/>
            <a:ext cx="4206240" cy="219456"/>
          </a:xfrm>
          <a:prstGeom prst="rect">
            <a:avLst/>
          </a:prstGeom>
          <a:noFill/>
          <a:ln/>
        </p:spPr>
        <p:txBody>
          <a:bodyPr wrap="square" lIns="0" tIns="0" rIns="0" bIns="0" rtlCol="0" anchor="ctr"/>
          <a:lstStyle/>
          <a:p>
            <a:pPr indent="0" marL="0">
              <a:buNone/>
            </a:pPr>
            <a:r>
              <a:rPr lang="en-US" sz="1050" b="1" dirty="0">
                <a:solidFill>
                  <a:srgbClr val="E6ECF5"/>
                </a:solidFill>
                <a:latin typeface="Calibri" pitchFamily="34" charset="0"/>
                <a:ea typeface="Calibri" pitchFamily="34" charset="-122"/>
                <a:cs typeface="Calibri" pitchFamily="34" charset="-120"/>
              </a:rPr>
              <a:t>No measured before-and-after</a:t>
            </a:r>
            <a:endParaRPr lang="en-US" sz="1050" dirty="0"/>
          </a:p>
        </p:txBody>
      </p:sp>
      <p:sp>
        <p:nvSpPr>
          <p:cNvPr id="70" name="Text 67"/>
          <p:cNvSpPr/>
          <p:nvPr/>
        </p:nvSpPr>
        <p:spPr>
          <a:xfrm>
            <a:off x="6291072" y="5952744"/>
            <a:ext cx="4206240" cy="219456"/>
          </a:xfrm>
          <a:prstGeom prst="rect">
            <a:avLst/>
          </a:prstGeom>
          <a:noFill/>
          <a:ln/>
        </p:spPr>
        <p:txBody>
          <a:bodyPr wrap="square" lIns="0" tIns="0" rIns="0" bIns="0" rtlCol="0" anchor="ctr"/>
          <a:lstStyle/>
          <a:p>
            <a:pPr indent="0" marL="0">
              <a:buNone/>
            </a:pPr>
            <a:r>
              <a:rPr lang="en-US" sz="950" dirty="0">
                <a:solidFill>
                  <a:srgbClr val="8E9DB5"/>
                </a:solidFill>
                <a:latin typeface="Calibri" pitchFamily="34" charset="0"/>
                <a:ea typeface="Calibri" pitchFamily="34" charset="-122"/>
                <a:cs typeface="Calibri" pitchFamily="34" charset="-120"/>
              </a:rPr>
              <a:t>No trustworthy baseline, and no data flowing yet to build one</a:t>
            </a:r>
            <a:endParaRPr lang="en-US" sz="950" dirty="0"/>
          </a:p>
        </p:txBody>
      </p:sp>
      <p:sp>
        <p:nvSpPr>
          <p:cNvPr id="71" name="Text 68"/>
          <p:cNvSpPr/>
          <p:nvPr/>
        </p:nvSpPr>
        <p:spPr>
          <a:xfrm>
            <a:off x="10533888" y="5724144"/>
            <a:ext cx="822960" cy="457200"/>
          </a:xfrm>
          <a:prstGeom prst="rect">
            <a:avLst/>
          </a:prstGeom>
          <a:noFill/>
          <a:ln/>
        </p:spPr>
        <p:txBody>
          <a:bodyPr wrap="square" lIns="0" tIns="0" rIns="0" bIns="0" rtlCol="0" anchor="ctr"/>
          <a:lstStyle/>
          <a:p>
            <a:pPr algn="r" indent="0" marL="0">
              <a:buNone/>
            </a:pPr>
            <a:r>
              <a:rPr lang="en-US" sz="900" b="1" dirty="0">
                <a:solidFill>
                  <a:srgbClr val="E09A2E"/>
                </a:solidFill>
                <a:latin typeface="Calibri" pitchFamily="34" charset="0"/>
                <a:ea typeface="Calibri" pitchFamily="34" charset="-122"/>
                <a:cs typeface="Calibri" pitchFamily="34" charset="-120"/>
              </a:rPr>
              <a:t>after tagging</a:t>
            </a:r>
            <a:endParaRPr lang="en-US" sz="9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8778240" cy="256032"/>
          </a:xfrm>
          <a:prstGeom prst="rect">
            <a:avLst/>
          </a:prstGeom>
          <a:noFill/>
          <a:ln/>
        </p:spPr>
        <p:txBody>
          <a:bodyPr wrap="square" lIns="0" tIns="0" rIns="0" bIns="0" rtlCol="0" anchor="ctr"/>
          <a:lstStyle/>
          <a:p>
            <a:pPr indent="0" marL="0">
              <a:buNone/>
            </a:pPr>
            <a:r>
              <a:rPr lang="en-US" sz="1050" b="1" spc="160" kern="0" dirty="0">
                <a:solidFill>
                  <a:srgbClr val="B87914"/>
                </a:solidFill>
                <a:latin typeface="Calibri" pitchFamily="34" charset="0"/>
                <a:ea typeface="Calibri" pitchFamily="34" charset="-122"/>
                <a:cs typeface="Calibri" pitchFamily="34" charset="-120"/>
              </a:rPr>
              <a:t>APPENDIX A11</a:t>
            </a:r>
            <a:endParaRPr lang="en-US" sz="1050" dirty="0"/>
          </a:p>
        </p:txBody>
      </p:sp>
      <p:sp>
        <p:nvSpPr>
          <p:cNvPr id="3" name="Text 1"/>
          <p:cNvSpPr/>
          <p:nvPr/>
        </p:nvSpPr>
        <p:spPr>
          <a:xfrm>
            <a:off x="566928" y="694944"/>
            <a:ext cx="10424160" cy="786384"/>
          </a:xfrm>
          <a:prstGeom prst="rect">
            <a:avLst/>
          </a:prstGeom>
          <a:noFill/>
          <a:ln/>
        </p:spPr>
        <p:txBody>
          <a:bodyPr wrap="square" lIns="0" tIns="0" rIns="0" bIns="0" rtlCol="0" anchor="ctr"/>
          <a:lstStyle/>
          <a:p>
            <a:pPr indent="0" marL="0">
              <a:buNone/>
            </a:pPr>
            <a:r>
              <a:rPr lang="en-US" sz="3100" b="1" dirty="0">
                <a:solidFill>
                  <a:srgbClr val="161C28"/>
                </a:solidFill>
                <a:latin typeface="Cambria" pitchFamily="34" charset="0"/>
                <a:ea typeface="Cambria" pitchFamily="34" charset="-122"/>
                <a:cs typeface="Cambria" pitchFamily="34" charset="-120"/>
              </a:rPr>
              <a:t>Evidence and sources</a:t>
            </a:r>
            <a:endParaRPr lang="en-US" sz="3100" dirty="0"/>
          </a:p>
        </p:txBody>
      </p:sp>
      <p:sp>
        <p:nvSpPr>
          <p:cNvPr id="4" name="Text 2"/>
          <p:cNvSpPr/>
          <p:nvPr/>
        </p:nvSpPr>
        <p:spPr>
          <a:xfrm>
            <a:off x="566928" y="1481328"/>
            <a:ext cx="10698480" cy="457200"/>
          </a:xfrm>
          <a:prstGeom prst="rect">
            <a:avLst/>
          </a:prstGeom>
          <a:noFill/>
          <a:ln/>
        </p:spPr>
        <p:txBody>
          <a:bodyPr wrap="square" lIns="0" tIns="0" rIns="0" bIns="0" rtlCol="0" anchor="t"/>
          <a:lstStyle/>
          <a:p>
            <a:pPr indent="0" marL="0">
              <a:buNone/>
            </a:pPr>
            <a:r>
              <a:rPr lang="en-US" sz="1450" dirty="0">
                <a:solidFill>
                  <a:srgbClr val="3A4557"/>
                </a:solidFill>
                <a:latin typeface="Calibri" pitchFamily="34" charset="0"/>
                <a:ea typeface="Calibri" pitchFamily="34" charset="-122"/>
                <a:cs typeface="Calibri" pitchFamily="34" charset="-120"/>
              </a:rPr>
              <a:t>Where every number in this deck came from, so any of it can be checked without asking us.</a:t>
            </a:r>
            <a:endParaRPr lang="en-US" sz="1450" dirty="0"/>
          </a:p>
        </p:txBody>
      </p:sp>
      <p:sp>
        <p:nvSpPr>
          <p:cNvPr id="5" name="Text 3"/>
          <p:cNvSpPr/>
          <p:nvPr/>
        </p:nvSpPr>
        <p:spPr>
          <a:xfrm>
            <a:off x="566928" y="6345936"/>
            <a:ext cx="7315200" cy="274320"/>
          </a:xfrm>
          <a:prstGeom prst="rect">
            <a:avLst/>
          </a:prstGeom>
          <a:noFill/>
          <a:ln/>
        </p:spPr>
        <p:txBody>
          <a:bodyPr wrap="square" lIns="0" tIns="0" rIns="0" bIns="0" rtlCol="0" anchor="ctr"/>
          <a:lstStyle/>
          <a:p>
            <a:pPr indent="0" marL="0">
              <a:buNone/>
            </a:pPr>
            <a:r>
              <a:rPr lang="en-US" sz="900" dirty="0">
                <a:solidFill>
                  <a:srgbClr val="6B7891"/>
                </a:solidFill>
                <a:latin typeface="Calibri" pitchFamily="34" charset="0"/>
                <a:ea typeface="Calibri" pitchFamily="34" charset="-122"/>
                <a:cs typeface="Calibri" pitchFamily="34" charset="-120"/>
              </a:rPr>
              <a:t>Enterprise Observability  ·  policy-as-data on Datadog</a:t>
            </a:r>
            <a:endParaRPr lang="en-US" sz="900" dirty="0"/>
          </a:p>
        </p:txBody>
      </p:sp>
      <p:sp>
        <p:nvSpPr>
          <p:cNvPr id="6" name="Text 4"/>
          <p:cNvSpPr/>
          <p:nvPr/>
        </p:nvSpPr>
        <p:spPr>
          <a:xfrm>
            <a:off x="10710367" y="6345936"/>
            <a:ext cx="914400" cy="274320"/>
          </a:xfrm>
          <a:prstGeom prst="rect">
            <a:avLst/>
          </a:prstGeom>
          <a:noFill/>
          <a:ln/>
        </p:spPr>
        <p:txBody>
          <a:bodyPr wrap="square" lIns="0" tIns="0" rIns="0" bIns="0" rtlCol="0" anchor="ctr"/>
          <a:lstStyle/>
          <a:p>
            <a:pPr algn="r" indent="0" marL="0">
              <a:buNone/>
            </a:pPr>
            <a:r>
              <a:rPr lang="en-US" sz="900" dirty="0">
                <a:solidFill>
                  <a:srgbClr val="6B7891"/>
                </a:solidFill>
                <a:latin typeface="Calibri" pitchFamily="34" charset="0"/>
                <a:ea typeface="Calibri" pitchFamily="34" charset="-122"/>
                <a:cs typeface="Calibri" pitchFamily="34" charset="-120"/>
              </a:rPr>
              <a:t>55</a:t>
            </a:r>
            <a:endParaRPr lang="en-US" sz="900" dirty="0"/>
          </a:p>
        </p:txBody>
      </p:sp>
      <p:sp>
        <p:nvSpPr>
          <p:cNvPr id="8" name="Shape 5"/>
          <p:cNvSpPr/>
          <p:nvPr/>
        </p:nvSpPr>
        <p:spPr>
          <a:xfrm>
            <a:off x="566928" y="2103120"/>
            <a:ext cx="11057839" cy="457200"/>
          </a:xfrm>
          <a:prstGeom prst="roundRect">
            <a:avLst>
              <a:gd name="adj" fmla="val 8000"/>
            </a:avLst>
          </a:prstGeom>
          <a:solidFill>
            <a:srgbClr val="F5F7FA"/>
          </a:solidFill>
          <a:ln w="12700">
            <a:solidFill>
              <a:srgbClr val="F5F7FA"/>
            </a:solidFill>
            <a:prstDash val="solid"/>
          </a:ln>
        </p:spPr>
      </p:sp>
      <p:sp>
        <p:nvSpPr>
          <p:cNvPr id="9" name="Text 6"/>
          <p:cNvSpPr/>
          <p:nvPr/>
        </p:nvSpPr>
        <p:spPr>
          <a:xfrm>
            <a:off x="749808" y="2103120"/>
            <a:ext cx="5120640" cy="457200"/>
          </a:xfrm>
          <a:prstGeom prst="rect">
            <a:avLst/>
          </a:prstGeom>
          <a:noFill/>
          <a:ln/>
        </p:spPr>
        <p:txBody>
          <a:bodyPr wrap="square" lIns="0" tIns="0" rIns="0" bIns="0" rtlCol="0" anchor="ctr"/>
          <a:lstStyle/>
          <a:p>
            <a:pPr indent="0" marL="0">
              <a:buNone/>
            </a:pPr>
            <a:r>
              <a:rPr lang="en-US" sz="1050" b="1" dirty="0">
                <a:solidFill>
                  <a:srgbClr val="161C28"/>
                </a:solidFill>
                <a:latin typeface="Calibri" pitchFamily="34" charset="0"/>
                <a:ea typeface="Calibri" pitchFamily="34" charset="-122"/>
                <a:cs typeface="Calibri" pitchFamily="34" charset="-120"/>
              </a:rPr>
              <a:t>651 monitors · 70 paging · 651/651 runbooks attached · 0 URLs in alert bodies</a:t>
            </a:r>
            <a:endParaRPr lang="en-US" sz="1050" dirty="0"/>
          </a:p>
        </p:txBody>
      </p:sp>
      <p:sp>
        <p:nvSpPr>
          <p:cNvPr id="10" name="Text 7"/>
          <p:cNvSpPr/>
          <p:nvPr/>
        </p:nvSpPr>
        <p:spPr>
          <a:xfrm>
            <a:off x="5961888" y="2103120"/>
            <a:ext cx="5486400" cy="457200"/>
          </a:xfrm>
          <a:prstGeom prst="rect">
            <a:avLst/>
          </a:prstGeom>
          <a:noFill/>
          <a:ln/>
        </p:spPr>
        <p:txBody>
          <a:bodyPr wrap="square" lIns="0" tIns="0" rIns="0" bIns="0" rtlCol="0" anchor="ctr"/>
          <a:lstStyle/>
          <a:p>
            <a:pPr indent="0" marL="0">
              <a:buNone/>
            </a:pPr>
            <a:r>
              <a:rPr lang="en-US" sz="1000" dirty="0">
                <a:solidFill>
                  <a:srgbClr val="6B7891"/>
                </a:solidFill>
                <a:latin typeface="Calibri" pitchFamily="34" charset="0"/>
                <a:ea typeface="Calibri" pitchFamily="34" charset="-122"/>
                <a:cs typeface="Calibri" pitchFamily="34" charset="-120"/>
              </a:rPr>
              <a:t>docs/monitor-reconciliation.md — generated with live Datadog ids after every production apply</a:t>
            </a:r>
            <a:endParaRPr lang="en-US" sz="1000" dirty="0"/>
          </a:p>
        </p:txBody>
      </p:sp>
      <p:sp>
        <p:nvSpPr>
          <p:cNvPr id="11" name="Shape 8"/>
          <p:cNvSpPr/>
          <p:nvPr/>
        </p:nvSpPr>
        <p:spPr>
          <a:xfrm>
            <a:off x="566928" y="2596896"/>
            <a:ext cx="11057839" cy="457200"/>
          </a:xfrm>
          <a:prstGeom prst="roundRect">
            <a:avLst>
              <a:gd name="adj" fmla="val 8000"/>
            </a:avLst>
          </a:prstGeom>
          <a:solidFill>
            <a:srgbClr val="FFFFFF"/>
          </a:solidFill>
          <a:ln w="12700">
            <a:solidFill>
              <a:srgbClr val="FFFFFF"/>
            </a:solidFill>
            <a:prstDash val="solid"/>
          </a:ln>
        </p:spPr>
      </p:sp>
      <p:sp>
        <p:nvSpPr>
          <p:cNvPr id="12" name="Text 9"/>
          <p:cNvSpPr/>
          <p:nvPr/>
        </p:nvSpPr>
        <p:spPr>
          <a:xfrm>
            <a:off x="749808" y="2596896"/>
            <a:ext cx="5120640" cy="457200"/>
          </a:xfrm>
          <a:prstGeom prst="rect">
            <a:avLst/>
          </a:prstGeom>
          <a:noFill/>
          <a:ln/>
        </p:spPr>
        <p:txBody>
          <a:bodyPr wrap="square" lIns="0" tIns="0" rIns="0" bIns="0" rtlCol="0" anchor="ctr"/>
          <a:lstStyle/>
          <a:p>
            <a:pPr indent="0" marL="0">
              <a:buNone/>
            </a:pPr>
            <a:r>
              <a:rPr lang="en-US" sz="1050" b="1" dirty="0">
                <a:solidFill>
                  <a:srgbClr val="161C28"/>
                </a:solidFill>
                <a:latin typeface="Calibri" pitchFamily="34" charset="0"/>
                <a:ea typeface="Calibri" pitchFamily="34" charset="-122"/>
                <a:cs typeface="Calibri" pitchFamily="34" charset="-120"/>
              </a:rPr>
              <a:t>264 archetypes · 21 domain SLOs · detection mix · per-domain counts</a:t>
            </a:r>
            <a:endParaRPr lang="en-US" sz="1050" dirty="0"/>
          </a:p>
        </p:txBody>
      </p:sp>
      <p:sp>
        <p:nvSpPr>
          <p:cNvPr id="13" name="Text 10"/>
          <p:cNvSpPr/>
          <p:nvPr/>
        </p:nvSpPr>
        <p:spPr>
          <a:xfrm>
            <a:off x="5961888" y="2596896"/>
            <a:ext cx="5486400" cy="457200"/>
          </a:xfrm>
          <a:prstGeom prst="rect">
            <a:avLst/>
          </a:prstGeom>
          <a:noFill/>
          <a:ln/>
        </p:spPr>
        <p:txBody>
          <a:bodyPr wrap="square" lIns="0" tIns="0" rIns="0" bIns="0" rtlCol="0" anchor="ctr"/>
          <a:lstStyle/>
          <a:p>
            <a:pPr indent="0" marL="0">
              <a:buNone/>
            </a:pPr>
            <a:r>
              <a:rPr lang="en-US" sz="1000" dirty="0">
                <a:solidFill>
                  <a:srgbClr val="6B7891"/>
                </a:solidFill>
                <a:latin typeface="Calibri" pitchFamily="34" charset="0"/>
                <a:ea typeface="Calibri" pitchFamily="34" charset="-122"/>
                <a:cs typeface="Calibri" pitchFamily="34" charset="-120"/>
              </a:rPr>
              <a:t>docs/monitor-coverage-matrix.md and tests/fixtures/monitors_planned.json — regenerated and staleness-gated by CI</a:t>
            </a:r>
            <a:endParaRPr lang="en-US" sz="1000" dirty="0"/>
          </a:p>
        </p:txBody>
      </p:sp>
      <p:sp>
        <p:nvSpPr>
          <p:cNvPr id="14" name="Shape 11"/>
          <p:cNvSpPr/>
          <p:nvPr/>
        </p:nvSpPr>
        <p:spPr>
          <a:xfrm>
            <a:off x="566928" y="3090672"/>
            <a:ext cx="11057839" cy="457200"/>
          </a:xfrm>
          <a:prstGeom prst="roundRect">
            <a:avLst>
              <a:gd name="adj" fmla="val 8000"/>
            </a:avLst>
          </a:prstGeom>
          <a:solidFill>
            <a:srgbClr val="F5F7FA"/>
          </a:solidFill>
          <a:ln w="12700">
            <a:solidFill>
              <a:srgbClr val="F5F7FA"/>
            </a:solidFill>
            <a:prstDash val="solid"/>
          </a:ln>
        </p:spPr>
      </p:sp>
      <p:sp>
        <p:nvSpPr>
          <p:cNvPr id="15" name="Text 12"/>
          <p:cNvSpPr/>
          <p:nvPr/>
        </p:nvSpPr>
        <p:spPr>
          <a:xfrm>
            <a:off x="749808" y="3090672"/>
            <a:ext cx="5120640" cy="457200"/>
          </a:xfrm>
          <a:prstGeom prst="rect">
            <a:avLst/>
          </a:prstGeom>
          <a:noFill/>
          <a:ln/>
        </p:spPr>
        <p:txBody>
          <a:bodyPr wrap="square" lIns="0" tIns="0" rIns="0" bIns="0" rtlCol="0" anchor="ctr"/>
          <a:lstStyle/>
          <a:p>
            <a:pPr indent="0" marL="0">
              <a:buNone/>
            </a:pPr>
            <a:r>
              <a:rPr lang="en-US" sz="1050" b="1" dirty="0">
                <a:solidFill>
                  <a:srgbClr val="161C28"/>
                </a:solidFill>
                <a:latin typeface="Calibri" pitchFamily="34" charset="0"/>
                <a:ea typeface="Calibri" pitchFamily="34" charset="-122"/>
                <a:cs typeface="Calibri" pitchFamily="34" charset="-120"/>
              </a:rPr>
              <a:t>Priority, band, environment and team distributions</a:t>
            </a:r>
            <a:endParaRPr lang="en-US" sz="1050" dirty="0"/>
          </a:p>
        </p:txBody>
      </p:sp>
      <p:sp>
        <p:nvSpPr>
          <p:cNvPr id="16" name="Text 13"/>
          <p:cNvSpPr/>
          <p:nvPr/>
        </p:nvSpPr>
        <p:spPr>
          <a:xfrm>
            <a:off x="5961888" y="3090672"/>
            <a:ext cx="5486400" cy="457200"/>
          </a:xfrm>
          <a:prstGeom prst="rect">
            <a:avLst/>
          </a:prstGeom>
          <a:noFill/>
          <a:ln/>
        </p:spPr>
        <p:txBody>
          <a:bodyPr wrap="square" lIns="0" tIns="0" rIns="0" bIns="0" rtlCol="0" anchor="ctr"/>
          <a:lstStyle/>
          <a:p>
            <a:pPr indent="0" marL="0">
              <a:buNone/>
            </a:pPr>
            <a:r>
              <a:rPr lang="en-US" sz="1000" dirty="0">
                <a:solidFill>
                  <a:srgbClr val="6B7891"/>
                </a:solidFill>
                <a:latin typeface="Calibri" pitchFamily="34" charset="0"/>
                <a:ea typeface="Calibri" pitchFamily="34" charset="-122"/>
                <a:cs typeface="Calibri" pitchFamily="34" charset="-120"/>
              </a:rPr>
              <a:t>tests/fixtures/monitors_planned.json — derived from the actual Terraform plan</a:t>
            </a:r>
            <a:endParaRPr lang="en-US" sz="1000" dirty="0"/>
          </a:p>
        </p:txBody>
      </p:sp>
      <p:sp>
        <p:nvSpPr>
          <p:cNvPr id="17" name="Shape 14"/>
          <p:cNvSpPr/>
          <p:nvPr/>
        </p:nvSpPr>
        <p:spPr>
          <a:xfrm>
            <a:off x="566928" y="3584448"/>
            <a:ext cx="11057839" cy="457200"/>
          </a:xfrm>
          <a:prstGeom prst="roundRect">
            <a:avLst>
              <a:gd name="adj" fmla="val 8000"/>
            </a:avLst>
          </a:prstGeom>
          <a:solidFill>
            <a:srgbClr val="FFFFFF"/>
          </a:solidFill>
          <a:ln w="12700">
            <a:solidFill>
              <a:srgbClr val="FFFFFF"/>
            </a:solidFill>
            <a:prstDash val="solid"/>
          </a:ln>
        </p:spPr>
      </p:sp>
      <p:sp>
        <p:nvSpPr>
          <p:cNvPr id="18" name="Text 15"/>
          <p:cNvSpPr/>
          <p:nvPr/>
        </p:nvSpPr>
        <p:spPr>
          <a:xfrm>
            <a:off x="749808" y="3584448"/>
            <a:ext cx="5120640" cy="457200"/>
          </a:xfrm>
          <a:prstGeom prst="rect">
            <a:avLst/>
          </a:prstGeom>
          <a:noFill/>
          <a:ln/>
        </p:spPr>
        <p:txBody>
          <a:bodyPr wrap="square" lIns="0" tIns="0" rIns="0" bIns="0" rtlCol="0" anchor="ctr"/>
          <a:lstStyle/>
          <a:p>
            <a:pPr indent="0" marL="0">
              <a:buNone/>
            </a:pPr>
            <a:r>
              <a:rPr lang="en-US" sz="1050" b="1" dirty="0">
                <a:solidFill>
                  <a:srgbClr val="161C28"/>
                </a:solidFill>
                <a:latin typeface="Calibri" pitchFamily="34" charset="0"/>
                <a:ea typeface="Calibri" pitchFamily="34" charset="-122"/>
                <a:cs typeface="Calibri" pitchFamily="34" charset="-120"/>
              </a:rPr>
              <a:t>Status labels: OK · IMPROVE · PARTIAL · MISSING</a:t>
            </a:r>
            <a:endParaRPr lang="en-US" sz="1050" dirty="0"/>
          </a:p>
        </p:txBody>
      </p:sp>
      <p:sp>
        <p:nvSpPr>
          <p:cNvPr id="19" name="Text 16"/>
          <p:cNvSpPr/>
          <p:nvPr/>
        </p:nvSpPr>
        <p:spPr>
          <a:xfrm>
            <a:off x="5961888" y="3584448"/>
            <a:ext cx="5486400" cy="457200"/>
          </a:xfrm>
          <a:prstGeom prst="rect">
            <a:avLst/>
          </a:prstGeom>
          <a:noFill/>
          <a:ln/>
        </p:spPr>
        <p:txBody>
          <a:bodyPr wrap="square" lIns="0" tIns="0" rIns="0" bIns="0" rtlCol="0" anchor="ctr"/>
          <a:lstStyle/>
          <a:p>
            <a:pPr indent="0" marL="0">
              <a:buNone/>
            </a:pPr>
            <a:r>
              <a:rPr lang="en-US" sz="1000" dirty="0">
                <a:solidFill>
                  <a:srgbClr val="6B7891"/>
                </a:solidFill>
                <a:latin typeface="Calibri" pitchFamily="34" charset="0"/>
                <a:ea typeface="Calibri" pitchFamily="34" charset="-122"/>
                <a:cs typeface="Calibri" pitchFamily="34" charset="-120"/>
              </a:rPr>
              <a:t>docs/requirement-traceability.md — 60 sections audited against the repo and the live estate</a:t>
            </a:r>
            <a:endParaRPr lang="en-US" sz="1000" dirty="0"/>
          </a:p>
        </p:txBody>
      </p:sp>
      <p:sp>
        <p:nvSpPr>
          <p:cNvPr id="20" name="Shape 17"/>
          <p:cNvSpPr/>
          <p:nvPr/>
        </p:nvSpPr>
        <p:spPr>
          <a:xfrm>
            <a:off x="566928" y="4078224"/>
            <a:ext cx="11057839" cy="457200"/>
          </a:xfrm>
          <a:prstGeom prst="roundRect">
            <a:avLst>
              <a:gd name="adj" fmla="val 8000"/>
            </a:avLst>
          </a:prstGeom>
          <a:solidFill>
            <a:srgbClr val="F5F7FA"/>
          </a:solidFill>
          <a:ln w="12700">
            <a:solidFill>
              <a:srgbClr val="F5F7FA"/>
            </a:solidFill>
            <a:prstDash val="solid"/>
          </a:ln>
        </p:spPr>
      </p:sp>
      <p:sp>
        <p:nvSpPr>
          <p:cNvPr id="21" name="Text 18"/>
          <p:cNvSpPr/>
          <p:nvPr/>
        </p:nvSpPr>
        <p:spPr>
          <a:xfrm>
            <a:off x="749808" y="4078224"/>
            <a:ext cx="5120640" cy="457200"/>
          </a:xfrm>
          <a:prstGeom prst="rect">
            <a:avLst/>
          </a:prstGeom>
          <a:noFill/>
          <a:ln/>
        </p:spPr>
        <p:txBody>
          <a:bodyPr wrap="square" lIns="0" tIns="0" rIns="0" bIns="0" rtlCol="0" anchor="ctr"/>
          <a:lstStyle/>
          <a:p>
            <a:pPr indent="0" marL="0">
              <a:buNone/>
            </a:pPr>
            <a:r>
              <a:rPr lang="en-US" sz="1050" b="1" dirty="0">
                <a:solidFill>
                  <a:srgbClr val="161C28"/>
                </a:solidFill>
                <a:latin typeface="Calibri" pitchFamily="34" charset="0"/>
                <a:ea typeface="Calibri" pitchFamily="34" charset="-122"/>
                <a:cs typeface="Calibri" pitchFamily="34" charset="-120"/>
              </a:rPr>
              <a:t>alert_band 0/27 · env:production 22 · service_archetype inferred 27</a:t>
            </a:r>
            <a:endParaRPr lang="en-US" sz="1050" dirty="0"/>
          </a:p>
        </p:txBody>
      </p:sp>
      <p:sp>
        <p:nvSpPr>
          <p:cNvPr id="22" name="Text 19"/>
          <p:cNvSpPr/>
          <p:nvPr/>
        </p:nvSpPr>
        <p:spPr>
          <a:xfrm>
            <a:off x="5961888" y="4078224"/>
            <a:ext cx="5486400" cy="457200"/>
          </a:xfrm>
          <a:prstGeom prst="rect">
            <a:avLst/>
          </a:prstGeom>
          <a:noFill/>
          <a:ln/>
        </p:spPr>
        <p:txBody>
          <a:bodyPr wrap="square" lIns="0" tIns="0" rIns="0" bIns="0" rtlCol="0" anchor="ctr"/>
          <a:lstStyle/>
          <a:p>
            <a:pPr indent="0" marL="0">
              <a:buNone/>
            </a:pPr>
            <a:r>
              <a:rPr lang="en-US" sz="1000" dirty="0">
                <a:solidFill>
                  <a:srgbClr val="6B7891"/>
                </a:solidFill>
                <a:latin typeface="Calibri" pitchFamily="34" charset="0"/>
                <a:ea typeface="Calibri" pitchFamily="34" charset="-122"/>
                <a:cs typeface="Calibri" pitchFamily="34" charset="-120"/>
              </a:rPr>
              <a:t>docs/tagging-standard.md — the last live profile_engine run; accepted exception EXC-2026-006</a:t>
            </a:r>
            <a:endParaRPr lang="en-US" sz="1000" dirty="0"/>
          </a:p>
        </p:txBody>
      </p:sp>
      <p:sp>
        <p:nvSpPr>
          <p:cNvPr id="23" name="Shape 20"/>
          <p:cNvSpPr/>
          <p:nvPr/>
        </p:nvSpPr>
        <p:spPr>
          <a:xfrm>
            <a:off x="566928" y="4572000"/>
            <a:ext cx="11057839" cy="457200"/>
          </a:xfrm>
          <a:prstGeom prst="roundRect">
            <a:avLst>
              <a:gd name="adj" fmla="val 8000"/>
            </a:avLst>
          </a:prstGeom>
          <a:solidFill>
            <a:srgbClr val="FFFFFF"/>
          </a:solidFill>
          <a:ln w="12700">
            <a:solidFill>
              <a:srgbClr val="FFFFFF"/>
            </a:solidFill>
            <a:prstDash val="solid"/>
          </a:ln>
        </p:spPr>
      </p:sp>
      <p:sp>
        <p:nvSpPr>
          <p:cNvPr id="24" name="Text 21"/>
          <p:cNvSpPr/>
          <p:nvPr/>
        </p:nvSpPr>
        <p:spPr>
          <a:xfrm>
            <a:off x="749808" y="4572000"/>
            <a:ext cx="5120640" cy="457200"/>
          </a:xfrm>
          <a:prstGeom prst="rect">
            <a:avLst/>
          </a:prstGeom>
          <a:noFill/>
          <a:ln/>
        </p:spPr>
        <p:txBody>
          <a:bodyPr wrap="square" lIns="0" tIns="0" rIns="0" bIns="0" rtlCol="0" anchor="ctr"/>
          <a:lstStyle/>
          <a:p>
            <a:pPr indent="0" marL="0">
              <a:buNone/>
            </a:pPr>
            <a:r>
              <a:rPr lang="en-US" sz="1050" b="1" dirty="0">
                <a:solidFill>
                  <a:srgbClr val="161C28"/>
                </a:solidFill>
                <a:latin typeface="Calibri" pitchFamily="34" charset="0"/>
                <a:ea typeface="Calibri" pitchFamily="34" charset="-122"/>
                <a:cs typeface="Calibri" pitchFamily="34" charset="-120"/>
              </a:rPr>
              <a:t>Budgets: 1500 monitors · 90 paging · 85 P1 · workflow_budget 2</a:t>
            </a:r>
            <a:endParaRPr lang="en-US" sz="1050" dirty="0"/>
          </a:p>
        </p:txBody>
      </p:sp>
      <p:sp>
        <p:nvSpPr>
          <p:cNvPr id="25" name="Text 22"/>
          <p:cNvSpPr/>
          <p:nvPr/>
        </p:nvSpPr>
        <p:spPr>
          <a:xfrm>
            <a:off x="5961888" y="4572000"/>
            <a:ext cx="5486400" cy="457200"/>
          </a:xfrm>
          <a:prstGeom prst="rect">
            <a:avLst/>
          </a:prstGeom>
          <a:noFill/>
          <a:ln/>
        </p:spPr>
        <p:txBody>
          <a:bodyPr wrap="square" lIns="0" tIns="0" rIns="0" bIns="0" rtlCol="0" anchor="ctr"/>
          <a:lstStyle/>
          <a:p>
            <a:pPr indent="0" marL="0">
              <a:buNone/>
            </a:pPr>
            <a:r>
              <a:rPr lang="en-US" sz="1000" dirty="0">
                <a:solidFill>
                  <a:srgbClr val="6B7891"/>
                </a:solidFill>
                <a:latin typeface="Calibri" pitchFamily="34" charset="0"/>
                <a:ea typeface="Calibri" pitchFamily="34" charset="-122"/>
                <a:cs typeface="Calibri" pitchFamily="34" charset="-120"/>
              </a:rPr>
              <a:t>platform/policy/global.yaml and stacks/foundation/budget.auto.tfvars — plan-time assertions</a:t>
            </a:r>
            <a:endParaRPr lang="en-US" sz="1000" dirty="0"/>
          </a:p>
        </p:txBody>
      </p:sp>
      <p:sp>
        <p:nvSpPr>
          <p:cNvPr id="26" name="Shape 23"/>
          <p:cNvSpPr/>
          <p:nvPr/>
        </p:nvSpPr>
        <p:spPr>
          <a:xfrm>
            <a:off x="566928" y="5065776"/>
            <a:ext cx="11057839" cy="457200"/>
          </a:xfrm>
          <a:prstGeom prst="roundRect">
            <a:avLst>
              <a:gd name="adj" fmla="val 8000"/>
            </a:avLst>
          </a:prstGeom>
          <a:solidFill>
            <a:srgbClr val="F5F7FA"/>
          </a:solidFill>
          <a:ln w="12700">
            <a:solidFill>
              <a:srgbClr val="F5F7FA"/>
            </a:solidFill>
            <a:prstDash val="solid"/>
          </a:ln>
        </p:spPr>
      </p:sp>
      <p:sp>
        <p:nvSpPr>
          <p:cNvPr id="27" name="Text 24"/>
          <p:cNvSpPr/>
          <p:nvPr/>
        </p:nvSpPr>
        <p:spPr>
          <a:xfrm>
            <a:off x="749808" y="5065776"/>
            <a:ext cx="5120640" cy="457200"/>
          </a:xfrm>
          <a:prstGeom prst="rect">
            <a:avLst/>
          </a:prstGeom>
          <a:noFill/>
          <a:ln/>
        </p:spPr>
        <p:txBody>
          <a:bodyPr wrap="square" lIns="0" tIns="0" rIns="0" bIns="0" rtlCol="0" anchor="ctr"/>
          <a:lstStyle/>
          <a:p>
            <a:pPr indent="0" marL="0">
              <a:buNone/>
            </a:pPr>
            <a:r>
              <a:rPr lang="en-US" sz="1050" b="1" dirty="0">
                <a:solidFill>
                  <a:srgbClr val="161C28"/>
                </a:solidFill>
                <a:latin typeface="Calibri" pitchFamily="34" charset="0"/>
                <a:ea typeface="Calibri" pitchFamily="34" charset="-122"/>
                <a:cs typeface="Calibri" pitchFamily="34" charset="-120"/>
              </a:rPr>
              <a:t>7 teams · 14 schedules · 7 escalation policies · 4 RBAC roles</a:t>
            </a:r>
            <a:endParaRPr lang="en-US" sz="1050" dirty="0"/>
          </a:p>
        </p:txBody>
      </p:sp>
      <p:sp>
        <p:nvSpPr>
          <p:cNvPr id="28" name="Text 25"/>
          <p:cNvSpPr/>
          <p:nvPr/>
        </p:nvSpPr>
        <p:spPr>
          <a:xfrm>
            <a:off x="5961888" y="5065776"/>
            <a:ext cx="5486400" cy="457200"/>
          </a:xfrm>
          <a:prstGeom prst="rect">
            <a:avLst/>
          </a:prstGeom>
          <a:noFill/>
          <a:ln/>
        </p:spPr>
        <p:txBody>
          <a:bodyPr wrap="square" lIns="0" tIns="0" rIns="0" bIns="0" rtlCol="0" anchor="ctr"/>
          <a:lstStyle/>
          <a:p>
            <a:pPr indent="0" marL="0">
              <a:buNone/>
            </a:pPr>
            <a:r>
              <a:rPr lang="en-US" sz="1000" dirty="0">
                <a:solidFill>
                  <a:srgbClr val="6B7891"/>
                </a:solidFill>
                <a:latin typeface="Calibri" pitchFamily="34" charset="0"/>
                <a:ea typeface="Calibri" pitchFamily="34" charset="-122"/>
                <a:cs typeface="Calibri" pitchFamily="34" charset="-120"/>
              </a:rPr>
              <a:t>stacks/foundation/main.tf and modules/team_oncall, modules/rbac</a:t>
            </a:r>
            <a:endParaRPr lang="en-US" sz="1000" dirty="0"/>
          </a:p>
        </p:txBody>
      </p:sp>
      <p:sp>
        <p:nvSpPr>
          <p:cNvPr id="29" name="Shape 26"/>
          <p:cNvSpPr/>
          <p:nvPr/>
        </p:nvSpPr>
        <p:spPr>
          <a:xfrm>
            <a:off x="566928" y="5559552"/>
            <a:ext cx="11057839" cy="457200"/>
          </a:xfrm>
          <a:prstGeom prst="roundRect">
            <a:avLst>
              <a:gd name="adj" fmla="val 8000"/>
            </a:avLst>
          </a:prstGeom>
          <a:solidFill>
            <a:srgbClr val="FFFFFF"/>
          </a:solidFill>
          <a:ln w="12700">
            <a:solidFill>
              <a:srgbClr val="FFFFFF"/>
            </a:solidFill>
            <a:prstDash val="solid"/>
          </a:ln>
        </p:spPr>
      </p:sp>
      <p:sp>
        <p:nvSpPr>
          <p:cNvPr id="30" name="Text 27"/>
          <p:cNvSpPr/>
          <p:nvPr/>
        </p:nvSpPr>
        <p:spPr>
          <a:xfrm>
            <a:off x="749808" y="5559552"/>
            <a:ext cx="5120640" cy="457200"/>
          </a:xfrm>
          <a:prstGeom prst="rect">
            <a:avLst/>
          </a:prstGeom>
          <a:noFill/>
          <a:ln/>
        </p:spPr>
        <p:txBody>
          <a:bodyPr wrap="square" lIns="0" tIns="0" rIns="0" bIns="0" rtlCol="0" anchor="ctr"/>
          <a:lstStyle/>
          <a:p>
            <a:pPr indent="0" marL="0">
              <a:buNone/>
            </a:pPr>
            <a:r>
              <a:rPr lang="en-US" sz="1050" b="1" dirty="0">
                <a:solidFill>
                  <a:srgbClr val="161C28"/>
                </a:solidFill>
                <a:latin typeface="Calibri" pitchFamily="34" charset="0"/>
                <a:ea typeface="Calibri" pitchFamily="34" charset="-122"/>
                <a:cs typeface="Calibri" pitchFamily="34" charset="-120"/>
              </a:rPr>
              <a:t>Deployment status, promotion model and governance cadences</a:t>
            </a:r>
            <a:endParaRPr lang="en-US" sz="1050" dirty="0"/>
          </a:p>
        </p:txBody>
      </p:sp>
      <p:sp>
        <p:nvSpPr>
          <p:cNvPr id="31" name="Text 28"/>
          <p:cNvSpPr/>
          <p:nvPr/>
        </p:nvSpPr>
        <p:spPr>
          <a:xfrm>
            <a:off x="5961888" y="5559552"/>
            <a:ext cx="5486400" cy="457200"/>
          </a:xfrm>
          <a:prstGeom prst="rect">
            <a:avLst/>
          </a:prstGeom>
          <a:noFill/>
          <a:ln/>
        </p:spPr>
        <p:txBody>
          <a:bodyPr wrap="square" lIns="0" tIns="0" rIns="0" bIns="0" rtlCol="0" anchor="ctr"/>
          <a:lstStyle/>
          <a:p>
            <a:pPr indent="0" marL="0">
              <a:buNone/>
            </a:pPr>
            <a:r>
              <a:rPr lang="en-US" sz="1000" dirty="0">
                <a:solidFill>
                  <a:srgbClr val="6B7891"/>
                </a:solidFill>
                <a:latin typeface="Calibri" pitchFamily="34" charset="0"/>
                <a:ea typeface="Calibri" pitchFamily="34" charset="-122"/>
                <a:cs typeface="Calibri" pitchFamily="34" charset="-120"/>
              </a:rPr>
              <a:t>docs/deployment.md and docs/operating-model.md</a:t>
            </a:r>
            <a:endParaRPr lang="en-US" sz="1000" dirty="0"/>
          </a:p>
        </p:txBody>
      </p:sp>
      <p:sp>
        <p:nvSpPr>
          <p:cNvPr id="32" name="Text 29"/>
          <p:cNvSpPr/>
          <p:nvPr/>
        </p:nvSpPr>
        <p:spPr>
          <a:xfrm>
            <a:off x="566928" y="6126480"/>
            <a:ext cx="11057839" cy="310896"/>
          </a:xfrm>
          <a:prstGeom prst="rect">
            <a:avLst/>
          </a:prstGeom>
          <a:noFill/>
          <a:ln/>
        </p:spPr>
        <p:txBody>
          <a:bodyPr wrap="square" lIns="0" tIns="0" rIns="0" bIns="0" rtlCol="0" anchor="t"/>
          <a:lstStyle/>
          <a:p>
            <a:pPr indent="0" marL="0">
              <a:buNone/>
            </a:pPr>
            <a:r>
              <a:rPr lang="en-US" sz="1050" b="1" dirty="0">
                <a:solidFill>
                  <a:srgbClr val="B87914"/>
                </a:solidFill>
                <a:latin typeface="Calibri" pitchFamily="34" charset="0"/>
                <a:ea typeface="Calibri" pitchFamily="34" charset="-122"/>
                <a:cs typeface="Calibri" pitchFamily="34" charset="-120"/>
              </a:rPr>
              <a:t>Nothing in this deck was typed from memory, and nothing was rounded in our favour. Speaker notes for every slide: docs/presentation/speaker-notes.md</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55</Slides>
  <Notes>55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55</vt:i4>
      </vt:variant>
    </vt:vector>
  </HeadingPairs>
  <TitlesOfParts>
    <vt:vector size="5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vector>
  </TitlesOfParts>
  <Company>Enterprise Observability Programme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Enterprise Observability — executive briefing</dc:title>
  <dc:subject>Policy-as-data monitoring on Datadog: what is shipped, what is not, and what happens next</dc:subject>
  <dc:creator>observability-platform</dc:creator>
  <cp:lastModifiedBy>observability-platform</cp:lastModifiedBy>
  <cp:revision>1</cp:revision>
  <dcterms:created xsi:type="dcterms:W3CDTF">2026-08-20T03:01:28Z</dcterms:created>
  <dcterms:modified xsi:type="dcterms:W3CDTF">2026-08-20T03:01:28Z</dcterms:modified>
</cp:coreProperties>
</file>